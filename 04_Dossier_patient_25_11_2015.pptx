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9" r:id="rId35"/>
    <p:sldId id="300" r:id="rId36"/>
    <p:sldId id="293" r:id="rId37"/>
    <p:sldId id="294" r:id="rId38"/>
    <p:sldId id="295" r:id="rId39"/>
    <p:sldId id="296" r:id="rId40"/>
    <p:sldId id="297" r:id="rId41"/>
    <p:sldId id="298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02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097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967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36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057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86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788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016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267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602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993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69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8A928-183C-4690-9136-775541D7E77E}" type="datetimeFigureOut">
              <a:rPr lang="fr-FR" smtClean="0"/>
              <a:t>25/11/2015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0F282-BF24-4745-83F0-8A97E26706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78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0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01 – Patient 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Identification patient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5" name="Triangle isocèle 14"/>
          <p:cNvSpPr/>
          <p:nvPr/>
        </p:nvSpPr>
        <p:spPr>
          <a:xfrm rot="10800000">
            <a:off x="8838787" y="243241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8" name="Triangle isocèle 17"/>
          <p:cNvSpPr/>
          <p:nvPr/>
        </p:nvSpPr>
        <p:spPr>
          <a:xfrm rot="10800000">
            <a:off x="8817880" y="1992545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3484752" y="278359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311671" y="280367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>
            <a:off x="8279842" y="551782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 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144311"/>
            <a:ext cx="67198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6" name="Triangle isocèle 85"/>
          <p:cNvSpPr/>
          <p:nvPr/>
        </p:nvSpPr>
        <p:spPr>
          <a:xfrm rot="10800000">
            <a:off x="9085448" y="3195219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6863958" y="3219502"/>
            <a:ext cx="175159" cy="237507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1" y="3573020"/>
            <a:ext cx="1519033" cy="2692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10158438" y="552138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792320" y="114267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riangle isocèle 113"/>
          <p:cNvSpPr/>
          <p:nvPr/>
        </p:nvSpPr>
        <p:spPr>
          <a:xfrm rot="10800000">
            <a:off x="11067149" y="112278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riangle isocèle 116"/>
          <p:cNvSpPr/>
          <p:nvPr/>
        </p:nvSpPr>
        <p:spPr>
          <a:xfrm rot="10800000">
            <a:off x="8184796" y="114266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811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298193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959812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363113" y="1865043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16578" y="1966414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3944303" y="193730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949178" y="2356640"/>
            <a:ext cx="169124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341566" y="2287069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932172" y="2771551"/>
            <a:ext cx="170825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293195" y="2673450"/>
            <a:ext cx="17803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1" name="Rectangle 10"/>
          <p:cNvSpPr/>
          <p:nvPr/>
        </p:nvSpPr>
        <p:spPr>
          <a:xfrm>
            <a:off x="8189188" y="2410296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Titre 1"/>
          <p:cNvSpPr txBox="1">
            <a:spLocks/>
          </p:cNvSpPr>
          <p:nvPr/>
        </p:nvSpPr>
        <p:spPr>
          <a:xfrm>
            <a:off x="6623300" y="2301178"/>
            <a:ext cx="16127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3" name="Rectangle 12"/>
          <p:cNvSpPr/>
          <p:nvPr/>
        </p:nvSpPr>
        <p:spPr>
          <a:xfrm>
            <a:off x="4839317" y="2390150"/>
            <a:ext cx="144893" cy="20856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987672" y="2312526"/>
            <a:ext cx="100933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Présumé</a:t>
            </a:r>
            <a:endParaRPr lang="fr-FR" sz="1400" dirty="0"/>
          </a:p>
        </p:txBody>
      </p:sp>
      <p:sp>
        <p:nvSpPr>
          <p:cNvPr id="16" name="Rectangle 15"/>
          <p:cNvSpPr/>
          <p:nvPr/>
        </p:nvSpPr>
        <p:spPr>
          <a:xfrm>
            <a:off x="8189188" y="1959812"/>
            <a:ext cx="82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itre 1"/>
          <p:cNvSpPr txBox="1">
            <a:spLocks/>
          </p:cNvSpPr>
          <p:nvPr/>
        </p:nvSpPr>
        <p:spPr>
          <a:xfrm>
            <a:off x="6978276" y="1937299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10262303" y="2393238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9101130" y="2375238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1" name="Rectangle 20"/>
          <p:cNvSpPr/>
          <p:nvPr/>
        </p:nvSpPr>
        <p:spPr>
          <a:xfrm>
            <a:off x="6018521" y="2397693"/>
            <a:ext cx="479631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itre 1"/>
          <p:cNvSpPr txBox="1">
            <a:spLocks/>
          </p:cNvSpPr>
          <p:nvPr/>
        </p:nvSpPr>
        <p:spPr>
          <a:xfrm>
            <a:off x="5550932" y="2308414"/>
            <a:ext cx="50941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Âge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53557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185127" y="5964589"/>
            <a:ext cx="11812634" cy="7970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Type </a:t>
            </a:r>
            <a:r>
              <a:rPr lang="fr-FR" sz="1000" dirty="0"/>
              <a:t>de </a:t>
            </a:r>
            <a:r>
              <a:rPr lang="fr-FR" sz="1000" dirty="0" smtClean="0"/>
              <a:t>patient (catégorie des patients) : Hospitalisation – Patient externe – Prise en charge. </a:t>
            </a:r>
            <a:endParaRPr lang="fr-FR" sz="1000" dirty="0"/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Type </a:t>
            </a:r>
            <a:r>
              <a:rPr lang="fr-FR" sz="1000" dirty="0" smtClean="0"/>
              <a:t>Pièce d’identité (P,I)  : Carte d’identité (CI) – Permis de conduire (PC)  – passeport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Mode de facturation : Normale – Garde – Férie.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sexe = Homme ne pas afficher le champs  ‘’nom marital’’.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Si le patient existe déjà dans la base de donnée affiché un message d’alerte «</a:t>
            </a:r>
            <a:r>
              <a:rPr lang="fr-FR" sz="1000" dirty="0"/>
              <a:t> </a:t>
            </a:r>
            <a:r>
              <a:rPr lang="fr-FR" sz="1000" dirty="0" smtClean="0"/>
              <a:t>patient existe 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3" name="Rectangle 42"/>
          <p:cNvSpPr/>
          <p:nvPr/>
        </p:nvSpPr>
        <p:spPr>
          <a:xfrm>
            <a:off x="5721259" y="2778206"/>
            <a:ext cx="783524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3716837" y="2722818"/>
            <a:ext cx="20452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4984210" y="3165467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dirty="0" smtClean="0"/>
              <a:t>Wilaya 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1940930" y="3188326"/>
            <a:ext cx="28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1140028" y="3150626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5720369" y="319669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156453" y="3118271"/>
            <a:ext cx="1099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74" name="Rectangle 73"/>
          <p:cNvSpPr/>
          <p:nvPr/>
        </p:nvSpPr>
        <p:spPr>
          <a:xfrm>
            <a:off x="8194031" y="3171385"/>
            <a:ext cx="1090555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9459203" y="3103833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60745" y="3041279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240162" y="3573020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1951662" y="358464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773307" y="3581907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95" name="Rectangle 94"/>
          <p:cNvSpPr/>
          <p:nvPr/>
        </p:nvSpPr>
        <p:spPr>
          <a:xfrm>
            <a:off x="5721259" y="358190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311736" y="1786507"/>
            <a:ext cx="11160000" cy="22450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08698" y="795288"/>
            <a:ext cx="1175322" cy="29700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dossier 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1947031" y="774301"/>
            <a:ext cx="1151809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41566" y="692172"/>
            <a:ext cx="111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97196" y="112664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Date </a:t>
            </a:r>
            <a:r>
              <a:rPr lang="fr-FR" dirty="0" smtClean="0"/>
              <a:t>d'admission *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1978903" y="1155893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3266290" y="1120018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Type de patient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834745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6461216" y="1120262"/>
            <a:ext cx="836337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7246646" y="1122764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8534033" y="1113393"/>
            <a:ext cx="1541912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Médecin traitant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115740" y="1116139"/>
            <a:ext cx="112585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939109" y="443060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1146160" y="437479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6749004" y="43904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4071626" y="4421314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83247" y="4388568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829320" y="444140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9136376" y="438817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8117700" y="4354433"/>
            <a:ext cx="1494142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663576" y="4382378"/>
            <a:ext cx="107236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1919233" y="4940807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36235" y="4898616"/>
            <a:ext cx="147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Mode facturation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809444" y="495161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4" name="Rectangle 143"/>
          <p:cNvSpPr/>
          <p:nvPr/>
        </p:nvSpPr>
        <p:spPr>
          <a:xfrm>
            <a:off x="5178336" y="4913933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181191" y="4870590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Convention</a:t>
            </a:r>
            <a:endParaRPr lang="fr-FR" sz="1400" dirty="0"/>
          </a:p>
        </p:txBody>
      </p:sp>
      <p:sp>
        <p:nvSpPr>
          <p:cNvPr id="146" name="Triangle isocèle 145"/>
          <p:cNvSpPr/>
          <p:nvPr/>
        </p:nvSpPr>
        <p:spPr>
          <a:xfrm rot="10800000">
            <a:off x="6071107" y="491165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48194" y="4250381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4072744" y="4967879"/>
            <a:ext cx="144893" cy="2085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0154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biologie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9098700" y="1476728"/>
            <a:ext cx="126036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396747" y="5517827"/>
            <a:ext cx="3519899" cy="10412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/>
              <a:t>Chaque famille d'analyse contient </a:t>
            </a:r>
            <a:r>
              <a:rPr lang="fr-FR" sz="1050" dirty="0" smtClean="0"/>
              <a:t>des groupes des analyses biologiques.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50" dirty="0" smtClean="0"/>
              <a:t>Quand on choisir le groupe d’analyse un tableau s’affiche pour choisir l’analyse </a:t>
            </a:r>
            <a:r>
              <a:rPr lang="fr-FR" sz="1050" dirty="0"/>
              <a:t>biologique correspondante au choix de </a:t>
            </a:r>
            <a:r>
              <a:rPr lang="fr-FR" sz="1050" dirty="0" smtClean="0"/>
              <a:t>patient, ou bien on peut coché le choix ‘’ Bilan standard’’ pour choisir un analyse standard.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758102" y="6167483"/>
            <a:ext cx="124216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Bilan standard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3396639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192532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292919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Biologie</a:t>
            </a:r>
            <a:endParaRPr lang="fr-FR" sz="1400" dirty="0"/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30137" y="2054944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47705" y="2072949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Biochimie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Bactériologie / Parasitologie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Hématologie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Toxicologie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Immunologie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Auto immunité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Vitamines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Pharmacologie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Marqueurs Tumoraux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Métaux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Pasteur </a:t>
            </a:r>
            <a:r>
              <a:rPr lang="fr-FR" sz="1400" dirty="0"/>
              <a:t>C</a:t>
            </a:r>
            <a:r>
              <a:rPr lang="fr-FR" sz="1400" dirty="0" smtClean="0"/>
              <a:t>erba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Hormonologie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Allergie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Hémostase</a:t>
            </a:r>
          </a:p>
        </p:txBody>
      </p:sp>
      <p:sp>
        <p:nvSpPr>
          <p:cNvPr id="17" name="Accolade ouvrante 16"/>
          <p:cNvSpPr/>
          <p:nvPr/>
        </p:nvSpPr>
        <p:spPr>
          <a:xfrm rot="16200000">
            <a:off x="9439333" y="1094696"/>
            <a:ext cx="321621" cy="1466481"/>
          </a:xfrm>
          <a:prstGeom prst="leftBrace">
            <a:avLst>
              <a:gd name="adj1" fmla="val 8333"/>
              <a:gd name="adj2" fmla="val 4863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/>
          <p:cNvSpPr/>
          <p:nvPr/>
        </p:nvSpPr>
        <p:spPr>
          <a:xfrm>
            <a:off x="8519502" y="2019505"/>
            <a:ext cx="2762320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8585180" y="2024427"/>
            <a:ext cx="2328338" cy="32376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400" dirty="0"/>
              <a:t>Anticorps anti HBS</a:t>
            </a:r>
          </a:p>
          <a:p>
            <a:r>
              <a:rPr lang="fr-FR" sz="1400" dirty="0"/>
              <a:t>Anticorps anti HCV</a:t>
            </a:r>
          </a:p>
          <a:p>
            <a:r>
              <a:rPr lang="fr-FR" sz="1400" dirty="0"/>
              <a:t>Anticorps anti HIV (1+2)</a:t>
            </a:r>
          </a:p>
          <a:p>
            <a:r>
              <a:rPr lang="fr-FR" sz="1400" dirty="0"/>
              <a:t>Créatinine</a:t>
            </a:r>
          </a:p>
          <a:p>
            <a:r>
              <a:rPr lang="fr-FR" sz="1400" dirty="0"/>
              <a:t>CRP = </a:t>
            </a:r>
            <a:r>
              <a:rPr lang="fr-FR" sz="1400" dirty="0" smtClean="0"/>
              <a:t>C-Réactive </a:t>
            </a:r>
            <a:r>
              <a:rPr lang="fr-FR" sz="1400" dirty="0"/>
              <a:t>Protéine</a:t>
            </a:r>
          </a:p>
          <a:p>
            <a:r>
              <a:rPr lang="fr-FR" sz="1400" dirty="0"/>
              <a:t>FNS</a:t>
            </a:r>
          </a:p>
          <a:p>
            <a:r>
              <a:rPr lang="fr-FR" sz="1400" dirty="0"/>
              <a:t>Glycémie</a:t>
            </a:r>
          </a:p>
          <a:p>
            <a:r>
              <a:rPr lang="fr-FR" sz="1400" dirty="0"/>
              <a:t>Groupage sanguin ABO /Rhésus D</a:t>
            </a:r>
          </a:p>
          <a:p>
            <a:r>
              <a:rPr lang="fr-FR" sz="1400" dirty="0"/>
              <a:t>INR</a:t>
            </a:r>
          </a:p>
          <a:p>
            <a:r>
              <a:rPr lang="fr-FR" sz="1400" dirty="0"/>
              <a:t>Ionogramme sanguin</a:t>
            </a:r>
          </a:p>
          <a:p>
            <a:r>
              <a:rPr lang="fr-FR" sz="1400" dirty="0"/>
              <a:t>TCA /TCK</a:t>
            </a:r>
          </a:p>
          <a:p>
            <a:r>
              <a:rPr lang="fr-FR" sz="1400" dirty="0"/>
              <a:t>Temps de Quick</a:t>
            </a:r>
          </a:p>
          <a:p>
            <a:r>
              <a:rPr lang="fr-FR" sz="1400" dirty="0"/>
              <a:t>TP</a:t>
            </a:r>
          </a:p>
          <a:p>
            <a:r>
              <a:rPr lang="fr-FR" sz="1400" dirty="0"/>
              <a:t>Troponine</a:t>
            </a:r>
          </a:p>
          <a:p>
            <a:r>
              <a:rPr lang="fr-FR" sz="1400" dirty="0"/>
              <a:t>Urée sanguine</a:t>
            </a:r>
          </a:p>
          <a:p>
            <a:r>
              <a:rPr lang="fr-FR" sz="1400" dirty="0"/>
              <a:t>VS (vitesse de sédimentation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4123282" y="2047578"/>
            <a:ext cx="3479495" cy="327799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2123380" y="2663687"/>
            <a:ext cx="23253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ccolade ouvrante 27"/>
          <p:cNvSpPr/>
          <p:nvPr/>
        </p:nvSpPr>
        <p:spPr>
          <a:xfrm>
            <a:off x="4568482" y="2218455"/>
            <a:ext cx="360844" cy="1266868"/>
          </a:xfrm>
          <a:prstGeom prst="leftBrace">
            <a:avLst>
              <a:gd name="adj1" fmla="val 8333"/>
              <a:gd name="adj2" fmla="val 2557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4847314" y="2185788"/>
            <a:ext cx="2694175" cy="1471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Cytologie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Biologie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Hémostase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Groupage sanguins et anticorps irréguliers	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Formule numération sanguine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73578" y="3795388"/>
            <a:ext cx="2911907" cy="144027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2" name="Connecteur droit avec flèche 31"/>
          <p:cNvCxnSpPr/>
          <p:nvPr/>
        </p:nvCxnSpPr>
        <p:spPr>
          <a:xfrm>
            <a:off x="5817705" y="3485323"/>
            <a:ext cx="390653" cy="303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671668" y="3878666"/>
            <a:ext cx="2996787" cy="1318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Equilibre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leucocytaire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FNS</a:t>
            </a: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Myélogramme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Réticulocytes</a:t>
            </a:r>
            <a:endParaRPr lang="fr-FR" sz="1400" dirty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500" dirty="0" smtClean="0">
              <a:latin typeface="+mj-lt"/>
              <a:ea typeface="+mj-ea"/>
              <a:cs typeface="+mj-cs"/>
            </a:endParaRPr>
          </a:p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VS </a:t>
            </a:r>
            <a:r>
              <a:rPr lang="fr-FR" sz="1400" dirty="0">
                <a:latin typeface="+mj-lt"/>
                <a:ea typeface="+mj-ea"/>
                <a:cs typeface="+mj-cs"/>
              </a:rPr>
              <a:t>(vitesse de sédimentation)</a:t>
            </a:r>
          </a:p>
        </p:txBody>
      </p:sp>
      <p:sp>
        <p:nvSpPr>
          <p:cNvPr id="38" name="Ellipse 37"/>
          <p:cNvSpPr/>
          <p:nvPr/>
        </p:nvSpPr>
        <p:spPr>
          <a:xfrm flipV="1">
            <a:off x="4473247" y="39158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8" name="Ellipse 107"/>
          <p:cNvSpPr/>
          <p:nvPr/>
        </p:nvSpPr>
        <p:spPr>
          <a:xfrm flipV="1">
            <a:off x="4468078" y="417423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Ellipse 108"/>
          <p:cNvSpPr/>
          <p:nvPr/>
        </p:nvSpPr>
        <p:spPr>
          <a:xfrm flipV="1">
            <a:off x="4466151" y="4435031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Ellipse 109"/>
          <p:cNvSpPr/>
          <p:nvPr/>
        </p:nvSpPr>
        <p:spPr>
          <a:xfrm flipV="1">
            <a:off x="4461990" y="472233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Ellipse 110"/>
          <p:cNvSpPr/>
          <p:nvPr/>
        </p:nvSpPr>
        <p:spPr>
          <a:xfrm flipV="1">
            <a:off x="4465638" y="500255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Ellipse 111"/>
          <p:cNvSpPr/>
          <p:nvPr/>
        </p:nvSpPr>
        <p:spPr>
          <a:xfrm flipV="1">
            <a:off x="616859" y="624391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Ellipse 112"/>
          <p:cNvSpPr/>
          <p:nvPr/>
        </p:nvSpPr>
        <p:spPr>
          <a:xfrm flipV="1">
            <a:off x="8892857" y="155926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8945853" y="1603348"/>
            <a:ext cx="90000" cy="90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Rectangle 114"/>
          <p:cNvSpPr/>
          <p:nvPr/>
        </p:nvSpPr>
        <p:spPr>
          <a:xfrm>
            <a:off x="9930750" y="56093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</p:spTree>
    <p:extLst>
      <p:ext uri="{BB962C8B-B14F-4D97-AF65-F5344CB8AC3E}">
        <p14:creationId xmlns:p14="http://schemas.microsoft.com/office/powerpoint/2010/main" val="1153492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273579" y="59579"/>
            <a:ext cx="323101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- radiologie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949179" y="158875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42318" y="1509127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5452682" y="15953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580407" y="156624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6" y="5881791"/>
            <a:ext cx="3380916" cy="796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Chaque famille de radiologie contient </a:t>
            </a:r>
            <a:r>
              <a:rPr lang="fr-FR" sz="1000" dirty="0" smtClean="0"/>
              <a:t>des groupes des examens radiologies.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Quand </a:t>
            </a:r>
            <a:r>
              <a:rPr lang="fr-FR" sz="1000" dirty="0"/>
              <a:t>on choisir le groupe </a:t>
            </a:r>
            <a:r>
              <a:rPr lang="fr-FR" sz="1000" dirty="0" smtClean="0"/>
              <a:t>d’examen un </a:t>
            </a:r>
            <a:r>
              <a:rPr lang="fr-FR" sz="1000" dirty="0"/>
              <a:t>tableau s’affiche pour choisir </a:t>
            </a:r>
            <a:r>
              <a:rPr lang="fr-FR" sz="1000" dirty="0" smtClean="0"/>
              <a:t>l’examens </a:t>
            </a:r>
            <a:r>
              <a:rPr lang="fr-FR" sz="1000" dirty="0"/>
              <a:t>radiologique </a:t>
            </a:r>
            <a:r>
              <a:rPr lang="fr-FR" sz="1000" dirty="0" smtClean="0"/>
              <a:t>correspondant </a:t>
            </a:r>
            <a:r>
              <a:rPr lang="fr-FR" sz="1000" dirty="0"/>
              <a:t>au choix de </a:t>
            </a:r>
            <a:r>
              <a:rPr lang="fr-FR" sz="1000" dirty="0" smtClean="0"/>
              <a:t>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415446"/>
            <a:ext cx="11160000" cy="40460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1270248" y="567581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7299" y="5620008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3402765" y="566652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651501" y="5646361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2160459" y="5686619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1660605" y="6199133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456498" y="6167073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2556885" y="62231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519329"/>
            <a:ext cx="11160000" cy="116339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3465777" y="1597521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7004575" y="1604146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53179" y="2000305"/>
            <a:ext cx="3469463" cy="202055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517379" y="2091647"/>
            <a:ext cx="3220531" cy="19292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Examens spécialisés avec opacification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Radiographie standard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Scintigraphie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 interventionnelle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Echographie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Echo-doppler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IRM ‘’Imagerie Résonance Magnétique’’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scannographie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01747" y="2047372"/>
            <a:ext cx="2495442" cy="41553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4273579" y="56938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531483"/>
            <a:ext cx="0" cy="122119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50813" y="2105127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Radiologie</a:t>
            </a:r>
          </a:p>
        </p:txBody>
      </p:sp>
      <p:cxnSp>
        <p:nvCxnSpPr>
          <p:cNvPr id="16" name="Connecteur droit avec flèche 15"/>
          <p:cNvCxnSpPr/>
          <p:nvPr/>
        </p:nvCxnSpPr>
        <p:spPr>
          <a:xfrm flipH="1">
            <a:off x="5819851" y="245550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840178" y="3683031"/>
            <a:ext cx="3362459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Echo-Doppler artériel abdominal et rénal	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48661" y="2877999"/>
            <a:ext cx="938077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Choix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58" name="Connecteur droit avec flèche 57"/>
          <p:cNvCxnSpPr>
            <a:stCxn id="18" idx="2"/>
            <a:endCxn id="59" idx="0"/>
          </p:cNvCxnSpPr>
          <p:nvPr/>
        </p:nvCxnSpPr>
        <p:spPr>
          <a:xfrm flipH="1">
            <a:off x="6443697" y="3980035"/>
            <a:ext cx="1077711" cy="356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705697" y="4336587"/>
            <a:ext cx="1476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Médecin traitant 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0" name="Ellipse 59"/>
          <p:cNvSpPr/>
          <p:nvPr/>
        </p:nvSpPr>
        <p:spPr>
          <a:xfrm flipV="1">
            <a:off x="5705697" y="37700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7148837" y="436517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fr-FR" sz="1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983758" y="499976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9" name="Connecteur en angle 8"/>
          <p:cNvCxnSpPr>
            <a:endCxn id="6" idx="1"/>
          </p:cNvCxnSpPr>
          <p:nvPr/>
        </p:nvCxnSpPr>
        <p:spPr>
          <a:xfrm flipV="1">
            <a:off x="1660605" y="1741134"/>
            <a:ext cx="2919802" cy="1624918"/>
          </a:xfrm>
          <a:prstGeom prst="bentConnector3">
            <a:avLst>
              <a:gd name="adj1" fmla="val 876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/>
          <p:cNvCxnSpPr/>
          <p:nvPr/>
        </p:nvCxnSpPr>
        <p:spPr>
          <a:xfrm flipH="1">
            <a:off x="5799975" y="3204256"/>
            <a:ext cx="1" cy="43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riangle isocèle 52"/>
          <p:cNvSpPr/>
          <p:nvPr/>
        </p:nvSpPr>
        <p:spPr>
          <a:xfrm rot="10800000">
            <a:off x="8634998" y="4372739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6606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4530811" y="59579"/>
            <a:ext cx="3579519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spécialité médicale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1236692" y="433298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29831" y="4253358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896087" y="17941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4023812" y="1765032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729267" y="619908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11160000" cy="4038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3496614" y="555654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2703665" y="5500741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517897" y="6070432"/>
            <a:ext cx="73663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25" name="Triangle isocèle 124"/>
          <p:cNvSpPr/>
          <p:nvPr/>
        </p:nvSpPr>
        <p:spPr>
          <a:xfrm rot="10800000">
            <a:off x="4386825" y="5567352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1" name="Rectangle 140"/>
          <p:cNvSpPr/>
          <p:nvPr/>
        </p:nvSpPr>
        <p:spPr>
          <a:xfrm>
            <a:off x="3502655" y="607986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298548" y="6047805"/>
            <a:ext cx="121023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Alphabétique</a:t>
            </a:r>
            <a:endParaRPr lang="fr-FR" sz="1400" dirty="0"/>
          </a:p>
        </p:txBody>
      </p:sp>
      <p:sp>
        <p:nvSpPr>
          <p:cNvPr id="143" name="Triangle isocèle 142"/>
          <p:cNvSpPr/>
          <p:nvPr/>
        </p:nvSpPr>
        <p:spPr>
          <a:xfrm rot="10800000">
            <a:off x="4398935" y="610383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</a:t>
            </a:r>
            <a:r>
              <a:rPr lang="fr-FR" sz="1400" dirty="0" smtClean="0"/>
              <a:t>Médicaux-chirurgicaux</a:t>
            </a:r>
            <a:endParaRPr lang="fr-FR" sz="1400" dirty="0"/>
          </a:p>
        </p:txBody>
      </p:sp>
      <p:sp>
        <p:nvSpPr>
          <p:cNvPr id="89" name="Triangle isocèle 88"/>
          <p:cNvSpPr/>
          <p:nvPr/>
        </p:nvSpPr>
        <p:spPr>
          <a:xfrm rot="10800000">
            <a:off x="2753290" y="4341752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6447980" y="18029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988151" y="2251732"/>
            <a:ext cx="2163484" cy="194505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70836" y="2326869"/>
            <a:ext cx="1975612" cy="18699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Anatomo-pathologie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Biologie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Cardiologie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Gastro-entérologie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Neurologie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Ophtalmologie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Pneumologie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Radiologie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vasculaire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26300" y="4824985"/>
            <a:ext cx="2453333" cy="40949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Rectangle 11"/>
          <p:cNvSpPr/>
          <p:nvPr/>
        </p:nvSpPr>
        <p:spPr>
          <a:xfrm>
            <a:off x="1206746" y="4872880"/>
            <a:ext cx="1862165" cy="32924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Examen endoscopique</a:t>
            </a:r>
          </a:p>
        </p:txBody>
      </p:sp>
      <p:sp>
        <p:nvSpPr>
          <p:cNvPr id="60" name="Ellipse 59"/>
          <p:cNvSpPr/>
          <p:nvPr/>
        </p:nvSpPr>
        <p:spPr>
          <a:xfrm flipV="1">
            <a:off x="3912072" y="245478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006342" y="489998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1708" y="1411265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Exploration </a:t>
            </a:r>
            <a:r>
              <a:rPr lang="fr-FR" sz="1400" dirty="0" smtClean="0"/>
              <a:t>spécialisée</a:t>
            </a:r>
            <a:endParaRPr lang="fr-FR" sz="1400" dirty="0"/>
          </a:p>
        </p:txBody>
      </p:sp>
      <p:sp>
        <p:nvSpPr>
          <p:cNvPr id="48" name="Ellipse 47"/>
          <p:cNvSpPr/>
          <p:nvPr/>
        </p:nvSpPr>
        <p:spPr>
          <a:xfrm flipV="1">
            <a:off x="587227" y="14983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/>
          <p:cNvSpPr/>
          <p:nvPr/>
        </p:nvSpPr>
        <p:spPr>
          <a:xfrm>
            <a:off x="7638757" y="1430630"/>
            <a:ext cx="21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Consultation spécialisée</a:t>
            </a:r>
          </a:p>
        </p:txBody>
      </p:sp>
      <p:sp>
        <p:nvSpPr>
          <p:cNvPr id="50" name="Ellipse 49"/>
          <p:cNvSpPr/>
          <p:nvPr/>
        </p:nvSpPr>
        <p:spPr>
          <a:xfrm flipV="1">
            <a:off x="7504276" y="151768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1452223" y="180741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486337" y="1727790"/>
            <a:ext cx="972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53" name="Triangle isocèle 52"/>
          <p:cNvSpPr/>
          <p:nvPr/>
        </p:nvSpPr>
        <p:spPr>
          <a:xfrm rot="10800000">
            <a:off x="2968821" y="1816184"/>
            <a:ext cx="161002" cy="452535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Rectangle 60"/>
          <p:cNvSpPr/>
          <p:nvPr/>
        </p:nvSpPr>
        <p:spPr>
          <a:xfrm>
            <a:off x="3798524" y="2232970"/>
            <a:ext cx="3291389" cy="25920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3912072" y="302378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3915091" y="365312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3915739" y="4330845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 médicale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" name="Ellipse 69"/>
          <p:cNvSpPr/>
          <p:nvPr/>
        </p:nvSpPr>
        <p:spPr>
          <a:xfrm flipV="1">
            <a:off x="620359" y="1531451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7" name="Connecteur en angle 16"/>
          <p:cNvCxnSpPr/>
          <p:nvPr/>
        </p:nvCxnSpPr>
        <p:spPr>
          <a:xfrm rot="5400000">
            <a:off x="305001" y="3556980"/>
            <a:ext cx="1320770" cy="307113"/>
          </a:xfrm>
          <a:prstGeom prst="bentConnector3">
            <a:avLst>
              <a:gd name="adj1" fmla="val -1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en angle 91"/>
          <p:cNvCxnSpPr>
            <a:stCxn id="97" idx="3"/>
            <a:endCxn id="6" idx="1"/>
          </p:cNvCxnSpPr>
          <p:nvPr/>
        </p:nvCxnSpPr>
        <p:spPr>
          <a:xfrm flipV="1">
            <a:off x="3279633" y="1939917"/>
            <a:ext cx="744179" cy="3089816"/>
          </a:xfrm>
          <a:prstGeom prst="bentConnector3">
            <a:avLst>
              <a:gd name="adj1" fmla="val 250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4233506" y="2347079"/>
            <a:ext cx="2700000" cy="3383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CPRE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2700000" cy="5190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Fibroscopie </a:t>
            </a:r>
            <a:r>
              <a:rPr lang="fr-FR" sz="1400" dirty="0"/>
              <a:t>Œsogastroduodénale </a:t>
            </a:r>
            <a:endParaRPr lang="fr-FR" sz="1400" dirty="0" smtClean="0"/>
          </a:p>
          <a:p>
            <a:r>
              <a:rPr lang="fr-FR" sz="1400" dirty="0" smtClean="0"/>
              <a:t>FOGD </a:t>
            </a:r>
            <a:r>
              <a:rPr lang="fr-FR" sz="1400" dirty="0"/>
              <a:t>sous </a:t>
            </a:r>
            <a:r>
              <a:rPr lang="fr-FR" sz="1400" dirty="0" smtClean="0"/>
              <a:t>AG</a:t>
            </a:r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4238100" y="3446709"/>
            <a:ext cx="2700000" cy="5645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FOGD </a:t>
            </a:r>
            <a:r>
              <a:rPr lang="fr-FR" sz="1400" dirty="0"/>
              <a:t>sous AG avec Ligature </a:t>
            </a:r>
            <a:endParaRPr lang="fr-FR" sz="1400" dirty="0" smtClean="0"/>
          </a:p>
          <a:p>
            <a:r>
              <a:rPr lang="fr-FR" sz="1400" dirty="0" smtClean="0"/>
              <a:t>ou </a:t>
            </a:r>
            <a:r>
              <a:rPr lang="fr-FR" sz="1400" dirty="0"/>
              <a:t>Sclérose Varices </a:t>
            </a:r>
            <a:r>
              <a:rPr lang="fr-FR" sz="1400" dirty="0" err="1" smtClean="0"/>
              <a:t>oes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4258880" y="4067595"/>
            <a:ext cx="2700000" cy="6362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Ponction d'Ascite </a:t>
            </a:r>
          </a:p>
          <a:p>
            <a:r>
              <a:rPr lang="fr-FR" sz="1400" dirty="0">
                <a:solidFill>
                  <a:schemeClr val="dk1"/>
                </a:solidFill>
              </a:rPr>
              <a:t>/Prise en </a:t>
            </a:r>
            <a:r>
              <a:rPr lang="fr-FR" sz="1400" dirty="0" smtClean="0">
                <a:solidFill>
                  <a:schemeClr val="dk1"/>
                </a:solidFill>
              </a:rPr>
              <a:t>charge</a:t>
            </a:r>
          </a:p>
          <a:p>
            <a:r>
              <a:rPr lang="fr-FR" sz="1400" dirty="0" smtClean="0">
                <a:solidFill>
                  <a:schemeClr val="dk1"/>
                </a:solidFill>
              </a:rPr>
              <a:t>/</a:t>
            </a:r>
            <a:r>
              <a:rPr lang="fr-FR" sz="1400" dirty="0">
                <a:solidFill>
                  <a:schemeClr val="dk1"/>
                </a:solidFill>
              </a:rPr>
              <a:t>injection Album</a:t>
            </a:r>
          </a:p>
        </p:txBody>
      </p:sp>
      <p:cxnSp>
        <p:nvCxnSpPr>
          <p:cNvPr id="104" name="Connecteur droit 103"/>
          <p:cNvCxnSpPr/>
          <p:nvPr/>
        </p:nvCxnSpPr>
        <p:spPr>
          <a:xfrm>
            <a:off x="7261906" y="1284155"/>
            <a:ext cx="11946" cy="3588725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8533809" y="19465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273852" y="1917432"/>
            <a:ext cx="127463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Consultation spécialisée</a:t>
            </a:r>
            <a:endParaRPr lang="fr-FR" sz="1400" dirty="0"/>
          </a:p>
        </p:txBody>
      </p:sp>
      <p:sp>
        <p:nvSpPr>
          <p:cNvPr id="109" name="Triangle isocèle 108"/>
          <p:cNvSpPr/>
          <p:nvPr/>
        </p:nvSpPr>
        <p:spPr>
          <a:xfrm rot="10800000">
            <a:off x="10085702" y="1955329"/>
            <a:ext cx="127406" cy="44591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7608081" y="2420375"/>
            <a:ext cx="2719926" cy="23687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Allergologie / Anatomo-pathologie</a:t>
            </a:r>
          </a:p>
          <a:p>
            <a:r>
              <a:rPr lang="fr-FR" sz="1400" dirty="0"/>
              <a:t>Anesthésie / </a:t>
            </a:r>
            <a:r>
              <a:rPr lang="fr-FR" sz="1400" dirty="0" smtClean="0"/>
              <a:t>Cancérologie</a:t>
            </a:r>
            <a:endParaRPr lang="fr-FR" sz="1400" dirty="0"/>
          </a:p>
          <a:p>
            <a:r>
              <a:rPr lang="fr-FR" sz="1400" dirty="0"/>
              <a:t>Cardiologie / Dentaire	</a:t>
            </a:r>
          </a:p>
          <a:p>
            <a:r>
              <a:rPr lang="fr-FR" sz="1400" dirty="0"/>
              <a:t>Dermatologie  / </a:t>
            </a:r>
            <a:r>
              <a:rPr lang="fr-FR" sz="1400" dirty="0" smtClean="0"/>
              <a:t>Endocrinologie</a:t>
            </a:r>
            <a:endParaRPr lang="fr-FR" sz="1400" dirty="0"/>
          </a:p>
          <a:p>
            <a:r>
              <a:rPr lang="fr-FR" sz="1400" dirty="0"/>
              <a:t>Gastro-entérologie / Gynécologie</a:t>
            </a:r>
          </a:p>
          <a:p>
            <a:r>
              <a:rPr lang="fr-FR" sz="1400" dirty="0"/>
              <a:t>Néphrologie / </a:t>
            </a:r>
            <a:r>
              <a:rPr lang="fr-FR" sz="1400" dirty="0" smtClean="0"/>
              <a:t>Neurologie</a:t>
            </a:r>
            <a:endParaRPr lang="fr-FR" sz="1400" dirty="0"/>
          </a:p>
          <a:p>
            <a:r>
              <a:rPr lang="fr-FR" sz="1400" dirty="0"/>
              <a:t>Ophtalmologie / ORL	</a:t>
            </a:r>
          </a:p>
          <a:p>
            <a:r>
              <a:rPr lang="fr-FR" sz="1400" dirty="0"/>
              <a:t>Orthopédie / Pédiatrie	</a:t>
            </a:r>
          </a:p>
          <a:p>
            <a:r>
              <a:rPr lang="fr-FR" sz="1400" dirty="0"/>
              <a:t>Pneumologie / </a:t>
            </a:r>
            <a:r>
              <a:rPr lang="fr-FR" sz="1400" dirty="0" smtClean="0"/>
              <a:t>Psychiatrie</a:t>
            </a:r>
            <a:endParaRPr lang="fr-FR" sz="1400" dirty="0"/>
          </a:p>
          <a:p>
            <a:r>
              <a:rPr lang="fr-FR" sz="1400" dirty="0"/>
              <a:t>Rhumatologie / </a:t>
            </a:r>
            <a:r>
              <a:rPr lang="fr-FR" sz="1400" dirty="0" smtClean="0"/>
              <a:t>Stomatologie</a:t>
            </a:r>
            <a:endParaRPr lang="fr-FR" sz="1400" dirty="0"/>
          </a:p>
          <a:p>
            <a:r>
              <a:rPr lang="fr-FR" sz="1400" dirty="0"/>
              <a:t>Urologie / Vasculaire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70520" y="4881893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7625034" y="485278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sp>
        <p:nvSpPr>
          <p:cNvPr id="115" name="Triangle isocèle 114"/>
          <p:cNvSpPr/>
          <p:nvPr/>
        </p:nvSpPr>
        <p:spPr>
          <a:xfrm rot="10800000">
            <a:off x="10556564" y="488957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6" name="Connecteur en angle 85"/>
          <p:cNvCxnSpPr>
            <a:stCxn id="81" idx="3"/>
            <a:endCxn id="113" idx="3"/>
          </p:cNvCxnSpPr>
          <p:nvPr/>
        </p:nvCxnSpPr>
        <p:spPr>
          <a:xfrm>
            <a:off x="10328007" y="3604756"/>
            <a:ext cx="433758" cy="1421137"/>
          </a:xfrm>
          <a:prstGeom prst="bentConnector3">
            <a:avLst>
              <a:gd name="adj1" fmla="val 1527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69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Accueil 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Acte médical – Actes médicaux chirurgicaux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494747" y="1311271"/>
            <a:ext cx="77691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Libellé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4131787" y="183399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1"/>
            <a:ext cx="11758269" cy="6184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itre 1"/>
          <p:cNvSpPr txBox="1">
            <a:spLocks/>
          </p:cNvSpPr>
          <p:nvPr/>
        </p:nvSpPr>
        <p:spPr>
          <a:xfrm>
            <a:off x="6295195" y="5675813"/>
            <a:ext cx="5100697" cy="10021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 smtClean="0"/>
              <a:t>Chaque spécialité médicale ayant des familles de spécialité et chaque famille contient des groupes des spécialités médicales.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000" dirty="0"/>
              <a:t>Quand on choisir </a:t>
            </a:r>
            <a:r>
              <a:rPr lang="fr-FR" sz="1000" dirty="0" smtClean="0"/>
              <a:t>la spécialité un choix des familles s’affiche, pour sélectionner une, et quand on choisir la famille un choix des groupe de spécialité s’affiche aussi pour donner la main un </a:t>
            </a:r>
            <a:r>
              <a:rPr lang="fr-FR" sz="1000" dirty="0"/>
              <a:t>tableau </a:t>
            </a:r>
            <a:r>
              <a:rPr lang="fr-FR" sz="1000" dirty="0" smtClean="0"/>
              <a:t>qui s’affiche </a:t>
            </a:r>
            <a:r>
              <a:rPr lang="fr-FR" sz="1000" dirty="0"/>
              <a:t>pour choisir </a:t>
            </a:r>
            <a:r>
              <a:rPr lang="fr-FR" sz="1000" dirty="0" smtClean="0"/>
              <a:t>la spécialité médicales correspondante au choix de patient.</a:t>
            </a:r>
            <a:endParaRPr lang="fr-FR" sz="1000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4488013" y="606531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273370"/>
            <a:ext cx="7956000" cy="349771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1269161" y="609059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332369" y="6070432"/>
            <a:ext cx="99608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acte</a:t>
            </a:r>
            <a:endParaRPr lang="fr-FR" sz="1400" dirty="0"/>
          </a:p>
        </p:txBody>
      </p:sp>
      <p:sp>
        <p:nvSpPr>
          <p:cNvPr id="147" name="Rectangle 146"/>
          <p:cNvSpPr/>
          <p:nvPr/>
        </p:nvSpPr>
        <p:spPr>
          <a:xfrm>
            <a:off x="330438" y="5422303"/>
            <a:ext cx="11160000" cy="126042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/>
          <p:cNvSpPr/>
          <p:nvPr/>
        </p:nvSpPr>
        <p:spPr>
          <a:xfrm>
            <a:off x="396479" y="753011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Biologie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34340" y="75963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Radiologie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62914" y="752659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Spécialité médicale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56358" y="758528"/>
            <a:ext cx="2304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Actes Médicaux-chirurgicaux</a:t>
            </a:r>
          </a:p>
        </p:txBody>
      </p:sp>
      <p:sp>
        <p:nvSpPr>
          <p:cNvPr id="96" name="Triangle isocèle 95"/>
          <p:cNvSpPr/>
          <p:nvPr/>
        </p:nvSpPr>
        <p:spPr>
          <a:xfrm rot="10800000">
            <a:off x="5613507" y="1858579"/>
            <a:ext cx="180000" cy="3240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riangle isocèle 99"/>
          <p:cNvSpPr/>
          <p:nvPr/>
        </p:nvSpPr>
        <p:spPr>
          <a:xfrm rot="10800000">
            <a:off x="2153227" y="60914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6208358" y="5412214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Ellipse 59"/>
          <p:cNvSpPr/>
          <p:nvPr/>
        </p:nvSpPr>
        <p:spPr>
          <a:xfrm flipV="1">
            <a:off x="571399" y="207012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/>
          <p:cNvSpPr/>
          <p:nvPr/>
        </p:nvSpPr>
        <p:spPr>
          <a:xfrm>
            <a:off x="6935736" y="4924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1005772" y="1330461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</a:t>
            </a:r>
            <a:endParaRPr lang="fr-FR" sz="1400" dirty="0"/>
          </a:p>
        </p:txBody>
      </p:sp>
      <p:sp>
        <p:nvSpPr>
          <p:cNvPr id="61" name="Rectangle 60"/>
          <p:cNvSpPr/>
          <p:nvPr/>
        </p:nvSpPr>
        <p:spPr>
          <a:xfrm>
            <a:off x="4099433" y="2219718"/>
            <a:ext cx="1694074" cy="157040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Ellipse 63"/>
          <p:cNvSpPr/>
          <p:nvPr/>
        </p:nvSpPr>
        <p:spPr>
          <a:xfrm flipV="1">
            <a:off x="571399" y="261161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Ellipse 64"/>
          <p:cNvSpPr/>
          <p:nvPr/>
        </p:nvSpPr>
        <p:spPr>
          <a:xfrm flipV="1">
            <a:off x="576231" y="32561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Ellipse 65"/>
          <p:cNvSpPr/>
          <p:nvPr/>
        </p:nvSpPr>
        <p:spPr>
          <a:xfrm flipV="1">
            <a:off x="576231" y="387771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/>
          <p:cNvSpPr/>
          <p:nvPr/>
        </p:nvSpPr>
        <p:spPr>
          <a:xfrm>
            <a:off x="1263622" y="556317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391160" y="5533873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2153833" y="557398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4233506" y="2347078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 smtClean="0"/>
              <a:t>C 1 (100 %)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42080" y="2818485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2 (</a:t>
            </a:r>
            <a:r>
              <a:rPr lang="fr-FR" sz="1400" dirty="0"/>
              <a:t>5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38100" y="3314189"/>
            <a:ext cx="1080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r>
              <a:rPr lang="fr-FR" sz="1400" dirty="0"/>
              <a:t>C </a:t>
            </a:r>
            <a:r>
              <a:rPr lang="fr-FR" sz="1400" dirty="0" smtClean="0"/>
              <a:t>3 (</a:t>
            </a:r>
            <a:r>
              <a:rPr lang="fr-FR" sz="1400" dirty="0"/>
              <a:t>3</a:t>
            </a:r>
            <a:r>
              <a:rPr lang="fr-FR" sz="1400" dirty="0" smtClean="0"/>
              <a:t>0 </a:t>
            </a:r>
            <a:r>
              <a:rPr lang="fr-FR" sz="1400" dirty="0"/>
              <a:t>%)</a:t>
            </a:r>
            <a:endParaRPr lang="fr-FR" sz="1400" dirty="0" smtClean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5923437" y="1284154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5" name="Rectangle 104"/>
          <p:cNvSpPr/>
          <p:nvPr/>
        </p:nvSpPr>
        <p:spPr>
          <a:xfrm>
            <a:off x="6055495" y="1867254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6197866" y="1328178"/>
            <a:ext cx="141841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 traitant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616470" y="1297406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1777201"/>
            <a:ext cx="79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47236" y="1290782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336539" y="1323837"/>
            <a:ext cx="614229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4021744" y="1277530"/>
            <a:ext cx="0" cy="34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4330173" y="1344403"/>
            <a:ext cx="1258754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Pourcentage %</a:t>
            </a:r>
            <a:endParaRPr lang="fr-FR" sz="1400" dirty="0"/>
          </a:p>
        </p:txBody>
      </p:sp>
      <p:sp>
        <p:nvSpPr>
          <p:cNvPr id="80" name="Triangle isocèle 79"/>
          <p:cNvSpPr/>
          <p:nvPr/>
        </p:nvSpPr>
        <p:spPr>
          <a:xfrm rot="10800000">
            <a:off x="7554953" y="18879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82" name="Connecteur droit 81"/>
          <p:cNvCxnSpPr/>
          <p:nvPr/>
        </p:nvCxnSpPr>
        <p:spPr>
          <a:xfrm flipH="1" flipV="1">
            <a:off x="329349" y="239342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8" name="Connecteur droit 87"/>
          <p:cNvCxnSpPr/>
          <p:nvPr/>
        </p:nvCxnSpPr>
        <p:spPr>
          <a:xfrm flipH="1" flipV="1">
            <a:off x="5928395" y="240005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necteur droit 92"/>
          <p:cNvCxnSpPr/>
          <p:nvPr/>
        </p:nvCxnSpPr>
        <p:spPr>
          <a:xfrm flipH="1" flipV="1">
            <a:off x="349229" y="2969895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4" name="Connecteur droit 93"/>
          <p:cNvCxnSpPr/>
          <p:nvPr/>
        </p:nvCxnSpPr>
        <p:spPr>
          <a:xfrm flipH="1" flipV="1">
            <a:off x="5948275" y="2976523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5" name="Connecteur droit 94"/>
          <p:cNvCxnSpPr/>
          <p:nvPr/>
        </p:nvCxnSpPr>
        <p:spPr>
          <a:xfrm flipH="1" flipV="1">
            <a:off x="349229" y="3645757"/>
            <a:ext cx="367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 flipH="1" flipV="1">
            <a:off x="5948275" y="3652385"/>
            <a:ext cx="23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 flipH="1" flipV="1">
            <a:off x="316097" y="4222228"/>
            <a:ext cx="79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Rectangle 111"/>
          <p:cNvSpPr/>
          <p:nvPr/>
        </p:nvSpPr>
        <p:spPr>
          <a:xfrm>
            <a:off x="4151667" y="3841706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Rectangle 116"/>
          <p:cNvSpPr/>
          <p:nvPr/>
        </p:nvSpPr>
        <p:spPr>
          <a:xfrm>
            <a:off x="6075375" y="383520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7574833" y="3842654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Ellipse 120"/>
          <p:cNvSpPr/>
          <p:nvPr/>
        </p:nvSpPr>
        <p:spPr>
          <a:xfrm flipV="1">
            <a:off x="557486" y="4431639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Rectangle 121"/>
          <p:cNvSpPr/>
          <p:nvPr/>
        </p:nvSpPr>
        <p:spPr>
          <a:xfrm>
            <a:off x="6075375" y="25629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Triangle isocèle 125"/>
          <p:cNvSpPr/>
          <p:nvPr/>
        </p:nvSpPr>
        <p:spPr>
          <a:xfrm rot="10800000">
            <a:off x="7574833" y="257044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6088625" y="4365288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riangle isocèle 127"/>
          <p:cNvSpPr/>
          <p:nvPr/>
        </p:nvSpPr>
        <p:spPr>
          <a:xfrm rot="10800000">
            <a:off x="7588083" y="4372737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Rectangle 128"/>
          <p:cNvSpPr/>
          <p:nvPr/>
        </p:nvSpPr>
        <p:spPr>
          <a:xfrm>
            <a:off x="6088627" y="31593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riangle isocèle 129"/>
          <p:cNvSpPr/>
          <p:nvPr/>
        </p:nvSpPr>
        <p:spPr>
          <a:xfrm rot="10800000">
            <a:off x="7588085" y="316678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Triangle isocèle 130"/>
          <p:cNvSpPr/>
          <p:nvPr/>
        </p:nvSpPr>
        <p:spPr>
          <a:xfrm rot="10800000">
            <a:off x="5646639" y="3862528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4145041" y="435191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riangle isocèle 132"/>
          <p:cNvSpPr/>
          <p:nvPr/>
        </p:nvSpPr>
        <p:spPr>
          <a:xfrm rot="10800000">
            <a:off x="5640013" y="435948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999149" y="1920180"/>
            <a:ext cx="45213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 9</a:t>
            </a:r>
            <a:endParaRPr lang="fr-FR" sz="1400" dirty="0"/>
          </a:p>
        </p:txBody>
      </p:sp>
      <p:sp>
        <p:nvSpPr>
          <p:cNvPr id="135" name="Ellipse 134"/>
          <p:cNvSpPr/>
          <p:nvPr/>
        </p:nvSpPr>
        <p:spPr>
          <a:xfrm flipV="1">
            <a:off x="607107" y="2101296"/>
            <a:ext cx="72000" cy="72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810084" y="1893538"/>
            <a:ext cx="1750094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Dilatation pulmonaire</a:t>
            </a:r>
          </a:p>
        </p:txBody>
      </p:sp>
    </p:spTree>
    <p:extLst>
      <p:ext uri="{BB962C8B-B14F-4D97-AF65-F5344CB8AC3E}">
        <p14:creationId xmlns:p14="http://schemas.microsoft.com/office/powerpoint/2010/main" val="27167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07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patients/</a:t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Liste des patients</a:t>
            </a:r>
            <a:endParaRPr lang="fr-FR" sz="1800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328478" y="2040141"/>
            <a:ext cx="126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d’entrée 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2"/>
            <a:ext cx="11758269" cy="54223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56" name="Rectangle 55"/>
          <p:cNvSpPr/>
          <p:nvPr/>
        </p:nvSpPr>
        <p:spPr>
          <a:xfrm>
            <a:off x="8190594" y="935112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1736" y="1975736"/>
            <a:ext cx="9972000" cy="27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 122"/>
          <p:cNvSpPr/>
          <p:nvPr/>
        </p:nvSpPr>
        <p:spPr>
          <a:xfrm>
            <a:off x="3525849" y="958070"/>
            <a:ext cx="4507766" cy="30504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290682" y="757541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Ellipse 59"/>
          <p:cNvSpPr/>
          <p:nvPr/>
        </p:nvSpPr>
        <p:spPr>
          <a:xfrm flipV="1">
            <a:off x="8469709" y="261347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288260" y="2032827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2297295" y="95142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629702" y="922119"/>
            <a:ext cx="169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187506" y="96222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4" name="Connecteur droit 103"/>
          <p:cNvCxnSpPr/>
          <p:nvPr/>
        </p:nvCxnSpPr>
        <p:spPr>
          <a:xfrm>
            <a:off x="4384053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4436560" y="2058568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71" name="Connecteur droit 70"/>
          <p:cNvCxnSpPr/>
          <p:nvPr/>
        </p:nvCxnSpPr>
        <p:spPr>
          <a:xfrm>
            <a:off x="1285167" y="19997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49226" y="24795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4" name="Connecteur droit 73"/>
          <p:cNvCxnSpPr/>
          <p:nvPr/>
        </p:nvCxnSpPr>
        <p:spPr>
          <a:xfrm>
            <a:off x="9110588" y="1993148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itre 1"/>
          <p:cNvSpPr txBox="1">
            <a:spLocks/>
          </p:cNvSpPr>
          <p:nvPr/>
        </p:nvSpPr>
        <p:spPr>
          <a:xfrm>
            <a:off x="8073371" y="2039455"/>
            <a:ext cx="88172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Sélection</a:t>
            </a:r>
            <a:endParaRPr lang="fr-FR" sz="1400" dirty="0"/>
          </a:p>
        </p:txBody>
      </p:sp>
      <p:cxnSp>
        <p:nvCxnSpPr>
          <p:cNvPr id="76" name="Connecteur droit 75"/>
          <p:cNvCxnSpPr/>
          <p:nvPr/>
        </p:nvCxnSpPr>
        <p:spPr>
          <a:xfrm>
            <a:off x="2683275" y="1979896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2729055" y="204676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449262" y="251548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1359068" y="25817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14/05/2013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3" name="Ellipse 72"/>
          <p:cNvSpPr/>
          <p:nvPr/>
        </p:nvSpPr>
        <p:spPr>
          <a:xfrm flipV="1">
            <a:off x="9576263" y="260684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6" name="Connecteur droit 85"/>
          <p:cNvCxnSpPr/>
          <p:nvPr/>
        </p:nvCxnSpPr>
        <p:spPr>
          <a:xfrm>
            <a:off x="6110568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Titre 1"/>
          <p:cNvSpPr txBox="1">
            <a:spLocks/>
          </p:cNvSpPr>
          <p:nvPr/>
        </p:nvSpPr>
        <p:spPr>
          <a:xfrm>
            <a:off x="9261849" y="2032827"/>
            <a:ext cx="889001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Supprime 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6179524" y="2026770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naissance</a:t>
            </a:r>
            <a:endParaRPr lang="fr-FR" sz="1400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7884760" y="1973272"/>
            <a:ext cx="0" cy="27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9" name="Rectangle 108"/>
          <p:cNvSpPr/>
          <p:nvPr/>
        </p:nvSpPr>
        <p:spPr>
          <a:xfrm>
            <a:off x="2902947" y="2575118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4645605" y="2581746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6441278" y="2588370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22/04/1972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6" name="Titre 1"/>
          <p:cNvSpPr txBox="1">
            <a:spLocks/>
          </p:cNvSpPr>
          <p:nvPr/>
        </p:nvSpPr>
        <p:spPr>
          <a:xfrm>
            <a:off x="329351" y="1518537"/>
            <a:ext cx="250167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/>
              <a:t>Liste des </a:t>
            </a:r>
            <a:r>
              <a:rPr lang="fr-FR" sz="1600" b="1" u="sng" dirty="0" smtClean="0"/>
              <a:t>patients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19" name="Ellipse 118"/>
          <p:cNvSpPr/>
          <p:nvPr/>
        </p:nvSpPr>
        <p:spPr>
          <a:xfrm flipV="1">
            <a:off x="8436579" y="312367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0" name="Connecteur droit 119"/>
          <p:cNvCxnSpPr/>
          <p:nvPr/>
        </p:nvCxnSpPr>
        <p:spPr>
          <a:xfrm flipH="1" flipV="1">
            <a:off x="316096" y="2936767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6" name="Ellipse 135"/>
          <p:cNvSpPr/>
          <p:nvPr/>
        </p:nvSpPr>
        <p:spPr>
          <a:xfrm flipV="1">
            <a:off x="9543133" y="3130306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Ellipse 139"/>
          <p:cNvSpPr/>
          <p:nvPr/>
        </p:nvSpPr>
        <p:spPr>
          <a:xfrm flipV="1">
            <a:off x="8449833" y="3706774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1" name="Connecteur droit 140"/>
          <p:cNvCxnSpPr/>
          <p:nvPr/>
        </p:nvCxnSpPr>
        <p:spPr>
          <a:xfrm flipH="1" flipV="1">
            <a:off x="329350" y="3506611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3" name="Ellipse 142"/>
          <p:cNvSpPr/>
          <p:nvPr/>
        </p:nvSpPr>
        <p:spPr>
          <a:xfrm flipV="1">
            <a:off x="9556387" y="3700150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8" name="Ellipse 147"/>
          <p:cNvSpPr/>
          <p:nvPr/>
        </p:nvSpPr>
        <p:spPr>
          <a:xfrm flipV="1">
            <a:off x="8449833" y="4316372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9" name="Connecteur droit 148"/>
          <p:cNvCxnSpPr/>
          <p:nvPr/>
        </p:nvCxnSpPr>
        <p:spPr>
          <a:xfrm flipH="1" flipV="1">
            <a:off x="329350" y="4076453"/>
            <a:ext cx="993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Ellipse 150"/>
          <p:cNvSpPr/>
          <p:nvPr/>
        </p:nvSpPr>
        <p:spPr>
          <a:xfrm flipV="1">
            <a:off x="9556387" y="4309748"/>
            <a:ext cx="144000" cy="144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Titre 1"/>
          <p:cNvSpPr txBox="1">
            <a:spLocks/>
          </p:cNvSpPr>
          <p:nvPr/>
        </p:nvSpPr>
        <p:spPr>
          <a:xfrm>
            <a:off x="469142" y="2992212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7" name="Titre 1"/>
          <p:cNvSpPr txBox="1">
            <a:spLocks/>
          </p:cNvSpPr>
          <p:nvPr/>
        </p:nvSpPr>
        <p:spPr>
          <a:xfrm>
            <a:off x="462518" y="3568679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8" name="Titre 1"/>
          <p:cNvSpPr txBox="1">
            <a:spLocks/>
          </p:cNvSpPr>
          <p:nvPr/>
        </p:nvSpPr>
        <p:spPr>
          <a:xfrm>
            <a:off x="469142" y="413189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1410047" y="297896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0" name="Titre 1"/>
          <p:cNvSpPr txBox="1">
            <a:spLocks/>
          </p:cNvSpPr>
          <p:nvPr/>
        </p:nvSpPr>
        <p:spPr>
          <a:xfrm>
            <a:off x="1403423" y="358193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390170" y="413852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2940671" y="297233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2934047" y="357531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2920794" y="413190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4636953" y="299884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4630329" y="3601815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4617076" y="4158404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8" name="Titre 1"/>
          <p:cNvSpPr txBox="1">
            <a:spLocks/>
          </p:cNvSpPr>
          <p:nvPr/>
        </p:nvSpPr>
        <p:spPr>
          <a:xfrm>
            <a:off x="6439250" y="2985586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69" name="Titre 1"/>
          <p:cNvSpPr txBox="1">
            <a:spLocks/>
          </p:cNvSpPr>
          <p:nvPr/>
        </p:nvSpPr>
        <p:spPr>
          <a:xfrm>
            <a:off x="6432626" y="3588561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0" name="Titre 1"/>
          <p:cNvSpPr txBox="1">
            <a:spLocks/>
          </p:cNvSpPr>
          <p:nvPr/>
        </p:nvSpPr>
        <p:spPr>
          <a:xfrm>
            <a:off x="6419373" y="4145150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440660" y="5312738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831022" y="5299633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175" name="Titre 1"/>
          <p:cNvSpPr txBox="1">
            <a:spLocks/>
          </p:cNvSpPr>
          <p:nvPr/>
        </p:nvSpPr>
        <p:spPr>
          <a:xfrm>
            <a:off x="1821443" y="5290752"/>
            <a:ext cx="67071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77" name="Titre 1"/>
          <p:cNvSpPr txBox="1">
            <a:spLocks/>
          </p:cNvSpPr>
          <p:nvPr/>
        </p:nvSpPr>
        <p:spPr>
          <a:xfrm>
            <a:off x="5658389" y="5319145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3691406" y="536544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79" name="Rectangle 178"/>
          <p:cNvSpPr/>
          <p:nvPr/>
        </p:nvSpPr>
        <p:spPr>
          <a:xfrm>
            <a:off x="4355884" y="5371483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6003571" y="5378712"/>
            <a:ext cx="1106599" cy="289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1628058" y="53577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3821294" y="535114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Rectangle 182"/>
          <p:cNvSpPr/>
          <p:nvPr/>
        </p:nvSpPr>
        <p:spPr>
          <a:xfrm>
            <a:off x="6193437" y="5364392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4" name="Rectangle 183"/>
          <p:cNvSpPr/>
          <p:nvPr/>
        </p:nvSpPr>
        <p:spPr>
          <a:xfrm>
            <a:off x="350318" y="5150633"/>
            <a:ext cx="9936000" cy="71465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Titre 1"/>
          <p:cNvSpPr txBox="1">
            <a:spLocks/>
          </p:cNvSpPr>
          <p:nvPr/>
        </p:nvSpPr>
        <p:spPr>
          <a:xfrm>
            <a:off x="294888" y="4746692"/>
            <a:ext cx="1828492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r>
              <a:rPr lang="fr-FR" sz="1600" dirty="0"/>
              <a:t> </a:t>
            </a:r>
            <a:r>
              <a:rPr lang="fr-FR" sz="1600" dirty="0" smtClean="0"/>
              <a:t>  </a:t>
            </a:r>
            <a:r>
              <a:rPr lang="fr-FR" sz="1600" b="1" u="sng" dirty="0" smtClean="0"/>
              <a:t>Exemple</a:t>
            </a:r>
            <a:endParaRPr lang="fr-FR" sz="1600" b="1" u="sng" dirty="0"/>
          </a:p>
        </p:txBody>
      </p:sp>
      <p:sp>
        <p:nvSpPr>
          <p:cNvPr id="186" name="Titre 1"/>
          <p:cNvSpPr txBox="1">
            <a:spLocks/>
          </p:cNvSpPr>
          <p:nvPr/>
        </p:nvSpPr>
        <p:spPr>
          <a:xfrm>
            <a:off x="86068" y="6277866"/>
            <a:ext cx="9814594" cy="4239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</a:t>
            </a:r>
            <a:r>
              <a:rPr lang="fr-FR" sz="1400" b="1" dirty="0"/>
              <a:t> </a:t>
            </a:r>
            <a:r>
              <a:rPr lang="fr-FR" sz="1400" b="1" dirty="0" smtClean="0"/>
              <a:t>: </a:t>
            </a:r>
            <a:r>
              <a:rPr lang="fr-FR" sz="1400" dirty="0" smtClean="0"/>
              <a:t>Nom de naissance, prénom, service, N° dossier</a:t>
            </a:r>
          </a:p>
        </p:txBody>
      </p:sp>
    </p:spTree>
    <p:extLst>
      <p:ext uri="{BB962C8B-B14F-4D97-AF65-F5344CB8AC3E}">
        <p14:creationId xmlns:p14="http://schemas.microsoft.com/office/powerpoint/2010/main" val="861691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08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Etat civil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26185" y="3205523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40119" y="311075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6393584" y="321212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5521309" y="3183020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526184" y="3602351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1918572" y="3532780"/>
            <a:ext cx="1678782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 *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399277" y="3605302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408537" y="3574604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de  naissance</a:t>
            </a:r>
            <a:endParaRPr lang="fr-FR" sz="1400" dirty="0"/>
          </a:p>
        </p:txBody>
      </p:sp>
      <p:sp>
        <p:nvSpPr>
          <p:cNvPr id="135" name="Rectangle 134"/>
          <p:cNvSpPr/>
          <p:nvPr/>
        </p:nvSpPr>
        <p:spPr>
          <a:xfrm>
            <a:off x="9395135" y="3205523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8740812" y="3183010"/>
            <a:ext cx="58288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145" name="Rectangle 144"/>
          <p:cNvSpPr/>
          <p:nvPr/>
        </p:nvSpPr>
        <p:spPr>
          <a:xfrm>
            <a:off x="9393907" y="3630558"/>
            <a:ext cx="144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Titre 1"/>
          <p:cNvSpPr txBox="1">
            <a:spLocks/>
          </p:cNvSpPr>
          <p:nvPr/>
        </p:nvSpPr>
        <p:spPr>
          <a:xfrm>
            <a:off x="8196079" y="3597468"/>
            <a:ext cx="126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 de  naissance</a:t>
            </a:r>
            <a:endParaRPr lang="fr-FR" sz="1400" dirty="0"/>
          </a:p>
        </p:txBody>
      </p:sp>
      <p:sp>
        <p:nvSpPr>
          <p:cNvPr id="150" name="Titre 1"/>
          <p:cNvSpPr txBox="1">
            <a:spLocks/>
          </p:cNvSpPr>
          <p:nvPr/>
        </p:nvSpPr>
        <p:spPr>
          <a:xfrm>
            <a:off x="6480516" y="4741583"/>
            <a:ext cx="76481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Wilaya </a:t>
            </a:r>
            <a:endParaRPr lang="fr-FR" sz="12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4791841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4754141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* </a:t>
            </a:r>
            <a:endParaRPr lang="fr-FR" sz="1400" dirty="0"/>
          </a:p>
        </p:txBody>
      </p:sp>
      <p:sp>
        <p:nvSpPr>
          <p:cNvPr id="154" name="Rectangle 153"/>
          <p:cNvSpPr/>
          <p:nvPr/>
        </p:nvSpPr>
        <p:spPr>
          <a:xfrm>
            <a:off x="7184879" y="4774641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8041883" y="473208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Commune</a:t>
            </a:r>
            <a:endParaRPr lang="fr-FR" sz="1200" dirty="0" smtClean="0"/>
          </a:p>
        </p:txBody>
      </p:sp>
      <p:sp>
        <p:nvSpPr>
          <p:cNvPr id="171" name="Rectangle 170"/>
          <p:cNvSpPr/>
          <p:nvPr/>
        </p:nvSpPr>
        <p:spPr>
          <a:xfrm>
            <a:off x="8972082" y="4762509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10095309" y="4747104"/>
            <a:ext cx="108300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Postal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1077044" y="4762971"/>
            <a:ext cx="671988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5648661" y="517741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6400925" y="5160104"/>
            <a:ext cx="1660572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613783" y="518572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518312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3555871" y="5941349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2776174" y="5885544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Type </a:t>
            </a:r>
            <a:r>
              <a:rPr lang="fr-FR" sz="1400" dirty="0" smtClean="0"/>
              <a:t>P.I</a:t>
            </a:r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8776585" y="5940935"/>
            <a:ext cx="108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6390754" y="593206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3" name="Titre 1"/>
          <p:cNvSpPr txBox="1">
            <a:spLocks/>
          </p:cNvSpPr>
          <p:nvPr/>
        </p:nvSpPr>
        <p:spPr>
          <a:xfrm>
            <a:off x="5702375" y="5899314"/>
            <a:ext cx="60442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P.I</a:t>
            </a:r>
            <a:endParaRPr lang="fr-FR" sz="1400" dirty="0"/>
          </a:p>
        </p:txBody>
      </p:sp>
      <p:sp>
        <p:nvSpPr>
          <p:cNvPr id="184" name="Triangle isocèle 183"/>
          <p:cNvSpPr/>
          <p:nvPr/>
        </p:nvSpPr>
        <p:spPr>
          <a:xfrm rot="10800000">
            <a:off x="4693029" y="59521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5" name="Rectangle 184"/>
          <p:cNvSpPr/>
          <p:nvPr/>
        </p:nvSpPr>
        <p:spPr>
          <a:xfrm>
            <a:off x="10779649" y="5925420"/>
            <a:ext cx="987416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9919997" y="5904935"/>
            <a:ext cx="90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le</a:t>
            </a:r>
          </a:p>
        </p:txBody>
      </p:sp>
      <p:sp>
        <p:nvSpPr>
          <p:cNvPr id="188" name="Titre 1"/>
          <p:cNvSpPr txBox="1">
            <a:spLocks/>
          </p:cNvSpPr>
          <p:nvPr/>
        </p:nvSpPr>
        <p:spPr>
          <a:xfrm>
            <a:off x="7823677" y="5906376"/>
            <a:ext cx="97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Délivré </a:t>
            </a:r>
            <a:r>
              <a:rPr lang="fr-FR" sz="1400" dirty="0" smtClean="0"/>
              <a:t>par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3537665" y="400056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2064541" y="3931205"/>
            <a:ext cx="151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Situation familiale</a:t>
            </a:r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406306" y="3997317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5289681" y="4004860"/>
            <a:ext cx="108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marital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549247" y="439747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225273" y="4368534"/>
            <a:ext cx="133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Niveau scolaire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4687993" y="441035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Rectangle 203"/>
          <p:cNvSpPr/>
          <p:nvPr/>
        </p:nvSpPr>
        <p:spPr>
          <a:xfrm>
            <a:off x="6387840" y="4382780"/>
            <a:ext cx="1625743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5" name="Titre 1"/>
          <p:cNvSpPr txBox="1">
            <a:spLocks/>
          </p:cNvSpPr>
          <p:nvPr/>
        </p:nvSpPr>
        <p:spPr>
          <a:xfrm>
            <a:off x="5428566" y="4366218"/>
            <a:ext cx="1044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Profession 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549245" y="556366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862312" y="5507860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210" name="Rectangle 209"/>
          <p:cNvSpPr/>
          <p:nvPr/>
        </p:nvSpPr>
        <p:spPr>
          <a:xfrm>
            <a:off x="6383447" y="5542541"/>
            <a:ext cx="1512000" cy="2958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1" name="Titre 1"/>
          <p:cNvSpPr txBox="1">
            <a:spLocks/>
          </p:cNvSpPr>
          <p:nvPr/>
        </p:nvSpPr>
        <p:spPr>
          <a:xfrm>
            <a:off x="5455623" y="5507860"/>
            <a:ext cx="100463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</a:t>
            </a:r>
            <a:endParaRPr lang="fr-FR" sz="1400" dirty="0"/>
          </a:p>
        </p:txBody>
      </p:sp>
      <p:sp>
        <p:nvSpPr>
          <p:cNvPr id="212" name="Triangle isocèle 211"/>
          <p:cNvSpPr/>
          <p:nvPr/>
        </p:nvSpPr>
        <p:spPr>
          <a:xfrm rot="10800000">
            <a:off x="4699655" y="5574471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3" name="Titre 1"/>
          <p:cNvSpPr txBox="1">
            <a:spLocks/>
          </p:cNvSpPr>
          <p:nvPr/>
        </p:nvSpPr>
        <p:spPr>
          <a:xfrm>
            <a:off x="8432822" y="3983340"/>
            <a:ext cx="900000" cy="417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 sanguine</a:t>
            </a:r>
            <a:endParaRPr lang="fr-FR" sz="1200" dirty="0" smtClean="0"/>
          </a:p>
        </p:txBody>
      </p:sp>
      <p:sp>
        <p:nvSpPr>
          <p:cNvPr id="214" name="Rectangle 213"/>
          <p:cNvSpPr/>
          <p:nvPr/>
        </p:nvSpPr>
        <p:spPr>
          <a:xfrm>
            <a:off x="9393907" y="4051900"/>
            <a:ext cx="90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Etat civil</a:t>
            </a:r>
            <a:endParaRPr lang="fr-FR" sz="1400" dirty="0"/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smtClean="0"/>
              <a:t>Sécurité sociale</a:t>
            </a:r>
            <a:endParaRPr lang="fr-FR" sz="1400" dirty="0" smtClean="0"/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91427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09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Sécurité sociale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220669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906231" y="316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Organisme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3896717" y="3669546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3105967" y="3600296"/>
            <a:ext cx="79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Agence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4102727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3035087" y="4065027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 </a:t>
            </a:r>
            <a:endParaRPr lang="fr-FR" sz="1400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6608484" y="4561466"/>
            <a:ext cx="756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Malade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7381253" y="45685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25644"/>
            <a:ext cx="9972000" cy="327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9" name="Rectangle 178"/>
          <p:cNvSpPr/>
          <p:nvPr/>
        </p:nvSpPr>
        <p:spPr>
          <a:xfrm>
            <a:off x="7386542" y="4988956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0" name="Titre 1"/>
          <p:cNvSpPr txBox="1">
            <a:spLocks/>
          </p:cNvSpPr>
          <p:nvPr/>
        </p:nvSpPr>
        <p:spPr>
          <a:xfrm>
            <a:off x="5749163" y="4933151"/>
            <a:ext cx="165804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ouverture droit</a:t>
            </a:r>
            <a:endParaRPr lang="fr-FR" sz="1400" dirty="0"/>
          </a:p>
        </p:txBody>
      </p:sp>
      <p:sp>
        <p:nvSpPr>
          <p:cNvPr id="197" name="Rectangle 196"/>
          <p:cNvSpPr/>
          <p:nvPr/>
        </p:nvSpPr>
        <p:spPr>
          <a:xfrm>
            <a:off x="7354749" y="3670930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8" name="Titre 1"/>
          <p:cNvSpPr txBox="1">
            <a:spLocks/>
          </p:cNvSpPr>
          <p:nvPr/>
        </p:nvSpPr>
        <p:spPr>
          <a:xfrm>
            <a:off x="6247851" y="36003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centre</a:t>
            </a:r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529993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322159" y="4501054"/>
            <a:ext cx="1552952" cy="383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</a:t>
            </a:r>
            <a:r>
              <a:rPr lang="fr-FR" sz="1400" smtClean="0"/>
              <a:t>sécurité sociale</a:t>
            </a:r>
            <a:endParaRPr lang="fr-FR" sz="1400" dirty="0"/>
          </a:p>
        </p:txBody>
      </p:sp>
      <p:sp>
        <p:nvSpPr>
          <p:cNvPr id="203" name="Triangle isocèle 202"/>
          <p:cNvSpPr/>
          <p:nvPr/>
        </p:nvSpPr>
        <p:spPr>
          <a:xfrm rot="10800000">
            <a:off x="5059052" y="4542875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8057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2769994" y="4964523"/>
            <a:ext cx="12360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 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237536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riangle isocèle 102"/>
          <p:cNvSpPr/>
          <p:nvPr/>
        </p:nvSpPr>
        <p:spPr>
          <a:xfrm rot="10800000">
            <a:off x="5324100" y="3681480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7407212" y="5419641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5728493" y="5388588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dépôt de prise en charge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435690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2276942" y="5419641"/>
            <a:ext cx="1658049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expiration de prise en charge</a:t>
            </a:r>
            <a:endParaRPr lang="fr-FR" sz="1400" dirty="0"/>
          </a:p>
        </p:txBody>
      </p:sp>
      <p:sp>
        <p:nvSpPr>
          <p:cNvPr id="115" name="Titre 1"/>
          <p:cNvSpPr txBox="1">
            <a:spLocks/>
          </p:cNvSpPr>
          <p:nvPr/>
        </p:nvSpPr>
        <p:spPr>
          <a:xfrm>
            <a:off x="3010519" y="5933066"/>
            <a:ext cx="90000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Praticien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3915808" y="5940117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/>
              <a:t>Sécurité </a:t>
            </a:r>
            <a:r>
              <a:rPr lang="fr-FR" sz="140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90308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Mode de transport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71612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323920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5667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37002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5251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27493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714388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33900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7251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65895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79147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58151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75154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34751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40356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8620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41687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8905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819927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8865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983827" y="2224980"/>
            <a:ext cx="133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64988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44218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4435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27139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30957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50846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31330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889654" y="3445955"/>
            <a:ext cx="1620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627938" y="3429199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smtClean="0"/>
              <a:t>Raison social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915501" y="3970203"/>
            <a:ext cx="2808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995331" y="3919251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</a:t>
            </a:r>
            <a:endParaRPr lang="fr-FR" sz="1400" dirty="0"/>
          </a:p>
        </p:txBody>
      </p:sp>
      <p:sp>
        <p:nvSpPr>
          <p:cNvPr id="178" name="Rectangle 177"/>
          <p:cNvSpPr/>
          <p:nvPr/>
        </p:nvSpPr>
        <p:spPr>
          <a:xfrm>
            <a:off x="1884696" y="3195842"/>
            <a:ext cx="9972000" cy="266286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Rectangle 200"/>
          <p:cNvSpPr/>
          <p:nvPr/>
        </p:nvSpPr>
        <p:spPr>
          <a:xfrm>
            <a:off x="3920306" y="4476985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2" name="Titre 1"/>
          <p:cNvSpPr txBox="1">
            <a:spLocks/>
          </p:cNvSpPr>
          <p:nvPr/>
        </p:nvSpPr>
        <p:spPr>
          <a:xfrm>
            <a:off x="2911757" y="4443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3920305" y="4927564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9" name="Titre 1"/>
          <p:cNvSpPr txBox="1">
            <a:spLocks/>
          </p:cNvSpPr>
          <p:nvPr/>
        </p:nvSpPr>
        <p:spPr>
          <a:xfrm>
            <a:off x="3097966" y="487229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Faxe</a:t>
            </a:r>
            <a:endParaRPr lang="fr-FR" sz="1400" dirty="0"/>
          </a:p>
        </p:txBody>
      </p:sp>
      <p:sp>
        <p:nvSpPr>
          <p:cNvPr id="215" name="Rectangle 214"/>
          <p:cNvSpPr/>
          <p:nvPr/>
        </p:nvSpPr>
        <p:spPr>
          <a:xfrm>
            <a:off x="9860365" y="6023955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422504" y="603058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6997891" y="6023957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98" name="Triangle isocèle 97"/>
          <p:cNvSpPr/>
          <p:nvPr/>
        </p:nvSpPr>
        <p:spPr>
          <a:xfrm rot="10800000">
            <a:off x="5317473" y="346282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3" name="Rectangle 112"/>
          <p:cNvSpPr/>
          <p:nvPr/>
        </p:nvSpPr>
        <p:spPr>
          <a:xfrm>
            <a:off x="3927573" y="5382682"/>
            <a:ext cx="1332000" cy="28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4" name="Titre 1"/>
          <p:cNvSpPr txBox="1">
            <a:spLocks/>
          </p:cNvSpPr>
          <p:nvPr/>
        </p:nvSpPr>
        <p:spPr>
          <a:xfrm>
            <a:off x="3007159" y="5326509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3007159" y="2714329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45020" y="272095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/>
              <a:t>Sécurité </a:t>
            </a:r>
            <a:r>
              <a:rPr lang="fr-FR" sz="1400" smtClean="0"/>
              <a:t>sociale</a:t>
            </a:r>
            <a:endParaRPr lang="fr-FR" sz="1400" dirty="0"/>
          </a:p>
        </p:txBody>
      </p:sp>
      <p:sp>
        <p:nvSpPr>
          <p:cNvPr id="141" name="Rectangle 140"/>
          <p:cNvSpPr/>
          <p:nvPr/>
        </p:nvSpPr>
        <p:spPr>
          <a:xfrm>
            <a:off x="5873594" y="2713977"/>
            <a:ext cx="168154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Mode de transport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667038" y="2719846"/>
            <a:ext cx="31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Personne à prévenir en cas de nécessité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3345444" y="79826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76" name="Rectangle 75"/>
          <p:cNvSpPr/>
          <p:nvPr/>
        </p:nvSpPr>
        <p:spPr>
          <a:xfrm>
            <a:off x="5453943" y="81995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118421" y="82599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7766108" y="80671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6620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Fiche patient/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Personne à prévenir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191992" y="594180"/>
            <a:ext cx="11758269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92310" y="1845105"/>
            <a:ext cx="180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7" name="Rectangle 146"/>
          <p:cNvSpPr/>
          <p:nvPr/>
        </p:nvSpPr>
        <p:spPr>
          <a:xfrm>
            <a:off x="1920696" y="1297413"/>
            <a:ext cx="9936000" cy="133732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430164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768325" y="1410495"/>
            <a:ext cx="119174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Provenance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4801558" y="1426004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7009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6878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7073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152059" y="7460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7393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7526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6316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035" y="81780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487049" y="1480037"/>
            <a:ext cx="144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Fiche d’identification</a:t>
            </a:r>
            <a:endParaRPr lang="fr-FR" sz="1600" b="1" u="sng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911649" y="1813849"/>
            <a:ext cx="2052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d’hospitalisation</a:t>
            </a:r>
            <a:endParaRPr lang="fr-FR" sz="1400" dirty="0"/>
          </a:p>
        </p:txBody>
      </p:sp>
      <p:sp>
        <p:nvSpPr>
          <p:cNvPr id="96" name="Triangle isocèle 95"/>
          <p:cNvSpPr/>
          <p:nvPr/>
        </p:nvSpPr>
        <p:spPr>
          <a:xfrm rot="10800000">
            <a:off x="5510711" y="1859698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Titre 1"/>
          <p:cNvSpPr txBox="1">
            <a:spLocks/>
          </p:cNvSpPr>
          <p:nvPr/>
        </p:nvSpPr>
        <p:spPr>
          <a:xfrm>
            <a:off x="2412186" y="2215180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d’accueil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92310" y="2262549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5804035" y="1793420"/>
            <a:ext cx="1519928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d’admission</a:t>
            </a:r>
            <a:endParaRPr lang="fr-FR" sz="1400" dirty="0"/>
          </a:p>
        </p:txBody>
      </p:sp>
      <p:sp>
        <p:nvSpPr>
          <p:cNvPr id="105" name="Triangle isocèle 104"/>
          <p:cNvSpPr/>
          <p:nvPr/>
        </p:nvSpPr>
        <p:spPr>
          <a:xfrm rot="10800000">
            <a:off x="5510710" y="2262146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5665777" y="2198473"/>
            <a:ext cx="1574045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dépôt</a:t>
            </a:r>
            <a:endParaRPr lang="fr-FR" sz="1400" dirty="0"/>
          </a:p>
        </p:txBody>
      </p:sp>
      <p:sp>
        <p:nvSpPr>
          <p:cNvPr id="117" name="Rectangle 116"/>
          <p:cNvSpPr/>
          <p:nvPr/>
        </p:nvSpPr>
        <p:spPr>
          <a:xfrm>
            <a:off x="7344512" y="1838481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10210593" y="2217711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riangle isocèle 121"/>
          <p:cNvSpPr/>
          <p:nvPr/>
        </p:nvSpPr>
        <p:spPr>
          <a:xfrm rot="10800000">
            <a:off x="11449157" y="2217850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9241353" y="180063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10210593" y="1804450"/>
            <a:ext cx="1440000" cy="2860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7354749" y="2224339"/>
            <a:ext cx="1440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9247981" y="2204823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Statut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539437" y="3854877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953371" y="3799864"/>
            <a:ext cx="161995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 *</a:t>
            </a:r>
            <a:endParaRPr lang="fr-FR" sz="1400" dirty="0"/>
          </a:p>
        </p:txBody>
      </p:sp>
      <p:sp>
        <p:nvSpPr>
          <p:cNvPr id="110" name="Rectangle 109"/>
          <p:cNvSpPr/>
          <p:nvPr/>
        </p:nvSpPr>
        <p:spPr>
          <a:xfrm>
            <a:off x="3544366" y="4365066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2672091" y="4388969"/>
            <a:ext cx="908699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 *</a:t>
            </a:r>
            <a:endParaRPr lang="fr-FR" sz="1400" dirty="0"/>
          </a:p>
        </p:txBody>
      </p:sp>
      <p:sp>
        <p:nvSpPr>
          <p:cNvPr id="152" name="Rectangle 151"/>
          <p:cNvSpPr/>
          <p:nvPr/>
        </p:nvSpPr>
        <p:spPr>
          <a:xfrm>
            <a:off x="3544438" y="5852012"/>
            <a:ext cx="36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Titre 1"/>
          <p:cNvSpPr txBox="1">
            <a:spLocks/>
          </p:cNvSpPr>
          <p:nvPr/>
        </p:nvSpPr>
        <p:spPr>
          <a:xfrm>
            <a:off x="2703780" y="5814312"/>
            <a:ext cx="929476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Adresse </a:t>
            </a:r>
            <a:endParaRPr lang="fr-FR" sz="1400" dirty="0"/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2799439" y="5362946"/>
            <a:ext cx="679072" cy="3371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E-mail</a:t>
            </a:r>
            <a:endParaRPr lang="fr-FR" sz="1400" dirty="0"/>
          </a:p>
        </p:txBody>
      </p:sp>
      <p:sp>
        <p:nvSpPr>
          <p:cNvPr id="175" name="Rectangle 174"/>
          <p:cNvSpPr/>
          <p:nvPr/>
        </p:nvSpPr>
        <p:spPr>
          <a:xfrm>
            <a:off x="3551703" y="5385390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6" name="Titre 1"/>
          <p:cNvSpPr txBox="1">
            <a:spLocks/>
          </p:cNvSpPr>
          <p:nvPr/>
        </p:nvSpPr>
        <p:spPr>
          <a:xfrm>
            <a:off x="2471091" y="4921855"/>
            <a:ext cx="1063710" cy="2710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Téléphone *</a:t>
            </a:r>
            <a:endParaRPr lang="fr-FR" sz="1400" dirty="0"/>
          </a:p>
        </p:txBody>
      </p:sp>
      <p:sp>
        <p:nvSpPr>
          <p:cNvPr id="177" name="Rectangle 176"/>
          <p:cNvSpPr/>
          <p:nvPr/>
        </p:nvSpPr>
        <p:spPr>
          <a:xfrm>
            <a:off x="3550917" y="490482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8" name="Rectangle 177"/>
          <p:cNvSpPr/>
          <p:nvPr/>
        </p:nvSpPr>
        <p:spPr>
          <a:xfrm>
            <a:off x="1888742" y="3124982"/>
            <a:ext cx="9972000" cy="320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5" name="Rectangle 214"/>
          <p:cNvSpPr/>
          <p:nvPr/>
        </p:nvSpPr>
        <p:spPr>
          <a:xfrm>
            <a:off x="9939877" y="6395016"/>
            <a:ext cx="19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code barre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502016" y="640164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Annuler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077403" y="63950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967401" y="2701077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Etat civil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405262" y="2707705"/>
            <a:ext cx="133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smtClean="0"/>
              <a:t>Sécurité sociale</a:t>
            </a:r>
            <a:endParaRPr lang="fr-FR" sz="1400" dirty="0" smtClean="0"/>
          </a:p>
        </p:txBody>
      </p:sp>
      <p:sp>
        <p:nvSpPr>
          <p:cNvPr id="221" name="Rectangle 220"/>
          <p:cNvSpPr/>
          <p:nvPr/>
        </p:nvSpPr>
        <p:spPr>
          <a:xfrm>
            <a:off x="5833836" y="2700725"/>
            <a:ext cx="168154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Mode de transport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627280" y="2706594"/>
            <a:ext cx="313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Personne à prévenir en cas de nécessité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35993" y="3324049"/>
            <a:ext cx="180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2862312" y="3321252"/>
            <a:ext cx="785951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Parent</a:t>
            </a:r>
            <a:endParaRPr lang="fr-FR" sz="1400" dirty="0"/>
          </a:p>
        </p:txBody>
      </p:sp>
      <p:sp>
        <p:nvSpPr>
          <p:cNvPr id="108" name="Triangle isocèle 107"/>
          <p:cNvSpPr/>
          <p:nvPr/>
        </p:nvSpPr>
        <p:spPr>
          <a:xfrm rot="10800000">
            <a:off x="5155095" y="3348106"/>
            <a:ext cx="175133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3345444" y="7717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5453943" y="7934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6118421" y="7994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7766108" y="7802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8124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12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Suivi vaccination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522697"/>
            <a:ext cx="6852243" cy="30758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991607" y="176818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9262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9131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970544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9326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00547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0115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992244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9712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951420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9779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856928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776762" y="856928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19438" y="1522697"/>
            <a:ext cx="1915028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vaccination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887515" y="2297634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2335487" y="3987180"/>
            <a:ext cx="1656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25" name="Rectangle 124"/>
          <p:cNvSpPr/>
          <p:nvPr/>
        </p:nvSpPr>
        <p:spPr>
          <a:xfrm>
            <a:off x="3915810" y="4017556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874123" y="2336752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7" name="Rectangle 216"/>
          <p:cNvSpPr/>
          <p:nvPr/>
        </p:nvSpPr>
        <p:spPr>
          <a:xfrm>
            <a:off x="7177438" y="4156950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6178247" y="1767750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Première</a:t>
            </a:r>
            <a:endParaRPr lang="fr-FR" sz="1400" dirty="0"/>
          </a:p>
        </p:txBody>
      </p:sp>
      <p:sp>
        <p:nvSpPr>
          <p:cNvPr id="64" name="Ellipse 63"/>
          <p:cNvSpPr/>
          <p:nvPr/>
        </p:nvSpPr>
        <p:spPr>
          <a:xfrm flipV="1">
            <a:off x="5944240" y="184418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7616109" y="1774378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Rappel</a:t>
            </a:r>
            <a:endParaRPr lang="fr-FR" sz="1400" dirty="0"/>
          </a:p>
        </p:txBody>
      </p:sp>
      <p:sp>
        <p:nvSpPr>
          <p:cNvPr id="66" name="Ellipse 65"/>
          <p:cNvSpPr/>
          <p:nvPr/>
        </p:nvSpPr>
        <p:spPr>
          <a:xfrm flipV="1">
            <a:off x="7382102" y="1850808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/>
          <p:cNvSpPr/>
          <p:nvPr/>
        </p:nvSpPr>
        <p:spPr>
          <a:xfrm>
            <a:off x="3903345" y="2859802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riangle isocèle 70"/>
          <p:cNvSpPr/>
          <p:nvPr/>
        </p:nvSpPr>
        <p:spPr>
          <a:xfrm rot="10800000">
            <a:off x="4252137" y="2867647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2" name="Rectangle 71"/>
          <p:cNvSpPr/>
          <p:nvPr/>
        </p:nvSpPr>
        <p:spPr>
          <a:xfrm>
            <a:off x="4479815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riangle isocèle 72"/>
          <p:cNvSpPr/>
          <p:nvPr/>
        </p:nvSpPr>
        <p:spPr>
          <a:xfrm rot="10800000">
            <a:off x="4828607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5062911" y="2853178"/>
            <a:ext cx="5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riangle isocèle 74"/>
          <p:cNvSpPr/>
          <p:nvPr/>
        </p:nvSpPr>
        <p:spPr>
          <a:xfrm rot="10800000">
            <a:off x="5424955" y="286102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Vaccin :</a:t>
            </a:r>
            <a:r>
              <a:rPr lang="fr-FR" sz="1400" dirty="0" smtClean="0"/>
              <a:t> BCG – Diphtérie – DT-Coq – Grippe – Hépatite B – Méningo-Coq – Pneumo-Coq – Polio inactive – Tétanos.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 un tableau dynamique s’affiche quand on ajoutent un vaccin pour le patient.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9123261" y="1529324"/>
            <a:ext cx="2098768" cy="309530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9578925" y="2238016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Aujourd'hui</a:t>
            </a:r>
            <a:endParaRPr lang="fr-FR" sz="1400" dirty="0"/>
          </a:p>
        </p:txBody>
      </p:sp>
      <p:sp>
        <p:nvSpPr>
          <p:cNvPr id="131" name="Ellipse 130"/>
          <p:cNvSpPr/>
          <p:nvPr/>
        </p:nvSpPr>
        <p:spPr>
          <a:xfrm flipV="1">
            <a:off x="9344918" y="231444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9600112" y="2708286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trois mois</a:t>
            </a:r>
            <a:endParaRPr lang="fr-FR" sz="1400" dirty="0"/>
          </a:p>
        </p:txBody>
      </p:sp>
      <p:sp>
        <p:nvSpPr>
          <p:cNvPr id="133" name="Ellipse 132"/>
          <p:cNvSpPr/>
          <p:nvPr/>
        </p:nvSpPr>
        <p:spPr>
          <a:xfrm flipV="1">
            <a:off x="9366105" y="2784716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9233805" y="1621220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R.D.V</a:t>
            </a:r>
            <a:endParaRPr lang="fr-FR" sz="1600" b="1" u="sng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9597964" y="3156900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Dans six mois</a:t>
            </a:r>
            <a:endParaRPr lang="fr-FR" sz="1400" dirty="0"/>
          </a:p>
        </p:txBody>
      </p:sp>
      <p:sp>
        <p:nvSpPr>
          <p:cNvPr id="142" name="Ellipse 141"/>
          <p:cNvSpPr/>
          <p:nvPr/>
        </p:nvSpPr>
        <p:spPr>
          <a:xfrm flipV="1">
            <a:off x="9363957" y="3233330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9597964" y="3620542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Raté</a:t>
            </a:r>
            <a:endParaRPr lang="fr-FR" sz="1400" dirty="0"/>
          </a:p>
        </p:txBody>
      </p:sp>
      <p:sp>
        <p:nvSpPr>
          <p:cNvPr id="144" name="Ellipse 143"/>
          <p:cNvSpPr/>
          <p:nvPr/>
        </p:nvSpPr>
        <p:spPr>
          <a:xfrm flipV="1">
            <a:off x="9363957" y="3696972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2976975" y="4821982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9300433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1936757" y="4814668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cxnSp>
        <p:nvCxnSpPr>
          <p:cNvPr id="150" name="Connecteur droit 149"/>
          <p:cNvCxnSpPr/>
          <p:nvPr/>
        </p:nvCxnSpPr>
        <p:spPr>
          <a:xfrm>
            <a:off x="5200837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Titre 1"/>
          <p:cNvSpPr txBox="1">
            <a:spLocks/>
          </p:cNvSpPr>
          <p:nvPr/>
        </p:nvSpPr>
        <p:spPr>
          <a:xfrm>
            <a:off x="5260812" y="4840409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d’injection</a:t>
            </a:r>
            <a:endParaRPr lang="fr-FR" sz="1400" dirty="0"/>
          </a:p>
        </p:txBody>
      </p:sp>
      <p:cxnSp>
        <p:nvCxnSpPr>
          <p:cNvPr id="154" name="Connecteur droit 153"/>
          <p:cNvCxnSpPr/>
          <p:nvPr/>
        </p:nvCxnSpPr>
        <p:spPr>
          <a:xfrm>
            <a:off x="2895027" y="478161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7" y="5261409"/>
            <a:ext cx="9262942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6" name="Connecteur droit 155"/>
          <p:cNvCxnSpPr/>
          <p:nvPr/>
        </p:nvCxnSpPr>
        <p:spPr>
          <a:xfrm>
            <a:off x="9509832" y="4762110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itre 1"/>
          <p:cNvSpPr txBox="1">
            <a:spLocks/>
          </p:cNvSpPr>
          <p:nvPr/>
        </p:nvSpPr>
        <p:spPr>
          <a:xfrm>
            <a:off x="8472614" y="4821296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4145730" y="4828610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6927086" y="4751282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4" name="Titre 1"/>
          <p:cNvSpPr txBox="1">
            <a:spLocks/>
          </p:cNvSpPr>
          <p:nvPr/>
        </p:nvSpPr>
        <p:spPr>
          <a:xfrm>
            <a:off x="9520423" y="4828296"/>
            <a:ext cx="1706135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Prochaine injection</a:t>
            </a:r>
            <a:endParaRPr lang="fr-FR" sz="1400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7106802" y="4808611"/>
            <a:ext cx="9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Produit</a:t>
            </a:r>
            <a:endParaRPr lang="fr-FR" sz="1400" dirty="0"/>
          </a:p>
        </p:txBody>
      </p:sp>
      <p:cxnSp>
        <p:nvCxnSpPr>
          <p:cNvPr id="166" name="Connecteur droit 165"/>
          <p:cNvCxnSpPr/>
          <p:nvPr/>
        </p:nvCxnSpPr>
        <p:spPr>
          <a:xfrm>
            <a:off x="8248446" y="4757533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4" name="Titre 1"/>
          <p:cNvSpPr txBox="1">
            <a:spLocks/>
          </p:cNvSpPr>
          <p:nvPr/>
        </p:nvSpPr>
        <p:spPr>
          <a:xfrm>
            <a:off x="2079002" y="5271775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187" name="Titre 1"/>
          <p:cNvSpPr txBox="1">
            <a:spLocks/>
          </p:cNvSpPr>
          <p:nvPr/>
        </p:nvSpPr>
        <p:spPr>
          <a:xfrm>
            <a:off x="8282858" y="5257667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0" name="Titre 1"/>
          <p:cNvSpPr txBox="1">
            <a:spLocks/>
          </p:cNvSpPr>
          <p:nvPr/>
        </p:nvSpPr>
        <p:spPr>
          <a:xfrm>
            <a:off x="3995860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5461205" y="5278403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6" name="Titre 1"/>
          <p:cNvSpPr txBox="1">
            <a:spLocks/>
          </p:cNvSpPr>
          <p:nvPr/>
        </p:nvSpPr>
        <p:spPr>
          <a:xfrm>
            <a:off x="6979902" y="5265148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99" name="Titre 1"/>
          <p:cNvSpPr txBox="1">
            <a:spLocks/>
          </p:cNvSpPr>
          <p:nvPr/>
        </p:nvSpPr>
        <p:spPr>
          <a:xfrm>
            <a:off x="3081403" y="5269627"/>
            <a:ext cx="67071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9748903" y="5255519"/>
            <a:ext cx="119974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201" name="Titre 1"/>
          <p:cNvSpPr txBox="1">
            <a:spLocks/>
          </p:cNvSpPr>
          <p:nvPr/>
        </p:nvSpPr>
        <p:spPr>
          <a:xfrm>
            <a:off x="2372057" y="3351877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commercial</a:t>
            </a:r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3891937" y="339924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3" name="Rectangle 202"/>
          <p:cNvSpPr/>
          <p:nvPr/>
        </p:nvSpPr>
        <p:spPr>
          <a:xfrm>
            <a:off x="6725036" y="3392880"/>
            <a:ext cx="1692000" cy="28605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4" name="Titre 1"/>
          <p:cNvSpPr txBox="1">
            <a:spLocks/>
          </p:cNvSpPr>
          <p:nvPr/>
        </p:nvSpPr>
        <p:spPr>
          <a:xfrm>
            <a:off x="5762424" y="3379992"/>
            <a:ext cx="99694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lot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519366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573326" y="103211"/>
            <a:ext cx="4620714" cy="4038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13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Archive hors application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12638"/>
            <a:ext cx="11758269" cy="52858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6" y="1953941"/>
            <a:ext cx="6852243" cy="229334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686923" y="1444407"/>
            <a:ext cx="2340000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Archive hors application </a:t>
            </a:r>
            <a:endParaRPr lang="fr-FR" sz="1600" b="1" u="sng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358470" y="280561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2749718" y="2297634"/>
            <a:ext cx="1037797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Document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3903344" y="2859802"/>
            <a:ext cx="4606093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58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 tableau dynamique s’affiche quand on jointer un fichier.</a:t>
            </a:r>
            <a:endParaRPr lang="fr-FR" sz="1400" dirty="0"/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4016160" y="480871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joint</a:t>
            </a:r>
            <a:endParaRPr lang="fr-FR" sz="1400" dirty="0"/>
          </a:p>
        </p:txBody>
      </p:sp>
      <p:sp>
        <p:nvSpPr>
          <p:cNvPr id="146" name="Rectangle 145"/>
          <p:cNvSpPr/>
          <p:nvPr/>
        </p:nvSpPr>
        <p:spPr>
          <a:xfrm>
            <a:off x="1921596" y="4757577"/>
            <a:ext cx="6840000" cy="100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9" name="Titre 1"/>
          <p:cNvSpPr txBox="1">
            <a:spLocks/>
          </p:cNvSpPr>
          <p:nvPr/>
        </p:nvSpPr>
        <p:spPr>
          <a:xfrm>
            <a:off x="2039000" y="4802254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fichier</a:t>
            </a:r>
            <a:endParaRPr lang="fr-FR" sz="1400" dirty="0"/>
          </a:p>
        </p:txBody>
      </p:sp>
      <p:cxnSp>
        <p:nvCxnSpPr>
          <p:cNvPr id="155" name="Connecteur droit 154"/>
          <p:cNvCxnSpPr>
            <a:stCxn id="146" idx="3"/>
          </p:cNvCxnSpPr>
          <p:nvPr/>
        </p:nvCxnSpPr>
        <p:spPr>
          <a:xfrm flipH="1" flipV="1">
            <a:off x="1959086" y="5261409"/>
            <a:ext cx="684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8" name="Connecteur droit 157"/>
          <p:cNvCxnSpPr/>
          <p:nvPr/>
        </p:nvCxnSpPr>
        <p:spPr>
          <a:xfrm>
            <a:off x="3945402" y="476173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Titre 1"/>
          <p:cNvSpPr txBox="1">
            <a:spLocks/>
          </p:cNvSpPr>
          <p:nvPr/>
        </p:nvSpPr>
        <p:spPr>
          <a:xfrm>
            <a:off x="6391063" y="480225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5618940" y="4753667"/>
            <a:ext cx="0" cy="100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6197195" y="5206211"/>
            <a:ext cx="2266166" cy="5676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…………………………...............................................</a:t>
            </a:r>
            <a:endParaRPr lang="fr-FR" sz="1800" b="1" dirty="0"/>
          </a:p>
        </p:txBody>
      </p:sp>
      <p:sp>
        <p:nvSpPr>
          <p:cNvPr id="193" name="Titre 1"/>
          <p:cNvSpPr txBox="1">
            <a:spLocks/>
          </p:cNvSpPr>
          <p:nvPr/>
        </p:nvSpPr>
        <p:spPr>
          <a:xfrm>
            <a:off x="4074192" y="5265751"/>
            <a:ext cx="1332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</a:t>
            </a:r>
            <a:endParaRPr lang="fr-FR" sz="1800" b="1" dirty="0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2070780" y="5244428"/>
            <a:ext cx="1502546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…………………..</a:t>
            </a:r>
            <a:endParaRPr lang="fr-FR" sz="1800" b="1" dirty="0"/>
          </a:p>
        </p:txBody>
      </p:sp>
      <p:sp>
        <p:nvSpPr>
          <p:cNvPr id="86" name="Rectangle 85"/>
          <p:cNvSpPr/>
          <p:nvPr/>
        </p:nvSpPr>
        <p:spPr>
          <a:xfrm>
            <a:off x="3903344" y="2289778"/>
            <a:ext cx="1704465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Choisissez un fichier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29437" y="37551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Joindre</a:t>
            </a:r>
          </a:p>
        </p:txBody>
      </p:sp>
    </p:spTree>
    <p:extLst>
      <p:ext uri="{BB962C8B-B14F-4D97-AF65-F5344CB8AC3E}">
        <p14:creationId xmlns:p14="http://schemas.microsoft.com/office/powerpoint/2010/main" val="172629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479000" y="103211"/>
            <a:ext cx="4715040" cy="5956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14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Gestion des mouvements/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mouvements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658368"/>
            <a:ext cx="11758269" cy="52401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1964661" y="1029302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4355023" y="1016197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3345444" y="1073576"/>
            <a:ext cx="670716" cy="28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7182390" y="1035709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5450982" y="110851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145778" y="111455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779361" y="1095276"/>
            <a:ext cx="684000" cy="2890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152059" y="107432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Rectangle 86"/>
          <p:cNvSpPr/>
          <p:nvPr/>
        </p:nvSpPr>
        <p:spPr>
          <a:xfrm>
            <a:off x="5345295" y="105445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Rectangle 87"/>
          <p:cNvSpPr/>
          <p:nvPr/>
        </p:nvSpPr>
        <p:spPr>
          <a:xfrm>
            <a:off x="7717438" y="1080956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1914072" y="959960"/>
            <a:ext cx="6858867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itre 1"/>
          <p:cNvSpPr txBox="1">
            <a:spLocks/>
          </p:cNvSpPr>
          <p:nvPr/>
        </p:nvSpPr>
        <p:spPr>
          <a:xfrm>
            <a:off x="1849487" y="611727"/>
            <a:ext cx="972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Affichage</a:t>
            </a:r>
            <a:endParaRPr lang="fr-FR" sz="1600" b="1" u="sng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9960807" y="2034707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</a:t>
            </a:r>
            <a:endParaRPr lang="fr-FR" sz="1400" dirty="0"/>
          </a:p>
        </p:txBody>
      </p:sp>
      <p:cxnSp>
        <p:nvCxnSpPr>
          <p:cNvPr id="163" name="Connecteur droit 162"/>
          <p:cNvCxnSpPr/>
          <p:nvPr/>
        </p:nvCxnSpPr>
        <p:spPr>
          <a:xfrm>
            <a:off x="10030111" y="1975595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7" name="Titre 1"/>
          <p:cNvSpPr txBox="1">
            <a:spLocks/>
          </p:cNvSpPr>
          <p:nvPr/>
        </p:nvSpPr>
        <p:spPr>
          <a:xfrm>
            <a:off x="9944020" y="228061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sp>
        <p:nvSpPr>
          <p:cNvPr id="38" name="Titre 1"/>
          <p:cNvSpPr txBox="1">
            <a:spLocks/>
          </p:cNvSpPr>
          <p:nvPr/>
        </p:nvSpPr>
        <p:spPr>
          <a:xfrm>
            <a:off x="1832196" y="202952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39" name="Rectangle 38"/>
          <p:cNvSpPr/>
          <p:nvPr/>
        </p:nvSpPr>
        <p:spPr>
          <a:xfrm>
            <a:off x="519014" y="1975794"/>
            <a:ext cx="11160000" cy="302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249621" y="2032830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Évènement</a:t>
            </a:r>
            <a:endParaRPr lang="fr-FR" sz="1400" dirty="0"/>
          </a:p>
        </p:txBody>
      </p:sp>
      <p:cxnSp>
        <p:nvCxnSpPr>
          <p:cNvPr id="41" name="Connecteur droit 40"/>
          <p:cNvCxnSpPr/>
          <p:nvPr/>
        </p:nvCxnSpPr>
        <p:spPr>
          <a:xfrm>
            <a:off x="4425244" y="1966807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2" name="Titre 1"/>
          <p:cNvSpPr txBox="1">
            <a:spLocks/>
          </p:cNvSpPr>
          <p:nvPr/>
        </p:nvSpPr>
        <p:spPr>
          <a:xfrm>
            <a:off x="4217625" y="2058571"/>
            <a:ext cx="18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Établissement</a:t>
            </a:r>
            <a:endParaRPr lang="fr-FR" sz="1400" dirty="0"/>
          </a:p>
        </p:txBody>
      </p:sp>
      <p:cxnSp>
        <p:nvCxnSpPr>
          <p:cNvPr id="43" name="Connecteur droit 42"/>
          <p:cNvCxnSpPr/>
          <p:nvPr/>
        </p:nvCxnSpPr>
        <p:spPr>
          <a:xfrm>
            <a:off x="1769494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eur droit 43"/>
          <p:cNvCxnSpPr/>
          <p:nvPr/>
        </p:nvCxnSpPr>
        <p:spPr>
          <a:xfrm flipH="1" flipV="1">
            <a:off x="517867" y="246674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8808747" y="195220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6" name="Titre 1"/>
          <p:cNvSpPr txBox="1">
            <a:spLocks/>
          </p:cNvSpPr>
          <p:nvPr/>
        </p:nvSpPr>
        <p:spPr>
          <a:xfrm>
            <a:off x="7133210" y="2039458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Heure de sortie</a:t>
            </a:r>
            <a:endParaRPr lang="fr-FR" sz="1400" dirty="0"/>
          </a:p>
        </p:txBody>
      </p:sp>
      <p:cxnSp>
        <p:nvCxnSpPr>
          <p:cNvPr id="47" name="Connecteur droit 46"/>
          <p:cNvCxnSpPr/>
          <p:nvPr/>
        </p:nvCxnSpPr>
        <p:spPr>
          <a:xfrm>
            <a:off x="2980502" y="1979686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Titre 1"/>
          <p:cNvSpPr txBox="1">
            <a:spLocks/>
          </p:cNvSpPr>
          <p:nvPr/>
        </p:nvSpPr>
        <p:spPr>
          <a:xfrm>
            <a:off x="2806326" y="2046772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Service accueil</a:t>
            </a:r>
            <a:endParaRPr lang="fr-FR" sz="1400" dirty="0"/>
          </a:p>
        </p:txBody>
      </p:sp>
      <p:cxnSp>
        <p:nvCxnSpPr>
          <p:cNvPr id="49" name="Connecteur droit 48"/>
          <p:cNvCxnSpPr/>
          <p:nvPr/>
        </p:nvCxnSpPr>
        <p:spPr>
          <a:xfrm>
            <a:off x="5819505" y="1969444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Titre 1"/>
          <p:cNvSpPr txBox="1">
            <a:spLocks/>
          </p:cNvSpPr>
          <p:nvPr/>
        </p:nvSpPr>
        <p:spPr>
          <a:xfrm>
            <a:off x="8876815" y="2021487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1" name="Titre 1"/>
          <p:cNvSpPr txBox="1">
            <a:spLocks/>
          </p:cNvSpPr>
          <p:nvPr/>
        </p:nvSpPr>
        <p:spPr>
          <a:xfrm>
            <a:off x="5649796" y="2026269"/>
            <a:ext cx="180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sortie</a:t>
            </a:r>
            <a:endParaRPr lang="fr-FR" sz="1400" dirty="0"/>
          </a:p>
        </p:txBody>
      </p:sp>
      <p:cxnSp>
        <p:nvCxnSpPr>
          <p:cNvPr id="52" name="Connecteur droit 51"/>
          <p:cNvCxnSpPr/>
          <p:nvPr/>
        </p:nvCxnSpPr>
        <p:spPr>
          <a:xfrm>
            <a:off x="7269822" y="1973058"/>
            <a:ext cx="0" cy="302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3" name="Titre 1"/>
          <p:cNvSpPr txBox="1">
            <a:spLocks/>
          </p:cNvSpPr>
          <p:nvPr/>
        </p:nvSpPr>
        <p:spPr>
          <a:xfrm>
            <a:off x="546417" y="248993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7471577" y="250236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3133196" y="248309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4519871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5910655" y="249656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1767761" y="24877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8830589" y="250001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544269" y="308022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7469429" y="309264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131048" y="307338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5" name="Titre 1"/>
          <p:cNvSpPr txBox="1">
            <a:spLocks/>
          </p:cNvSpPr>
          <p:nvPr/>
        </p:nvSpPr>
        <p:spPr>
          <a:xfrm>
            <a:off x="4517723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5908507" y="308684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1765613" y="307807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8828441" y="309030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9980509" y="2832262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71" name="Connecteur droit 70"/>
          <p:cNvCxnSpPr/>
          <p:nvPr/>
        </p:nvCxnSpPr>
        <p:spPr>
          <a:xfrm flipH="1" flipV="1">
            <a:off x="541477" y="3636583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Titre 1"/>
          <p:cNvSpPr txBox="1">
            <a:spLocks/>
          </p:cNvSpPr>
          <p:nvPr/>
        </p:nvSpPr>
        <p:spPr>
          <a:xfrm>
            <a:off x="567879" y="3773535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7493039" y="378595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3154658" y="3766694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4541333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5932117" y="3780162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1789223" y="377138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8852051" y="3783617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97" name="Titre 1"/>
          <p:cNvSpPr txBox="1">
            <a:spLocks/>
          </p:cNvSpPr>
          <p:nvPr/>
        </p:nvSpPr>
        <p:spPr>
          <a:xfrm>
            <a:off x="10004119" y="3525575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98" name="Connecteur droit 97"/>
          <p:cNvCxnSpPr/>
          <p:nvPr/>
        </p:nvCxnSpPr>
        <p:spPr>
          <a:xfrm flipH="1" flipV="1">
            <a:off x="552208" y="4304137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Titre 1"/>
          <p:cNvSpPr txBox="1">
            <a:spLocks/>
          </p:cNvSpPr>
          <p:nvPr/>
        </p:nvSpPr>
        <p:spPr>
          <a:xfrm>
            <a:off x="578610" y="4441089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7503770" y="4453513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165389" y="4434248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4552064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4" name="Titre 1"/>
          <p:cNvSpPr txBox="1">
            <a:spLocks/>
          </p:cNvSpPr>
          <p:nvPr/>
        </p:nvSpPr>
        <p:spPr>
          <a:xfrm>
            <a:off x="5942848" y="4447716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5" name="Titre 1"/>
          <p:cNvSpPr txBox="1">
            <a:spLocks/>
          </p:cNvSpPr>
          <p:nvPr/>
        </p:nvSpPr>
        <p:spPr>
          <a:xfrm>
            <a:off x="1799954" y="443894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8862782" y="4451171"/>
            <a:ext cx="1260000" cy="3344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……………….</a:t>
            </a:r>
            <a:endParaRPr lang="fr-FR" sz="1800" b="1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10014850" y="4193129"/>
            <a:ext cx="1800000" cy="745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…………..……………</a:t>
            </a:r>
          </a:p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...........................</a:t>
            </a:r>
            <a:endParaRPr lang="fr-FR" sz="1800" b="1" dirty="0"/>
          </a:p>
        </p:txBody>
      </p:sp>
      <p:cxnSp>
        <p:nvCxnSpPr>
          <p:cNvPr id="108" name="Connecteur droit 107"/>
          <p:cNvCxnSpPr/>
          <p:nvPr/>
        </p:nvCxnSpPr>
        <p:spPr>
          <a:xfrm flipH="1" flipV="1">
            <a:off x="513571" y="3016248"/>
            <a:ext cx="11160000" cy="16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672338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157193"/>
            <a:ext cx="5510518" cy="72744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66806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Caisse d’assurance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Caisse d’assurance :</a:t>
            </a:r>
            <a:r>
              <a:rPr lang="fr-FR" sz="1400" dirty="0" smtClean="0"/>
              <a:t> CNAS / CASNOS / CAISSE MILITAIRE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les patients selon les établissements d’assurance correspondant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077224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772340" y="42891"/>
            <a:ext cx="5510518" cy="841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caisses d’assurance (CNAS/CASNOS/CAISSE MILITAIRE)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Fichier PDF - 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1992" y="1382114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Liste des </a:t>
            </a: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caisses d’assurance</a:t>
            </a:r>
            <a:endParaRPr lang="fr-FR" sz="1600" b="1" u="sng" dirty="0"/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8538469" y="200658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Validité PEC</a:t>
            </a:r>
          </a:p>
        </p:txBody>
      </p:sp>
      <p:cxnSp>
        <p:nvCxnSpPr>
          <p:cNvPr id="16" name="Connecteur droit 15"/>
          <p:cNvCxnSpPr/>
          <p:nvPr/>
        </p:nvCxnSpPr>
        <p:spPr>
          <a:xfrm>
            <a:off x="8656718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itre 1"/>
          <p:cNvSpPr txBox="1">
            <a:spLocks/>
          </p:cNvSpPr>
          <p:nvPr/>
        </p:nvSpPr>
        <p:spPr>
          <a:xfrm>
            <a:off x="10177317" y="25000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1677251" y="202893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dépôt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312950" y="1975794"/>
            <a:ext cx="1116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326894" y="2032830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</a:t>
            </a:r>
            <a:r>
              <a:rPr lang="fr-FR" sz="1400" dirty="0" smtClean="0"/>
              <a:t>° d'assurance</a:t>
            </a:r>
            <a:endParaRPr lang="fr-FR" sz="14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4169052" y="199526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itre 1"/>
          <p:cNvSpPr txBox="1">
            <a:spLocks/>
          </p:cNvSpPr>
          <p:nvPr/>
        </p:nvSpPr>
        <p:spPr>
          <a:xfrm>
            <a:off x="3960045" y="2058571"/>
            <a:ext cx="144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Prénom</a:t>
            </a:r>
            <a:endParaRPr lang="fr-FR" sz="1400" dirty="0"/>
          </a:p>
        </p:txBody>
      </p:sp>
      <p:cxnSp>
        <p:nvCxnSpPr>
          <p:cNvPr id="24" name="Connecteur droit 23"/>
          <p:cNvCxnSpPr/>
          <p:nvPr/>
        </p:nvCxnSpPr>
        <p:spPr>
          <a:xfrm>
            <a:off x="1769767" y="196680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/>
          <p:cNvCxnSpPr/>
          <p:nvPr/>
        </p:nvCxnSpPr>
        <p:spPr>
          <a:xfrm flipH="1" flipV="1">
            <a:off x="267338" y="2484089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7476653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itre 1"/>
          <p:cNvSpPr txBox="1">
            <a:spLocks/>
          </p:cNvSpPr>
          <p:nvPr/>
        </p:nvSpPr>
        <p:spPr>
          <a:xfrm>
            <a:off x="6203926" y="203909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/>
              <a:t>Validité OD</a:t>
            </a:r>
          </a:p>
        </p:txBody>
      </p:sp>
      <p:cxnSp>
        <p:nvCxnSpPr>
          <p:cNvPr id="28" name="Connecteur droit 27"/>
          <p:cNvCxnSpPr/>
          <p:nvPr/>
        </p:nvCxnSpPr>
        <p:spPr>
          <a:xfrm>
            <a:off x="2954741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itre 1"/>
          <p:cNvSpPr txBox="1">
            <a:spLocks/>
          </p:cNvSpPr>
          <p:nvPr/>
        </p:nvSpPr>
        <p:spPr>
          <a:xfrm>
            <a:off x="2793818" y="2046811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Nom</a:t>
            </a:r>
            <a:endParaRPr lang="fr-FR" sz="14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260813" y="1985373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itre 1"/>
          <p:cNvSpPr txBox="1">
            <a:spLocks/>
          </p:cNvSpPr>
          <p:nvPr/>
        </p:nvSpPr>
        <p:spPr>
          <a:xfrm>
            <a:off x="7397247" y="1997493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/>
              <a:t>Date PEC</a:t>
            </a:r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5095935" y="203909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Date</a:t>
            </a:r>
            <a:endParaRPr lang="fr-FR" sz="1400" dirty="0"/>
          </a:p>
        </p:txBody>
      </p:sp>
      <p:cxnSp>
        <p:nvCxnSpPr>
          <p:cNvPr id="33" name="Connecteur droit 32"/>
          <p:cNvCxnSpPr/>
          <p:nvPr/>
        </p:nvCxnSpPr>
        <p:spPr>
          <a:xfrm>
            <a:off x="6366784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re 1"/>
          <p:cNvSpPr txBox="1">
            <a:spLocks/>
          </p:cNvSpPr>
          <p:nvPr/>
        </p:nvSpPr>
        <p:spPr>
          <a:xfrm>
            <a:off x="494901" y="24899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35" name="Titre 1"/>
          <p:cNvSpPr txBox="1">
            <a:spLocks/>
          </p:cNvSpPr>
          <p:nvPr/>
        </p:nvSpPr>
        <p:spPr>
          <a:xfrm>
            <a:off x="6390673" y="24635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172139" y="249656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267261" y="24834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819276" y="25006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8741353" y="249977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92752" y="29385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6387561" y="29373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3027359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4169990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5276590" y="29569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1817127" y="29492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8725619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10185767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51" name="Connecteur droit 50"/>
          <p:cNvCxnSpPr/>
          <p:nvPr/>
        </p:nvCxnSpPr>
        <p:spPr>
          <a:xfrm flipH="1" flipV="1">
            <a:off x="309655" y="3404761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464847" y="33742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6383612" y="334834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4142085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5275288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1789222" y="33850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8749019" y="33843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10183117" y="33934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 flipV="1">
            <a:off x="320386" y="3827618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307507" y="2964732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2"/>
          <p:cNvSpPr/>
          <p:nvPr/>
        </p:nvSpPr>
        <p:spPr>
          <a:xfrm>
            <a:off x="9981008" y="2079184"/>
            <a:ext cx="144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Actes</a:t>
            </a:r>
          </a:p>
        </p:txBody>
      </p:sp>
      <p:cxnSp>
        <p:nvCxnSpPr>
          <p:cNvPr id="67" name="Connecteur droit 66"/>
          <p:cNvCxnSpPr/>
          <p:nvPr/>
        </p:nvCxnSpPr>
        <p:spPr>
          <a:xfrm>
            <a:off x="9916718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itre 1"/>
          <p:cNvSpPr txBox="1">
            <a:spLocks/>
          </p:cNvSpPr>
          <p:nvPr/>
        </p:nvSpPr>
        <p:spPr>
          <a:xfrm>
            <a:off x="3025212" y="251803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2971548" y="336589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7519944" y="29559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517797" y="247724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7541407" y="337662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10175169" y="38372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492753" y="38271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6388525" y="380084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169991" y="38338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3" name="Titre 1"/>
          <p:cNvSpPr txBox="1">
            <a:spLocks/>
          </p:cNvSpPr>
          <p:nvPr/>
        </p:nvSpPr>
        <p:spPr>
          <a:xfrm>
            <a:off x="5265113" y="3820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1817128" y="383792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85" name="Titre 1"/>
          <p:cNvSpPr txBox="1">
            <a:spLocks/>
          </p:cNvSpPr>
          <p:nvPr/>
        </p:nvSpPr>
        <p:spPr>
          <a:xfrm>
            <a:off x="8739205" y="38370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3023064" y="38552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88" name="Titre 1"/>
          <p:cNvSpPr txBox="1">
            <a:spLocks/>
          </p:cNvSpPr>
          <p:nvPr/>
        </p:nvSpPr>
        <p:spPr>
          <a:xfrm>
            <a:off x="7515649" y="381450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3645081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2820765" y="280671"/>
            <a:ext cx="5510518" cy="48946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91992" y="830624"/>
            <a:ext cx="11758269" cy="50678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920697" y="1522697"/>
            <a:ext cx="4248284" cy="172277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Rectangle 66"/>
          <p:cNvSpPr/>
          <p:nvPr/>
        </p:nvSpPr>
        <p:spPr>
          <a:xfrm>
            <a:off x="3896717" y="180122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Titre 1"/>
          <p:cNvSpPr txBox="1">
            <a:spLocks/>
          </p:cNvSpPr>
          <p:nvPr/>
        </p:nvSpPr>
        <p:spPr>
          <a:xfrm>
            <a:off x="2223543" y="1768188"/>
            <a:ext cx="108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5400865" y="1809065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01521" y="1007486"/>
            <a:ext cx="2022022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600" b="1" u="sng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 d’envoi</a:t>
            </a:r>
            <a:endParaRPr lang="fr-FR" sz="1600" b="1" u="sng" dirty="0"/>
          </a:p>
        </p:txBody>
      </p:sp>
      <p:sp>
        <p:nvSpPr>
          <p:cNvPr id="217" name="Rectangle 216"/>
          <p:cNvSpPr/>
          <p:nvPr/>
        </p:nvSpPr>
        <p:spPr>
          <a:xfrm>
            <a:off x="4275810" y="23792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174627" y="6089970"/>
            <a:ext cx="9090992" cy="4396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écran permis de sélectionner et d’imprimer le bordereau d’envoi d’un patient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980878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91992" y="987671"/>
            <a:ext cx="11758269" cy="49108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21062" y="1382246"/>
            <a:ext cx="2891365" cy="5014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600" b="1" u="sng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fr-FR" dirty="0"/>
              <a:t>Liste des patients ayant droits</a:t>
            </a:r>
          </a:p>
        </p:txBody>
      </p:sp>
      <p:sp>
        <p:nvSpPr>
          <p:cNvPr id="15" name="Titre 1"/>
          <p:cNvSpPr txBox="1">
            <a:spLocks/>
          </p:cNvSpPr>
          <p:nvPr/>
        </p:nvSpPr>
        <p:spPr>
          <a:xfrm>
            <a:off x="8641501" y="2006589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des accords</a:t>
            </a:r>
            <a:endParaRPr lang="fr-FR" sz="140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8618081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" name="Titre 1"/>
          <p:cNvSpPr txBox="1">
            <a:spLocks/>
          </p:cNvSpPr>
          <p:nvPr/>
        </p:nvSpPr>
        <p:spPr>
          <a:xfrm>
            <a:off x="10280349" y="25000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8" name="Titre 1"/>
          <p:cNvSpPr txBox="1">
            <a:spLocks/>
          </p:cNvSpPr>
          <p:nvPr/>
        </p:nvSpPr>
        <p:spPr>
          <a:xfrm>
            <a:off x="1586170" y="2014554"/>
            <a:ext cx="118519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9" name="Rectangle 18"/>
          <p:cNvSpPr/>
          <p:nvPr/>
        </p:nvSpPr>
        <p:spPr>
          <a:xfrm>
            <a:off x="415982" y="1975794"/>
            <a:ext cx="1116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597353" y="2032830"/>
            <a:ext cx="7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</a:t>
            </a:r>
            <a:r>
              <a:rPr lang="fr-FR" sz="1400" dirty="0" smtClean="0"/>
              <a:t>°</a:t>
            </a:r>
            <a:endParaRPr lang="fr-FR" sz="14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4272084" y="199526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1537945" y="196680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necteur droit 24"/>
          <p:cNvCxnSpPr/>
          <p:nvPr/>
        </p:nvCxnSpPr>
        <p:spPr>
          <a:xfrm flipH="1" flipV="1">
            <a:off x="370370" y="2484089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Titre 1"/>
          <p:cNvSpPr txBox="1">
            <a:spLocks/>
          </p:cNvSpPr>
          <p:nvPr/>
        </p:nvSpPr>
        <p:spPr>
          <a:xfrm>
            <a:off x="5379677" y="2039098"/>
            <a:ext cx="108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Bénéficière </a:t>
            </a:r>
            <a:endParaRPr lang="fr-FR" sz="1400" dirty="0"/>
          </a:p>
        </p:txBody>
      </p:sp>
      <p:cxnSp>
        <p:nvCxnSpPr>
          <p:cNvPr id="28" name="Connecteur droit 27"/>
          <p:cNvCxnSpPr/>
          <p:nvPr/>
        </p:nvCxnSpPr>
        <p:spPr>
          <a:xfrm>
            <a:off x="2787314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Titre 1"/>
          <p:cNvSpPr txBox="1">
            <a:spLocks/>
          </p:cNvSpPr>
          <p:nvPr/>
        </p:nvSpPr>
        <p:spPr>
          <a:xfrm>
            <a:off x="2819576" y="2046811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Nom et prénom</a:t>
            </a:r>
            <a:endParaRPr lang="fr-FR" sz="14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363845" y="1985373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itre 1"/>
          <p:cNvSpPr txBox="1">
            <a:spLocks/>
          </p:cNvSpPr>
          <p:nvPr/>
        </p:nvSpPr>
        <p:spPr>
          <a:xfrm>
            <a:off x="6779751" y="2021368"/>
            <a:ext cx="144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Acte prévu</a:t>
            </a:r>
            <a:endParaRPr lang="fr-FR" sz="1400" dirty="0"/>
          </a:p>
        </p:txBody>
      </p:sp>
      <p:sp>
        <p:nvSpPr>
          <p:cNvPr id="32" name="Titre 1"/>
          <p:cNvSpPr txBox="1">
            <a:spLocks/>
          </p:cNvSpPr>
          <p:nvPr/>
        </p:nvSpPr>
        <p:spPr>
          <a:xfrm>
            <a:off x="4490626" y="2039099"/>
            <a:ext cx="7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400" dirty="0" smtClean="0"/>
              <a:t>AOD</a:t>
            </a:r>
            <a:endParaRPr lang="fr-FR" sz="1400" dirty="0"/>
          </a:p>
        </p:txBody>
      </p:sp>
      <p:cxnSp>
        <p:nvCxnSpPr>
          <p:cNvPr id="33" name="Connecteur droit 32"/>
          <p:cNvCxnSpPr/>
          <p:nvPr/>
        </p:nvCxnSpPr>
        <p:spPr>
          <a:xfrm>
            <a:off x="6469816" y="197364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Titre 1"/>
          <p:cNvSpPr txBox="1">
            <a:spLocks/>
          </p:cNvSpPr>
          <p:nvPr/>
        </p:nvSpPr>
        <p:spPr>
          <a:xfrm>
            <a:off x="443385" y="24899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39" name="Titre 1"/>
          <p:cNvSpPr txBox="1">
            <a:spLocks/>
          </p:cNvSpPr>
          <p:nvPr/>
        </p:nvSpPr>
        <p:spPr>
          <a:xfrm>
            <a:off x="4275171" y="249656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0" name="Titre 1"/>
          <p:cNvSpPr txBox="1">
            <a:spLocks/>
          </p:cNvSpPr>
          <p:nvPr/>
        </p:nvSpPr>
        <p:spPr>
          <a:xfrm>
            <a:off x="5370293" y="24834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626091" y="25006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2" name="Titre 1"/>
          <p:cNvSpPr txBox="1">
            <a:spLocks/>
          </p:cNvSpPr>
          <p:nvPr/>
        </p:nvSpPr>
        <p:spPr>
          <a:xfrm>
            <a:off x="8844385" y="249977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3" name="Titre 1"/>
          <p:cNvSpPr txBox="1">
            <a:spLocks/>
          </p:cNvSpPr>
          <p:nvPr/>
        </p:nvSpPr>
        <p:spPr>
          <a:xfrm>
            <a:off x="441236" y="29385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2975843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4273022" y="29451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7" name="Titre 1"/>
          <p:cNvSpPr txBox="1">
            <a:spLocks/>
          </p:cNvSpPr>
          <p:nvPr/>
        </p:nvSpPr>
        <p:spPr>
          <a:xfrm>
            <a:off x="5379622" y="295695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48" name="Titre 1"/>
          <p:cNvSpPr txBox="1">
            <a:spLocks/>
          </p:cNvSpPr>
          <p:nvPr/>
        </p:nvSpPr>
        <p:spPr>
          <a:xfrm>
            <a:off x="1623942" y="29492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8828651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10288799" y="29488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51" name="Connecteur droit 50"/>
          <p:cNvCxnSpPr/>
          <p:nvPr/>
        </p:nvCxnSpPr>
        <p:spPr>
          <a:xfrm flipH="1" flipV="1">
            <a:off x="412687" y="3404761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2" name="Titre 1"/>
          <p:cNvSpPr txBox="1">
            <a:spLocks/>
          </p:cNvSpPr>
          <p:nvPr/>
        </p:nvSpPr>
        <p:spPr>
          <a:xfrm>
            <a:off x="439089" y="33742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4245117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6" name="Titre 1"/>
          <p:cNvSpPr txBox="1">
            <a:spLocks/>
          </p:cNvSpPr>
          <p:nvPr/>
        </p:nvSpPr>
        <p:spPr>
          <a:xfrm>
            <a:off x="5378320" y="33809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1634674" y="33850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58" name="Titre 1"/>
          <p:cNvSpPr txBox="1">
            <a:spLocks/>
          </p:cNvSpPr>
          <p:nvPr/>
        </p:nvSpPr>
        <p:spPr>
          <a:xfrm>
            <a:off x="8852051" y="33843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59" name="Titre 1"/>
          <p:cNvSpPr txBox="1">
            <a:spLocks/>
          </p:cNvSpPr>
          <p:nvPr/>
        </p:nvSpPr>
        <p:spPr>
          <a:xfrm>
            <a:off x="10286149" y="33934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 flipV="1">
            <a:off x="423418" y="3827618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2" name="Connecteur droit 71"/>
          <p:cNvCxnSpPr/>
          <p:nvPr/>
        </p:nvCxnSpPr>
        <p:spPr>
          <a:xfrm flipH="1" flipV="1">
            <a:off x="410539" y="2964732"/>
            <a:ext cx="111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Rectangle 2"/>
          <p:cNvSpPr/>
          <p:nvPr/>
        </p:nvSpPr>
        <p:spPr>
          <a:xfrm>
            <a:off x="10084040" y="2079184"/>
            <a:ext cx="144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N° du BX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67" name="Connecteur droit 66"/>
          <p:cNvCxnSpPr/>
          <p:nvPr/>
        </p:nvCxnSpPr>
        <p:spPr>
          <a:xfrm>
            <a:off x="10135661" y="198988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Titre 1"/>
          <p:cNvSpPr txBox="1">
            <a:spLocks/>
          </p:cNvSpPr>
          <p:nvPr/>
        </p:nvSpPr>
        <p:spPr>
          <a:xfrm>
            <a:off x="2973696" y="251803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2984427" y="336589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6513243" y="2477247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10278201" y="38372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0" name="Titre 1"/>
          <p:cNvSpPr txBox="1">
            <a:spLocks/>
          </p:cNvSpPr>
          <p:nvPr/>
        </p:nvSpPr>
        <p:spPr>
          <a:xfrm>
            <a:off x="441237" y="38271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273023" y="38338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3" name="Titre 1"/>
          <p:cNvSpPr txBox="1">
            <a:spLocks/>
          </p:cNvSpPr>
          <p:nvPr/>
        </p:nvSpPr>
        <p:spPr>
          <a:xfrm>
            <a:off x="5368145" y="3820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1623943" y="383792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85" name="Titre 1"/>
          <p:cNvSpPr txBox="1">
            <a:spLocks/>
          </p:cNvSpPr>
          <p:nvPr/>
        </p:nvSpPr>
        <p:spPr>
          <a:xfrm>
            <a:off x="8842237" y="38370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2971548" y="38552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2820764" y="96454"/>
            <a:ext cx="5835953" cy="6736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Patient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Report d’envoi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 Fichier PDF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70" name="Titre 1"/>
          <p:cNvSpPr txBox="1">
            <a:spLocks/>
          </p:cNvSpPr>
          <p:nvPr/>
        </p:nvSpPr>
        <p:spPr>
          <a:xfrm>
            <a:off x="6511095" y="2951621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6498216" y="3337989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6496068" y="3812363"/>
            <a:ext cx="210620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…………......................</a:t>
            </a: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2982446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716838" y="59579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17–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nouvelle demande</a:t>
            </a:r>
            <a:endParaRPr lang="fr-FR" sz="1800" dirty="0"/>
          </a:p>
        </p:txBody>
      </p:sp>
      <p:sp>
        <p:nvSpPr>
          <p:cNvPr id="3" name="Rectangle 2"/>
          <p:cNvSpPr/>
          <p:nvPr/>
        </p:nvSpPr>
        <p:spPr>
          <a:xfrm>
            <a:off x="3739345" y="237193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2153278" y="2328684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l’assuré</a:t>
            </a:r>
            <a:endParaRPr lang="fr-FR" sz="1400" dirty="0"/>
          </a:p>
        </p:txBody>
      </p:sp>
      <p:sp>
        <p:nvSpPr>
          <p:cNvPr id="5" name="Rectangle 4"/>
          <p:cNvSpPr/>
          <p:nvPr/>
        </p:nvSpPr>
        <p:spPr>
          <a:xfrm>
            <a:off x="7521140" y="237853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5901883" y="2349434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3739344" y="2768765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2131732" y="273783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</a:t>
            </a:r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7506441" y="2772120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5893219" y="2725535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 naissance</a:t>
            </a:r>
            <a:endParaRPr lang="fr-FR" sz="1400" dirty="0"/>
          </a:p>
        </p:txBody>
      </p:sp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45" name="Triangle isocèle 44"/>
          <p:cNvSpPr/>
          <p:nvPr/>
        </p:nvSpPr>
        <p:spPr>
          <a:xfrm rot="10800000">
            <a:off x="9020384" y="2771281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7" name="Titre 1"/>
          <p:cNvSpPr txBox="1">
            <a:spLocks/>
          </p:cNvSpPr>
          <p:nvPr/>
        </p:nvSpPr>
        <p:spPr>
          <a:xfrm>
            <a:off x="5895398" y="317834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Code centre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3975" y="3201202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Titre 1"/>
          <p:cNvSpPr txBox="1">
            <a:spLocks/>
          </p:cNvSpPr>
          <p:nvPr/>
        </p:nvSpPr>
        <p:spPr>
          <a:xfrm>
            <a:off x="2131534" y="317638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Code d’agence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7523414" y="3209572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8" name="Triangle isocèle 87"/>
          <p:cNvSpPr/>
          <p:nvPr/>
        </p:nvSpPr>
        <p:spPr>
          <a:xfrm rot="10800000">
            <a:off x="5223501" y="3230764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2139069" y="1912790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93" name="Rectangle 92"/>
          <p:cNvSpPr/>
          <p:nvPr/>
        </p:nvSpPr>
        <p:spPr>
          <a:xfrm>
            <a:off x="3754707" y="1936148"/>
            <a:ext cx="166057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401889" y="1786507"/>
            <a:ext cx="9360000" cy="185826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164008" y="782411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788707" y="825819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67324" y="743688"/>
            <a:ext cx="9360000" cy="904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148086" y="1202282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769067" y="1220288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932217" y="1184405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7552188" y="1200030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39450" y="1856249"/>
            <a:ext cx="1008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Assuré (e)</a:t>
            </a:r>
            <a:endParaRPr lang="fr-FR" sz="1400" b="1" u="sng" dirty="0"/>
          </a:p>
        </p:txBody>
      </p:sp>
      <p:sp>
        <p:nvSpPr>
          <p:cNvPr id="124" name="Titre 1"/>
          <p:cNvSpPr txBox="1">
            <a:spLocks/>
          </p:cNvSpPr>
          <p:nvPr/>
        </p:nvSpPr>
        <p:spPr>
          <a:xfrm>
            <a:off x="444761" y="3897437"/>
            <a:ext cx="90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Patient</a:t>
            </a:r>
            <a:endParaRPr lang="fr-FR" sz="1400" b="1" u="sng" dirty="0"/>
          </a:p>
        </p:txBody>
      </p:sp>
      <p:sp>
        <p:nvSpPr>
          <p:cNvPr id="147" name="Rectangle 146"/>
          <p:cNvSpPr/>
          <p:nvPr/>
        </p:nvSpPr>
        <p:spPr>
          <a:xfrm>
            <a:off x="412589" y="3748100"/>
            <a:ext cx="9360000" cy="144208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3737197" y="3928129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51130" y="3884876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3" name="Rectangle 82"/>
          <p:cNvSpPr/>
          <p:nvPr/>
        </p:nvSpPr>
        <p:spPr>
          <a:xfrm>
            <a:off x="7518992" y="3934731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5899734" y="3918505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85" name="Rectangle 84"/>
          <p:cNvSpPr/>
          <p:nvPr/>
        </p:nvSpPr>
        <p:spPr>
          <a:xfrm>
            <a:off x="3737196" y="4324957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7" name="Titre 1"/>
          <p:cNvSpPr txBox="1">
            <a:spLocks/>
          </p:cNvSpPr>
          <p:nvPr/>
        </p:nvSpPr>
        <p:spPr>
          <a:xfrm>
            <a:off x="2129584" y="429402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 naissance</a:t>
            </a:r>
            <a:endParaRPr lang="fr-FR" sz="1400" dirty="0"/>
          </a:p>
        </p:txBody>
      </p:sp>
      <p:sp>
        <p:nvSpPr>
          <p:cNvPr id="89" name="Rectangle 88"/>
          <p:cNvSpPr/>
          <p:nvPr/>
        </p:nvSpPr>
        <p:spPr>
          <a:xfrm>
            <a:off x="7504293" y="4328312"/>
            <a:ext cx="1708252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5891072" y="4281727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Lieu de  naissance</a:t>
            </a:r>
            <a:endParaRPr lang="fr-FR" sz="1400" dirty="0"/>
          </a:p>
        </p:txBody>
      </p:sp>
      <p:sp>
        <p:nvSpPr>
          <p:cNvPr id="97" name="Triangle isocèle 96"/>
          <p:cNvSpPr/>
          <p:nvPr/>
        </p:nvSpPr>
        <p:spPr>
          <a:xfrm rot="10800000">
            <a:off x="9018236" y="4327473"/>
            <a:ext cx="175159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906128" y="4734535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3741827" y="4757394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2129386" y="4732573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7521266" y="4765764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5221353" y="478695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Titre 1"/>
          <p:cNvSpPr txBox="1">
            <a:spLocks/>
          </p:cNvSpPr>
          <p:nvPr/>
        </p:nvSpPr>
        <p:spPr>
          <a:xfrm>
            <a:off x="415245" y="5314369"/>
            <a:ext cx="201725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Information médicales</a:t>
            </a:r>
            <a:endParaRPr lang="fr-FR" sz="1400" b="1" u="sng" dirty="0"/>
          </a:p>
        </p:txBody>
      </p:sp>
      <p:sp>
        <p:nvSpPr>
          <p:cNvPr id="131" name="Rectangle 130"/>
          <p:cNvSpPr/>
          <p:nvPr/>
        </p:nvSpPr>
        <p:spPr>
          <a:xfrm>
            <a:off x="410441" y="5265662"/>
            <a:ext cx="9360000" cy="58030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 131"/>
          <p:cNvSpPr/>
          <p:nvPr/>
        </p:nvSpPr>
        <p:spPr>
          <a:xfrm>
            <a:off x="3735049" y="5445690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itre 1"/>
          <p:cNvSpPr txBox="1">
            <a:spLocks/>
          </p:cNvSpPr>
          <p:nvPr/>
        </p:nvSpPr>
        <p:spPr>
          <a:xfrm>
            <a:off x="2148982" y="5402437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Diagnostic</a:t>
            </a:r>
            <a:endParaRPr lang="fr-FR" sz="1400" dirty="0"/>
          </a:p>
        </p:txBody>
      </p:sp>
      <p:sp>
        <p:nvSpPr>
          <p:cNvPr id="153" name="Triangle isocèle 152"/>
          <p:cNvSpPr/>
          <p:nvPr/>
        </p:nvSpPr>
        <p:spPr>
          <a:xfrm rot="10800000">
            <a:off x="5219205" y="5467388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/>
          <p:cNvSpPr/>
          <p:nvPr/>
        </p:nvSpPr>
        <p:spPr>
          <a:xfrm>
            <a:off x="10130532" y="616318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387339" y="5956171"/>
            <a:ext cx="201725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Codes actes</a:t>
            </a:r>
            <a:endParaRPr lang="fr-FR" sz="1400" b="1" u="sng" dirty="0"/>
          </a:p>
        </p:txBody>
      </p:sp>
      <p:sp>
        <p:nvSpPr>
          <p:cNvPr id="157" name="Rectangle 156"/>
          <p:cNvSpPr/>
          <p:nvPr/>
        </p:nvSpPr>
        <p:spPr>
          <a:xfrm>
            <a:off x="395414" y="5907464"/>
            <a:ext cx="9360000" cy="58030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8" name="Rectangle 157"/>
          <p:cNvSpPr/>
          <p:nvPr/>
        </p:nvSpPr>
        <p:spPr>
          <a:xfrm>
            <a:off x="3707143" y="6087492"/>
            <a:ext cx="1691245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9" name="Titre 1"/>
          <p:cNvSpPr txBox="1">
            <a:spLocks/>
          </p:cNvSpPr>
          <p:nvPr/>
        </p:nvSpPr>
        <p:spPr>
          <a:xfrm>
            <a:off x="2121076" y="6044239"/>
            <a:ext cx="16200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Diagnostic</a:t>
            </a:r>
            <a:endParaRPr lang="fr-FR" sz="1400" dirty="0"/>
          </a:p>
        </p:txBody>
      </p:sp>
      <p:sp>
        <p:nvSpPr>
          <p:cNvPr id="160" name="Triangle isocèle 159"/>
          <p:cNvSpPr/>
          <p:nvPr/>
        </p:nvSpPr>
        <p:spPr>
          <a:xfrm rot="10800000">
            <a:off x="5191299" y="610919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413097" y="765977"/>
            <a:ext cx="1505855" cy="48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Demande de prise en charge</a:t>
            </a:r>
            <a:endParaRPr lang="fr-FR" sz="1400" b="1" u="sng" dirty="0"/>
          </a:p>
        </p:txBody>
      </p:sp>
    </p:spTree>
    <p:extLst>
      <p:ext uri="{BB962C8B-B14F-4D97-AF65-F5344CB8AC3E}">
        <p14:creationId xmlns:p14="http://schemas.microsoft.com/office/powerpoint/2010/main" val="3911714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3716838" y="59579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18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</a:t>
            </a:r>
            <a:r>
              <a:rPr lang="fr-FR" altLang="fr-FR" sz="1800" b="1" smtClean="0">
                <a:latin typeface="Times New Roman" panose="02020603050405020304" pitchFamily="18" charset="0"/>
              </a:rPr>
              <a:t>sécurité sociale </a:t>
            </a:r>
            <a:r>
              <a:rPr lang="fr-FR" altLang="fr-FR" sz="1800" b="1" dirty="0" smtClean="0">
                <a:latin typeface="Times New Roman" panose="02020603050405020304" pitchFamily="18" charset="0"/>
              </a:rPr>
              <a:t>AS 5</a:t>
            </a:r>
            <a:endParaRPr lang="fr-FR" sz="1800" dirty="0"/>
          </a:p>
        </p:txBody>
      </p:sp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164008" y="1555147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788707" y="1572797"/>
            <a:ext cx="36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367324" y="1039904"/>
            <a:ext cx="9360000" cy="225708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148086" y="2142445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769067" y="2160451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2145827" y="2678361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332468" y="2681107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Rectangle 154"/>
          <p:cNvSpPr/>
          <p:nvPr/>
        </p:nvSpPr>
        <p:spPr>
          <a:xfrm>
            <a:off x="8268343" y="2641293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74460" y="1062193"/>
            <a:ext cx="2381618" cy="4891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Demande de prise en charge</a:t>
            </a:r>
            <a:endParaRPr lang="fr-FR" sz="14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5965934" y="269183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3781557" y="2668329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5427897" y="2666181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64" name="Rectangle 63"/>
          <p:cNvSpPr/>
          <p:nvPr/>
        </p:nvSpPr>
        <p:spPr>
          <a:xfrm>
            <a:off x="3803835" y="2608983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0390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670584"/>
            <a:ext cx="11758269" cy="59877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3050970" y="3480685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2254161" y="1207414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878860" y="1250822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457477" y="1039901"/>
            <a:ext cx="9360000" cy="210254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2238239" y="1665922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859220" y="1683928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4330572" y="3477144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5466984" y="34909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7706665" y="34970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6563619" y="349323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9360662" y="353467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Codes actes</a:t>
            </a:r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22943" y="665285"/>
            <a:ext cx="3060000" cy="383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Consultation demande prise en charge</a:t>
            </a:r>
            <a:endParaRPr lang="fr-FR" sz="1400" b="1" u="sng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85337"/>
            <a:ext cx="5101042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18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altLang="fr-FR" sz="1800" b="1" dirty="0" smtClean="0">
                <a:latin typeface="Times New Roman" panose="02020603050405020304" pitchFamily="18" charset="0"/>
              </a:rPr>
              <a:t>Demande prise en charge / Liste des demandes</a:t>
            </a:r>
            <a:endParaRPr lang="fr-FR" sz="1800" dirty="0"/>
          </a:p>
        </p:txBody>
      </p:sp>
      <p:sp>
        <p:nvSpPr>
          <p:cNvPr id="62" name="Titre 1"/>
          <p:cNvSpPr txBox="1">
            <a:spLocks/>
          </p:cNvSpPr>
          <p:nvPr/>
        </p:nvSpPr>
        <p:spPr>
          <a:xfrm>
            <a:off x="1758103" y="3506443"/>
            <a:ext cx="108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63" name="Titre 1"/>
          <p:cNvSpPr txBox="1">
            <a:spLocks/>
          </p:cNvSpPr>
          <p:nvPr/>
        </p:nvSpPr>
        <p:spPr>
          <a:xfrm>
            <a:off x="494235" y="3401438"/>
            <a:ext cx="1214198" cy="52557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Date de demande PEC</a:t>
            </a:r>
            <a:endParaRPr lang="fr-FR" dirty="0"/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247384" y="2104291"/>
            <a:ext cx="1620000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3869951" y="2119666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261738" y="2613966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4332468" y="264247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5965934" y="265320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781557" y="262969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5427897" y="2627544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3881109" y="2570346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8268343" y="260265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7690800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Titre 1"/>
          <p:cNvSpPr txBox="1">
            <a:spLocks/>
          </p:cNvSpPr>
          <p:nvPr/>
        </p:nvSpPr>
        <p:spPr>
          <a:xfrm>
            <a:off x="9391707" y="39553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3256" y="3431107"/>
            <a:ext cx="10044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272084" y="345057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1718251" y="342212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447644" y="3939402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864588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5441119" y="3440686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6547090" y="3428959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520659" y="394524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4352445" y="39518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5447567" y="393873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1703365" y="395598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7736803" y="39550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518510" y="439386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053117" y="44004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4350296" y="44004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5456896" y="44122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1701216" y="440459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7733948" y="441706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7" name="Titre 1"/>
          <p:cNvSpPr txBox="1">
            <a:spLocks/>
          </p:cNvSpPr>
          <p:nvPr/>
        </p:nvSpPr>
        <p:spPr>
          <a:xfrm>
            <a:off x="9400157" y="440418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489961" y="4860074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516363" y="482959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4322391" y="48362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455594" y="48362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711948" y="484032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7744469" y="483968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4" name="Titre 1"/>
          <p:cNvSpPr txBox="1">
            <a:spLocks/>
          </p:cNvSpPr>
          <p:nvPr/>
        </p:nvSpPr>
        <p:spPr>
          <a:xfrm>
            <a:off x="9397507" y="484879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500692" y="5282931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487813" y="4420045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028079" y="344520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050970" y="397334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061701" y="48212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4" name="Titre 1"/>
          <p:cNvSpPr txBox="1">
            <a:spLocks/>
          </p:cNvSpPr>
          <p:nvPr/>
        </p:nvSpPr>
        <p:spPr>
          <a:xfrm>
            <a:off x="9389559" y="52925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518511" y="528250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4350297" y="52891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5445419" y="527598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1701217" y="529323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7734655" y="52923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048822" y="531060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6581967" y="39531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6590417" y="440204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6587767" y="48466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6579819" y="529043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</p:spTree>
    <p:extLst>
      <p:ext uri="{BB962C8B-B14F-4D97-AF65-F5344CB8AC3E}">
        <p14:creationId xmlns:p14="http://schemas.microsoft.com/office/powerpoint/2010/main" val="3958842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902407"/>
            <a:ext cx="11736000" cy="586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629743" y="3982966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sécurité sociale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3580693" y="1220293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5205392" y="1263701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552208" y="1123994"/>
            <a:ext cx="9986490" cy="15420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3564771" y="1678801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N° Réf.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5185752" y="1696807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1819192" y="3979425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Nom de naissance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3032875" y="40060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Prénom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671805" y="40122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Praticien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4181026" y="400839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7003827" y="40240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Codes actes</a:t>
            </a:r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87338" y="1128929"/>
            <a:ext cx="3060000" cy="383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Recherche demande prise en charge</a:t>
            </a:r>
            <a:endParaRPr lang="fr-FR" sz="1400" b="1" u="sng" dirty="0"/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7493"/>
            <a:ext cx="5101042" cy="87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19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demande de prise en charge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CNAS /</a:t>
            </a:r>
          </a:p>
          <a:p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Édition bordereau</a:t>
            </a:r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3588270" y="2150326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demande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5659000" y="2178830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7292466" y="2189561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5108089" y="216605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6754429" y="2163904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5207641" y="2106706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8989564" y="213901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8102928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6" name="Rectangle 85"/>
          <p:cNvSpPr/>
          <p:nvPr/>
        </p:nvSpPr>
        <p:spPr>
          <a:xfrm>
            <a:off x="557651" y="3933388"/>
            <a:ext cx="10044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130415" y="3952858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1782646" y="3924401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512039" y="4441683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2928983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5376724" y="3942967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6959218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585054" y="44475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4210776" y="445415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5653631" y="444101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1767760" y="44582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6" name="Titre 1"/>
          <p:cNvSpPr txBox="1">
            <a:spLocks/>
          </p:cNvSpPr>
          <p:nvPr/>
        </p:nvSpPr>
        <p:spPr>
          <a:xfrm>
            <a:off x="8148931" y="445737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582905" y="489614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014480" y="49027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4208627" y="49027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5662960" y="49145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1765611" y="4906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8146076" y="49193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554356" y="5362355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580758" y="533187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4180722" y="53385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5661658" y="53385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1776343" y="5342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43" name="Titre 1"/>
          <p:cNvSpPr txBox="1">
            <a:spLocks/>
          </p:cNvSpPr>
          <p:nvPr/>
        </p:nvSpPr>
        <p:spPr>
          <a:xfrm>
            <a:off x="8156597" y="53419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565087" y="5785212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552208" y="4922326"/>
            <a:ext cx="100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9" name="Connecteur droit 148"/>
          <p:cNvCxnSpPr/>
          <p:nvPr/>
        </p:nvCxnSpPr>
        <p:spPr>
          <a:xfrm>
            <a:off x="9523791" y="3931240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012333" y="44756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023064" y="532348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582906" y="57847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4208628" y="579141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5651483" y="577826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1765612" y="57955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6" name="Titre 1"/>
          <p:cNvSpPr txBox="1">
            <a:spLocks/>
          </p:cNvSpPr>
          <p:nvPr/>
        </p:nvSpPr>
        <p:spPr>
          <a:xfrm>
            <a:off x="8146783" y="579462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010185" y="58128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6994095" y="445546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7002545" y="49043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6999895" y="534892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6991947" y="579271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77" name="Titre 1"/>
          <p:cNvSpPr txBox="1">
            <a:spLocks/>
          </p:cNvSpPr>
          <p:nvPr/>
        </p:nvSpPr>
        <p:spPr>
          <a:xfrm>
            <a:off x="3591420" y="2879520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</a:t>
            </a:r>
            <a:endParaRPr lang="fr-FR" sz="1400" dirty="0"/>
          </a:p>
        </p:txBody>
      </p:sp>
      <p:sp>
        <p:nvSpPr>
          <p:cNvPr id="80" name="Rectangle 79"/>
          <p:cNvSpPr/>
          <p:nvPr/>
        </p:nvSpPr>
        <p:spPr>
          <a:xfrm>
            <a:off x="5216119" y="2922928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Rectangle 80"/>
          <p:cNvSpPr/>
          <p:nvPr/>
        </p:nvSpPr>
        <p:spPr>
          <a:xfrm>
            <a:off x="552208" y="2808979"/>
            <a:ext cx="10010100" cy="93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Titre 1"/>
          <p:cNvSpPr txBox="1">
            <a:spLocks/>
          </p:cNvSpPr>
          <p:nvPr/>
        </p:nvSpPr>
        <p:spPr>
          <a:xfrm>
            <a:off x="385190" y="2826791"/>
            <a:ext cx="3062148" cy="5104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Bordereau de demande de prise en charge CNAS</a:t>
            </a:r>
            <a:endParaRPr lang="fr-FR" sz="1400" b="1" u="sng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3589272" y="3302379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bordereau</a:t>
            </a:r>
            <a:endParaRPr lang="fr-FR" sz="1400" dirty="0"/>
          </a:p>
        </p:txBody>
      </p:sp>
      <p:sp>
        <p:nvSpPr>
          <p:cNvPr id="109" name="Rectangle 108"/>
          <p:cNvSpPr/>
          <p:nvPr/>
        </p:nvSpPr>
        <p:spPr>
          <a:xfrm>
            <a:off x="5213971" y="3345787"/>
            <a:ext cx="144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8225174" y="400905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Observation</a:t>
            </a:r>
            <a:endParaRPr lang="fr-FR" dirty="0"/>
          </a:p>
        </p:txBody>
      </p:sp>
      <p:sp>
        <p:nvSpPr>
          <p:cNvPr id="111" name="Titre 1"/>
          <p:cNvSpPr txBox="1">
            <a:spLocks/>
          </p:cNvSpPr>
          <p:nvPr/>
        </p:nvSpPr>
        <p:spPr>
          <a:xfrm>
            <a:off x="9523791" y="40197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Sélection</a:t>
            </a:r>
            <a:endParaRPr lang="fr-FR" dirty="0"/>
          </a:p>
        </p:txBody>
      </p:sp>
      <p:sp>
        <p:nvSpPr>
          <p:cNvPr id="112" name="Ellipse 111"/>
          <p:cNvSpPr/>
          <p:nvPr/>
        </p:nvSpPr>
        <p:spPr>
          <a:xfrm flipV="1">
            <a:off x="9988862" y="458112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 flipV="1">
            <a:off x="10010049" y="5051397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Ellipse 115"/>
          <p:cNvSpPr/>
          <p:nvPr/>
        </p:nvSpPr>
        <p:spPr>
          <a:xfrm flipV="1">
            <a:off x="10007901" y="5500011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Ellipse 116"/>
          <p:cNvSpPr/>
          <p:nvPr/>
        </p:nvSpPr>
        <p:spPr>
          <a:xfrm flipV="1">
            <a:off x="10007901" y="5963653"/>
            <a:ext cx="180000" cy="180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/>
          <p:cNvSpPr/>
          <p:nvPr/>
        </p:nvSpPr>
        <p:spPr>
          <a:xfrm>
            <a:off x="9271791" y="636119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7441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311736" y="902407"/>
            <a:ext cx="11736000" cy="586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Rectangle 35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37" name="Rectangle 36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90" name="ZoneTexte 89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2" name="Titre 1"/>
          <p:cNvSpPr txBox="1">
            <a:spLocks/>
          </p:cNvSpPr>
          <p:nvPr/>
        </p:nvSpPr>
        <p:spPr>
          <a:xfrm>
            <a:off x="1489279" y="3672070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bordereau</a:t>
            </a:r>
            <a:endParaRPr lang="fr-FR" sz="1400" dirty="0"/>
          </a:p>
        </p:txBody>
      </p:sp>
      <p:sp>
        <p:nvSpPr>
          <p:cNvPr id="100" name="Titre 1"/>
          <p:cNvSpPr txBox="1">
            <a:spLocks/>
          </p:cNvSpPr>
          <p:nvPr/>
        </p:nvSpPr>
        <p:spPr>
          <a:xfrm>
            <a:off x="1587301" y="1970101"/>
            <a:ext cx="1620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</a:t>
            </a:r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3212000" y="2013509"/>
            <a:ext cx="28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Rectangle 101"/>
          <p:cNvSpPr/>
          <p:nvPr/>
        </p:nvSpPr>
        <p:spPr>
          <a:xfrm>
            <a:off x="1411744" y="1873802"/>
            <a:ext cx="7212880" cy="15420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1571379" y="2428609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N</a:t>
            </a:r>
            <a:r>
              <a:rPr lang="fr-FR" dirty="0"/>
              <a:t>° </a:t>
            </a:r>
            <a:r>
              <a:rPr lang="fr-FR" dirty="0" smtClean="0"/>
              <a:t>bordereau </a:t>
            </a:r>
            <a:endParaRPr lang="fr-FR" dirty="0"/>
          </a:p>
        </p:txBody>
      </p:sp>
      <p:sp>
        <p:nvSpPr>
          <p:cNvPr id="104" name="Rectangle 103"/>
          <p:cNvSpPr/>
          <p:nvPr/>
        </p:nvSpPr>
        <p:spPr>
          <a:xfrm>
            <a:off x="3192360" y="2446615"/>
            <a:ext cx="16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678728" y="3668529"/>
            <a:ext cx="10800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Date </a:t>
            </a:r>
            <a:r>
              <a:rPr lang="fr-FR" sz="1400" dirty="0" smtClean="0"/>
              <a:t>de bordereau</a:t>
            </a:r>
            <a:endParaRPr lang="fr-FR" sz="1400" dirty="0"/>
          </a:p>
        </p:txBody>
      </p:sp>
      <p:sp>
        <p:nvSpPr>
          <p:cNvPr id="84" name="Titre 1"/>
          <p:cNvSpPr txBox="1">
            <a:spLocks/>
          </p:cNvSpPr>
          <p:nvPr/>
        </p:nvSpPr>
        <p:spPr>
          <a:xfrm>
            <a:off x="3782683" y="3695190"/>
            <a:ext cx="1218068" cy="3809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de </a:t>
            </a:r>
            <a:r>
              <a:rPr lang="fr-FR" sz="1400" smtClean="0"/>
              <a:t>sécurité sociale</a:t>
            </a:r>
            <a:endParaRPr lang="fr-FR" sz="1400" dirty="0"/>
          </a:p>
        </p:txBody>
      </p:sp>
      <p:sp>
        <p:nvSpPr>
          <p:cNvPr id="106" name="Titre 1"/>
          <p:cNvSpPr txBox="1">
            <a:spLocks/>
          </p:cNvSpPr>
          <p:nvPr/>
        </p:nvSpPr>
        <p:spPr>
          <a:xfrm>
            <a:off x="5068163" y="370260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Nom</a:t>
            </a:r>
            <a:endParaRPr lang="fr-FR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7493199" y="36973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Catégorie</a:t>
            </a:r>
            <a:endParaRPr lang="fr-FR" sz="1400" dirty="0"/>
          </a:p>
        </p:txBody>
      </p:sp>
      <p:sp>
        <p:nvSpPr>
          <p:cNvPr id="156" name="Titre 1"/>
          <p:cNvSpPr txBox="1">
            <a:spLocks/>
          </p:cNvSpPr>
          <p:nvPr/>
        </p:nvSpPr>
        <p:spPr>
          <a:xfrm>
            <a:off x="6291793" y="369519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Prénom</a:t>
            </a:r>
            <a:endParaRPr lang="fr-FR" dirty="0"/>
          </a:p>
        </p:txBody>
      </p:sp>
      <p:sp>
        <p:nvSpPr>
          <p:cNvPr id="162" name="Titre 1"/>
          <p:cNvSpPr txBox="1">
            <a:spLocks/>
          </p:cNvSpPr>
          <p:nvPr/>
        </p:nvSpPr>
        <p:spPr>
          <a:xfrm>
            <a:off x="350762" y="946048"/>
            <a:ext cx="3892054" cy="6638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Consultation bordereau de demande prise en charge</a:t>
            </a:r>
          </a:p>
        </p:txBody>
      </p:sp>
      <p:sp>
        <p:nvSpPr>
          <p:cNvPr id="61" name="Titre 1"/>
          <p:cNvSpPr txBox="1">
            <a:spLocks/>
          </p:cNvSpPr>
          <p:nvPr/>
        </p:nvSpPr>
        <p:spPr>
          <a:xfrm>
            <a:off x="3626685" y="7493"/>
            <a:ext cx="5101042" cy="875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20 – Patient -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Reporting /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/>
            </a:r>
            <a:b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</a:b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Bordereau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 demande de prise en charge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CNAS /</a:t>
            </a:r>
          </a:p>
          <a:p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Consultation bordereau</a:t>
            </a:r>
            <a:endParaRPr lang="fr-FR" sz="1800" b="1" dirty="0" smtClean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1594878" y="2900134"/>
            <a:ext cx="162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Date de bordereau</a:t>
            </a:r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3665608" y="2928638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Rectangle 68"/>
          <p:cNvSpPr/>
          <p:nvPr/>
        </p:nvSpPr>
        <p:spPr>
          <a:xfrm>
            <a:off x="5299074" y="2939369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114697" y="2915860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de</a:t>
            </a:r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4761037" y="2913712"/>
            <a:ext cx="540000" cy="34977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smtClean="0"/>
              <a:t>au</a:t>
            </a:r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3214249" y="2856514"/>
            <a:ext cx="360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Rectangle 75"/>
          <p:cNvSpPr/>
          <p:nvPr/>
        </p:nvSpPr>
        <p:spPr>
          <a:xfrm>
            <a:off x="7252204" y="2961976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  <a:endParaRPr lang="fr-FR" sz="1400" dirty="0"/>
          </a:p>
        </p:txBody>
      </p:sp>
      <p:sp>
        <p:nvSpPr>
          <p:cNvPr id="86" name="Rectangle 85"/>
          <p:cNvSpPr/>
          <p:nvPr/>
        </p:nvSpPr>
        <p:spPr>
          <a:xfrm>
            <a:off x="1417187" y="3622492"/>
            <a:ext cx="7200000" cy="234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5" name="Connecteur droit 94"/>
          <p:cNvCxnSpPr/>
          <p:nvPr/>
        </p:nvCxnSpPr>
        <p:spPr>
          <a:xfrm>
            <a:off x="4989951" y="3641962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9" name="Connecteur droit 98"/>
          <p:cNvCxnSpPr/>
          <p:nvPr/>
        </p:nvCxnSpPr>
        <p:spPr>
          <a:xfrm>
            <a:off x="2642182" y="3613505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5" name="Connecteur droit 104"/>
          <p:cNvCxnSpPr/>
          <p:nvPr/>
        </p:nvCxnSpPr>
        <p:spPr>
          <a:xfrm flipH="1" flipV="1">
            <a:off x="1408151" y="4130787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3788519" y="362034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5" name="Connecteur droit 114"/>
          <p:cNvCxnSpPr/>
          <p:nvPr/>
        </p:nvCxnSpPr>
        <p:spPr>
          <a:xfrm>
            <a:off x="6199684" y="3632071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7398130" y="3620344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1" name="Titre 1"/>
          <p:cNvSpPr txBox="1">
            <a:spLocks/>
          </p:cNvSpPr>
          <p:nvPr/>
        </p:nvSpPr>
        <p:spPr>
          <a:xfrm>
            <a:off x="1444590" y="413663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5070312" y="414326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3" name="Titre 1"/>
          <p:cNvSpPr txBox="1">
            <a:spLocks/>
          </p:cNvSpPr>
          <p:nvPr/>
        </p:nvSpPr>
        <p:spPr>
          <a:xfrm>
            <a:off x="6311999" y="413011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2627296" y="414736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1442441" y="458525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28" name="Titre 1"/>
          <p:cNvSpPr txBox="1">
            <a:spLocks/>
          </p:cNvSpPr>
          <p:nvPr/>
        </p:nvSpPr>
        <p:spPr>
          <a:xfrm>
            <a:off x="3874016" y="4591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5068163" y="459187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4" name="Titre 1"/>
          <p:cNvSpPr txBox="1">
            <a:spLocks/>
          </p:cNvSpPr>
          <p:nvPr/>
        </p:nvSpPr>
        <p:spPr>
          <a:xfrm>
            <a:off x="6321328" y="460365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35" name="Titre 1"/>
          <p:cNvSpPr txBox="1">
            <a:spLocks/>
          </p:cNvSpPr>
          <p:nvPr/>
        </p:nvSpPr>
        <p:spPr>
          <a:xfrm>
            <a:off x="2625147" y="459598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cxnSp>
        <p:nvCxnSpPr>
          <p:cNvPr id="138" name="Connecteur droit 137"/>
          <p:cNvCxnSpPr/>
          <p:nvPr/>
        </p:nvCxnSpPr>
        <p:spPr>
          <a:xfrm flipH="1" flipV="1">
            <a:off x="1413892" y="5051459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Titre 1"/>
          <p:cNvSpPr txBox="1">
            <a:spLocks/>
          </p:cNvSpPr>
          <p:nvPr/>
        </p:nvSpPr>
        <p:spPr>
          <a:xfrm>
            <a:off x="1440294" y="502098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40" name="Titre 1"/>
          <p:cNvSpPr txBox="1">
            <a:spLocks/>
          </p:cNvSpPr>
          <p:nvPr/>
        </p:nvSpPr>
        <p:spPr>
          <a:xfrm>
            <a:off x="5040258" y="5027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1" name="Titre 1"/>
          <p:cNvSpPr txBox="1">
            <a:spLocks/>
          </p:cNvSpPr>
          <p:nvPr/>
        </p:nvSpPr>
        <p:spPr>
          <a:xfrm>
            <a:off x="6320026" y="502761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42" name="Titre 1"/>
          <p:cNvSpPr txBox="1">
            <a:spLocks/>
          </p:cNvSpPr>
          <p:nvPr/>
        </p:nvSpPr>
        <p:spPr>
          <a:xfrm>
            <a:off x="2635879" y="503171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cxnSp>
        <p:nvCxnSpPr>
          <p:cNvPr id="145" name="Connecteur droit 144"/>
          <p:cNvCxnSpPr/>
          <p:nvPr/>
        </p:nvCxnSpPr>
        <p:spPr>
          <a:xfrm flipH="1" flipV="1">
            <a:off x="1424623" y="5474316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6" name="Connecteur droit 145"/>
          <p:cNvCxnSpPr/>
          <p:nvPr/>
        </p:nvCxnSpPr>
        <p:spPr>
          <a:xfrm flipH="1" flipV="1">
            <a:off x="1411744" y="4611430"/>
            <a:ext cx="72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Titre 1"/>
          <p:cNvSpPr txBox="1">
            <a:spLocks/>
          </p:cNvSpPr>
          <p:nvPr/>
        </p:nvSpPr>
        <p:spPr>
          <a:xfrm>
            <a:off x="3871869" y="416473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51" name="Titre 1"/>
          <p:cNvSpPr txBox="1">
            <a:spLocks/>
          </p:cNvSpPr>
          <p:nvPr/>
        </p:nvSpPr>
        <p:spPr>
          <a:xfrm>
            <a:off x="3882600" y="501259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61" name="Titre 1"/>
          <p:cNvSpPr txBox="1">
            <a:spLocks/>
          </p:cNvSpPr>
          <p:nvPr/>
        </p:nvSpPr>
        <p:spPr>
          <a:xfrm>
            <a:off x="1442442" y="5473889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……………..</a:t>
            </a:r>
            <a:endParaRPr lang="fr-FR" sz="1800" b="1" dirty="0"/>
          </a:p>
        </p:txBody>
      </p:sp>
      <p:sp>
        <p:nvSpPr>
          <p:cNvPr id="163" name="Titre 1"/>
          <p:cNvSpPr txBox="1">
            <a:spLocks/>
          </p:cNvSpPr>
          <p:nvPr/>
        </p:nvSpPr>
        <p:spPr>
          <a:xfrm>
            <a:off x="5068164" y="548051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4" name="Titre 1"/>
          <p:cNvSpPr txBox="1">
            <a:spLocks/>
          </p:cNvSpPr>
          <p:nvPr/>
        </p:nvSpPr>
        <p:spPr>
          <a:xfrm>
            <a:off x="6309851" y="546737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</a:t>
            </a:r>
            <a:endParaRPr lang="fr-FR" sz="1800" b="1" dirty="0"/>
          </a:p>
        </p:txBody>
      </p:sp>
      <p:sp>
        <p:nvSpPr>
          <p:cNvPr id="165" name="Titre 1"/>
          <p:cNvSpPr txBox="1">
            <a:spLocks/>
          </p:cNvSpPr>
          <p:nvPr/>
        </p:nvSpPr>
        <p:spPr>
          <a:xfrm>
            <a:off x="2625148" y="548462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…………….</a:t>
            </a:r>
            <a:endParaRPr lang="fr-FR" sz="1800" b="1" dirty="0"/>
          </a:p>
        </p:txBody>
      </p:sp>
      <p:sp>
        <p:nvSpPr>
          <p:cNvPr id="167" name="Titre 1"/>
          <p:cNvSpPr txBox="1">
            <a:spLocks/>
          </p:cNvSpPr>
          <p:nvPr/>
        </p:nvSpPr>
        <p:spPr>
          <a:xfrm>
            <a:off x="3869721" y="550198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………….....</a:t>
            </a:r>
            <a:endParaRPr lang="fr-FR" sz="1800" b="1" dirty="0"/>
          </a:p>
        </p:txBody>
      </p:sp>
      <p:sp>
        <p:nvSpPr>
          <p:cNvPr id="171" name="Titre 1"/>
          <p:cNvSpPr txBox="1">
            <a:spLocks/>
          </p:cNvSpPr>
          <p:nvPr/>
        </p:nvSpPr>
        <p:spPr>
          <a:xfrm>
            <a:off x="7433007" y="414456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2" name="Titre 1"/>
          <p:cNvSpPr txBox="1">
            <a:spLocks/>
          </p:cNvSpPr>
          <p:nvPr/>
        </p:nvSpPr>
        <p:spPr>
          <a:xfrm>
            <a:off x="7441457" y="459342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3" name="Titre 1"/>
          <p:cNvSpPr txBox="1">
            <a:spLocks/>
          </p:cNvSpPr>
          <p:nvPr/>
        </p:nvSpPr>
        <p:spPr>
          <a:xfrm>
            <a:off x="7438807" y="50380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174" name="Titre 1"/>
          <p:cNvSpPr txBox="1">
            <a:spLocks/>
          </p:cNvSpPr>
          <p:nvPr/>
        </p:nvSpPr>
        <p:spPr>
          <a:xfrm>
            <a:off x="7430859" y="5481823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800" b="1" dirty="0" smtClean="0"/>
              <a:t>…………..…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78399" y="6141739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237690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physiologique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572921" y="276838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75759" y="3302925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Grossesse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577610" y="335449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769077" y="2784729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Poids de naissance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43693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1964661" y="488856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5" name="Titre 1"/>
          <p:cNvSpPr txBox="1">
            <a:spLocks/>
          </p:cNvSpPr>
          <p:nvPr/>
        </p:nvSpPr>
        <p:spPr>
          <a:xfrm>
            <a:off x="8423525" y="3354497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Semaine(s)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578442" y="395270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506403" y="5518718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Physiologique</a:t>
            </a:r>
            <a:endParaRPr lang="fr-FR" sz="1400" dirty="0"/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76506" y="281179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575759" y="2788058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Accouchement</a:t>
            </a:r>
            <a:endParaRPr lang="fr-FR" sz="1400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3495122" y="28328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578128" y="3992221"/>
            <a:ext cx="193165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Réanimation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néonatale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7806" y="3903480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Oui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7806" y="4269223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97600" y="3991992"/>
            <a:ext cx="108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Fratrie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5759" y="4940147"/>
            <a:ext cx="18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ménarchie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60723" y="4925716"/>
            <a:ext cx="360000" cy="322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76728" y="4932291"/>
            <a:ext cx="360000" cy="3228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45345" y="4958724"/>
            <a:ext cx="1053494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Ménopause</a:t>
            </a:r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1976506" y="33649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514172" y="34043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584791" y="3850473"/>
            <a:ext cx="3229815" cy="80253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3307273" y="3963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Ellipse 76"/>
          <p:cNvSpPr/>
          <p:nvPr/>
        </p:nvSpPr>
        <p:spPr>
          <a:xfrm>
            <a:off x="3307273" y="4344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423525" y="2782997"/>
            <a:ext cx="3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Kg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65791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981763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5504046" y="336737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Ça fait</a:t>
            </a:r>
            <a:endParaRPr lang="fr-FR" sz="1400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069139"/>
            <a:ext cx="5929569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Accouchement 	: </a:t>
            </a:r>
            <a:r>
              <a:rPr lang="fr-FR" sz="1600" dirty="0" smtClean="0"/>
              <a:t>normal, voie basse, dystocique, césarienne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Grossesse</a:t>
            </a:r>
            <a:r>
              <a:rPr lang="fr-FR" sz="1600" b="1" dirty="0"/>
              <a:t> </a:t>
            </a:r>
            <a:r>
              <a:rPr lang="fr-FR" sz="1600" b="1" dirty="0" smtClean="0"/>
              <a:t>		: </a:t>
            </a:r>
            <a:r>
              <a:rPr lang="fr-FR" sz="1600" dirty="0" smtClean="0"/>
              <a:t>normale, à terme, prématurée </a:t>
            </a:r>
            <a:endParaRPr lang="fr-FR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306201" y="2329934"/>
            <a:ext cx="13706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Physiologique</a:t>
            </a:r>
          </a:p>
        </p:txBody>
      </p:sp>
    </p:spTree>
    <p:extLst>
      <p:ext uri="{BB962C8B-B14F-4D97-AF65-F5344CB8AC3E}">
        <p14:creationId xmlns:p14="http://schemas.microsoft.com/office/powerpoint/2010/main" val="3169905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Vaccination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15943" y="480663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6215943" y="343212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206783" y="280348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837149" y="414282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3837149" y="340472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6215943" y="412437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450227" y="50110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1961206" y="280939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Vaccin</a:t>
            </a:r>
            <a:endParaRPr lang="fr-FR" sz="1400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8472827" y="280348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557406" y="33839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095072" y="34233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461090" y="2764622"/>
            <a:ext cx="8091818" cy="25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6403734" y="280590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837149" y="483103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069139"/>
            <a:ext cx="9580575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Vaccin : </a:t>
            </a:r>
            <a:r>
              <a:rPr lang="fr-FR" sz="1600" dirty="0" smtClean="0"/>
              <a:t>BCG, Diphtérie, DT-Coq, Grippe, Hépatite B, Méningo-Coq , Pneumo-Coq, Polio inactivée, Tétanos. </a:t>
            </a:r>
            <a:endParaRPr lang="fr-FR" sz="1600" b="1" dirty="0"/>
          </a:p>
        </p:txBody>
      </p:sp>
      <p:sp>
        <p:nvSpPr>
          <p:cNvPr id="12" name="Rectangle 11"/>
          <p:cNvSpPr/>
          <p:nvPr/>
        </p:nvSpPr>
        <p:spPr>
          <a:xfrm>
            <a:off x="306201" y="2329934"/>
            <a:ext cx="11700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Vaccination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57406" y="41078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3095072" y="41472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576456" y="47936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3114122" y="48330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3602084" y="27646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888084" y="27836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383634" y="27836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8782050" y="34030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8782050" y="40697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Plus 71"/>
          <p:cNvSpPr/>
          <p:nvPr/>
        </p:nvSpPr>
        <p:spPr>
          <a:xfrm>
            <a:off x="8782050" y="47174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1462155" y="32777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1462155" y="39445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462155" y="46112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151971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Facteurs des risques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33672" y="273178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575759" y="3169575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Diabète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6233672" y="320184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5703354" y="2697243"/>
            <a:ext cx="511268" cy="4532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1985222" y="553670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1995556" y="3973678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2007336" y="502006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9124170" y="574543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976506" y="267844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575759" y="2654708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HTA</a:t>
            </a:r>
            <a:endParaRPr lang="fr-FR" sz="1400" dirty="0"/>
          </a:p>
        </p:txBody>
      </p:sp>
      <p:sp>
        <p:nvSpPr>
          <p:cNvPr id="137" name="Triangle isocèle 136"/>
          <p:cNvSpPr/>
          <p:nvPr/>
        </p:nvSpPr>
        <p:spPr>
          <a:xfrm rot="10800000">
            <a:off x="3495122" y="399485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578128" y="3992221"/>
            <a:ext cx="1931650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Consanguinité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62327" y="5042578"/>
            <a:ext cx="1080000" cy="31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Tabagisme</a:t>
            </a:r>
            <a:endParaRPr lang="fr-FR" sz="1400" dirty="0"/>
          </a:p>
        </p:txBody>
      </p:sp>
      <p:sp>
        <p:nvSpPr>
          <p:cNvPr id="6" name="Rectangle 5"/>
          <p:cNvSpPr/>
          <p:nvPr/>
        </p:nvSpPr>
        <p:spPr>
          <a:xfrm>
            <a:off x="604199" y="4499263"/>
            <a:ext cx="1800000" cy="3126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Mode de vie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0999" y="5556450"/>
            <a:ext cx="1265522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Obésité (IMC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4232059" y="4933923"/>
            <a:ext cx="225176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Consommation éthylique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09710" y="5612781"/>
            <a:ext cx="1123962" cy="312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Dyslipidémie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76506" y="323157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514172" y="4509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8110331" y="2730886"/>
            <a:ext cx="529975" cy="345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ans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6217181" y="490761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6236287" y="558335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5634839" y="3201547"/>
            <a:ext cx="648297" cy="450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Sexe</a:t>
            </a:r>
            <a:endParaRPr lang="fr-FR" sz="1400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93341" y="6265066"/>
            <a:ext cx="11582154" cy="581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Consanguinité</a:t>
            </a:r>
            <a:r>
              <a:rPr lang="fr-FR" sz="1600" dirty="0" smtClean="0"/>
              <a:t> </a:t>
            </a:r>
            <a:r>
              <a:rPr lang="fr-FR" sz="1600" b="1" dirty="0" smtClean="0"/>
              <a:t>	: </a:t>
            </a:r>
            <a:r>
              <a:rPr lang="fr-FR" sz="1600" dirty="0"/>
              <a:t>1er dégrée, 2ème dégrée, </a:t>
            </a:r>
            <a:r>
              <a:rPr lang="fr-FR" sz="1600" dirty="0" smtClean="0"/>
              <a:t>pas de consanguinité.					</a:t>
            </a:r>
            <a:r>
              <a:rPr lang="fr-FR" sz="1600" b="1" dirty="0" smtClean="0"/>
              <a:t>Dyslipidémie : </a:t>
            </a:r>
            <a:r>
              <a:rPr lang="fr-FR" sz="1600" dirty="0" smtClean="0"/>
              <a:t>HCHL, HTRI, MIXTE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dirty="0" smtClean="0"/>
              <a:t>Mode de vie 	:</a:t>
            </a:r>
            <a:r>
              <a:rPr lang="fr-FR" sz="1600" dirty="0"/>
              <a:t> </a:t>
            </a:r>
            <a:r>
              <a:rPr lang="fr-FR" sz="1600" dirty="0" smtClean="0"/>
              <a:t>Sédentarité, activité physique normale, activité physique minimale.</a:t>
            </a:r>
            <a:endParaRPr lang="fr-FR" sz="1600" b="1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449284" y="2234684"/>
            <a:ext cx="189404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Facteurs des </a:t>
            </a:r>
            <a:r>
              <a:rPr lang="fr-FR" sz="1600" b="1" u="sng" dirty="0" smtClean="0"/>
              <a:t>risques</a:t>
            </a:r>
            <a:endParaRPr lang="fr-FR" sz="1600" b="1" u="sng" dirty="0"/>
          </a:p>
        </p:txBody>
      </p:sp>
      <p:sp>
        <p:nvSpPr>
          <p:cNvPr id="61" name="Triangle isocèle 60"/>
          <p:cNvSpPr/>
          <p:nvPr/>
        </p:nvSpPr>
        <p:spPr>
          <a:xfrm rot="10800000">
            <a:off x="7762622" y="32333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 61"/>
          <p:cNvSpPr/>
          <p:nvPr/>
        </p:nvSpPr>
        <p:spPr>
          <a:xfrm>
            <a:off x="498090" y="257308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995556" y="4468978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Rectangle 64"/>
          <p:cNvSpPr/>
          <p:nvPr/>
        </p:nvSpPr>
        <p:spPr>
          <a:xfrm>
            <a:off x="498090" y="3868485"/>
            <a:ext cx="8550660" cy="224656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riangle isocèle 65"/>
          <p:cNvSpPr/>
          <p:nvPr/>
        </p:nvSpPr>
        <p:spPr>
          <a:xfrm rot="10800000">
            <a:off x="7781672" y="561461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2890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Antécédents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médicaux &amp;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chirurgicaux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9" name="Rectangle 118"/>
          <p:cNvSpPr/>
          <p:nvPr/>
        </p:nvSpPr>
        <p:spPr>
          <a:xfrm>
            <a:off x="7149393" y="31463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5140233" y="25177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4770599" y="38570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4770599" y="31189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7149393" y="38386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435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674546" y="621943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&amp;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2894656" y="252364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Pathologie</a:t>
            </a:r>
            <a:endParaRPr lang="fr-FR" sz="1400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9406277" y="25177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2490856" y="30982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4028522" y="31376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2394540" y="2478872"/>
            <a:ext cx="8091818" cy="199125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7337184" y="25201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12" name="Rectangle 11"/>
          <p:cNvSpPr/>
          <p:nvPr/>
        </p:nvSpPr>
        <p:spPr>
          <a:xfrm>
            <a:off x="317784" y="2329934"/>
            <a:ext cx="18976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Personnel médicaux</a:t>
            </a:r>
            <a:endParaRPr lang="fr-FR" sz="16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2490856" y="38221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4028522" y="38615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4535534" y="247887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6821534" y="249792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9317084" y="2497922"/>
            <a:ext cx="0" cy="1991252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9715500" y="31172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9715500" y="37840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2395605" y="29920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2395605" y="36587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Rectangle 58"/>
          <p:cNvSpPr/>
          <p:nvPr/>
        </p:nvSpPr>
        <p:spPr>
          <a:xfrm>
            <a:off x="279684" y="4542894"/>
            <a:ext cx="21180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Personnel chirurgicaux</a:t>
            </a:r>
            <a:endParaRPr lang="fr-FR" sz="1600" b="1" u="sng" dirty="0"/>
          </a:p>
        </p:txBody>
      </p:sp>
      <p:sp>
        <p:nvSpPr>
          <p:cNvPr id="66" name="Rectangle 65"/>
          <p:cNvSpPr/>
          <p:nvPr/>
        </p:nvSpPr>
        <p:spPr>
          <a:xfrm>
            <a:off x="7149393" y="52799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5140233" y="46513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770599" y="59906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770599" y="52525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7149393" y="59722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2894656" y="4657242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Appareil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406277" y="46513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490856" y="52318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4028522" y="5271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2394540" y="4612472"/>
            <a:ext cx="8091818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7337184" y="46537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2490856" y="59557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riangle isocèle 105"/>
          <p:cNvSpPr/>
          <p:nvPr/>
        </p:nvSpPr>
        <p:spPr>
          <a:xfrm rot="10800000">
            <a:off x="4028522" y="59951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4535534" y="461247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6821534" y="463152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9317084" y="4631522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Plus 111"/>
          <p:cNvSpPr/>
          <p:nvPr/>
        </p:nvSpPr>
        <p:spPr>
          <a:xfrm>
            <a:off x="9715500" y="52508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Plus 112"/>
          <p:cNvSpPr/>
          <p:nvPr/>
        </p:nvSpPr>
        <p:spPr>
          <a:xfrm>
            <a:off x="9715500" y="59176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2395605" y="51256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2395605" y="57923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76042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Antécédents</a:t>
            </a:r>
            <a:r>
              <a:rPr lang="fr-FR" sz="1800" b="1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familiaux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354227" y="2234684"/>
            <a:ext cx="20841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Antécédents familiaux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9974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26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Néphropathies</a:t>
            </a:r>
            <a:r>
              <a:rPr lang="fr-FR" sz="1800" dirty="0"/>
              <a:t>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causales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5246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27244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17" name="Rectangle 116"/>
          <p:cNvSpPr/>
          <p:nvPr/>
        </p:nvSpPr>
        <p:spPr>
          <a:xfrm>
            <a:off x="6215943" y="486378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Rectangle 118"/>
          <p:cNvSpPr/>
          <p:nvPr/>
        </p:nvSpPr>
        <p:spPr>
          <a:xfrm>
            <a:off x="6215943" y="3489270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itre 1"/>
          <p:cNvSpPr txBox="1">
            <a:spLocks/>
          </p:cNvSpPr>
          <p:nvPr/>
        </p:nvSpPr>
        <p:spPr>
          <a:xfrm>
            <a:off x="4206783" y="286063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21" name="Rectangle 120"/>
          <p:cNvSpPr/>
          <p:nvPr/>
        </p:nvSpPr>
        <p:spPr>
          <a:xfrm>
            <a:off x="3837149" y="419997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3837149" y="346187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 125"/>
          <p:cNvSpPr/>
          <p:nvPr/>
        </p:nvSpPr>
        <p:spPr>
          <a:xfrm>
            <a:off x="6215943" y="418152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363536"/>
            <a:ext cx="11556000" cy="30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10450227" y="50110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71047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7171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72589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73176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6" name="Titre 1"/>
          <p:cNvSpPr txBox="1">
            <a:spLocks/>
          </p:cNvSpPr>
          <p:nvPr/>
        </p:nvSpPr>
        <p:spPr>
          <a:xfrm>
            <a:off x="1961205" y="2866542"/>
            <a:ext cx="1242463" cy="3740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Néphropathies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7361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721048"/>
            <a:ext cx="1332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causales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298301" y="173311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73898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70094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5" name="Rectangle 4"/>
          <p:cNvSpPr/>
          <p:nvPr/>
        </p:nvSpPr>
        <p:spPr>
          <a:xfrm>
            <a:off x="8472827" y="2860635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1557406" y="34411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riangle isocèle 73"/>
          <p:cNvSpPr/>
          <p:nvPr/>
        </p:nvSpPr>
        <p:spPr>
          <a:xfrm rot="10800000">
            <a:off x="3095072" y="34805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Rectangle 74"/>
          <p:cNvSpPr/>
          <p:nvPr/>
        </p:nvSpPr>
        <p:spPr>
          <a:xfrm>
            <a:off x="1461090" y="2821772"/>
            <a:ext cx="8091818" cy="25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6403734" y="2863058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Commentaire </a:t>
            </a:r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3837149" y="4888185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329129" y="2425184"/>
            <a:ext cx="22100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Néphropathies </a:t>
            </a:r>
            <a:r>
              <a:rPr lang="fr-FR" sz="1600" b="1" u="sng" dirty="0" smtClean="0"/>
              <a:t>causales</a:t>
            </a:r>
            <a:endParaRPr lang="fr-FR" sz="1600" b="1" u="sng" dirty="0"/>
          </a:p>
        </p:txBody>
      </p:sp>
      <p:sp>
        <p:nvSpPr>
          <p:cNvPr id="61" name="Rectangle 60"/>
          <p:cNvSpPr/>
          <p:nvPr/>
        </p:nvSpPr>
        <p:spPr>
          <a:xfrm>
            <a:off x="1557406" y="41650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Triangle isocèle 61"/>
          <p:cNvSpPr/>
          <p:nvPr/>
        </p:nvSpPr>
        <p:spPr>
          <a:xfrm rot="10800000">
            <a:off x="3095072" y="42044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/>
          <p:cNvSpPr/>
          <p:nvPr/>
        </p:nvSpPr>
        <p:spPr>
          <a:xfrm>
            <a:off x="1576456" y="485082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5" name="Triangle isocèle 64"/>
          <p:cNvSpPr/>
          <p:nvPr/>
        </p:nvSpPr>
        <p:spPr>
          <a:xfrm rot="10800000">
            <a:off x="3114122" y="489020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Connecteur droit 12"/>
          <p:cNvCxnSpPr/>
          <p:nvPr/>
        </p:nvCxnSpPr>
        <p:spPr>
          <a:xfrm>
            <a:off x="3602084" y="282177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/>
          <p:cNvCxnSpPr/>
          <p:nvPr/>
        </p:nvCxnSpPr>
        <p:spPr>
          <a:xfrm>
            <a:off x="5888084" y="28408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383634" y="2840822"/>
            <a:ext cx="0" cy="252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Plus 14"/>
          <p:cNvSpPr/>
          <p:nvPr/>
        </p:nvSpPr>
        <p:spPr>
          <a:xfrm>
            <a:off x="8782050" y="346017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Plus 70"/>
          <p:cNvSpPr/>
          <p:nvPr/>
        </p:nvSpPr>
        <p:spPr>
          <a:xfrm>
            <a:off x="8782050" y="41269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Plus 71"/>
          <p:cNvSpPr/>
          <p:nvPr/>
        </p:nvSpPr>
        <p:spPr>
          <a:xfrm>
            <a:off x="8782050" y="4774621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6" name="Connecteur droit 75"/>
          <p:cNvCxnSpPr/>
          <p:nvPr/>
        </p:nvCxnSpPr>
        <p:spPr>
          <a:xfrm>
            <a:off x="1462155" y="33349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9" name="Connecteur droit 88"/>
          <p:cNvCxnSpPr/>
          <p:nvPr/>
        </p:nvCxnSpPr>
        <p:spPr>
          <a:xfrm>
            <a:off x="1462155" y="400168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462155" y="4668436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996303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353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27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Allergologie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415432" y="2272784"/>
            <a:ext cx="11997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Allergologie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00716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489617" y="59579"/>
            <a:ext cx="4620714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28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Antécédent / </a:t>
            </a:r>
            <a:r>
              <a:rPr 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Psychiatrique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556080"/>
            <a:ext cx="11758269" cy="57416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2667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602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-11272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-1844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72003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0693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72644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76506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72033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77169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65069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73859" y="1139099"/>
            <a:ext cx="2137032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Suivi des antécédents</a:t>
            </a:r>
            <a:endParaRPr lang="fr-FR" sz="1600" b="1" u="sng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2230185"/>
            <a:ext cx="11556000" cy="40182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716750" y="4123935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83953" y="1577127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Physiologique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95032" y="158375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Vaccination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15874" y="1592541"/>
            <a:ext cx="169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Facteurs des risques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58736" y="1598410"/>
            <a:ext cx="187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médicaux / chirurgicaux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15518" y="2907588"/>
            <a:ext cx="8299881" cy="84526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79081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7743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7804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79926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6584266" y="1602805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Antécédents familiaux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907827" y="1587698"/>
            <a:ext cx="1332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Néphropathies </a:t>
            </a:r>
            <a:r>
              <a:rPr lang="fr-FR" sz="1400" dirty="0" smtClean="0"/>
              <a:t>causales</a:t>
            </a:r>
            <a:endParaRPr lang="fr-FR" sz="1400" dirty="0"/>
          </a:p>
        </p:txBody>
      </p:sp>
      <p:sp>
        <p:nvSpPr>
          <p:cNvPr id="144" name="Rectangle 143"/>
          <p:cNvSpPr/>
          <p:nvPr/>
        </p:nvSpPr>
        <p:spPr>
          <a:xfrm>
            <a:off x="9298301" y="1599768"/>
            <a:ext cx="1260000" cy="54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Allergologie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615495" y="1605637"/>
            <a:ext cx="1260000" cy="54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Psychiatrique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35759" y="567599"/>
            <a:ext cx="1080000" cy="54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/>
              <a:t>Patient</a:t>
            </a:r>
            <a:endParaRPr lang="fr-FR" sz="1600" b="1" u="sng" dirty="0"/>
          </a:p>
        </p:txBody>
      </p:sp>
      <p:sp>
        <p:nvSpPr>
          <p:cNvPr id="12" name="Rectangle 11"/>
          <p:cNvSpPr/>
          <p:nvPr/>
        </p:nvSpPr>
        <p:spPr>
          <a:xfrm>
            <a:off x="426999" y="2291834"/>
            <a:ext cx="13290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1600" b="1" u="sng" dirty="0"/>
              <a:t>Psychiatrique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8090" y="2744536"/>
            <a:ext cx="8550660" cy="116495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5669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29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Traitement habituel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9"/>
            <a:ext cx="11758269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307590" y="1613727"/>
            <a:ext cx="11556000" cy="500652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9570950" y="620347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Modifier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57" y="1292904"/>
            <a:ext cx="121065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Prescription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3985" y="480448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5304825" y="4175848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Dose</a:t>
            </a:r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935191" y="5515191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7" name="Rectangle 76"/>
          <p:cNvSpPr/>
          <p:nvPr/>
        </p:nvSpPr>
        <p:spPr>
          <a:xfrm>
            <a:off x="4935191" y="477708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/>
          <p:cNvSpPr/>
          <p:nvPr/>
        </p:nvSpPr>
        <p:spPr>
          <a:xfrm>
            <a:off x="7313985" y="549673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itre 1"/>
          <p:cNvSpPr txBox="1">
            <a:spLocks/>
          </p:cNvSpPr>
          <p:nvPr/>
        </p:nvSpPr>
        <p:spPr>
          <a:xfrm>
            <a:off x="3059247" y="4181754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Médicament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570869" y="4175847"/>
            <a:ext cx="900000" cy="3600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Ajouter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2655448" y="475633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3" name="Triangle isocèle 92"/>
          <p:cNvSpPr/>
          <p:nvPr/>
        </p:nvSpPr>
        <p:spPr>
          <a:xfrm rot="10800000">
            <a:off x="4193114" y="4795716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1" name="Rectangle 100"/>
          <p:cNvSpPr/>
          <p:nvPr/>
        </p:nvSpPr>
        <p:spPr>
          <a:xfrm>
            <a:off x="2559132" y="4136984"/>
            <a:ext cx="8091818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7501776" y="4178270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Période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2655448" y="548023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Triangle isocèle 105"/>
          <p:cNvSpPr/>
          <p:nvPr/>
        </p:nvSpPr>
        <p:spPr>
          <a:xfrm rot="10800000">
            <a:off x="4193114" y="5519616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9" name="Connecteur droit 108"/>
          <p:cNvCxnSpPr/>
          <p:nvPr/>
        </p:nvCxnSpPr>
        <p:spPr>
          <a:xfrm>
            <a:off x="4700126" y="413698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6986126" y="415603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9481676" y="4156034"/>
            <a:ext cx="0" cy="1978828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2" name="Plus 111"/>
          <p:cNvSpPr/>
          <p:nvPr/>
        </p:nvSpPr>
        <p:spPr>
          <a:xfrm>
            <a:off x="9880092" y="4775383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Plus 112"/>
          <p:cNvSpPr/>
          <p:nvPr/>
        </p:nvSpPr>
        <p:spPr>
          <a:xfrm>
            <a:off x="9880092" y="5442133"/>
            <a:ext cx="360000" cy="360000"/>
          </a:xfrm>
          <a:prstGeom prst="mathPlu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5" name="Connecteur droit 114"/>
          <p:cNvCxnSpPr/>
          <p:nvPr/>
        </p:nvCxnSpPr>
        <p:spPr>
          <a:xfrm>
            <a:off x="2560197" y="4650148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2560197" y="5316898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2" name="Titre 1"/>
          <p:cNvSpPr txBox="1">
            <a:spLocks/>
          </p:cNvSpPr>
          <p:nvPr/>
        </p:nvSpPr>
        <p:spPr>
          <a:xfrm>
            <a:off x="630623" y="2278797"/>
            <a:ext cx="18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Classe </a:t>
            </a:r>
            <a:r>
              <a:rPr lang="fr-FR" sz="1400" dirty="0" smtClean="0"/>
              <a:t>thérapeutique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543434" y="229973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1759110" y="1798651"/>
            <a:ext cx="671513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062050" y="2320740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504976" y="2858365"/>
            <a:ext cx="193165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S/Classe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thérapeutique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543434" y="285285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riangle isocèle 128"/>
          <p:cNvSpPr/>
          <p:nvPr/>
        </p:nvSpPr>
        <p:spPr>
          <a:xfrm rot="10800000">
            <a:off x="4081100" y="2892240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567818" y="1812052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1994285" y="3464738"/>
            <a:ext cx="4363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567818" y="3444169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Triangle isocèle 149"/>
          <p:cNvSpPr/>
          <p:nvPr/>
        </p:nvSpPr>
        <p:spPr>
          <a:xfrm rot="10800000">
            <a:off x="4105484" y="348355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88243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30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/ Histoire de la maladie (HDM)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38269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02928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HDM</a:t>
            </a:r>
            <a:endParaRPr lang="fr-FR" sz="1400" dirty="0"/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686229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583607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 général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62507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067961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68957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696203"/>
            <a:ext cx="82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68593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69180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69620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686505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69240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68531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34459" y="3232322"/>
            <a:ext cx="12829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de patient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6695067" y="3190790"/>
            <a:ext cx="560153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Taille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327878" y="3187286"/>
            <a:ext cx="479618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IMC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4117147" y="3197728"/>
            <a:ext cx="612000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Poids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844961" y="3211584"/>
            <a:ext cx="362600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340639" y="3200166"/>
            <a:ext cx="402674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cm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0897977" y="3193995"/>
            <a:ext cx="630301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kg/m²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71562" y="3581474"/>
            <a:ext cx="36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/>
              <a:t>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8710" y="3576758"/>
            <a:ext cx="70724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mm Hg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25840" y="3257540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69" name="Triangle isocèle 68"/>
          <p:cNvSpPr/>
          <p:nvPr/>
        </p:nvSpPr>
        <p:spPr>
          <a:xfrm rot="10800000">
            <a:off x="3234333" y="3274202"/>
            <a:ext cx="180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0" name="Rectangle 69"/>
          <p:cNvSpPr/>
          <p:nvPr/>
        </p:nvSpPr>
        <p:spPr>
          <a:xfrm>
            <a:off x="4731008" y="3197133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7263584" y="3199242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4" name="Rectangle 73"/>
          <p:cNvSpPr/>
          <p:nvPr/>
        </p:nvSpPr>
        <p:spPr>
          <a:xfrm>
            <a:off x="9774104" y="3193995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5" name="Rectangle 74"/>
          <p:cNvSpPr/>
          <p:nvPr/>
        </p:nvSpPr>
        <p:spPr>
          <a:xfrm>
            <a:off x="4724454" y="3586196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6768082" y="3568653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FC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63584" y="3578094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" name="Rectangle 7"/>
          <p:cNvSpPr/>
          <p:nvPr/>
        </p:nvSpPr>
        <p:spPr>
          <a:xfrm>
            <a:off x="8338234" y="3567619"/>
            <a:ext cx="86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batt</a:t>
            </a: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/min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74104" y="3579018"/>
            <a:ext cx="1107733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9" name="Rectangle 8"/>
          <p:cNvSpPr/>
          <p:nvPr/>
        </p:nvSpPr>
        <p:spPr>
          <a:xfrm>
            <a:off x="9323219" y="3567886"/>
            <a:ext cx="468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</a:t>
            </a:r>
            <a:endParaRPr lang="fr-FR" sz="1400" dirty="0"/>
          </a:p>
        </p:txBody>
      </p:sp>
      <p:sp>
        <p:nvSpPr>
          <p:cNvPr id="10" name="Rectangle 9"/>
          <p:cNvSpPr/>
          <p:nvPr/>
        </p:nvSpPr>
        <p:spPr>
          <a:xfrm>
            <a:off x="10882438" y="3571699"/>
            <a:ext cx="964623" cy="3228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cycles/min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61933" y="3971945"/>
            <a:ext cx="1080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Température</a:t>
            </a:r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4753315" y="395038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9" name="Rectangle 78"/>
          <p:cNvSpPr/>
          <p:nvPr/>
        </p:nvSpPr>
        <p:spPr>
          <a:xfrm>
            <a:off x="7639339" y="3932036"/>
            <a:ext cx="870024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Apyrexie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7511884" y="40072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" name="Rectangle 12"/>
          <p:cNvSpPr/>
          <p:nvPr/>
        </p:nvSpPr>
        <p:spPr>
          <a:xfrm>
            <a:off x="5859956" y="3959066"/>
            <a:ext cx="3417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°C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52639" y="3956420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Hyperthermie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8806897" y="401336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0" name="Rectangle 89"/>
          <p:cNvSpPr/>
          <p:nvPr/>
        </p:nvSpPr>
        <p:spPr>
          <a:xfrm>
            <a:off x="10605685" y="3944717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425685" y="40011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405743" y="4367031"/>
            <a:ext cx="226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Coloration des </a:t>
            </a:r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conjonctives</a:t>
            </a:r>
            <a:endParaRPr lang="fr-FR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8348" y="522633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Respiration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367" y="6032464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d'hydratation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3102035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1" name="Rectangle 110"/>
          <p:cNvSpPr/>
          <p:nvPr/>
        </p:nvSpPr>
        <p:spPr>
          <a:xfrm>
            <a:off x="405097" y="4351290"/>
            <a:ext cx="11520000" cy="232780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Connecteur droit 18"/>
          <p:cNvCxnSpPr/>
          <p:nvPr/>
        </p:nvCxnSpPr>
        <p:spPr>
          <a:xfrm flipH="1" flipV="1">
            <a:off x="405097" y="5220521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2" name="Rectangle 141"/>
          <p:cNvSpPr/>
          <p:nvPr/>
        </p:nvSpPr>
        <p:spPr>
          <a:xfrm>
            <a:off x="390070" y="3151407"/>
            <a:ext cx="11520000" cy="115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43" name="Connecteur droit 142"/>
          <p:cNvCxnSpPr/>
          <p:nvPr/>
        </p:nvCxnSpPr>
        <p:spPr>
          <a:xfrm flipH="1">
            <a:off x="3633403" y="3195287"/>
            <a:ext cx="0" cy="1097873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3646281" y="3918959"/>
            <a:ext cx="82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4" name="Connecteur droit 143"/>
          <p:cNvCxnSpPr/>
          <p:nvPr/>
        </p:nvCxnSpPr>
        <p:spPr>
          <a:xfrm>
            <a:off x="3644133" y="3530447"/>
            <a:ext cx="82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9" name="Rectangle 158"/>
          <p:cNvSpPr/>
          <p:nvPr/>
        </p:nvSpPr>
        <p:spPr>
          <a:xfrm>
            <a:off x="3313488" y="491665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Ictère</a:t>
            </a:r>
          </a:p>
        </p:txBody>
      </p:sp>
      <p:sp>
        <p:nvSpPr>
          <p:cNvPr id="160" name="Ellipse 159"/>
          <p:cNvSpPr/>
          <p:nvPr/>
        </p:nvSpPr>
        <p:spPr>
          <a:xfrm>
            <a:off x="3115205" y="446214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10833242" y="470876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2" name="Ellipse 161"/>
          <p:cNvSpPr/>
          <p:nvPr/>
        </p:nvSpPr>
        <p:spPr>
          <a:xfrm>
            <a:off x="10634336" y="47819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3" name="Rectangle 162"/>
          <p:cNvSpPr/>
          <p:nvPr/>
        </p:nvSpPr>
        <p:spPr>
          <a:xfrm>
            <a:off x="3320053" y="440802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64" name="Ellipse 163"/>
          <p:cNvSpPr/>
          <p:nvPr/>
        </p:nvSpPr>
        <p:spPr>
          <a:xfrm>
            <a:off x="3125940" y="496226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5" name="Rectangle 164"/>
          <p:cNvSpPr/>
          <p:nvPr/>
        </p:nvSpPr>
        <p:spPr>
          <a:xfrm>
            <a:off x="4987218" y="4643230"/>
            <a:ext cx="5212846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6" name="Rectangle 165"/>
          <p:cNvSpPr/>
          <p:nvPr/>
        </p:nvSpPr>
        <p:spPr>
          <a:xfrm>
            <a:off x="3311345" y="466980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Pâleur</a:t>
            </a:r>
          </a:p>
        </p:txBody>
      </p:sp>
      <p:sp>
        <p:nvSpPr>
          <p:cNvPr id="167" name="Ellipse 166"/>
          <p:cNvSpPr/>
          <p:nvPr/>
        </p:nvSpPr>
        <p:spPr>
          <a:xfrm>
            <a:off x="3123798" y="471542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3320115" y="5760031"/>
            <a:ext cx="1692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Patient dyspnétique</a:t>
            </a:r>
          </a:p>
          <a:p>
            <a:endParaRPr lang="fr-FR" sz="1400" dirty="0" smtClean="0"/>
          </a:p>
          <a:p>
            <a:endParaRPr lang="fr-FR" sz="1400" dirty="0"/>
          </a:p>
        </p:txBody>
      </p:sp>
      <p:sp>
        <p:nvSpPr>
          <p:cNvPr id="170" name="Ellipse 169"/>
          <p:cNvSpPr/>
          <p:nvPr/>
        </p:nvSpPr>
        <p:spPr>
          <a:xfrm>
            <a:off x="3121833" y="527975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1" name="Rectangle 170"/>
          <p:cNvSpPr/>
          <p:nvPr/>
        </p:nvSpPr>
        <p:spPr>
          <a:xfrm>
            <a:off x="10839870" y="555214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2" name="Ellipse 171"/>
          <p:cNvSpPr/>
          <p:nvPr/>
        </p:nvSpPr>
        <p:spPr>
          <a:xfrm>
            <a:off x="10640964" y="562533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3" name="Rectangle 172"/>
          <p:cNvSpPr/>
          <p:nvPr/>
        </p:nvSpPr>
        <p:spPr>
          <a:xfrm>
            <a:off x="3326681" y="522563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74" name="Ellipse 173"/>
          <p:cNvSpPr/>
          <p:nvPr/>
        </p:nvSpPr>
        <p:spPr>
          <a:xfrm>
            <a:off x="3132567" y="58056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6" name="Rectangle 175"/>
          <p:cNvSpPr/>
          <p:nvPr/>
        </p:nvSpPr>
        <p:spPr>
          <a:xfrm>
            <a:off x="3317973" y="5487429"/>
            <a:ext cx="162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Patient eupnéique</a:t>
            </a:r>
          </a:p>
          <a:p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7" name="Ellipse 176"/>
          <p:cNvSpPr/>
          <p:nvPr/>
        </p:nvSpPr>
        <p:spPr>
          <a:xfrm>
            <a:off x="3130426" y="553304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8" name="Rectangle 177"/>
          <p:cNvSpPr/>
          <p:nvPr/>
        </p:nvSpPr>
        <p:spPr>
          <a:xfrm>
            <a:off x="4987218" y="5495263"/>
            <a:ext cx="5212846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79" name="Connecteur droit 178"/>
          <p:cNvCxnSpPr/>
          <p:nvPr/>
        </p:nvCxnSpPr>
        <p:spPr>
          <a:xfrm flipH="1" flipV="1">
            <a:off x="398473" y="6051021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0" name="Rectangle 179"/>
          <p:cNvSpPr/>
          <p:nvPr/>
        </p:nvSpPr>
        <p:spPr>
          <a:xfrm>
            <a:off x="3326742" y="6539013"/>
            <a:ext cx="16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Oedèmes</a:t>
            </a:r>
            <a:endParaRPr lang="fr-FR" sz="1400" dirty="0" smtClean="0"/>
          </a:p>
        </p:txBody>
      </p:sp>
      <p:sp>
        <p:nvSpPr>
          <p:cNvPr id="181" name="Ellipse 180"/>
          <p:cNvSpPr/>
          <p:nvPr/>
        </p:nvSpPr>
        <p:spPr>
          <a:xfrm>
            <a:off x="3128461" y="613601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2" name="Rectangle 181"/>
          <p:cNvSpPr/>
          <p:nvPr/>
        </p:nvSpPr>
        <p:spPr>
          <a:xfrm>
            <a:off x="10846498" y="640840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3" name="Ellipse 182"/>
          <p:cNvSpPr/>
          <p:nvPr/>
        </p:nvSpPr>
        <p:spPr>
          <a:xfrm>
            <a:off x="10647592" y="64815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4" name="Rectangle 183"/>
          <p:cNvSpPr/>
          <p:nvPr/>
        </p:nvSpPr>
        <p:spPr>
          <a:xfrm>
            <a:off x="3333309" y="6081895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Normale</a:t>
            </a:r>
          </a:p>
        </p:txBody>
      </p:sp>
      <p:sp>
        <p:nvSpPr>
          <p:cNvPr id="185" name="Ellipse 184"/>
          <p:cNvSpPr/>
          <p:nvPr/>
        </p:nvSpPr>
        <p:spPr>
          <a:xfrm>
            <a:off x="3139194" y="658462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7" name="Rectangle 186"/>
          <p:cNvSpPr/>
          <p:nvPr/>
        </p:nvSpPr>
        <p:spPr>
          <a:xfrm>
            <a:off x="3324600" y="6317929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Déshydraté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8" name="Ellipse 187"/>
          <p:cNvSpPr/>
          <p:nvPr/>
        </p:nvSpPr>
        <p:spPr>
          <a:xfrm>
            <a:off x="3137053" y="636354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9" name="Rectangle 188"/>
          <p:cNvSpPr/>
          <p:nvPr/>
        </p:nvSpPr>
        <p:spPr>
          <a:xfrm>
            <a:off x="4981066" y="6274296"/>
            <a:ext cx="5218997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0" name="Rectangle 189"/>
          <p:cNvSpPr/>
          <p:nvPr/>
        </p:nvSpPr>
        <p:spPr>
          <a:xfrm>
            <a:off x="259765" y="6420238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9173" y="3848361"/>
            <a:ext cx="32708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fr-FR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Etat de patient : 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conscient, non conscient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627088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 général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16" y="1092594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1099222"/>
            <a:ext cx="82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1088958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1094827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109922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108952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109542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108841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1088337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108841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1505054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98413" y="1811886"/>
            <a:ext cx="20851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Examen cutanéomuqueux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394329" y="1739737"/>
            <a:ext cx="6170536" cy="9648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7" name="Titre 1"/>
          <p:cNvSpPr txBox="1">
            <a:spLocks/>
          </p:cNvSpPr>
          <p:nvPr/>
        </p:nvSpPr>
        <p:spPr>
          <a:xfrm>
            <a:off x="2480955" y="3208426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08" name="Titre 1"/>
          <p:cNvSpPr txBox="1">
            <a:spLocks/>
          </p:cNvSpPr>
          <p:nvPr/>
        </p:nvSpPr>
        <p:spPr>
          <a:xfrm>
            <a:off x="3671438" y="3191678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Poids (Kg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109" name="Titre 1"/>
          <p:cNvSpPr txBox="1">
            <a:spLocks/>
          </p:cNvSpPr>
          <p:nvPr/>
        </p:nvSpPr>
        <p:spPr>
          <a:xfrm>
            <a:off x="4851635" y="3205788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Taille (cm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110" name="Titre 1"/>
          <p:cNvSpPr txBox="1">
            <a:spLocks/>
          </p:cNvSpPr>
          <p:nvPr/>
        </p:nvSpPr>
        <p:spPr>
          <a:xfrm>
            <a:off x="5995444" y="3200325"/>
            <a:ext cx="144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Température (°C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112" name="Titre 1"/>
          <p:cNvSpPr txBox="1">
            <a:spLocks/>
          </p:cNvSpPr>
          <p:nvPr/>
        </p:nvSpPr>
        <p:spPr>
          <a:xfrm>
            <a:off x="7470456" y="3192785"/>
            <a:ext cx="1080000" cy="288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  <a:lvl1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 sz="1400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IMC (kg/m²)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408865" y="3158848"/>
            <a:ext cx="6156000" cy="68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5" name="Connecteur droit 114"/>
          <p:cNvCxnSpPr/>
          <p:nvPr/>
        </p:nvCxnSpPr>
        <p:spPr>
          <a:xfrm>
            <a:off x="5981629" y="3178318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3633860" y="3149861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4780197" y="3156700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7445224" y="3154426"/>
            <a:ext cx="0" cy="68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necteur droit 17"/>
          <p:cNvCxnSpPr>
            <a:stCxn id="113" idx="3"/>
            <a:endCxn id="113" idx="1"/>
          </p:cNvCxnSpPr>
          <p:nvPr/>
        </p:nvCxnSpPr>
        <p:spPr>
          <a:xfrm flipH="1">
            <a:off x="2408865" y="3500848"/>
            <a:ext cx="61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9" name="Rectangle 118"/>
          <p:cNvSpPr/>
          <p:nvPr/>
        </p:nvSpPr>
        <p:spPr>
          <a:xfrm>
            <a:off x="7470456" y="409435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45" name="Titre 1"/>
          <p:cNvSpPr txBox="1">
            <a:spLocks/>
          </p:cNvSpPr>
          <p:nvPr/>
        </p:nvSpPr>
        <p:spPr>
          <a:xfrm>
            <a:off x="221986" y="713828"/>
            <a:ext cx="1800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Suite de l’écran 31</a:t>
            </a:r>
            <a:endParaRPr lang="fr-FR" sz="1600" b="1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9875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Cervico-céphalique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62507"/>
            <a:ext cx="9828000" cy="136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067961"/>
            <a:ext cx="5710735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68957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69620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685939"/>
            <a:ext cx="16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69180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69620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686505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69240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68531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685394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6076" y="3232322"/>
            <a:ext cx="16316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79" name="Rectangle 78"/>
          <p:cNvSpPr/>
          <p:nvPr/>
        </p:nvSpPr>
        <p:spPr>
          <a:xfrm>
            <a:off x="2629449" y="3288090"/>
            <a:ext cx="870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Absents</a:t>
            </a:r>
          </a:p>
        </p:txBody>
      </p:sp>
      <p:sp>
        <p:nvSpPr>
          <p:cNvPr id="80" name="Ellipse 79"/>
          <p:cNvSpPr/>
          <p:nvPr/>
        </p:nvSpPr>
        <p:spPr>
          <a:xfrm>
            <a:off x="2501994" y="336332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81" name="Rectangle 80"/>
          <p:cNvSpPr/>
          <p:nvPr/>
        </p:nvSpPr>
        <p:spPr>
          <a:xfrm>
            <a:off x="3839724" y="3222321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Dysphonie</a:t>
            </a:r>
            <a:endParaRPr lang="fr-FR" sz="1400" dirty="0"/>
          </a:p>
        </p:txBody>
      </p:sp>
      <p:sp>
        <p:nvSpPr>
          <p:cNvPr id="89" name="Ellipse 88"/>
          <p:cNvSpPr/>
          <p:nvPr/>
        </p:nvSpPr>
        <p:spPr>
          <a:xfrm>
            <a:off x="3693982" y="327926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0" name="Rectangle 89"/>
          <p:cNvSpPr/>
          <p:nvPr/>
        </p:nvSpPr>
        <p:spPr>
          <a:xfrm>
            <a:off x="10541290" y="3249255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361290" y="330571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294384" y="4070390"/>
            <a:ext cx="9621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Inspection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76305" y="3102035"/>
            <a:ext cx="11700000" cy="367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2" name="Rectangle 141"/>
          <p:cNvSpPr/>
          <p:nvPr/>
        </p:nvSpPr>
        <p:spPr>
          <a:xfrm>
            <a:off x="390070" y="3151407"/>
            <a:ext cx="11520000" cy="93233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5" name="Rectangle 144"/>
          <p:cNvSpPr/>
          <p:nvPr/>
        </p:nvSpPr>
        <p:spPr>
          <a:xfrm>
            <a:off x="3837573" y="3477752"/>
            <a:ext cx="1247425" cy="312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Dysphagie</a:t>
            </a:r>
            <a:endParaRPr lang="fr-FR" sz="1400" dirty="0"/>
          </a:p>
        </p:txBody>
      </p:sp>
      <p:sp>
        <p:nvSpPr>
          <p:cNvPr id="146" name="Ellipse 145"/>
          <p:cNvSpPr/>
          <p:nvPr/>
        </p:nvSpPr>
        <p:spPr>
          <a:xfrm>
            <a:off x="3691831" y="353470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7" name="Rectangle 146"/>
          <p:cNvSpPr/>
          <p:nvPr/>
        </p:nvSpPr>
        <p:spPr>
          <a:xfrm>
            <a:off x="3848299" y="3758938"/>
            <a:ext cx="1247425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Douleurs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3702557" y="381588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5127297" y="3279270"/>
            <a:ext cx="4761946" cy="73563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51" name="Connecteur droit 150"/>
          <p:cNvCxnSpPr/>
          <p:nvPr/>
        </p:nvCxnSpPr>
        <p:spPr>
          <a:xfrm flipH="1">
            <a:off x="3504608" y="3169536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2" name="Connecteur droit 151"/>
          <p:cNvCxnSpPr/>
          <p:nvPr/>
        </p:nvCxnSpPr>
        <p:spPr>
          <a:xfrm flipH="1">
            <a:off x="10096455" y="3180267"/>
            <a:ext cx="0" cy="90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Rectangle 34"/>
          <p:cNvSpPr/>
          <p:nvPr/>
        </p:nvSpPr>
        <p:spPr>
          <a:xfrm>
            <a:off x="436242" y="443989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/>
          <p:cNvSpPr/>
          <p:nvPr/>
        </p:nvSpPr>
        <p:spPr>
          <a:xfrm>
            <a:off x="636006" y="4414774"/>
            <a:ext cx="13620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Cavité buccale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5768" y="481122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/>
          <p:cNvSpPr/>
          <p:nvPr/>
        </p:nvSpPr>
        <p:spPr>
          <a:xfrm>
            <a:off x="736896" y="4786111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Gencives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560739" y="547878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721867" y="545367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Langue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560739" y="61613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/>
          <p:cNvSpPr/>
          <p:nvPr/>
        </p:nvSpPr>
        <p:spPr>
          <a:xfrm>
            <a:off x="721867" y="613624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Dentition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1630180" y="4736222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3" name="Rectangle 162"/>
          <p:cNvSpPr/>
          <p:nvPr/>
        </p:nvSpPr>
        <p:spPr>
          <a:xfrm>
            <a:off x="1628032" y="5403778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4" name="Rectangle 163"/>
          <p:cNvSpPr/>
          <p:nvPr/>
        </p:nvSpPr>
        <p:spPr>
          <a:xfrm>
            <a:off x="1628032" y="6073480"/>
            <a:ext cx="2340000" cy="576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65" name="Connecteur droit 164"/>
          <p:cNvCxnSpPr/>
          <p:nvPr/>
        </p:nvCxnSpPr>
        <p:spPr>
          <a:xfrm>
            <a:off x="4065444" y="4378632"/>
            <a:ext cx="0" cy="234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6" name="Rectangle 165"/>
          <p:cNvSpPr/>
          <p:nvPr/>
        </p:nvSpPr>
        <p:spPr>
          <a:xfrm>
            <a:off x="387922" y="4378167"/>
            <a:ext cx="11520000" cy="23445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7" name="Rectangle 166"/>
          <p:cNvSpPr/>
          <p:nvPr/>
        </p:nvSpPr>
        <p:spPr>
          <a:xfrm>
            <a:off x="4192584" y="45128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8" name="Rectangle 167"/>
          <p:cNvSpPr/>
          <p:nvPr/>
        </p:nvSpPr>
        <p:spPr>
          <a:xfrm>
            <a:off x="4353712" y="448774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Pharynx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4203313" y="574709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0" name="Rectangle 169"/>
          <p:cNvSpPr/>
          <p:nvPr/>
        </p:nvSpPr>
        <p:spPr>
          <a:xfrm>
            <a:off x="4364441" y="572197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Lèvres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Rectangle 170"/>
          <p:cNvSpPr/>
          <p:nvPr/>
        </p:nvSpPr>
        <p:spPr>
          <a:xfrm>
            <a:off x="5246995" y="4656800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2" name="Rectangle 171"/>
          <p:cNvSpPr/>
          <p:nvPr/>
        </p:nvSpPr>
        <p:spPr>
          <a:xfrm>
            <a:off x="5270606" y="5891029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73" name="Connecteur droit 172"/>
          <p:cNvCxnSpPr/>
          <p:nvPr/>
        </p:nvCxnSpPr>
        <p:spPr>
          <a:xfrm flipH="1">
            <a:off x="4079952" y="5550795"/>
            <a:ext cx="781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4" name="Connecteur droit 173"/>
          <p:cNvCxnSpPr/>
          <p:nvPr/>
        </p:nvCxnSpPr>
        <p:spPr>
          <a:xfrm>
            <a:off x="8133024" y="4389363"/>
            <a:ext cx="0" cy="2304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6" name="Rectangle 175"/>
          <p:cNvSpPr/>
          <p:nvPr/>
        </p:nvSpPr>
        <p:spPr>
          <a:xfrm>
            <a:off x="8234406" y="451071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7" name="Rectangle 176"/>
          <p:cNvSpPr/>
          <p:nvPr/>
        </p:nvSpPr>
        <p:spPr>
          <a:xfrm>
            <a:off x="8395534" y="448560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Paupières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8245135" y="574494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Rectangle 178"/>
          <p:cNvSpPr/>
          <p:nvPr/>
        </p:nvSpPr>
        <p:spPr>
          <a:xfrm>
            <a:off x="8406263" y="571983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Yeux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0" name="Rectangle 179"/>
          <p:cNvSpPr/>
          <p:nvPr/>
        </p:nvSpPr>
        <p:spPr>
          <a:xfrm>
            <a:off x="9288817" y="4654652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1" name="Rectangle 180"/>
          <p:cNvSpPr/>
          <p:nvPr/>
        </p:nvSpPr>
        <p:spPr>
          <a:xfrm>
            <a:off x="9312428" y="5888879"/>
            <a:ext cx="2520000" cy="72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82" name="Rectangle 181"/>
          <p:cNvSpPr/>
          <p:nvPr/>
        </p:nvSpPr>
        <p:spPr>
          <a:xfrm>
            <a:off x="259765" y="6420238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</p:spTree>
    <p:extLst>
      <p:ext uri="{BB962C8B-B14F-4D97-AF65-F5344CB8AC3E}">
        <p14:creationId xmlns:p14="http://schemas.microsoft.com/office/powerpoint/2010/main" val="15723579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Cervico-céphalique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689428"/>
            <a:ext cx="11880000" cy="608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2" y="649433"/>
            <a:ext cx="2066015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Suite de l’écran 32</a:t>
            </a:r>
            <a:endParaRPr lang="fr-FR" sz="1600" b="1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10821355" y="639344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3197" y="1055790"/>
            <a:ext cx="932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990" y="3503892"/>
            <a:ext cx="11655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Auscultation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7191" y="1361908"/>
            <a:ext cx="11520000" cy="210751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575768" y="406425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775533" y="4013375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Thyroïdes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60739" y="483484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760504" y="4783966"/>
            <a:ext cx="1828150" cy="3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Artères carotidiennes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7860" y="563333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/>
          <p:cNvSpPr/>
          <p:nvPr/>
        </p:nvSpPr>
        <p:spPr>
          <a:xfrm>
            <a:off x="747625" y="5582455"/>
            <a:ext cx="28069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Artères sous </a:t>
            </a:r>
            <a:r>
              <a:rPr lang="fr-FR" sz="1400" dirty="0" smtClean="0"/>
              <a:t>Clavière </a:t>
            </a:r>
            <a:r>
              <a:rPr lang="fr-FR" sz="1400" dirty="0"/>
              <a:t>et vertébrales 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587768" y="3989244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3585620" y="4759832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7" name="Rectangle 36"/>
          <p:cNvSpPr/>
          <p:nvPr/>
        </p:nvSpPr>
        <p:spPr>
          <a:xfrm>
            <a:off x="3572741" y="5545445"/>
            <a:ext cx="6480000" cy="64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39" name="Rectangle 38"/>
          <p:cNvSpPr/>
          <p:nvPr/>
        </p:nvSpPr>
        <p:spPr>
          <a:xfrm>
            <a:off x="387922" y="3875890"/>
            <a:ext cx="11520000" cy="24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648747" y="147130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/>
          <p:cNvSpPr/>
          <p:nvPr/>
        </p:nvSpPr>
        <p:spPr>
          <a:xfrm>
            <a:off x="835632" y="1433309"/>
            <a:ext cx="3702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Aires ganglionnaires sus-claviculaires et cervical 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20839" y="260250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/>
          <p:cNvSpPr/>
          <p:nvPr/>
        </p:nvSpPr>
        <p:spPr>
          <a:xfrm>
            <a:off x="807724" y="2551628"/>
            <a:ext cx="1510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Pouls carotidiens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08450" y="1744030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628049" y="2845096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74" name="Connecteur droit 73"/>
          <p:cNvCxnSpPr/>
          <p:nvPr/>
        </p:nvCxnSpPr>
        <p:spPr>
          <a:xfrm flipH="1">
            <a:off x="381564" y="2444840"/>
            <a:ext cx="1152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Connecteur droit 74"/>
          <p:cNvCxnSpPr/>
          <p:nvPr/>
        </p:nvCxnSpPr>
        <p:spPr>
          <a:xfrm>
            <a:off x="6160411" y="1360682"/>
            <a:ext cx="0" cy="20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Rectangle 75"/>
          <p:cNvSpPr/>
          <p:nvPr/>
        </p:nvSpPr>
        <p:spPr>
          <a:xfrm>
            <a:off x="6274670" y="145627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/>
          <p:cNvSpPr/>
          <p:nvPr/>
        </p:nvSpPr>
        <p:spPr>
          <a:xfrm>
            <a:off x="6461555" y="1405403"/>
            <a:ext cx="305593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Glande </a:t>
            </a:r>
            <a:r>
              <a:rPr lang="fr-FR" sz="1400" dirty="0" smtClean="0"/>
              <a:t>thyroïde </a:t>
            </a:r>
            <a:r>
              <a:rPr lang="fr-FR" sz="1400" dirty="0"/>
              <a:t>(lors de la déglutition</a:t>
            </a:r>
            <a:r>
              <a:rPr lang="fr-FR" sz="1400" dirty="0" smtClean="0"/>
              <a:t>)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273025" y="1756181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2" name="Rectangle 81"/>
          <p:cNvSpPr/>
          <p:nvPr/>
        </p:nvSpPr>
        <p:spPr>
          <a:xfrm>
            <a:off x="6326187" y="257675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Rectangle 88"/>
          <p:cNvSpPr/>
          <p:nvPr/>
        </p:nvSpPr>
        <p:spPr>
          <a:xfrm>
            <a:off x="6513072" y="2538754"/>
            <a:ext cx="14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Pouls temporaux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85890" y="2849475"/>
            <a:ext cx="540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544089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67961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0202" y="4105990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Inspection</a:t>
            </a:r>
            <a:endParaRPr lang="fr-FR" sz="1400" b="1" u="sng" dirty="0"/>
          </a:p>
        </p:txBody>
      </p:sp>
      <p:sp>
        <p:nvSpPr>
          <p:cNvPr id="79" name="Rectangle 78"/>
          <p:cNvSpPr/>
          <p:nvPr/>
        </p:nvSpPr>
        <p:spPr>
          <a:xfrm>
            <a:off x="1828765" y="3287939"/>
            <a:ext cx="87002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Absents</a:t>
            </a:r>
          </a:p>
        </p:txBody>
      </p:sp>
      <p:sp>
        <p:nvSpPr>
          <p:cNvPr id="80" name="Ellipse 79"/>
          <p:cNvSpPr/>
          <p:nvPr/>
        </p:nvSpPr>
        <p:spPr>
          <a:xfrm>
            <a:off x="9081726" y="414909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81" name="Rectangle 80"/>
          <p:cNvSpPr/>
          <p:nvPr/>
        </p:nvSpPr>
        <p:spPr>
          <a:xfrm>
            <a:off x="6528723" y="3095201"/>
            <a:ext cx="912096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Dyspnée</a:t>
            </a:r>
            <a:endParaRPr lang="fr-FR" sz="1400" dirty="0"/>
          </a:p>
        </p:txBody>
      </p:sp>
      <p:sp>
        <p:nvSpPr>
          <p:cNvPr id="90" name="Rectangle 89"/>
          <p:cNvSpPr/>
          <p:nvPr/>
        </p:nvSpPr>
        <p:spPr>
          <a:xfrm>
            <a:off x="10725629" y="4128749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539602" y="417618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Ellipse 145"/>
          <p:cNvSpPr/>
          <p:nvPr/>
        </p:nvSpPr>
        <p:spPr>
          <a:xfrm>
            <a:off x="4335612" y="41748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9" name="Ellipse 148"/>
          <p:cNvSpPr/>
          <p:nvPr/>
        </p:nvSpPr>
        <p:spPr>
          <a:xfrm>
            <a:off x="6522754" y="416198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4" name="Rectangle 153"/>
          <p:cNvSpPr/>
          <p:nvPr/>
        </p:nvSpPr>
        <p:spPr>
          <a:xfrm>
            <a:off x="1631833" y="334302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/>
          <p:cNvSpPr/>
          <p:nvPr/>
        </p:nvSpPr>
        <p:spPr>
          <a:xfrm>
            <a:off x="3355454" y="316057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3555219" y="3109700"/>
            <a:ext cx="5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Toux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9369900" y="318632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Rectangle 158"/>
          <p:cNvSpPr/>
          <p:nvPr/>
        </p:nvSpPr>
        <p:spPr>
          <a:xfrm>
            <a:off x="9569665" y="3135454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Douleurs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0" name="Rectangle 159"/>
          <p:cNvSpPr/>
          <p:nvPr/>
        </p:nvSpPr>
        <p:spPr>
          <a:xfrm>
            <a:off x="3317307" y="3409692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3" name="Rectangle 162"/>
          <p:cNvSpPr/>
          <p:nvPr/>
        </p:nvSpPr>
        <p:spPr>
          <a:xfrm>
            <a:off x="6328829" y="3394662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4" name="Rectangle 163"/>
          <p:cNvSpPr/>
          <p:nvPr/>
        </p:nvSpPr>
        <p:spPr>
          <a:xfrm>
            <a:off x="9355367" y="3407539"/>
            <a:ext cx="25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6" name="Rectangle 165"/>
          <p:cNvSpPr/>
          <p:nvPr/>
        </p:nvSpPr>
        <p:spPr>
          <a:xfrm>
            <a:off x="1461756" y="3103150"/>
            <a:ext cx="10446166" cy="9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0" name="Rectangle 169"/>
          <p:cNvSpPr/>
          <p:nvPr/>
        </p:nvSpPr>
        <p:spPr>
          <a:xfrm>
            <a:off x="4533559" y="411063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En carène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4" name="Connecteur droit 173"/>
          <p:cNvCxnSpPr/>
          <p:nvPr/>
        </p:nvCxnSpPr>
        <p:spPr>
          <a:xfrm flipH="1" flipV="1">
            <a:off x="1463904" y="4433181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7" name="Rectangle 176"/>
          <p:cNvSpPr/>
          <p:nvPr/>
        </p:nvSpPr>
        <p:spPr>
          <a:xfrm>
            <a:off x="6709613" y="411063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En tonneau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02804" y="6364010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341210" y="317130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487497" y="4079429"/>
            <a:ext cx="19821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Déformation thoracique 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72516" y="409780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478139" y="4443689"/>
            <a:ext cx="10323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Respiration</a:t>
            </a:r>
          </a:p>
        </p:txBody>
      </p:sp>
      <p:sp>
        <p:nvSpPr>
          <p:cNvPr id="105" name="Ellipse 104"/>
          <p:cNvSpPr/>
          <p:nvPr/>
        </p:nvSpPr>
        <p:spPr>
          <a:xfrm>
            <a:off x="4314390" y="45590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6" name="Rectangle 105"/>
          <p:cNvSpPr/>
          <p:nvPr/>
        </p:nvSpPr>
        <p:spPr>
          <a:xfrm>
            <a:off x="10723481" y="451296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537454" y="456040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8" name="Ellipse 107"/>
          <p:cNvSpPr/>
          <p:nvPr/>
        </p:nvSpPr>
        <p:spPr>
          <a:xfrm>
            <a:off x="6535759" y="45590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0" name="Rectangle 109"/>
          <p:cNvSpPr/>
          <p:nvPr/>
        </p:nvSpPr>
        <p:spPr>
          <a:xfrm>
            <a:off x="6733706" y="4494852"/>
            <a:ext cx="13634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Non symétrique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4505180" y="450778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Symétrique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467597" y="4066910"/>
            <a:ext cx="10440000" cy="266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485662" y="4877064"/>
            <a:ext cx="1846903" cy="54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Circulation collatérale cave supérieure</a:t>
            </a:r>
          </a:p>
        </p:txBody>
      </p:sp>
      <p:sp>
        <p:nvSpPr>
          <p:cNvPr id="119" name="Ellipse 118"/>
          <p:cNvSpPr/>
          <p:nvPr/>
        </p:nvSpPr>
        <p:spPr>
          <a:xfrm>
            <a:off x="4329838" y="495965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Rectangle 119"/>
          <p:cNvSpPr/>
          <p:nvPr/>
        </p:nvSpPr>
        <p:spPr>
          <a:xfrm>
            <a:off x="10734221" y="494870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10535315" y="49961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3" name="Rectangle 122"/>
          <p:cNvSpPr/>
          <p:nvPr/>
        </p:nvSpPr>
        <p:spPr>
          <a:xfrm>
            <a:off x="4534687" y="4905533"/>
            <a:ext cx="115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Positive</a:t>
            </a:r>
          </a:p>
        </p:txBody>
      </p:sp>
      <p:sp>
        <p:nvSpPr>
          <p:cNvPr id="124" name="Ellipse 123"/>
          <p:cNvSpPr/>
          <p:nvPr/>
        </p:nvSpPr>
        <p:spPr>
          <a:xfrm>
            <a:off x="9067116" y="499614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9271965" y="4954902"/>
            <a:ext cx="828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Absente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5345277" y="4950059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29" name="Connecteur droit 128"/>
          <p:cNvCxnSpPr/>
          <p:nvPr/>
        </p:nvCxnSpPr>
        <p:spPr>
          <a:xfrm flipH="1" flipV="1">
            <a:off x="1461756" y="4868919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Connecteur droit 129"/>
          <p:cNvCxnSpPr/>
          <p:nvPr/>
        </p:nvCxnSpPr>
        <p:spPr>
          <a:xfrm flipH="1" flipV="1">
            <a:off x="1485366" y="5510720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/>
          <p:cNvSpPr/>
          <p:nvPr/>
        </p:nvSpPr>
        <p:spPr>
          <a:xfrm>
            <a:off x="1498511" y="5535897"/>
            <a:ext cx="6388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Tirage</a:t>
            </a:r>
          </a:p>
        </p:txBody>
      </p:sp>
      <p:sp>
        <p:nvSpPr>
          <p:cNvPr id="89" name="Ellipse 88"/>
          <p:cNvSpPr/>
          <p:nvPr/>
        </p:nvSpPr>
        <p:spPr>
          <a:xfrm>
            <a:off x="4340569" y="56014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2" name="Rectangle 101"/>
          <p:cNvSpPr/>
          <p:nvPr/>
        </p:nvSpPr>
        <p:spPr>
          <a:xfrm>
            <a:off x="10744952" y="559050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3" name="Ellipse 102"/>
          <p:cNvSpPr/>
          <p:nvPr/>
        </p:nvSpPr>
        <p:spPr>
          <a:xfrm>
            <a:off x="10546046" y="563794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4" name="Rectangle 103"/>
          <p:cNvSpPr/>
          <p:nvPr/>
        </p:nvSpPr>
        <p:spPr>
          <a:xfrm>
            <a:off x="4545418" y="5547334"/>
            <a:ext cx="115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Positif</a:t>
            </a:r>
            <a:endParaRPr lang="fr-FR" sz="1400" dirty="0"/>
          </a:p>
        </p:txBody>
      </p:sp>
      <p:sp>
        <p:nvSpPr>
          <p:cNvPr id="109" name="Ellipse 108"/>
          <p:cNvSpPr/>
          <p:nvPr/>
        </p:nvSpPr>
        <p:spPr>
          <a:xfrm>
            <a:off x="9077847" y="56379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1" name="Rectangle 110"/>
          <p:cNvSpPr/>
          <p:nvPr/>
        </p:nvSpPr>
        <p:spPr>
          <a:xfrm>
            <a:off x="9282696" y="559670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Absent</a:t>
            </a:r>
            <a:endParaRPr lang="fr-FR" sz="1400" dirty="0"/>
          </a:p>
        </p:txBody>
      </p:sp>
      <p:sp>
        <p:nvSpPr>
          <p:cNvPr id="113" name="Rectangle 112"/>
          <p:cNvSpPr/>
          <p:nvPr/>
        </p:nvSpPr>
        <p:spPr>
          <a:xfrm>
            <a:off x="5356008" y="5578981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16" name="Connecteur droit 115"/>
          <p:cNvCxnSpPr/>
          <p:nvPr/>
        </p:nvCxnSpPr>
        <p:spPr>
          <a:xfrm flipH="1" flipV="1">
            <a:off x="1496097" y="6126764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Rectangle 4"/>
          <p:cNvSpPr/>
          <p:nvPr/>
        </p:nvSpPr>
        <p:spPr>
          <a:xfrm>
            <a:off x="1479382" y="6143869"/>
            <a:ext cx="18573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Ampliation thoracique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542984" y="6154901"/>
            <a:ext cx="93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Diminuée  </a:t>
            </a:r>
            <a:endParaRPr lang="fr-FR" sz="1400" b="1" dirty="0"/>
          </a:p>
        </p:txBody>
      </p:sp>
      <p:sp>
        <p:nvSpPr>
          <p:cNvPr id="8" name="Rectangle 7"/>
          <p:cNvSpPr/>
          <p:nvPr/>
        </p:nvSpPr>
        <p:spPr>
          <a:xfrm>
            <a:off x="9282696" y="6154599"/>
            <a:ext cx="7280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</a:t>
            </a:r>
          </a:p>
        </p:txBody>
      </p:sp>
      <p:sp>
        <p:nvSpPr>
          <p:cNvPr id="142" name="Ellipse 141"/>
          <p:cNvSpPr/>
          <p:nvPr/>
        </p:nvSpPr>
        <p:spPr>
          <a:xfrm>
            <a:off x="4338421" y="621749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3" name="Rectangle 142"/>
          <p:cNvSpPr/>
          <p:nvPr/>
        </p:nvSpPr>
        <p:spPr>
          <a:xfrm>
            <a:off x="5379618" y="6169266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44" name="Ellipse 143"/>
          <p:cNvSpPr/>
          <p:nvPr/>
        </p:nvSpPr>
        <p:spPr>
          <a:xfrm>
            <a:off x="9075699" y="62024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5" name="Rectangle 144"/>
          <p:cNvSpPr/>
          <p:nvPr/>
        </p:nvSpPr>
        <p:spPr>
          <a:xfrm>
            <a:off x="10742804" y="616791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10543898" y="62153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</p:spTree>
    <p:extLst>
      <p:ext uri="{BB962C8B-B14F-4D97-AF65-F5344CB8AC3E}">
        <p14:creationId xmlns:p14="http://schemas.microsoft.com/office/powerpoint/2010/main" val="2127367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33</a:t>
            </a:r>
          </a:p>
        </p:txBody>
      </p:sp>
      <p:sp>
        <p:nvSpPr>
          <p:cNvPr id="9" name="Rectangle 8"/>
          <p:cNvSpPr/>
          <p:nvPr/>
        </p:nvSpPr>
        <p:spPr>
          <a:xfrm>
            <a:off x="235654" y="937783"/>
            <a:ext cx="8928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4153" y="2153664"/>
            <a:ext cx="7017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22896" y="950219"/>
            <a:ext cx="10800000" cy="6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1240961" y="961881"/>
            <a:ext cx="90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Palpation</a:t>
            </a:r>
          </a:p>
        </p:txBody>
      </p:sp>
      <p:sp>
        <p:nvSpPr>
          <p:cNvPr id="30" name="Ellipse 29"/>
          <p:cNvSpPr/>
          <p:nvPr/>
        </p:nvSpPr>
        <p:spPr>
          <a:xfrm>
            <a:off x="2217696" y="11861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1" name="Rectangle 30"/>
          <p:cNvSpPr/>
          <p:nvPr/>
        </p:nvSpPr>
        <p:spPr>
          <a:xfrm>
            <a:off x="11056195" y="1123673"/>
            <a:ext cx="936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Néant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10870168" y="1196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3" name="Rectangle 32"/>
          <p:cNvSpPr/>
          <p:nvPr/>
        </p:nvSpPr>
        <p:spPr>
          <a:xfrm>
            <a:off x="2422545" y="1132019"/>
            <a:ext cx="13056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Choc de pointe</a:t>
            </a:r>
            <a:endParaRPr lang="fr-FR" sz="1400" dirty="0"/>
          </a:p>
        </p:txBody>
      </p:sp>
      <p:sp>
        <p:nvSpPr>
          <p:cNvPr id="34" name="Ellipse 33"/>
          <p:cNvSpPr/>
          <p:nvPr/>
        </p:nvSpPr>
        <p:spPr>
          <a:xfrm>
            <a:off x="4585257" y="114535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35" name="Rectangle 34"/>
          <p:cNvSpPr/>
          <p:nvPr/>
        </p:nvSpPr>
        <p:spPr>
          <a:xfrm>
            <a:off x="4764347" y="1091235"/>
            <a:ext cx="15173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Vibrations vocales</a:t>
            </a:r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6341363" y="1043402"/>
            <a:ext cx="418255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0" name="Ellipse 39"/>
          <p:cNvSpPr/>
          <p:nvPr/>
        </p:nvSpPr>
        <p:spPr>
          <a:xfrm>
            <a:off x="3078441" y="39658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41" name="Rectangle 40"/>
          <p:cNvSpPr/>
          <p:nvPr/>
        </p:nvSpPr>
        <p:spPr>
          <a:xfrm>
            <a:off x="10951065" y="335362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83290" y="389882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Tubaire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51396" y="1638699"/>
            <a:ext cx="108351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Percussion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85307" y="4203684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Pleurétique</a:t>
            </a:r>
            <a:endParaRPr lang="fr-FR" sz="1400" b="1" dirty="0"/>
          </a:p>
        </p:txBody>
      </p:sp>
      <p:sp>
        <p:nvSpPr>
          <p:cNvPr id="51" name="Ellipse 50"/>
          <p:cNvSpPr/>
          <p:nvPr/>
        </p:nvSpPr>
        <p:spPr>
          <a:xfrm>
            <a:off x="3080744" y="426627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2" name="Rectangle 51"/>
          <p:cNvSpPr/>
          <p:nvPr/>
        </p:nvSpPr>
        <p:spPr>
          <a:xfrm>
            <a:off x="4834619" y="3930369"/>
            <a:ext cx="5689294" cy="52321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54" name="Rectangle 53"/>
          <p:cNvSpPr/>
          <p:nvPr/>
        </p:nvSpPr>
        <p:spPr>
          <a:xfrm>
            <a:off x="10951675" y="403027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10830043" y="407770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6" name="Rectangle 55"/>
          <p:cNvSpPr/>
          <p:nvPr/>
        </p:nvSpPr>
        <p:spPr>
          <a:xfrm>
            <a:off x="226328" y="1680709"/>
            <a:ext cx="9823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Percussion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20748" y="1656409"/>
            <a:ext cx="10800000" cy="97516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Ellipse 57"/>
          <p:cNvSpPr/>
          <p:nvPr/>
        </p:nvSpPr>
        <p:spPr>
          <a:xfrm>
            <a:off x="2215548" y="214991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9" name="Rectangle 58"/>
          <p:cNvSpPr/>
          <p:nvPr/>
        </p:nvSpPr>
        <p:spPr>
          <a:xfrm>
            <a:off x="11054047" y="2113205"/>
            <a:ext cx="936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/>
              <a:t>Néant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Ellipse 59"/>
          <p:cNvSpPr/>
          <p:nvPr/>
        </p:nvSpPr>
        <p:spPr>
          <a:xfrm>
            <a:off x="10868020" y="21735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1" name="Rectangle 60"/>
          <p:cNvSpPr/>
          <p:nvPr/>
        </p:nvSpPr>
        <p:spPr>
          <a:xfrm>
            <a:off x="2420396" y="2095793"/>
            <a:ext cx="2414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Sonorité pulmonaire normale</a:t>
            </a:r>
            <a:endParaRPr lang="fr-FR" sz="1400" dirty="0"/>
          </a:p>
        </p:txBody>
      </p:sp>
      <p:sp>
        <p:nvSpPr>
          <p:cNvPr id="62" name="Ellipse 61"/>
          <p:cNvSpPr/>
          <p:nvPr/>
        </p:nvSpPr>
        <p:spPr>
          <a:xfrm>
            <a:off x="4956605" y="219927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4" name="Rectangle 63"/>
          <p:cNvSpPr/>
          <p:nvPr/>
        </p:nvSpPr>
        <p:spPr>
          <a:xfrm>
            <a:off x="6341362" y="1775528"/>
            <a:ext cx="4182551" cy="77580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5129129" y="1752272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65" name="Ellipse 64"/>
          <p:cNvSpPr/>
          <p:nvPr/>
        </p:nvSpPr>
        <p:spPr>
          <a:xfrm>
            <a:off x="4941582" y="179788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7" name="Rectangle 66"/>
          <p:cNvSpPr/>
          <p:nvPr/>
        </p:nvSpPr>
        <p:spPr>
          <a:xfrm>
            <a:off x="177616" y="2679396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1246827" y="2685602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Pulmonaire 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1246976" y="3354402"/>
            <a:ext cx="176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Murmure Vésiculaire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31479" y="2697454"/>
            <a:ext cx="10800000" cy="399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8" name="Rectangle 67"/>
          <p:cNvSpPr/>
          <p:nvPr/>
        </p:nvSpPr>
        <p:spPr>
          <a:xfrm>
            <a:off x="3287447" y="354244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Aboli</a:t>
            </a:r>
          </a:p>
        </p:txBody>
      </p:sp>
      <p:sp>
        <p:nvSpPr>
          <p:cNvPr id="69" name="Ellipse 68"/>
          <p:cNvSpPr/>
          <p:nvPr/>
        </p:nvSpPr>
        <p:spPr>
          <a:xfrm>
            <a:off x="3102048" y="298489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1" name="Ellipse 70"/>
          <p:cNvSpPr/>
          <p:nvPr/>
        </p:nvSpPr>
        <p:spPr>
          <a:xfrm>
            <a:off x="10827236" y="340774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2" name="Rectangle 71"/>
          <p:cNvSpPr/>
          <p:nvPr/>
        </p:nvSpPr>
        <p:spPr>
          <a:xfrm>
            <a:off x="3306896" y="2930773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73" name="Ellipse 72"/>
          <p:cNvSpPr/>
          <p:nvPr/>
        </p:nvSpPr>
        <p:spPr>
          <a:xfrm>
            <a:off x="3099899" y="358805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5" name="Rectangle 74"/>
          <p:cNvSpPr/>
          <p:nvPr/>
        </p:nvSpPr>
        <p:spPr>
          <a:xfrm>
            <a:off x="3285307" y="3256960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Diminué</a:t>
            </a:r>
          </a:p>
        </p:txBody>
      </p:sp>
      <p:sp>
        <p:nvSpPr>
          <p:cNvPr id="76" name="Ellipse 75"/>
          <p:cNvSpPr/>
          <p:nvPr/>
        </p:nvSpPr>
        <p:spPr>
          <a:xfrm>
            <a:off x="3097760" y="330257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77" name="Rectangle 76"/>
          <p:cNvSpPr/>
          <p:nvPr/>
        </p:nvSpPr>
        <p:spPr>
          <a:xfrm>
            <a:off x="4834619" y="3048284"/>
            <a:ext cx="5689294" cy="7205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" name="Rectangle 3"/>
          <p:cNvSpPr/>
          <p:nvPr/>
        </p:nvSpPr>
        <p:spPr>
          <a:xfrm>
            <a:off x="1245615" y="4012954"/>
            <a:ext cx="7489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Souffle 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250105" y="4563248"/>
            <a:ext cx="6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Râles 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746194" y="4733473"/>
            <a:ext cx="1256291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Pulmonaires</a:t>
            </a:r>
            <a:endParaRPr lang="fr-FR" sz="1400" dirty="0"/>
          </a:p>
        </p:txBody>
      </p:sp>
      <p:sp>
        <p:nvSpPr>
          <p:cNvPr id="94" name="Rectangle 93"/>
          <p:cNvSpPr/>
          <p:nvPr/>
        </p:nvSpPr>
        <p:spPr>
          <a:xfrm>
            <a:off x="3287283" y="4711256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Crépitants</a:t>
            </a:r>
            <a:endParaRPr lang="fr-FR" sz="1400" dirty="0"/>
          </a:p>
        </p:txBody>
      </p:sp>
      <p:sp>
        <p:nvSpPr>
          <p:cNvPr id="96" name="Rectangle 95"/>
          <p:cNvSpPr/>
          <p:nvPr/>
        </p:nvSpPr>
        <p:spPr>
          <a:xfrm>
            <a:off x="4811512" y="4591857"/>
            <a:ext cx="5697841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6" name="Connecteur droit 5"/>
          <p:cNvCxnSpPr/>
          <p:nvPr/>
        </p:nvCxnSpPr>
        <p:spPr>
          <a:xfrm>
            <a:off x="1220748" y="3846068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7" name="Connecteur droit 96"/>
          <p:cNvCxnSpPr/>
          <p:nvPr/>
        </p:nvCxnSpPr>
        <p:spPr>
          <a:xfrm>
            <a:off x="1218600" y="455225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8" name="Connecteur droit 97"/>
          <p:cNvCxnSpPr/>
          <p:nvPr/>
        </p:nvCxnSpPr>
        <p:spPr>
          <a:xfrm>
            <a:off x="1229331" y="519405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9" name="Rectangle 98"/>
          <p:cNvSpPr/>
          <p:nvPr/>
        </p:nvSpPr>
        <p:spPr>
          <a:xfrm>
            <a:off x="1247957" y="5230803"/>
            <a:ext cx="6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Râles 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44046" y="5529818"/>
            <a:ext cx="1260000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Bronchiques</a:t>
            </a:r>
            <a:endParaRPr lang="fr-FR" sz="1400" dirty="0"/>
          </a:p>
        </p:txBody>
      </p:sp>
      <p:sp>
        <p:nvSpPr>
          <p:cNvPr id="106" name="Rectangle 105"/>
          <p:cNvSpPr/>
          <p:nvPr/>
        </p:nvSpPr>
        <p:spPr>
          <a:xfrm>
            <a:off x="10947379" y="542977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812868" y="55029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8" name="Ellipse 107"/>
          <p:cNvSpPr/>
          <p:nvPr/>
        </p:nvSpPr>
        <p:spPr>
          <a:xfrm>
            <a:off x="3140688" y="527731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9" name="Rectangle 108"/>
          <p:cNvSpPr/>
          <p:nvPr/>
        </p:nvSpPr>
        <p:spPr>
          <a:xfrm>
            <a:off x="3345537" y="522319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Ronchus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47550" y="5618206"/>
            <a:ext cx="120150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Sibilants</a:t>
            </a:r>
            <a:endParaRPr lang="fr-FR" sz="1400" b="1" dirty="0"/>
          </a:p>
        </p:txBody>
      </p:sp>
      <p:sp>
        <p:nvSpPr>
          <p:cNvPr id="112" name="Ellipse 111"/>
          <p:cNvSpPr/>
          <p:nvPr/>
        </p:nvSpPr>
        <p:spPr>
          <a:xfrm>
            <a:off x="3142987" y="56936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13" name="Rectangle 112"/>
          <p:cNvSpPr/>
          <p:nvPr/>
        </p:nvSpPr>
        <p:spPr>
          <a:xfrm>
            <a:off x="4819559" y="5348623"/>
            <a:ext cx="5689794" cy="61800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3103798" y="478086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27183" y="6080550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Rectangle 115"/>
          <p:cNvSpPr/>
          <p:nvPr/>
        </p:nvSpPr>
        <p:spPr>
          <a:xfrm>
            <a:off x="1245809" y="6258966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Frottement pleural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45231" y="622611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823599" y="62864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190061" y="63183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394910" y="626423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811512" y="6141291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739222" y="6258306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8534659" y="633377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18600" y="295527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Rectangle 127"/>
          <p:cNvSpPr/>
          <p:nvPr/>
        </p:nvSpPr>
        <p:spPr>
          <a:xfrm>
            <a:off x="225530" y="6364010"/>
            <a:ext cx="100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60920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61486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6037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60299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6037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738395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33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Thorax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57592" y="639127"/>
            <a:ext cx="11952000" cy="61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64737" y="1146812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" name="Rectangle 1"/>
          <p:cNvSpPr/>
          <p:nvPr/>
        </p:nvSpPr>
        <p:spPr>
          <a:xfrm>
            <a:off x="1233948" y="1165897"/>
            <a:ext cx="100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Cardiaque</a:t>
            </a:r>
            <a:endParaRPr lang="fr-FR" sz="1400" b="1" dirty="0"/>
          </a:p>
        </p:txBody>
      </p:sp>
      <p:sp>
        <p:nvSpPr>
          <p:cNvPr id="3" name="Rectangle 2"/>
          <p:cNvSpPr/>
          <p:nvPr/>
        </p:nvSpPr>
        <p:spPr>
          <a:xfrm>
            <a:off x="1234097" y="1693028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Rythme</a:t>
            </a:r>
            <a:endParaRPr lang="fr-FR" sz="1400" b="1" dirty="0"/>
          </a:p>
        </p:txBody>
      </p:sp>
      <p:sp>
        <p:nvSpPr>
          <p:cNvPr id="63" name="Rectangle 62"/>
          <p:cNvSpPr/>
          <p:nvPr/>
        </p:nvSpPr>
        <p:spPr>
          <a:xfrm>
            <a:off x="1218600" y="1164870"/>
            <a:ext cx="10800000" cy="42185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1245381" y="2261023"/>
            <a:ext cx="25931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Auscultation des quatre foyers</a:t>
            </a:r>
          </a:p>
        </p:txBody>
      </p:sp>
      <p:cxnSp>
        <p:nvCxnSpPr>
          <p:cNvPr id="6" name="Connecteur droit 5"/>
          <p:cNvCxnSpPr/>
          <p:nvPr/>
        </p:nvCxnSpPr>
        <p:spPr>
          <a:xfrm>
            <a:off x="1207869" y="2236210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0" name="Rectangle 99"/>
          <p:cNvSpPr/>
          <p:nvPr/>
        </p:nvSpPr>
        <p:spPr>
          <a:xfrm>
            <a:off x="1731167" y="2747977"/>
            <a:ext cx="828000" cy="315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Souffle</a:t>
            </a:r>
            <a:endParaRPr lang="fr-FR" sz="1400" dirty="0"/>
          </a:p>
        </p:txBody>
      </p:sp>
      <p:sp>
        <p:nvSpPr>
          <p:cNvPr id="106" name="Rectangle 105"/>
          <p:cNvSpPr/>
          <p:nvPr/>
        </p:nvSpPr>
        <p:spPr>
          <a:xfrm>
            <a:off x="10934500" y="278960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10799989" y="28627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14304" y="443205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Rectangle 115"/>
          <p:cNvSpPr/>
          <p:nvPr/>
        </p:nvSpPr>
        <p:spPr>
          <a:xfrm>
            <a:off x="1232929" y="4443046"/>
            <a:ext cx="20748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Frottement péricardique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934500" y="4837069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812868" y="489738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087028" y="488880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291877" y="4834687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164401" y="4711870"/>
            <a:ext cx="3129531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095274" y="482875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7890711" y="49042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05721" y="147420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Rectangle 88"/>
          <p:cNvSpPr/>
          <p:nvPr/>
        </p:nvSpPr>
        <p:spPr>
          <a:xfrm>
            <a:off x="10930204" y="169060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10808572" y="17509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2" name="Ellipse 91"/>
          <p:cNvSpPr/>
          <p:nvPr/>
        </p:nvSpPr>
        <p:spPr>
          <a:xfrm>
            <a:off x="2994728" y="175709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93" name="Rectangle 92"/>
          <p:cNvSpPr/>
          <p:nvPr/>
        </p:nvSpPr>
        <p:spPr>
          <a:xfrm>
            <a:off x="3199577" y="170296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Régulier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57890" y="1606167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1" name="Rectangle 100"/>
          <p:cNvSpPr/>
          <p:nvPr/>
        </p:nvSpPr>
        <p:spPr>
          <a:xfrm>
            <a:off x="5349924" y="1709916"/>
            <a:ext cx="118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Non régulier</a:t>
            </a:r>
          </a:p>
        </p:txBody>
      </p:sp>
      <p:sp>
        <p:nvSpPr>
          <p:cNvPr id="102" name="Ellipse 101"/>
          <p:cNvSpPr/>
          <p:nvPr/>
        </p:nvSpPr>
        <p:spPr>
          <a:xfrm>
            <a:off x="5171119" y="177250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3" name="Ellipse 102"/>
          <p:cNvSpPr/>
          <p:nvPr/>
        </p:nvSpPr>
        <p:spPr>
          <a:xfrm>
            <a:off x="3072001" y="28131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04" name="Rectangle 103"/>
          <p:cNvSpPr/>
          <p:nvPr/>
        </p:nvSpPr>
        <p:spPr>
          <a:xfrm>
            <a:off x="3276850" y="2746154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4200890" y="2649090"/>
            <a:ext cx="3479412" cy="60672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15" name="Rectangle 114"/>
          <p:cNvSpPr/>
          <p:nvPr/>
        </p:nvSpPr>
        <p:spPr>
          <a:xfrm>
            <a:off x="8080252" y="2727345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17" name="Ellipse 116"/>
          <p:cNvSpPr/>
          <p:nvPr/>
        </p:nvSpPr>
        <p:spPr>
          <a:xfrm>
            <a:off x="7888568" y="277705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10925307" y="371424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3274570" y="400608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Aboli</a:t>
            </a:r>
          </a:p>
        </p:txBody>
      </p:sp>
      <p:sp>
        <p:nvSpPr>
          <p:cNvPr id="129" name="Ellipse 128"/>
          <p:cNvSpPr/>
          <p:nvPr/>
        </p:nvSpPr>
        <p:spPr>
          <a:xfrm>
            <a:off x="3089174" y="335838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0" name="Ellipse 129"/>
          <p:cNvSpPr/>
          <p:nvPr/>
        </p:nvSpPr>
        <p:spPr>
          <a:xfrm>
            <a:off x="10801478" y="376836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1" name="Rectangle 130"/>
          <p:cNvSpPr/>
          <p:nvPr/>
        </p:nvSpPr>
        <p:spPr>
          <a:xfrm>
            <a:off x="3294022" y="330426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</a:t>
            </a:r>
          </a:p>
        </p:txBody>
      </p:sp>
      <p:sp>
        <p:nvSpPr>
          <p:cNvPr id="132" name="Ellipse 131"/>
          <p:cNvSpPr/>
          <p:nvPr/>
        </p:nvSpPr>
        <p:spPr>
          <a:xfrm>
            <a:off x="3087022" y="405170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4" name="Rectangle 133"/>
          <p:cNvSpPr/>
          <p:nvPr/>
        </p:nvSpPr>
        <p:spPr>
          <a:xfrm>
            <a:off x="3272433" y="3643332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Diminué</a:t>
            </a:r>
          </a:p>
        </p:txBody>
      </p:sp>
      <p:sp>
        <p:nvSpPr>
          <p:cNvPr id="135" name="Ellipse 134"/>
          <p:cNvSpPr/>
          <p:nvPr/>
        </p:nvSpPr>
        <p:spPr>
          <a:xfrm>
            <a:off x="3084886" y="368894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6" name="Rectangle 135"/>
          <p:cNvSpPr/>
          <p:nvPr/>
        </p:nvSpPr>
        <p:spPr>
          <a:xfrm>
            <a:off x="4188007" y="3407193"/>
            <a:ext cx="5793119" cy="830215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8" name="Rectangle 137"/>
          <p:cNvSpPr/>
          <p:nvPr/>
        </p:nvSpPr>
        <p:spPr>
          <a:xfrm>
            <a:off x="10908120" y="546953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-386601" y="77268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33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39494" y="69334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7924" y="69997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15196" y="689710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44208" y="695579"/>
            <a:ext cx="72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6652" y="69997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5402" y="690276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67225" y="69617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8053249" y="68916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1" name="Rectangle 60"/>
          <p:cNvSpPr/>
          <p:nvPr/>
        </p:nvSpPr>
        <p:spPr>
          <a:xfrm>
            <a:off x="9329974" y="689089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10821508" y="689165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627220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67961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481032" y="4743248"/>
            <a:ext cx="1323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Vomissements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725629" y="349768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1" name="Ellipse 90"/>
          <p:cNvSpPr/>
          <p:nvPr/>
        </p:nvSpPr>
        <p:spPr>
          <a:xfrm>
            <a:off x="10539602" y="354511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  <a:endParaRPr lang="fr-FR" sz="1400" b="1" u="sng" dirty="0"/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6" name="Rectangle 165"/>
          <p:cNvSpPr/>
          <p:nvPr/>
        </p:nvSpPr>
        <p:spPr>
          <a:xfrm>
            <a:off x="1461756" y="3103150"/>
            <a:ext cx="10446166" cy="311734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10896305" y="6349263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7497" y="3113510"/>
            <a:ext cx="198214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Troubles du transit</a:t>
            </a:r>
          </a:p>
        </p:txBody>
      </p:sp>
      <p:sp>
        <p:nvSpPr>
          <p:cNvPr id="7" name="Rectangle 6"/>
          <p:cNvSpPr/>
          <p:nvPr/>
        </p:nvSpPr>
        <p:spPr>
          <a:xfrm>
            <a:off x="1485662" y="402705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Nausées</a:t>
            </a:r>
          </a:p>
        </p:txBody>
      </p:sp>
      <p:cxnSp>
        <p:nvCxnSpPr>
          <p:cNvPr id="129" name="Connecteur droit 128"/>
          <p:cNvCxnSpPr/>
          <p:nvPr/>
        </p:nvCxnSpPr>
        <p:spPr>
          <a:xfrm flipH="1" flipV="1">
            <a:off x="1449366" y="5459326"/>
            <a:ext cx="1044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Connecteur droit 129"/>
          <p:cNvCxnSpPr/>
          <p:nvPr/>
        </p:nvCxnSpPr>
        <p:spPr>
          <a:xfrm flipH="1" flipV="1">
            <a:off x="1485366" y="4016769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Rectangle 3"/>
          <p:cNvSpPr/>
          <p:nvPr/>
        </p:nvSpPr>
        <p:spPr>
          <a:xfrm>
            <a:off x="1498511" y="5471502"/>
            <a:ext cx="8871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Douleurs</a:t>
            </a:r>
          </a:p>
        </p:txBody>
      </p:sp>
      <p:cxnSp>
        <p:nvCxnSpPr>
          <p:cNvPr id="116" name="Connecteur droit 115"/>
          <p:cNvCxnSpPr/>
          <p:nvPr/>
        </p:nvCxnSpPr>
        <p:spPr>
          <a:xfrm flipH="1" flipV="1">
            <a:off x="1496097" y="4722967"/>
            <a:ext cx="1040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1" name="Ellipse 130"/>
          <p:cNvSpPr/>
          <p:nvPr/>
        </p:nvSpPr>
        <p:spPr>
          <a:xfrm>
            <a:off x="3542079" y="497037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10719194" y="4933670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3" name="Ellipse 132"/>
          <p:cNvSpPr/>
          <p:nvPr/>
        </p:nvSpPr>
        <p:spPr>
          <a:xfrm>
            <a:off x="10520288" y="498110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4" name="Rectangle 133"/>
          <p:cNvSpPr/>
          <p:nvPr/>
        </p:nvSpPr>
        <p:spPr>
          <a:xfrm>
            <a:off x="3734049" y="4916258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35" name="Ellipse 134"/>
          <p:cNvSpPr/>
          <p:nvPr/>
        </p:nvSpPr>
        <p:spPr>
          <a:xfrm>
            <a:off x="8910416" y="501974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6" name="Rectangle 135"/>
          <p:cNvSpPr/>
          <p:nvPr/>
        </p:nvSpPr>
        <p:spPr>
          <a:xfrm>
            <a:off x="9115265" y="497850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50" name="Rectangle 149"/>
          <p:cNvSpPr/>
          <p:nvPr/>
        </p:nvSpPr>
        <p:spPr>
          <a:xfrm>
            <a:off x="4235536" y="4844877"/>
            <a:ext cx="4276948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51" name="Rectangle 150"/>
          <p:cNvSpPr/>
          <p:nvPr/>
        </p:nvSpPr>
        <p:spPr>
          <a:xfrm>
            <a:off x="5182788" y="3583222"/>
            <a:ext cx="7017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</a:t>
            </a:r>
          </a:p>
        </p:txBody>
      </p:sp>
      <p:sp>
        <p:nvSpPr>
          <p:cNvPr id="152" name="Ellipse 151"/>
          <p:cNvSpPr/>
          <p:nvPr/>
        </p:nvSpPr>
        <p:spPr>
          <a:xfrm>
            <a:off x="3529192" y="35150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3" name="Rectangle 152"/>
          <p:cNvSpPr/>
          <p:nvPr/>
        </p:nvSpPr>
        <p:spPr>
          <a:xfrm>
            <a:off x="3734040" y="346095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</a:t>
            </a:r>
          </a:p>
        </p:txBody>
      </p:sp>
      <p:sp>
        <p:nvSpPr>
          <p:cNvPr id="155" name="Ellipse 154"/>
          <p:cNvSpPr/>
          <p:nvPr/>
        </p:nvSpPr>
        <p:spPr>
          <a:xfrm>
            <a:off x="4995240" y="362883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6223493" y="3197826"/>
            <a:ext cx="4184509" cy="71866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2" name="Rectangle 161"/>
          <p:cNvSpPr/>
          <p:nvPr/>
        </p:nvSpPr>
        <p:spPr>
          <a:xfrm>
            <a:off x="5129129" y="3117431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165" name="Ellipse 164"/>
          <p:cNvSpPr/>
          <p:nvPr/>
        </p:nvSpPr>
        <p:spPr>
          <a:xfrm>
            <a:off x="4941582" y="31630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8" name="Ellipse 167"/>
          <p:cNvSpPr/>
          <p:nvPr/>
        </p:nvSpPr>
        <p:spPr>
          <a:xfrm>
            <a:off x="3527059" y="424701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729932" y="421031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531026" y="425775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3719029" y="4192899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73" name="Ellipse 172"/>
          <p:cNvSpPr/>
          <p:nvPr/>
        </p:nvSpPr>
        <p:spPr>
          <a:xfrm>
            <a:off x="8895396" y="429639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5" name="Rectangle 174"/>
          <p:cNvSpPr/>
          <p:nvPr/>
        </p:nvSpPr>
        <p:spPr>
          <a:xfrm>
            <a:off x="9100245" y="425514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76" name="Rectangle 175"/>
          <p:cNvSpPr/>
          <p:nvPr/>
        </p:nvSpPr>
        <p:spPr>
          <a:xfrm>
            <a:off x="4220516" y="4121518"/>
            <a:ext cx="4276948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Ellipse 178"/>
          <p:cNvSpPr/>
          <p:nvPr/>
        </p:nvSpPr>
        <p:spPr>
          <a:xfrm>
            <a:off x="3524911" y="571306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0" name="Rectangle 179"/>
          <p:cNvSpPr/>
          <p:nvPr/>
        </p:nvSpPr>
        <p:spPr>
          <a:xfrm>
            <a:off x="10727784" y="5676368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1" name="Ellipse 180"/>
          <p:cNvSpPr/>
          <p:nvPr/>
        </p:nvSpPr>
        <p:spPr>
          <a:xfrm>
            <a:off x="10528878" y="572380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3716881" y="5658949"/>
            <a:ext cx="504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84" name="Ellipse 183"/>
          <p:cNvSpPr/>
          <p:nvPr/>
        </p:nvSpPr>
        <p:spPr>
          <a:xfrm>
            <a:off x="8893248" y="576244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9098097" y="572119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dirty="0"/>
          </a:p>
        </p:txBody>
      </p:sp>
      <p:sp>
        <p:nvSpPr>
          <p:cNvPr id="186" name="Rectangle 185"/>
          <p:cNvSpPr/>
          <p:nvPr/>
        </p:nvSpPr>
        <p:spPr>
          <a:xfrm>
            <a:off x="4218368" y="5587568"/>
            <a:ext cx="4276948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8780288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34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5654" y="937783"/>
            <a:ext cx="998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Inspection</a:t>
            </a:r>
            <a:endParaRPr lang="fr-FR" sz="1400" b="1" u="sng" dirty="0"/>
          </a:p>
        </p:txBody>
      </p:sp>
      <p:sp>
        <p:nvSpPr>
          <p:cNvPr id="18" name="Rectangle 17"/>
          <p:cNvSpPr/>
          <p:nvPr/>
        </p:nvSpPr>
        <p:spPr>
          <a:xfrm>
            <a:off x="5144154" y="1406690"/>
            <a:ext cx="11428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Eventration</a:t>
            </a:r>
            <a:endParaRPr lang="fr-FR" sz="1400" dirty="0"/>
          </a:p>
        </p:txBody>
      </p:sp>
      <p:sp>
        <p:nvSpPr>
          <p:cNvPr id="28" name="Rectangle 27"/>
          <p:cNvSpPr/>
          <p:nvPr/>
        </p:nvSpPr>
        <p:spPr>
          <a:xfrm>
            <a:off x="1222896" y="870706"/>
            <a:ext cx="10800000" cy="2664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Rectangle 28"/>
          <p:cNvSpPr/>
          <p:nvPr/>
        </p:nvSpPr>
        <p:spPr>
          <a:xfrm>
            <a:off x="1240961" y="961881"/>
            <a:ext cx="9000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Forme</a:t>
            </a:r>
            <a:endParaRPr lang="fr-FR" sz="1400" b="1" dirty="0"/>
          </a:p>
        </p:txBody>
      </p:sp>
      <p:sp>
        <p:nvSpPr>
          <p:cNvPr id="40" name="Ellipse 39"/>
          <p:cNvSpPr/>
          <p:nvPr/>
        </p:nvSpPr>
        <p:spPr>
          <a:xfrm>
            <a:off x="8337697" y="389080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41" name="Rectangle 40"/>
          <p:cNvSpPr/>
          <p:nvPr/>
        </p:nvSpPr>
        <p:spPr>
          <a:xfrm>
            <a:off x="10936235" y="127875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2546" y="382380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Tubaire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6748" y="3796215"/>
            <a:ext cx="1224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9" name="Rectangle 48"/>
          <p:cNvSpPr/>
          <p:nvPr/>
        </p:nvSpPr>
        <p:spPr>
          <a:xfrm>
            <a:off x="9556771" y="3832445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Pleurétique</a:t>
            </a:r>
            <a:endParaRPr lang="fr-FR" sz="1400" b="1" dirty="0"/>
          </a:p>
        </p:txBody>
      </p:sp>
      <p:sp>
        <p:nvSpPr>
          <p:cNvPr id="51" name="Ellipse 50"/>
          <p:cNvSpPr/>
          <p:nvPr/>
        </p:nvSpPr>
        <p:spPr>
          <a:xfrm>
            <a:off x="9418468" y="389503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4" name="Rectangle 53"/>
          <p:cNvSpPr/>
          <p:nvPr/>
        </p:nvSpPr>
        <p:spPr>
          <a:xfrm>
            <a:off x="10828307" y="383934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Ellipse 54"/>
          <p:cNvSpPr/>
          <p:nvPr/>
        </p:nvSpPr>
        <p:spPr>
          <a:xfrm>
            <a:off x="10680171" y="390002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58" name="Ellipse 57"/>
          <p:cNvSpPr/>
          <p:nvPr/>
        </p:nvSpPr>
        <p:spPr>
          <a:xfrm>
            <a:off x="3014036" y="135067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0" name="Ellipse 59"/>
          <p:cNvSpPr/>
          <p:nvPr/>
        </p:nvSpPr>
        <p:spPr>
          <a:xfrm>
            <a:off x="10726351" y="133564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1" name="Rectangle 60"/>
          <p:cNvSpPr/>
          <p:nvPr/>
        </p:nvSpPr>
        <p:spPr>
          <a:xfrm>
            <a:off x="3218884" y="129655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Plat</a:t>
            </a:r>
            <a:endParaRPr lang="fr-FR" sz="1400" dirty="0"/>
          </a:p>
        </p:txBody>
      </p:sp>
      <p:sp>
        <p:nvSpPr>
          <p:cNvPr id="62" name="Ellipse 61"/>
          <p:cNvSpPr/>
          <p:nvPr/>
        </p:nvSpPr>
        <p:spPr>
          <a:xfrm>
            <a:off x="4956606" y="145230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64" name="Rectangle 63"/>
          <p:cNvSpPr/>
          <p:nvPr/>
        </p:nvSpPr>
        <p:spPr>
          <a:xfrm>
            <a:off x="6371246" y="1033684"/>
            <a:ext cx="4152667" cy="7184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5129129" y="979541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Ballonnement</a:t>
            </a:r>
            <a:endParaRPr lang="fr-FR" sz="1400" dirty="0"/>
          </a:p>
        </p:txBody>
      </p:sp>
      <p:sp>
        <p:nvSpPr>
          <p:cNvPr id="65" name="Ellipse 64"/>
          <p:cNvSpPr/>
          <p:nvPr/>
        </p:nvSpPr>
        <p:spPr>
          <a:xfrm>
            <a:off x="4941582" y="10251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" name="Rectangle 1"/>
          <p:cNvSpPr/>
          <p:nvPr/>
        </p:nvSpPr>
        <p:spPr>
          <a:xfrm>
            <a:off x="1246827" y="1847721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Cicatrices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097" y="3635502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u="sng" dirty="0" smtClean="0"/>
              <a:t>Foie</a:t>
            </a:r>
            <a:endParaRPr lang="fr-FR" sz="1400" b="1" u="sng" dirty="0"/>
          </a:p>
        </p:txBody>
      </p:sp>
      <p:sp>
        <p:nvSpPr>
          <p:cNvPr id="72" name="Rectangle 71"/>
          <p:cNvSpPr/>
          <p:nvPr/>
        </p:nvSpPr>
        <p:spPr>
          <a:xfrm>
            <a:off x="1709914" y="3841074"/>
            <a:ext cx="3773208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Taille en cm sur la ligne médio-claviculaire droite	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2582" y="2492979"/>
            <a:ext cx="8267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Ombilic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36493" y="3802195"/>
            <a:ext cx="1599343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Débord </a:t>
            </a:r>
            <a:r>
              <a:rPr lang="fr-FR" sz="1400" b="1" dirty="0" smtClean="0"/>
              <a:t>xiphoïdien</a:t>
            </a:r>
            <a:endParaRPr lang="fr-FR" sz="1400" b="1" dirty="0"/>
          </a:p>
        </p:txBody>
      </p:sp>
      <p:cxnSp>
        <p:nvCxnSpPr>
          <p:cNvPr id="6" name="Connecteur droit 5"/>
          <p:cNvCxnSpPr/>
          <p:nvPr/>
        </p:nvCxnSpPr>
        <p:spPr>
          <a:xfrm>
            <a:off x="1220748" y="3008203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3" name="Rectangle 112"/>
          <p:cNvSpPr/>
          <p:nvPr/>
        </p:nvSpPr>
        <p:spPr>
          <a:xfrm>
            <a:off x="3744211" y="4870997"/>
            <a:ext cx="48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114" name="Connecteur droit 113"/>
          <p:cNvCxnSpPr/>
          <p:nvPr/>
        </p:nvCxnSpPr>
        <p:spPr>
          <a:xfrm>
            <a:off x="1227183" y="184264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8" name="Rectangle 117"/>
          <p:cNvSpPr/>
          <p:nvPr/>
        </p:nvSpPr>
        <p:spPr>
          <a:xfrm>
            <a:off x="10893715" y="198821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Ellipse 118"/>
          <p:cNvSpPr/>
          <p:nvPr/>
        </p:nvSpPr>
        <p:spPr>
          <a:xfrm>
            <a:off x="10772083" y="20485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0" name="Ellipse 119"/>
          <p:cNvSpPr/>
          <p:nvPr/>
        </p:nvSpPr>
        <p:spPr>
          <a:xfrm>
            <a:off x="3009755" y="208045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1" name="Rectangle 120"/>
          <p:cNvSpPr/>
          <p:nvPr/>
        </p:nvSpPr>
        <p:spPr>
          <a:xfrm>
            <a:off x="3214604" y="202633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22" name="Rectangle 121"/>
          <p:cNvSpPr/>
          <p:nvPr/>
        </p:nvSpPr>
        <p:spPr>
          <a:xfrm>
            <a:off x="4048492" y="1903516"/>
            <a:ext cx="3479412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23" name="Rectangle 122"/>
          <p:cNvSpPr/>
          <p:nvPr/>
        </p:nvSpPr>
        <p:spPr>
          <a:xfrm>
            <a:off x="8146793" y="2020401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24" name="Ellipse 123"/>
          <p:cNvSpPr/>
          <p:nvPr/>
        </p:nvSpPr>
        <p:spPr>
          <a:xfrm>
            <a:off x="7942230" y="209587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cxnSp>
        <p:nvCxnSpPr>
          <p:cNvPr id="127" name="Connecteur droit 126"/>
          <p:cNvCxnSpPr/>
          <p:nvPr/>
        </p:nvCxnSpPr>
        <p:spPr>
          <a:xfrm>
            <a:off x="1218600" y="2490885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Rectangle 127"/>
          <p:cNvSpPr/>
          <p:nvPr/>
        </p:nvSpPr>
        <p:spPr>
          <a:xfrm>
            <a:off x="225530" y="6364010"/>
            <a:ext cx="100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74172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74738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73551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5475" y="3153442"/>
            <a:ext cx="34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Périmètre abdominal au niveau de l'ombilic	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25755" y="3109507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17" name="Ellipse 116"/>
          <p:cNvSpPr/>
          <p:nvPr/>
        </p:nvSpPr>
        <p:spPr>
          <a:xfrm>
            <a:off x="9326427" y="264152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5" name="Rectangle 124"/>
          <p:cNvSpPr/>
          <p:nvPr/>
        </p:nvSpPr>
        <p:spPr>
          <a:xfrm>
            <a:off x="10918814" y="2595413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10784303" y="266860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29" name="Ellipse 128"/>
          <p:cNvSpPr/>
          <p:nvPr/>
        </p:nvSpPr>
        <p:spPr>
          <a:xfrm>
            <a:off x="4580313" y="266728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0" name="Ellipse 129"/>
          <p:cNvSpPr/>
          <p:nvPr/>
        </p:nvSpPr>
        <p:spPr>
          <a:xfrm>
            <a:off x="6767455" y="265440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1" name="Rectangle 130"/>
          <p:cNvSpPr/>
          <p:nvPr/>
        </p:nvSpPr>
        <p:spPr>
          <a:xfrm>
            <a:off x="4778260" y="2603056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Normal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6954314" y="2603056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Déplissé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517217" y="2590226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Hernie</a:t>
            </a:r>
            <a:endParaRPr lang="fr-FR" sz="1400" dirty="0"/>
          </a:p>
        </p:txBody>
      </p:sp>
      <p:sp>
        <p:nvSpPr>
          <p:cNvPr id="10" name="Rectangle 9"/>
          <p:cNvSpPr/>
          <p:nvPr/>
        </p:nvSpPr>
        <p:spPr>
          <a:xfrm>
            <a:off x="321476" y="3641509"/>
            <a:ext cx="89280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Palpation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220748" y="3611761"/>
            <a:ext cx="10800000" cy="30784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5" name="Rectangle 134"/>
          <p:cNvSpPr/>
          <p:nvPr/>
        </p:nvSpPr>
        <p:spPr>
          <a:xfrm>
            <a:off x="6713785" y="3790668"/>
            <a:ext cx="522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1735823" y="4303823"/>
            <a:ext cx="1334468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Face antérieure</a:t>
            </a:r>
          </a:p>
        </p:txBody>
      </p:sp>
      <p:sp>
        <p:nvSpPr>
          <p:cNvPr id="136" name="Ellipse 135"/>
          <p:cNvSpPr/>
          <p:nvPr/>
        </p:nvSpPr>
        <p:spPr>
          <a:xfrm>
            <a:off x="3175968" y="44407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7" name="Rectangle 136"/>
          <p:cNvSpPr/>
          <p:nvPr/>
        </p:nvSpPr>
        <p:spPr>
          <a:xfrm>
            <a:off x="3407320" y="4373765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Irrégulière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673334" y="4382408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Lisse</a:t>
            </a:r>
            <a:endParaRPr lang="fr-FR" sz="1400" b="1" dirty="0"/>
          </a:p>
        </p:txBody>
      </p:sp>
      <p:sp>
        <p:nvSpPr>
          <p:cNvPr id="139" name="Ellipse 138"/>
          <p:cNvSpPr/>
          <p:nvPr/>
        </p:nvSpPr>
        <p:spPr>
          <a:xfrm>
            <a:off x="4442267" y="444499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0" name="Rectangle 139"/>
          <p:cNvSpPr/>
          <p:nvPr/>
        </p:nvSpPr>
        <p:spPr>
          <a:xfrm>
            <a:off x="5560562" y="4349550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5425678" y="44367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" name="Rectangle 13"/>
          <p:cNvSpPr/>
          <p:nvPr/>
        </p:nvSpPr>
        <p:spPr>
          <a:xfrm>
            <a:off x="6750105" y="4331013"/>
            <a:ext cx="1221938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Bord inférieur</a:t>
            </a:r>
          </a:p>
        </p:txBody>
      </p:sp>
      <p:sp>
        <p:nvSpPr>
          <p:cNvPr id="143" name="Ellipse 142"/>
          <p:cNvSpPr/>
          <p:nvPr/>
        </p:nvSpPr>
        <p:spPr>
          <a:xfrm>
            <a:off x="8350944" y="443414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4" name="Rectangle 143"/>
          <p:cNvSpPr/>
          <p:nvPr/>
        </p:nvSpPr>
        <p:spPr>
          <a:xfrm>
            <a:off x="8502784" y="4353890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Tranchant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623024" y="4362533"/>
            <a:ext cx="8515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Mousse</a:t>
            </a:r>
            <a:endParaRPr lang="fr-FR" sz="1400" b="1" dirty="0"/>
          </a:p>
        </p:txBody>
      </p:sp>
      <p:sp>
        <p:nvSpPr>
          <p:cNvPr id="146" name="Ellipse 145"/>
          <p:cNvSpPr/>
          <p:nvPr/>
        </p:nvSpPr>
        <p:spPr>
          <a:xfrm>
            <a:off x="9497974" y="442512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7" name="Rectangle 146"/>
          <p:cNvSpPr/>
          <p:nvPr/>
        </p:nvSpPr>
        <p:spPr>
          <a:xfrm>
            <a:off x="10788546" y="4369431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10666914" y="4416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49" name="Rectangle 148"/>
          <p:cNvSpPr/>
          <p:nvPr/>
        </p:nvSpPr>
        <p:spPr>
          <a:xfrm>
            <a:off x="6733657" y="4314128"/>
            <a:ext cx="5220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0" name="Rectangle 149"/>
          <p:cNvSpPr/>
          <p:nvPr/>
        </p:nvSpPr>
        <p:spPr>
          <a:xfrm>
            <a:off x="1724333" y="4287624"/>
            <a:ext cx="4896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1761377" y="5523723"/>
            <a:ext cx="953531" cy="324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Sensibilité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744210" y="5513449"/>
            <a:ext cx="4896000" cy="43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2" name="Ellipse 151"/>
          <p:cNvSpPr/>
          <p:nvPr/>
        </p:nvSpPr>
        <p:spPr>
          <a:xfrm>
            <a:off x="3222349" y="562683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3" name="Rectangle 152"/>
          <p:cNvSpPr/>
          <p:nvPr/>
        </p:nvSpPr>
        <p:spPr>
          <a:xfrm>
            <a:off x="3427197" y="5559840"/>
            <a:ext cx="10142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154" name="Rectangle 153"/>
          <p:cNvSpPr/>
          <p:nvPr/>
        </p:nvSpPr>
        <p:spPr>
          <a:xfrm>
            <a:off x="4693211" y="5541979"/>
            <a:ext cx="7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155" name="Ellipse 154"/>
          <p:cNvSpPr/>
          <p:nvPr/>
        </p:nvSpPr>
        <p:spPr>
          <a:xfrm>
            <a:off x="4488648" y="563107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6" name="Rectangle 155"/>
          <p:cNvSpPr/>
          <p:nvPr/>
        </p:nvSpPr>
        <p:spPr>
          <a:xfrm>
            <a:off x="5580439" y="5548877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5445555" y="562281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" name="Rectangle 16"/>
          <p:cNvSpPr/>
          <p:nvPr/>
        </p:nvSpPr>
        <p:spPr>
          <a:xfrm>
            <a:off x="1756200" y="4808091"/>
            <a:ext cx="19241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Reflux hépato-jugulaire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744209" y="4797830"/>
            <a:ext cx="6912000" cy="64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9" name="Rectangle 158"/>
          <p:cNvSpPr/>
          <p:nvPr/>
        </p:nvSpPr>
        <p:spPr>
          <a:xfrm>
            <a:off x="3744211" y="6083574"/>
            <a:ext cx="4836782" cy="46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0" name="Rectangle 159"/>
          <p:cNvSpPr/>
          <p:nvPr/>
        </p:nvSpPr>
        <p:spPr>
          <a:xfrm>
            <a:off x="1762827" y="6020668"/>
            <a:ext cx="192418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Vésicule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750836" y="6010407"/>
            <a:ext cx="6912000" cy="6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13615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34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Abdomen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0471" y="561853"/>
            <a:ext cx="11952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-373722" y="643898"/>
            <a:ext cx="1728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34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1352373" y="56455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90803" y="571184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28075" y="574172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557087" y="56678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99531" y="57118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78281" y="574738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80104" y="567385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8066128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9342853" y="573551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105" name="Rectangle 104"/>
          <p:cNvSpPr/>
          <p:nvPr/>
        </p:nvSpPr>
        <p:spPr>
          <a:xfrm>
            <a:off x="10834387" y="573627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144151" y="1020317"/>
            <a:ext cx="17933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Matité abdominale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239207" y="998122"/>
            <a:ext cx="9823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/>
              <a:t>Percussion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220748" y="3948838"/>
            <a:ext cx="9432000" cy="270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1" name="Ellipse 200"/>
          <p:cNvSpPr/>
          <p:nvPr/>
        </p:nvSpPr>
        <p:spPr>
          <a:xfrm>
            <a:off x="10739230" y="145229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2" name="Rectangle 201"/>
          <p:cNvSpPr/>
          <p:nvPr/>
        </p:nvSpPr>
        <p:spPr>
          <a:xfrm>
            <a:off x="1235513" y="975240"/>
            <a:ext cx="18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Sonorité abdominale</a:t>
            </a:r>
          </a:p>
        </p:txBody>
      </p:sp>
      <p:sp>
        <p:nvSpPr>
          <p:cNvPr id="203" name="Ellipse 202"/>
          <p:cNvSpPr/>
          <p:nvPr/>
        </p:nvSpPr>
        <p:spPr>
          <a:xfrm>
            <a:off x="4956605" y="1516693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4" name="Rectangle 203"/>
          <p:cNvSpPr/>
          <p:nvPr/>
        </p:nvSpPr>
        <p:spPr>
          <a:xfrm>
            <a:off x="6748530" y="1096760"/>
            <a:ext cx="3775383" cy="72046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5" name="Rectangle 204"/>
          <p:cNvSpPr/>
          <p:nvPr/>
        </p:nvSpPr>
        <p:spPr>
          <a:xfrm>
            <a:off x="5167764" y="1456049"/>
            <a:ext cx="12122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Tympanisme</a:t>
            </a:r>
            <a:endParaRPr lang="fr-FR" sz="1400" dirty="0"/>
          </a:p>
        </p:txBody>
      </p:sp>
      <p:sp>
        <p:nvSpPr>
          <p:cNvPr id="206" name="Ellipse 205"/>
          <p:cNvSpPr/>
          <p:nvPr/>
        </p:nvSpPr>
        <p:spPr>
          <a:xfrm>
            <a:off x="4941582" y="107666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08" name="Rectangle 207"/>
          <p:cNvSpPr/>
          <p:nvPr/>
        </p:nvSpPr>
        <p:spPr>
          <a:xfrm>
            <a:off x="177616" y="3980154"/>
            <a:ext cx="10440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b="1" u="sng" dirty="0" smtClean="0"/>
              <a:t>Auscultation</a:t>
            </a:r>
            <a:endParaRPr lang="fr-FR" sz="1400" b="1" u="sng" dirty="0"/>
          </a:p>
        </p:txBody>
      </p:sp>
      <p:sp>
        <p:nvSpPr>
          <p:cNvPr id="209" name="Rectangle 208"/>
          <p:cNvSpPr/>
          <p:nvPr/>
        </p:nvSpPr>
        <p:spPr>
          <a:xfrm>
            <a:off x="1246827" y="1899983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</a:t>
            </a:r>
            <a:r>
              <a:rPr lang="fr-FR" sz="1400" b="1" dirty="0" smtClean="0"/>
              <a:t>hépatique</a:t>
            </a:r>
            <a:endParaRPr lang="fr-FR" sz="1400" b="1" dirty="0"/>
          </a:p>
        </p:txBody>
      </p:sp>
      <p:sp>
        <p:nvSpPr>
          <p:cNvPr id="210" name="Rectangle 209"/>
          <p:cNvSpPr/>
          <p:nvPr/>
        </p:nvSpPr>
        <p:spPr>
          <a:xfrm>
            <a:off x="1246976" y="2581662"/>
            <a:ext cx="162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</a:t>
            </a:r>
            <a:r>
              <a:rPr lang="fr-FR" sz="1400" b="1" dirty="0" smtClean="0"/>
              <a:t>splénique</a:t>
            </a:r>
            <a:endParaRPr lang="fr-FR" sz="1400" b="1" dirty="0"/>
          </a:p>
        </p:txBody>
      </p:sp>
      <p:sp>
        <p:nvSpPr>
          <p:cNvPr id="211" name="Rectangle 210"/>
          <p:cNvSpPr/>
          <p:nvPr/>
        </p:nvSpPr>
        <p:spPr>
          <a:xfrm>
            <a:off x="1231479" y="1010317"/>
            <a:ext cx="10800000" cy="28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0" name="Rectangle 219"/>
          <p:cNvSpPr/>
          <p:nvPr/>
        </p:nvSpPr>
        <p:spPr>
          <a:xfrm>
            <a:off x="3151507" y="2633723"/>
            <a:ext cx="439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21" name="Rectangle 220"/>
          <p:cNvSpPr/>
          <p:nvPr/>
        </p:nvSpPr>
        <p:spPr>
          <a:xfrm>
            <a:off x="3136483" y="2000511"/>
            <a:ext cx="439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22" name="Rectangle 221"/>
          <p:cNvSpPr/>
          <p:nvPr/>
        </p:nvSpPr>
        <p:spPr>
          <a:xfrm>
            <a:off x="1245615" y="3214456"/>
            <a:ext cx="17422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Région </a:t>
            </a:r>
            <a:r>
              <a:rPr lang="fr-FR" sz="1400" b="1" dirty="0" smtClean="0"/>
              <a:t>sus-pubienne</a:t>
            </a:r>
            <a:endParaRPr lang="fr-FR" sz="1400" b="1" dirty="0"/>
          </a:p>
        </p:txBody>
      </p:sp>
      <p:sp>
        <p:nvSpPr>
          <p:cNvPr id="223" name="Rectangle 222"/>
          <p:cNvSpPr/>
          <p:nvPr/>
        </p:nvSpPr>
        <p:spPr>
          <a:xfrm>
            <a:off x="2203147" y="3494291"/>
            <a:ext cx="19396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Matité du globe vésical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4148217" y="3290529"/>
            <a:ext cx="3384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228" name="Connecteur droit 227"/>
          <p:cNvCxnSpPr/>
          <p:nvPr/>
        </p:nvCxnSpPr>
        <p:spPr>
          <a:xfrm>
            <a:off x="1218600" y="2568904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necteur droit 228"/>
          <p:cNvCxnSpPr/>
          <p:nvPr/>
        </p:nvCxnSpPr>
        <p:spPr>
          <a:xfrm>
            <a:off x="1229331" y="3210697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0" name="Rectangle 229"/>
          <p:cNvSpPr/>
          <p:nvPr/>
        </p:nvSpPr>
        <p:spPr>
          <a:xfrm>
            <a:off x="1235077" y="3968663"/>
            <a:ext cx="18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Bruits </a:t>
            </a:r>
            <a:r>
              <a:rPr lang="fr-FR" sz="1400" b="1" dirty="0" smtClean="0"/>
              <a:t>hydro-aériques</a:t>
            </a:r>
            <a:endParaRPr lang="fr-FR" sz="1400" b="1" dirty="0"/>
          </a:p>
        </p:txBody>
      </p:sp>
      <p:sp>
        <p:nvSpPr>
          <p:cNvPr id="232" name="Rectangle 231"/>
          <p:cNvSpPr/>
          <p:nvPr/>
        </p:nvSpPr>
        <p:spPr>
          <a:xfrm>
            <a:off x="9569342" y="4141875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3" name="Ellipse 232"/>
          <p:cNvSpPr/>
          <p:nvPr/>
        </p:nvSpPr>
        <p:spPr>
          <a:xfrm>
            <a:off x="9357557" y="421506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34" name="Ellipse 233"/>
          <p:cNvSpPr/>
          <p:nvPr/>
        </p:nvSpPr>
        <p:spPr>
          <a:xfrm>
            <a:off x="3359631" y="4208361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35" name="Rectangle 234"/>
          <p:cNvSpPr/>
          <p:nvPr/>
        </p:nvSpPr>
        <p:spPr>
          <a:xfrm>
            <a:off x="3564480" y="4154240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Oui</a:t>
            </a:r>
            <a:endParaRPr lang="fr-FR" sz="1400" dirty="0"/>
          </a:p>
        </p:txBody>
      </p:sp>
      <p:sp>
        <p:nvSpPr>
          <p:cNvPr id="237" name="Rectangle 236"/>
          <p:cNvSpPr/>
          <p:nvPr/>
        </p:nvSpPr>
        <p:spPr>
          <a:xfrm>
            <a:off x="8112729" y="4150002"/>
            <a:ext cx="54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Non</a:t>
            </a:r>
            <a:endParaRPr lang="fr-FR" sz="1400" b="1" dirty="0"/>
          </a:p>
        </p:txBody>
      </p:sp>
      <p:sp>
        <p:nvSpPr>
          <p:cNvPr id="238" name="Ellipse 237"/>
          <p:cNvSpPr/>
          <p:nvPr/>
        </p:nvSpPr>
        <p:spPr>
          <a:xfrm>
            <a:off x="7908166" y="422547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47" name="Rectangle 246"/>
          <p:cNvSpPr/>
          <p:nvPr/>
        </p:nvSpPr>
        <p:spPr>
          <a:xfrm>
            <a:off x="4122460" y="4054986"/>
            <a:ext cx="352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52" name="Ellipse 251"/>
          <p:cNvSpPr/>
          <p:nvPr/>
        </p:nvSpPr>
        <p:spPr>
          <a:xfrm>
            <a:off x="3097760" y="146086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253" name="Rectangle 252"/>
          <p:cNvSpPr/>
          <p:nvPr/>
        </p:nvSpPr>
        <p:spPr>
          <a:xfrm>
            <a:off x="3302609" y="1406743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 smtClean="0"/>
              <a:t>Normale</a:t>
            </a:r>
            <a:endParaRPr lang="fr-FR" sz="1400" dirty="0"/>
          </a:p>
        </p:txBody>
      </p:sp>
      <p:sp>
        <p:nvSpPr>
          <p:cNvPr id="254" name="Rectangle 253"/>
          <p:cNvSpPr/>
          <p:nvPr/>
        </p:nvSpPr>
        <p:spPr>
          <a:xfrm>
            <a:off x="10936038" y="139388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5" name="Rectangle 254"/>
          <p:cNvSpPr/>
          <p:nvPr/>
        </p:nvSpPr>
        <p:spPr>
          <a:xfrm>
            <a:off x="1400016" y="481121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6" name="Rectangle 255"/>
          <p:cNvSpPr/>
          <p:nvPr/>
        </p:nvSpPr>
        <p:spPr>
          <a:xfrm>
            <a:off x="1599781" y="4760343"/>
            <a:ext cx="25308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Souffle systolique </a:t>
            </a:r>
            <a:r>
              <a:rPr lang="fr-FR" sz="1400" dirty="0" smtClean="0"/>
              <a:t>épigastrique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7" name="Rectangle 256"/>
          <p:cNvSpPr/>
          <p:nvPr/>
        </p:nvSpPr>
        <p:spPr>
          <a:xfrm>
            <a:off x="1384987" y="558180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8" name="Rectangle 257"/>
          <p:cNvSpPr/>
          <p:nvPr/>
        </p:nvSpPr>
        <p:spPr>
          <a:xfrm>
            <a:off x="1584752" y="5530934"/>
            <a:ext cx="1828150" cy="307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Hépatique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372108" y="638029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0" name="Rectangle 259"/>
          <p:cNvSpPr/>
          <p:nvPr/>
        </p:nvSpPr>
        <p:spPr>
          <a:xfrm>
            <a:off x="1571873" y="6329423"/>
            <a:ext cx="28069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Fosses lombaires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1" name="Rectangle 260"/>
          <p:cNvSpPr/>
          <p:nvPr/>
        </p:nvSpPr>
        <p:spPr>
          <a:xfrm>
            <a:off x="4102920" y="4736212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62" name="Rectangle 261"/>
          <p:cNvSpPr/>
          <p:nvPr/>
        </p:nvSpPr>
        <p:spPr>
          <a:xfrm>
            <a:off x="4100772" y="5365131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63" name="Rectangle 262"/>
          <p:cNvSpPr/>
          <p:nvPr/>
        </p:nvSpPr>
        <p:spPr>
          <a:xfrm>
            <a:off x="4087893" y="5996197"/>
            <a:ext cx="6120000" cy="5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cxnSp>
        <p:nvCxnSpPr>
          <p:cNvPr id="265" name="Connecteur droit 264"/>
          <p:cNvCxnSpPr/>
          <p:nvPr/>
        </p:nvCxnSpPr>
        <p:spPr>
          <a:xfrm>
            <a:off x="1229331" y="1897058"/>
            <a:ext cx="1081073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6" name="Rectangle 265"/>
          <p:cNvSpPr/>
          <p:nvPr/>
        </p:nvSpPr>
        <p:spPr>
          <a:xfrm>
            <a:off x="10988782" y="634192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267" name="Connecteur droit 266"/>
          <p:cNvCxnSpPr/>
          <p:nvPr/>
        </p:nvCxnSpPr>
        <p:spPr>
          <a:xfrm>
            <a:off x="1227183" y="4638105"/>
            <a:ext cx="9432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398740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Pelvien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01870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788765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08277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46896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02172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853524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0" y="743010"/>
            <a:ext cx="9828000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1" y="1275386"/>
            <a:ext cx="9828000" cy="126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87264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85623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862271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88109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649433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254980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19421" y="167746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36804" y="171311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32339" y="129494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434128" y="172759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187232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2" y="2055082"/>
            <a:ext cx="5724000" cy="432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3341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32398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35239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988096" y="136687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1630667"/>
            <a:ext cx="4023137" cy="4114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283416" y="2586543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2593171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2582907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2588776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2593171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2583473"/>
            <a:ext cx="79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2589372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2582286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2582362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51491" y="3133391"/>
            <a:ext cx="1954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Brulures </a:t>
            </a:r>
            <a:r>
              <a:rPr lang="fr-FR" sz="1400" b="1" dirty="0" smtClean="0"/>
              <a:t>mictionnelles</a:t>
            </a:r>
            <a:endParaRPr lang="fr-FR" sz="1400" b="1" dirty="0"/>
          </a:p>
        </p:txBody>
      </p:sp>
      <p:sp>
        <p:nvSpPr>
          <p:cNvPr id="14" name="Rectangle 13"/>
          <p:cNvSpPr/>
          <p:nvPr/>
        </p:nvSpPr>
        <p:spPr>
          <a:xfrm>
            <a:off x="359845" y="3102977"/>
            <a:ext cx="11539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</a:p>
          <a:p>
            <a:pPr algn="ctr"/>
            <a:r>
              <a:rPr lang="fr-FR" sz="1400" b="1" u="sng" dirty="0" smtClean="0">
                <a:solidFill>
                  <a:srgbClr val="FF0000"/>
                </a:solidFill>
              </a:rPr>
              <a:t>((si Femme))</a:t>
            </a:r>
            <a:endParaRPr lang="fr-FR" sz="1400" b="1" u="sng" dirty="0">
              <a:solidFill>
                <a:srgbClr val="FF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76305" y="2999003"/>
            <a:ext cx="11700000" cy="378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Rectangle 153"/>
          <p:cNvSpPr/>
          <p:nvPr/>
        </p:nvSpPr>
        <p:spPr>
          <a:xfrm>
            <a:off x="1606075" y="318847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6" name="Rectangle 165"/>
          <p:cNvSpPr/>
          <p:nvPr/>
        </p:nvSpPr>
        <p:spPr>
          <a:xfrm>
            <a:off x="1461756" y="3103149"/>
            <a:ext cx="10440000" cy="3420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2" name="Rectangle 181"/>
          <p:cNvSpPr/>
          <p:nvPr/>
        </p:nvSpPr>
        <p:spPr>
          <a:xfrm>
            <a:off x="302804" y="6364010"/>
            <a:ext cx="108000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À suivre</a:t>
            </a:r>
          </a:p>
        </p:txBody>
      </p:sp>
      <p:sp>
        <p:nvSpPr>
          <p:cNvPr id="131" name="Ellipse 130"/>
          <p:cNvSpPr/>
          <p:nvPr/>
        </p:nvSpPr>
        <p:spPr>
          <a:xfrm>
            <a:off x="3516321" y="342491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3656774" y="3370790"/>
            <a:ext cx="898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51710" y="3273874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4" name="Rectangle 133"/>
          <p:cNvSpPr/>
          <p:nvPr/>
        </p:nvSpPr>
        <p:spPr>
          <a:xfrm>
            <a:off x="8076250" y="3366554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Absentes</a:t>
            </a:r>
            <a:endParaRPr lang="fr-FR" sz="1400" b="1" dirty="0"/>
          </a:p>
        </p:txBody>
      </p:sp>
      <p:sp>
        <p:nvSpPr>
          <p:cNvPr id="135" name="Ellipse 134"/>
          <p:cNvSpPr/>
          <p:nvPr/>
        </p:nvSpPr>
        <p:spPr>
          <a:xfrm>
            <a:off x="7871687" y="342914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10359242" y="337345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10237610" y="342088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2" name="Rectangle 151"/>
          <p:cNvSpPr/>
          <p:nvPr/>
        </p:nvSpPr>
        <p:spPr>
          <a:xfrm>
            <a:off x="1749343" y="387822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Dysurie</a:t>
            </a:r>
            <a:endParaRPr lang="fr-FR" sz="1400" b="1" dirty="0"/>
          </a:p>
        </p:txBody>
      </p:sp>
      <p:sp>
        <p:nvSpPr>
          <p:cNvPr id="153" name="Rectangle 152"/>
          <p:cNvSpPr/>
          <p:nvPr/>
        </p:nvSpPr>
        <p:spPr>
          <a:xfrm>
            <a:off x="1603927" y="3933312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/>
          <p:cNvSpPr/>
          <p:nvPr/>
        </p:nvSpPr>
        <p:spPr>
          <a:xfrm>
            <a:off x="3501294" y="410534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3654627" y="405122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536683" y="3954312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5" name="Rectangle 164"/>
          <p:cNvSpPr/>
          <p:nvPr/>
        </p:nvSpPr>
        <p:spPr>
          <a:xfrm>
            <a:off x="8074102" y="4021235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67" name="Ellipse 166"/>
          <p:cNvSpPr/>
          <p:nvPr/>
        </p:nvSpPr>
        <p:spPr>
          <a:xfrm>
            <a:off x="7869539" y="408382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357094" y="402813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235462" y="407556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1747195" y="4571539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Pollakiurie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601779" y="462662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Ellipse 174"/>
          <p:cNvSpPr/>
          <p:nvPr/>
        </p:nvSpPr>
        <p:spPr>
          <a:xfrm>
            <a:off x="3499146" y="4811542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6" name="Rectangle 175"/>
          <p:cNvSpPr/>
          <p:nvPr/>
        </p:nvSpPr>
        <p:spPr>
          <a:xfrm>
            <a:off x="3652479" y="475742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534535" y="4660506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Rectangle 178"/>
          <p:cNvSpPr/>
          <p:nvPr/>
        </p:nvSpPr>
        <p:spPr>
          <a:xfrm>
            <a:off x="8071954" y="472742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80" name="Ellipse 179"/>
          <p:cNvSpPr/>
          <p:nvPr/>
        </p:nvSpPr>
        <p:spPr>
          <a:xfrm>
            <a:off x="7867391" y="479001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10354946" y="473432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" name="Ellipse 183"/>
          <p:cNvSpPr/>
          <p:nvPr/>
        </p:nvSpPr>
        <p:spPr>
          <a:xfrm>
            <a:off x="10233314" y="478175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1478884" y="5333530"/>
            <a:ext cx="151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Toucher pelvien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476736" y="5975331"/>
            <a:ext cx="14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Vessie</a:t>
            </a:r>
            <a:endParaRPr lang="fr-FR" sz="1400" b="1" dirty="0"/>
          </a:p>
        </p:txBody>
      </p:sp>
      <p:sp>
        <p:nvSpPr>
          <p:cNvPr id="193" name="Rectangle 192"/>
          <p:cNvSpPr/>
          <p:nvPr/>
        </p:nvSpPr>
        <p:spPr>
          <a:xfrm>
            <a:off x="2988349" y="5314506"/>
            <a:ext cx="331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4" name="Rectangle 193"/>
          <p:cNvSpPr/>
          <p:nvPr/>
        </p:nvSpPr>
        <p:spPr>
          <a:xfrm>
            <a:off x="6400337" y="5403114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Orifices </a:t>
            </a:r>
            <a:r>
              <a:rPr lang="fr-FR" sz="1400" b="1" dirty="0" smtClean="0"/>
              <a:t>herniaires</a:t>
            </a:r>
            <a:endParaRPr lang="fr-FR" sz="1400" b="1" dirty="0"/>
          </a:p>
        </p:txBody>
      </p:sp>
      <p:sp>
        <p:nvSpPr>
          <p:cNvPr id="198" name="Rectangle 197"/>
          <p:cNvSpPr/>
          <p:nvPr/>
        </p:nvSpPr>
        <p:spPr>
          <a:xfrm>
            <a:off x="2983990" y="5958387"/>
            <a:ext cx="331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377520" y="6084619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Diurèse résiduelle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7944571" y="5311400"/>
            <a:ext cx="2786784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7940214" y="5969118"/>
            <a:ext cx="2791141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10792209" y="640969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cxnSp>
        <p:nvCxnSpPr>
          <p:cNvPr id="10" name="Connecteur droit 9"/>
          <p:cNvCxnSpPr/>
          <p:nvPr/>
        </p:nvCxnSpPr>
        <p:spPr>
          <a:xfrm>
            <a:off x="1476736" y="3833115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3" name="Connecteur droit 202"/>
          <p:cNvCxnSpPr/>
          <p:nvPr/>
        </p:nvCxnSpPr>
        <p:spPr>
          <a:xfrm>
            <a:off x="1474588" y="4552187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4" name="Connecteur droit 203"/>
          <p:cNvCxnSpPr/>
          <p:nvPr/>
        </p:nvCxnSpPr>
        <p:spPr>
          <a:xfrm>
            <a:off x="1472440" y="5232622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5" name="Connecteur droit 204"/>
          <p:cNvCxnSpPr/>
          <p:nvPr/>
        </p:nvCxnSpPr>
        <p:spPr>
          <a:xfrm>
            <a:off x="1457413" y="5900175"/>
            <a:ext cx="10421853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6384825" y="5245501"/>
            <a:ext cx="0" cy="1260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16550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35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Pelvien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9108" y="639127"/>
            <a:ext cx="11880000" cy="619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3416" y="976679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37757" y="983307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Général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90940" y="973043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22984" y="978912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81339" y="983307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776000" y="973609"/>
            <a:ext cx="79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80855" y="979508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69911" y="972498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9149668" y="972422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731355" y="972498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12854" y="1523527"/>
            <a:ext cx="195431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Brulures </a:t>
            </a:r>
            <a:r>
              <a:rPr lang="fr-FR" sz="1400" b="1" dirty="0" smtClean="0"/>
              <a:t>mictionnelles</a:t>
            </a:r>
            <a:endParaRPr lang="fr-FR" sz="1400" b="1" dirty="0"/>
          </a:p>
        </p:txBody>
      </p:sp>
      <p:sp>
        <p:nvSpPr>
          <p:cNvPr id="14" name="Rectangle 13"/>
          <p:cNvSpPr/>
          <p:nvPr/>
        </p:nvSpPr>
        <p:spPr>
          <a:xfrm>
            <a:off x="359845" y="1493113"/>
            <a:ext cx="115395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00" b="1" u="sng" dirty="0"/>
              <a:t>Signes </a:t>
            </a:r>
            <a:r>
              <a:rPr lang="fr-FR" sz="1400" b="1" u="sng" dirty="0" smtClean="0"/>
              <a:t>fonctionnels</a:t>
            </a:r>
          </a:p>
          <a:p>
            <a:pPr algn="ctr"/>
            <a:r>
              <a:rPr lang="fr-FR" sz="1400" b="1" u="sng" dirty="0" smtClean="0">
                <a:solidFill>
                  <a:srgbClr val="FF0000"/>
                </a:solidFill>
              </a:rPr>
              <a:t>((si Homme))</a:t>
            </a:r>
            <a:endParaRPr lang="fr-FR" sz="1400" b="1" u="sng" dirty="0">
              <a:solidFill>
                <a:srgbClr val="FF0000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276305" y="1389139"/>
            <a:ext cx="11700000" cy="532075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4" name="Rectangle 153"/>
          <p:cNvSpPr/>
          <p:nvPr/>
        </p:nvSpPr>
        <p:spPr>
          <a:xfrm>
            <a:off x="1567438" y="157861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6" name="Rectangle 165"/>
          <p:cNvSpPr/>
          <p:nvPr/>
        </p:nvSpPr>
        <p:spPr>
          <a:xfrm>
            <a:off x="1461756" y="1493284"/>
            <a:ext cx="10440000" cy="475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Ellipse 130"/>
          <p:cNvSpPr/>
          <p:nvPr/>
        </p:nvSpPr>
        <p:spPr>
          <a:xfrm>
            <a:off x="3619352" y="1892320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32" name="Rectangle 131"/>
          <p:cNvSpPr/>
          <p:nvPr/>
        </p:nvSpPr>
        <p:spPr>
          <a:xfrm>
            <a:off x="3759805" y="1838200"/>
            <a:ext cx="8980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Présentes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654741" y="1741284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34" name="Rectangle 133"/>
          <p:cNvSpPr/>
          <p:nvPr/>
        </p:nvSpPr>
        <p:spPr>
          <a:xfrm>
            <a:off x="8192157" y="180820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Absentes</a:t>
            </a:r>
            <a:endParaRPr lang="fr-FR" sz="1400" b="1" dirty="0"/>
          </a:p>
        </p:txBody>
      </p:sp>
      <p:sp>
        <p:nvSpPr>
          <p:cNvPr id="135" name="Ellipse 134"/>
          <p:cNvSpPr/>
          <p:nvPr/>
        </p:nvSpPr>
        <p:spPr>
          <a:xfrm>
            <a:off x="7987594" y="1870796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0" name="Rectangle 149"/>
          <p:cNvSpPr/>
          <p:nvPr/>
        </p:nvSpPr>
        <p:spPr>
          <a:xfrm>
            <a:off x="10449398" y="1815104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10327766" y="1862537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52" name="Rectangle 151"/>
          <p:cNvSpPr/>
          <p:nvPr/>
        </p:nvSpPr>
        <p:spPr>
          <a:xfrm>
            <a:off x="1710706" y="2371392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Dysurie</a:t>
            </a:r>
            <a:endParaRPr lang="fr-FR" sz="1400" b="1" dirty="0"/>
          </a:p>
        </p:txBody>
      </p:sp>
      <p:sp>
        <p:nvSpPr>
          <p:cNvPr id="153" name="Rectangle 152"/>
          <p:cNvSpPr/>
          <p:nvPr/>
        </p:nvSpPr>
        <p:spPr>
          <a:xfrm>
            <a:off x="1565290" y="24264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Ellipse 154"/>
          <p:cNvSpPr/>
          <p:nvPr/>
        </p:nvSpPr>
        <p:spPr>
          <a:xfrm>
            <a:off x="3617204" y="2572758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1" name="Rectangle 160"/>
          <p:cNvSpPr/>
          <p:nvPr/>
        </p:nvSpPr>
        <p:spPr>
          <a:xfrm>
            <a:off x="3770537" y="2518638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652593" y="2421722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65" name="Rectangle 164"/>
          <p:cNvSpPr/>
          <p:nvPr/>
        </p:nvSpPr>
        <p:spPr>
          <a:xfrm>
            <a:off x="8190009" y="2488645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67" name="Ellipse 166"/>
          <p:cNvSpPr/>
          <p:nvPr/>
        </p:nvSpPr>
        <p:spPr>
          <a:xfrm>
            <a:off x="7985446" y="255123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69" name="Rectangle 168"/>
          <p:cNvSpPr/>
          <p:nvPr/>
        </p:nvSpPr>
        <p:spPr>
          <a:xfrm>
            <a:off x="10447250" y="2495542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325618" y="2542975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2" name="Rectangle 171"/>
          <p:cNvSpPr/>
          <p:nvPr/>
        </p:nvSpPr>
        <p:spPr>
          <a:xfrm>
            <a:off x="1708558" y="3038949"/>
            <a:ext cx="108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Pollakiurie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563142" y="3094037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Ellipse 174"/>
          <p:cNvSpPr/>
          <p:nvPr/>
        </p:nvSpPr>
        <p:spPr>
          <a:xfrm>
            <a:off x="3615056" y="3253194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76" name="Rectangle 175"/>
          <p:cNvSpPr/>
          <p:nvPr/>
        </p:nvSpPr>
        <p:spPr>
          <a:xfrm>
            <a:off x="3768389" y="3199074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Présente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650445" y="3102158"/>
            <a:ext cx="252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79" name="Rectangle 178"/>
          <p:cNvSpPr/>
          <p:nvPr/>
        </p:nvSpPr>
        <p:spPr>
          <a:xfrm>
            <a:off x="8187861" y="3194839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Absente</a:t>
            </a:r>
            <a:endParaRPr lang="fr-FR" sz="1400" b="1" dirty="0"/>
          </a:p>
        </p:txBody>
      </p:sp>
      <p:sp>
        <p:nvSpPr>
          <p:cNvPr id="180" name="Ellipse 179"/>
          <p:cNvSpPr/>
          <p:nvPr/>
        </p:nvSpPr>
        <p:spPr>
          <a:xfrm>
            <a:off x="7983298" y="325742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3" name="Rectangle 182"/>
          <p:cNvSpPr/>
          <p:nvPr/>
        </p:nvSpPr>
        <p:spPr>
          <a:xfrm>
            <a:off x="10445102" y="3201736"/>
            <a:ext cx="1080000" cy="28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/>
              <a:t>Réinitialiser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4" name="Ellipse 183"/>
          <p:cNvSpPr/>
          <p:nvPr/>
        </p:nvSpPr>
        <p:spPr>
          <a:xfrm>
            <a:off x="10323470" y="3249169"/>
            <a:ext cx="180000" cy="1797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1400"/>
          </a:p>
        </p:txBody>
      </p:sp>
      <p:sp>
        <p:nvSpPr>
          <p:cNvPr id="185" name="Rectangle 184"/>
          <p:cNvSpPr/>
          <p:nvPr/>
        </p:nvSpPr>
        <p:spPr>
          <a:xfrm>
            <a:off x="1478884" y="4908520"/>
            <a:ext cx="82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Pilosité</a:t>
            </a:r>
            <a:endParaRPr lang="fr-FR" sz="1400" b="1" dirty="0"/>
          </a:p>
        </p:txBody>
      </p:sp>
      <p:sp>
        <p:nvSpPr>
          <p:cNvPr id="189" name="Rectangle 188"/>
          <p:cNvSpPr/>
          <p:nvPr/>
        </p:nvSpPr>
        <p:spPr>
          <a:xfrm>
            <a:off x="1476736" y="5795023"/>
            <a:ext cx="1476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 smtClean="0"/>
              <a:t>Vessie</a:t>
            </a:r>
            <a:endParaRPr lang="fr-FR" sz="1400" b="1" dirty="0"/>
          </a:p>
        </p:txBody>
      </p:sp>
      <p:sp>
        <p:nvSpPr>
          <p:cNvPr id="193" name="Rectangle 192"/>
          <p:cNvSpPr/>
          <p:nvPr/>
        </p:nvSpPr>
        <p:spPr>
          <a:xfrm>
            <a:off x="3284565" y="5044043"/>
            <a:ext cx="30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4" name="Rectangle 193"/>
          <p:cNvSpPr/>
          <p:nvPr/>
        </p:nvSpPr>
        <p:spPr>
          <a:xfrm>
            <a:off x="6825338" y="5081137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Orifices </a:t>
            </a:r>
            <a:r>
              <a:rPr lang="fr-FR" sz="1400" b="1" dirty="0" smtClean="0"/>
              <a:t>herniaires</a:t>
            </a:r>
            <a:endParaRPr lang="fr-FR" sz="1400" b="1" dirty="0"/>
          </a:p>
        </p:txBody>
      </p:sp>
      <p:sp>
        <p:nvSpPr>
          <p:cNvPr id="198" name="Rectangle 197"/>
          <p:cNvSpPr/>
          <p:nvPr/>
        </p:nvSpPr>
        <p:spPr>
          <a:xfrm>
            <a:off x="3267328" y="5687926"/>
            <a:ext cx="3024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99" name="Rectangle 198"/>
          <p:cNvSpPr/>
          <p:nvPr/>
        </p:nvSpPr>
        <p:spPr>
          <a:xfrm>
            <a:off x="6815403" y="5801279"/>
            <a:ext cx="154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Diurèse résiduelle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382451" y="5015181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201" name="Rectangle 200"/>
          <p:cNvSpPr/>
          <p:nvPr/>
        </p:nvSpPr>
        <p:spPr>
          <a:xfrm>
            <a:off x="8378096" y="5698657"/>
            <a:ext cx="3240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89" name="Rectangle 88"/>
          <p:cNvSpPr/>
          <p:nvPr/>
        </p:nvSpPr>
        <p:spPr>
          <a:xfrm>
            <a:off x="231585" y="656777"/>
            <a:ext cx="2053350" cy="32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600" b="1" u="sng" dirty="0">
                <a:solidFill>
                  <a:srgbClr val="FF0000"/>
                </a:solidFill>
              </a:rPr>
              <a:t>Suite de l’écran </a:t>
            </a:r>
            <a:r>
              <a:rPr lang="fr-FR" sz="1600" b="1" u="sng" dirty="0" smtClean="0">
                <a:solidFill>
                  <a:srgbClr val="FF0000"/>
                </a:solidFill>
              </a:rPr>
              <a:t>34</a:t>
            </a:r>
            <a:endParaRPr lang="fr-FR" sz="1600" b="1" u="sng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95575" y="5094789"/>
            <a:ext cx="1512000" cy="46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Triangulaire à sommet supérieur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825594" y="629490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4564" y="3630619"/>
            <a:ext cx="12362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Toucher rectal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0381" y="3642954"/>
            <a:ext cx="83080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dirty="0"/>
              <a:t>Testicule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95295" y="3779766"/>
            <a:ext cx="298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2" name="Rectangle 101"/>
          <p:cNvSpPr/>
          <p:nvPr/>
        </p:nvSpPr>
        <p:spPr>
          <a:xfrm>
            <a:off x="3290937" y="4359254"/>
            <a:ext cx="2988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3" name="Rectangle 102"/>
          <p:cNvSpPr/>
          <p:nvPr/>
        </p:nvSpPr>
        <p:spPr>
          <a:xfrm>
            <a:off x="2382073" y="389490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Prostate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929542" y="3815295"/>
            <a:ext cx="367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7" name="Rectangle 106"/>
          <p:cNvSpPr/>
          <p:nvPr/>
        </p:nvSpPr>
        <p:spPr>
          <a:xfrm>
            <a:off x="7938065" y="4369981"/>
            <a:ext cx="3672000" cy="50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1400" dirty="0"/>
          </a:p>
        </p:txBody>
      </p:sp>
      <p:sp>
        <p:nvSpPr>
          <p:cNvPr id="108" name="Rectangle 107"/>
          <p:cNvSpPr/>
          <p:nvPr/>
        </p:nvSpPr>
        <p:spPr>
          <a:xfrm>
            <a:off x="2209238" y="39461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9" name="Rectangle 108"/>
          <p:cNvSpPr/>
          <p:nvPr/>
        </p:nvSpPr>
        <p:spPr>
          <a:xfrm>
            <a:off x="2392804" y="4433676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Rectum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19969" y="448494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Rectangle 110"/>
          <p:cNvSpPr/>
          <p:nvPr/>
        </p:nvSpPr>
        <p:spPr>
          <a:xfrm>
            <a:off x="7029206" y="3905638"/>
            <a:ext cx="1008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Epididyme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856371" y="395691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Rectangle 112"/>
          <p:cNvSpPr/>
          <p:nvPr/>
        </p:nvSpPr>
        <p:spPr>
          <a:xfrm>
            <a:off x="7027058" y="4444407"/>
            <a:ext cx="90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Cordon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54223" y="449568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Connecteur droit 5"/>
          <p:cNvCxnSpPr/>
          <p:nvPr/>
        </p:nvCxnSpPr>
        <p:spPr>
          <a:xfrm>
            <a:off x="1511626" y="2313404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6" name="Connecteur droit 115"/>
          <p:cNvCxnSpPr/>
          <p:nvPr/>
        </p:nvCxnSpPr>
        <p:spPr>
          <a:xfrm>
            <a:off x="1483720" y="3019598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9" name="Connecteur droit 118"/>
          <p:cNvCxnSpPr/>
          <p:nvPr/>
        </p:nvCxnSpPr>
        <p:spPr>
          <a:xfrm>
            <a:off x="1494451" y="3661395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0" name="Connecteur droit 119"/>
          <p:cNvCxnSpPr/>
          <p:nvPr/>
        </p:nvCxnSpPr>
        <p:spPr>
          <a:xfrm>
            <a:off x="1505182" y="4921379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1" name="Connecteur droit 120"/>
          <p:cNvCxnSpPr/>
          <p:nvPr/>
        </p:nvCxnSpPr>
        <p:spPr>
          <a:xfrm>
            <a:off x="1477276" y="5627570"/>
            <a:ext cx="10374084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3" name="Connecteur droit 122"/>
          <p:cNvCxnSpPr/>
          <p:nvPr/>
        </p:nvCxnSpPr>
        <p:spPr>
          <a:xfrm flipV="1">
            <a:off x="6593024" y="3655833"/>
            <a:ext cx="0" cy="259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8722220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36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v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asculaire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Vasculaire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Conclusion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12962773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37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n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eurologique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Neurologique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52689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38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Examen </a:t>
            </a:r>
            <a:r>
              <a:rPr lang="fr-FR" altLang="fr-FR" sz="1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osteo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-articulaire</a:t>
            </a:r>
            <a:endParaRPr lang="fr-FR" alt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7484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39504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22805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Osteo-articulaire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72189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39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Examens cliniques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Conclusion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2" y="784044"/>
            <a:ext cx="9936000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14072" y="1613727"/>
            <a:ext cx="9949518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533851" y="60885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Valider</a:t>
            </a:r>
            <a:endParaRPr lang="fr-FR" sz="1400" dirty="0" smtClean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1378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06199"/>
            <a:ext cx="15728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Examen clinique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9621" y="4553220"/>
            <a:ext cx="8162617" cy="197882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3" y="2260509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2817754" y="226315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7" name="Titre 1"/>
          <p:cNvSpPr txBox="1">
            <a:spLocks/>
          </p:cNvSpPr>
          <p:nvPr/>
        </p:nvSpPr>
        <p:spPr>
          <a:xfrm>
            <a:off x="2106581" y="17620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336370" y="228416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96032" y="2821789"/>
            <a:ext cx="720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Motif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817753" y="2816281"/>
            <a:ext cx="3567071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8" name="Rectangle 147"/>
          <p:cNvSpPr/>
          <p:nvPr/>
        </p:nvSpPr>
        <p:spPr>
          <a:xfrm>
            <a:off x="2842138" y="17754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5355022" y="1791117"/>
            <a:ext cx="1029803" cy="362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6371722" y="1793764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Triangle isocèle 55"/>
          <p:cNvSpPr/>
          <p:nvPr/>
        </p:nvSpPr>
        <p:spPr>
          <a:xfrm rot="10800000">
            <a:off x="7890338" y="1814772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4723622" y="214931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Consultation, Hospitalisation, Prise en charge </a:t>
            </a:r>
            <a:endParaRPr lang="fr-FR" sz="1400" b="1" dirty="0"/>
          </a:p>
        </p:txBody>
      </p:sp>
      <p:sp>
        <p:nvSpPr>
          <p:cNvPr id="58" name="Rectangle 57"/>
          <p:cNvSpPr/>
          <p:nvPr/>
        </p:nvSpPr>
        <p:spPr>
          <a:xfrm>
            <a:off x="569703" y="3900465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HDM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2528" y="3907093"/>
            <a:ext cx="82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Général</a:t>
            </a:r>
            <a:endParaRPr lang="fr-FR" sz="1400" dirty="0"/>
          </a:p>
        </p:txBody>
      </p:sp>
      <p:sp>
        <p:nvSpPr>
          <p:cNvPr id="60" name="Rectangle 59"/>
          <p:cNvSpPr/>
          <p:nvPr/>
        </p:nvSpPr>
        <p:spPr>
          <a:xfrm>
            <a:off x="2261316" y="3896829"/>
            <a:ext cx="16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Cervico-céphalique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7602" y="3902698"/>
            <a:ext cx="72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Thorax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61562" y="3907093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Abdomen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04707" y="3910274"/>
            <a:ext cx="79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Pelvien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0925" y="3903294"/>
            <a:ext cx="97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Vasculaire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7708465" y="3909163"/>
            <a:ext cx="126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Neurologique</a:t>
            </a:r>
            <a:endParaRPr lang="fr-FR" sz="1400" dirty="0"/>
          </a:p>
        </p:txBody>
      </p:sp>
      <p:sp>
        <p:nvSpPr>
          <p:cNvPr id="68" name="Rectangle 67"/>
          <p:cNvSpPr/>
          <p:nvPr/>
        </p:nvSpPr>
        <p:spPr>
          <a:xfrm>
            <a:off x="759591" y="4736521"/>
            <a:ext cx="7826621" cy="112705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9049585" y="3896208"/>
            <a:ext cx="147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Osteo-articulaire</a:t>
            </a:r>
            <a:endParaRPr lang="fr-FR" sz="1400" dirty="0"/>
          </a:p>
        </p:txBody>
      </p:sp>
      <p:sp>
        <p:nvSpPr>
          <p:cNvPr id="72" name="Rectangle 71"/>
          <p:cNvSpPr/>
          <p:nvPr/>
        </p:nvSpPr>
        <p:spPr>
          <a:xfrm>
            <a:off x="10592635" y="3909163"/>
            <a:ext cx="126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76679328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40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Fiche suivi des évolutions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01193" y="2038730"/>
            <a:ext cx="8105810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7385864" y="5792350"/>
            <a:ext cx="2621138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Imprimer l’état </a:t>
            </a:r>
            <a:r>
              <a:rPr lang="fr-FR" sz="1400" dirty="0" smtClean="0"/>
              <a:t>récapitulatif 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19078"/>
            <a:ext cx="234416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/>
              <a:t>Fiche suivi des évolutions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80783" y="2247629"/>
            <a:ext cx="111045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Type du suivi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191240" y="22502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709856" y="2271284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83153" y="3246792"/>
            <a:ext cx="1068906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Observation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3191239" y="3241284"/>
            <a:ext cx="5463364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Titre 1"/>
          <p:cNvSpPr txBox="1">
            <a:spLocks/>
          </p:cNvSpPr>
          <p:nvPr/>
        </p:nvSpPr>
        <p:spPr>
          <a:xfrm>
            <a:off x="5097108" y="2136432"/>
            <a:ext cx="4023137" cy="590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Type : </a:t>
            </a:r>
            <a:r>
              <a:rPr lang="fr-FR" sz="1400" dirty="0" smtClean="0"/>
              <a:t>évolution, compte rendu opératoire</a:t>
            </a:r>
            <a:endParaRPr lang="fr-FR" sz="1400" b="1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093702" y="2740875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3215624" y="2754276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8871104" y="3703824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5253304" y="453646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Observation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4291244" y="5111943"/>
            <a:ext cx="2891146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363784" y="451660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8888284" y="4549338"/>
            <a:ext cx="1080081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050138" y="511694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1915185" y="4471838"/>
            <a:ext cx="8091818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385864" y="4551761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4056179" y="447183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7359607" y="449088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8837729" y="449088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916250" y="4985002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589" y="5121632"/>
            <a:ext cx="355221" cy="360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446" y="510761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10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41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des observations cliniques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845294" y="2090351"/>
            <a:ext cx="8105810" cy="129504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 129"/>
          <p:cNvSpPr/>
          <p:nvPr/>
        </p:nvSpPr>
        <p:spPr>
          <a:xfrm>
            <a:off x="8854056" y="491658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19078"/>
            <a:ext cx="335335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Historique des observations cliniques</a:t>
            </a:r>
            <a:endParaRPr lang="fr-FR" sz="1600" b="1" u="sng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1860955" y="2527282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Période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209549" y="2494415"/>
            <a:ext cx="144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4633166" y="2512695"/>
            <a:ext cx="540000" cy="36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</a:t>
            </a:r>
            <a:endParaRPr lang="fr-F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2751289" y="2400862"/>
            <a:ext cx="3960000" cy="576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lt1"/>
              </a:solidFill>
            </a:endParaRPr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673246" y="2509060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Du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5178784" y="2496545"/>
            <a:ext cx="144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7065158" y="261686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4068443" y="3673574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Médecin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3788965" y="4236178"/>
            <a:ext cx="162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119085" y="3653722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8823889" y="3673573"/>
            <a:ext cx="1080081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1985743" y="4241180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1850790" y="3596073"/>
            <a:ext cx="8091818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7321469" y="3675996"/>
            <a:ext cx="14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3618293" y="359607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5595203" y="360224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8773334" y="360224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851855" y="4109237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194" y="4245867"/>
            <a:ext cx="355221" cy="360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051" y="4231847"/>
            <a:ext cx="360000" cy="360000"/>
          </a:xfrm>
          <a:prstGeom prst="rect">
            <a:avLst/>
          </a:prstGeom>
        </p:spPr>
      </p:pic>
      <p:cxnSp>
        <p:nvCxnSpPr>
          <p:cNvPr id="45" name="Connecteur droit 44"/>
          <p:cNvCxnSpPr/>
          <p:nvPr/>
        </p:nvCxnSpPr>
        <p:spPr>
          <a:xfrm>
            <a:off x="7318823" y="35872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itre 1"/>
          <p:cNvSpPr txBox="1">
            <a:spLocks/>
          </p:cNvSpPr>
          <p:nvPr/>
        </p:nvSpPr>
        <p:spPr>
          <a:xfrm>
            <a:off x="5985251" y="3671426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À dupliquer</a:t>
            </a:r>
            <a:endParaRPr lang="fr-FR" sz="1400" dirty="0"/>
          </a:p>
        </p:txBody>
      </p:sp>
      <p:sp>
        <p:nvSpPr>
          <p:cNvPr id="51" name="Rectangle 50"/>
          <p:cNvSpPr/>
          <p:nvPr/>
        </p:nvSpPr>
        <p:spPr>
          <a:xfrm>
            <a:off x="5744410" y="4246909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603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42 – Observations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Fiche suivi patient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2476364" y="2090351"/>
            <a:ext cx="4680000" cy="129504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1619078"/>
            <a:ext cx="17693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u="sng" dirty="0" smtClean="0"/>
              <a:t>Fiche suivi patient</a:t>
            </a:r>
            <a:endParaRPr lang="fr-FR" sz="1600" b="1" u="sng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3123084" y="2359855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Mois de 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982276" y="2326988"/>
            <a:ext cx="144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4180287" y="2835805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</a:t>
            </a:r>
          </a:p>
        </p:txBody>
      </p:sp>
    </p:spTree>
    <p:extLst>
      <p:ext uri="{BB962C8B-B14F-4D97-AF65-F5344CB8AC3E}">
        <p14:creationId xmlns:p14="http://schemas.microsoft.com/office/powerpoint/2010/main" val="425903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43 – Spécialités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Consultation / Demandes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52709" y="2077367"/>
            <a:ext cx="8962476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2044085"/>
            <a:ext cx="15296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b="1" u="sng" dirty="0"/>
              <a:t>Demande de consultation spécialisée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132299" y="2286266"/>
            <a:ext cx="111045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242756" y="228891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761372" y="2309921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134669" y="3285429"/>
            <a:ext cx="1068906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Motif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242755" y="3279921"/>
            <a:ext cx="5463364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145218" y="2779512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3267140" y="279291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8922620" y="374246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4291154" y="45381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4291244" y="5111943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363784" y="451660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9944354" y="4562217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050138" y="511694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1915185" y="4471838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8119959" y="4551761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4056179" y="447183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5608083" y="449088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Connecteur droit 79"/>
          <p:cNvCxnSpPr/>
          <p:nvPr/>
        </p:nvCxnSpPr>
        <p:spPr>
          <a:xfrm>
            <a:off x="9019896" y="446298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916250" y="4985002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78" y="5057327"/>
            <a:ext cx="461787" cy="468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1605" y="5081854"/>
            <a:ext cx="468000" cy="4680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6498542" y="4583259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Motif</a:t>
            </a:r>
          </a:p>
        </p:txBody>
      </p:sp>
      <p:cxnSp>
        <p:nvCxnSpPr>
          <p:cNvPr id="49" name="Connecteur droit 48"/>
          <p:cNvCxnSpPr/>
          <p:nvPr/>
        </p:nvCxnSpPr>
        <p:spPr>
          <a:xfrm>
            <a:off x="8094880" y="446298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angle 50"/>
          <p:cNvSpPr/>
          <p:nvPr/>
        </p:nvSpPr>
        <p:spPr>
          <a:xfrm>
            <a:off x="5795748" y="5127676"/>
            <a:ext cx="216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3" name="Connecteur droit 52"/>
          <p:cNvCxnSpPr/>
          <p:nvPr/>
        </p:nvCxnSpPr>
        <p:spPr>
          <a:xfrm>
            <a:off x="9932899" y="446298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Titre 1"/>
          <p:cNvSpPr txBox="1">
            <a:spLocks/>
          </p:cNvSpPr>
          <p:nvPr/>
        </p:nvSpPr>
        <p:spPr>
          <a:xfrm>
            <a:off x="9032899" y="4553097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7" name="Rectangle 6"/>
          <p:cNvSpPr/>
          <p:nvPr/>
        </p:nvSpPr>
        <p:spPr>
          <a:xfrm>
            <a:off x="145418" y="6368096"/>
            <a:ext cx="872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 tableau est dynamique, il s’affiche a chaque fois on </a:t>
            </a:r>
            <a:r>
              <a:rPr lang="fr-FR" dirty="0"/>
              <a:t>ajoutent </a:t>
            </a:r>
            <a:r>
              <a:rPr lang="fr-FR" dirty="0" smtClean="0"/>
              <a:t>des spécialités médicales.</a:t>
            </a:r>
            <a:endParaRPr lang="fr-FR" dirty="0"/>
          </a:p>
        </p:txBody>
      </p:sp>
      <p:sp>
        <p:nvSpPr>
          <p:cNvPr id="55" name="Rectangle 54"/>
          <p:cNvSpPr/>
          <p:nvPr/>
        </p:nvSpPr>
        <p:spPr>
          <a:xfrm>
            <a:off x="1960621" y="1633784"/>
            <a:ext cx="1030986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Demandes</a:t>
            </a:r>
            <a:endParaRPr lang="fr-FR" sz="1400" dirty="0"/>
          </a:p>
        </p:txBody>
      </p:sp>
      <p:sp>
        <p:nvSpPr>
          <p:cNvPr id="56" name="Rectangle 55"/>
          <p:cNvSpPr/>
          <p:nvPr/>
        </p:nvSpPr>
        <p:spPr>
          <a:xfrm>
            <a:off x="3022137" y="1640378"/>
            <a:ext cx="1332886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Compte rendu</a:t>
            </a:r>
            <a:endParaRPr lang="fr-FR" sz="1400" dirty="0"/>
          </a:p>
        </p:txBody>
      </p:sp>
      <p:pic>
        <p:nvPicPr>
          <p:cNvPr id="57" name="Image 5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1293" y="504610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6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44 – Spécialités médicales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Consultation / Compte rendu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2" y="689428"/>
            <a:ext cx="11758269" cy="604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1964661" y="853386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355023" y="840281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182390" y="859793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152059" y="898412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326245" y="853688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7736488" y="905040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1914071" y="784044"/>
            <a:ext cx="8092931" cy="53385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 126"/>
          <p:cNvSpPr/>
          <p:nvPr/>
        </p:nvSpPr>
        <p:spPr>
          <a:xfrm>
            <a:off x="1952709" y="2077367"/>
            <a:ext cx="8028000" cy="215360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345444" y="924164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434893" y="907746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099371" y="900908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7785158" y="932612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700949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2825" y="2044085"/>
            <a:ext cx="15296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600" b="1" u="sng" dirty="0" smtClean="0"/>
              <a:t>Compte rendu</a:t>
            </a:r>
            <a:endParaRPr lang="fr-FR" sz="1600" b="1" u="sng" dirty="0"/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2093662" y="2286266"/>
            <a:ext cx="111045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114" name="Rectangle 113"/>
          <p:cNvSpPr/>
          <p:nvPr/>
        </p:nvSpPr>
        <p:spPr>
          <a:xfrm>
            <a:off x="3242756" y="228891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riangle isocèle 117"/>
          <p:cNvSpPr/>
          <p:nvPr/>
        </p:nvSpPr>
        <p:spPr>
          <a:xfrm rot="10800000">
            <a:off x="4761372" y="2309921"/>
            <a:ext cx="252000" cy="322745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 121"/>
          <p:cNvSpPr/>
          <p:nvPr/>
        </p:nvSpPr>
        <p:spPr>
          <a:xfrm>
            <a:off x="2057395" y="3285429"/>
            <a:ext cx="11880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Commentaire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3242755" y="3279921"/>
            <a:ext cx="5285733" cy="82998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2080823" y="2792391"/>
            <a:ext cx="720000" cy="383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47" name="Rectangle 46"/>
          <p:cNvSpPr/>
          <p:nvPr/>
        </p:nvSpPr>
        <p:spPr>
          <a:xfrm>
            <a:off x="3267140" y="2792913"/>
            <a:ext cx="180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 47"/>
          <p:cNvSpPr/>
          <p:nvPr/>
        </p:nvSpPr>
        <p:spPr>
          <a:xfrm>
            <a:off x="8703677" y="3729582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0" name="Titre 1"/>
          <p:cNvSpPr txBox="1">
            <a:spLocks/>
          </p:cNvSpPr>
          <p:nvPr/>
        </p:nvSpPr>
        <p:spPr>
          <a:xfrm>
            <a:off x="4291154" y="453812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</a:t>
            </a:r>
            <a:endParaRPr lang="fr-FR" sz="1400" dirty="0"/>
          </a:p>
        </p:txBody>
      </p:sp>
      <p:sp>
        <p:nvSpPr>
          <p:cNvPr id="52" name="Rectangle 51"/>
          <p:cNvSpPr/>
          <p:nvPr/>
        </p:nvSpPr>
        <p:spPr>
          <a:xfrm>
            <a:off x="4291244" y="5111943"/>
            <a:ext cx="108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Titre 1"/>
          <p:cNvSpPr txBox="1">
            <a:spLocks/>
          </p:cNvSpPr>
          <p:nvPr/>
        </p:nvSpPr>
        <p:spPr>
          <a:xfrm>
            <a:off x="2363784" y="451660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Spécialité</a:t>
            </a:r>
            <a:endParaRPr lang="fr-FR" sz="1400" dirty="0"/>
          </a:p>
        </p:txBody>
      </p:sp>
      <p:sp>
        <p:nvSpPr>
          <p:cNvPr id="69" name="Rectangle 68"/>
          <p:cNvSpPr/>
          <p:nvPr/>
        </p:nvSpPr>
        <p:spPr>
          <a:xfrm>
            <a:off x="9029953" y="4562217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050138" y="511694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1915185" y="4471838"/>
            <a:ext cx="8064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8119959" y="4551761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cxnSp>
        <p:nvCxnSpPr>
          <p:cNvPr id="78" name="Connecteur droit 77"/>
          <p:cNvCxnSpPr/>
          <p:nvPr/>
        </p:nvCxnSpPr>
        <p:spPr>
          <a:xfrm>
            <a:off x="4056179" y="447183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9" name="Connecteur droit 78"/>
          <p:cNvCxnSpPr/>
          <p:nvPr/>
        </p:nvCxnSpPr>
        <p:spPr>
          <a:xfrm>
            <a:off x="5608083" y="449088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0" name="Connecteur droit 89"/>
          <p:cNvCxnSpPr/>
          <p:nvPr/>
        </p:nvCxnSpPr>
        <p:spPr>
          <a:xfrm>
            <a:off x="1916250" y="4985002"/>
            <a:ext cx="806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078" y="5057327"/>
            <a:ext cx="461787" cy="468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204" y="5081854"/>
            <a:ext cx="468000" cy="4680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6240962" y="4583259"/>
            <a:ext cx="12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Commentaire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cxnSp>
        <p:nvCxnSpPr>
          <p:cNvPr id="49" name="Connecteur droit 48"/>
          <p:cNvCxnSpPr/>
          <p:nvPr/>
        </p:nvCxnSpPr>
        <p:spPr>
          <a:xfrm>
            <a:off x="8094880" y="4462983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Rectangle 50"/>
          <p:cNvSpPr/>
          <p:nvPr/>
        </p:nvSpPr>
        <p:spPr>
          <a:xfrm>
            <a:off x="5795748" y="5127676"/>
            <a:ext cx="216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145418" y="6368096"/>
            <a:ext cx="8725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Cet tableau est dynamique, il s’affiche a chaque fois on </a:t>
            </a:r>
            <a:r>
              <a:rPr lang="fr-FR" dirty="0"/>
              <a:t>ajoutent </a:t>
            </a:r>
            <a:r>
              <a:rPr lang="fr-FR" dirty="0" smtClean="0"/>
              <a:t>des spécialités médicales.</a:t>
            </a:r>
            <a:endParaRPr lang="fr-FR" dirty="0"/>
          </a:p>
        </p:txBody>
      </p:sp>
      <p:sp>
        <p:nvSpPr>
          <p:cNvPr id="55" name="Rectangle 54"/>
          <p:cNvSpPr/>
          <p:nvPr/>
        </p:nvSpPr>
        <p:spPr>
          <a:xfrm>
            <a:off x="1960621" y="1633784"/>
            <a:ext cx="1030986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22137" y="1640378"/>
            <a:ext cx="1332886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Compte rendu</a:t>
            </a:r>
          </a:p>
        </p:txBody>
      </p:sp>
      <p:cxnSp>
        <p:nvCxnSpPr>
          <p:cNvPr id="57" name="Connecteur droit 56"/>
          <p:cNvCxnSpPr/>
          <p:nvPr/>
        </p:nvCxnSpPr>
        <p:spPr>
          <a:xfrm>
            <a:off x="9020011" y="4473714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8" name="Rectangle 57"/>
          <p:cNvSpPr/>
          <p:nvPr/>
        </p:nvSpPr>
        <p:spPr>
          <a:xfrm>
            <a:off x="7785158" y="5775178"/>
            <a:ext cx="2202435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état récapitulatif</a:t>
            </a:r>
          </a:p>
        </p:txBody>
      </p:sp>
    </p:spTree>
    <p:extLst>
      <p:ext uri="{BB962C8B-B14F-4D97-AF65-F5344CB8AC3E}">
        <p14:creationId xmlns:p14="http://schemas.microsoft.com/office/powerpoint/2010/main" val="1134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45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Demandées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ea typeface="Microsoft YaHei" panose="020B0503020204020204" pitchFamily="3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115" name="Rectangle 114"/>
          <p:cNvSpPr/>
          <p:nvPr/>
        </p:nvSpPr>
        <p:spPr>
          <a:xfrm>
            <a:off x="265576" y="1571597"/>
            <a:ext cx="10617072" cy="392768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9" name="Titre 1"/>
          <p:cNvSpPr txBox="1">
            <a:spLocks/>
          </p:cNvSpPr>
          <p:nvPr/>
        </p:nvSpPr>
        <p:spPr>
          <a:xfrm>
            <a:off x="470926" y="1986558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120" name="Rectangle 119"/>
          <p:cNvSpPr/>
          <p:nvPr/>
        </p:nvSpPr>
        <p:spPr>
          <a:xfrm>
            <a:off x="1536042" y="2022208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Titre 1"/>
          <p:cNvSpPr txBox="1">
            <a:spLocks/>
          </p:cNvSpPr>
          <p:nvPr/>
        </p:nvSpPr>
        <p:spPr>
          <a:xfrm>
            <a:off x="483844" y="1604035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Demandeur</a:t>
            </a:r>
            <a:endParaRPr lang="fr-FR" sz="1400" dirty="0"/>
          </a:p>
        </p:txBody>
      </p:sp>
      <p:sp>
        <p:nvSpPr>
          <p:cNvPr id="123" name="Triangle isocèle 122"/>
          <p:cNvSpPr/>
          <p:nvPr/>
        </p:nvSpPr>
        <p:spPr>
          <a:xfrm rot="10800000">
            <a:off x="3133366" y="2036686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 123"/>
          <p:cNvSpPr/>
          <p:nvPr/>
        </p:nvSpPr>
        <p:spPr>
          <a:xfrm>
            <a:off x="447537" y="2496322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541376" y="164319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Titre 1"/>
          <p:cNvSpPr txBox="1">
            <a:spLocks/>
          </p:cNvSpPr>
          <p:nvPr/>
        </p:nvSpPr>
        <p:spPr>
          <a:xfrm>
            <a:off x="770144" y="3230063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Bilan standard</a:t>
            </a:r>
            <a:endParaRPr lang="fr-FR" sz="1400" b="1" dirty="0"/>
          </a:p>
        </p:txBody>
      </p:sp>
      <p:sp>
        <p:nvSpPr>
          <p:cNvPr id="130" name="Rectangle 129"/>
          <p:cNvSpPr/>
          <p:nvPr/>
        </p:nvSpPr>
        <p:spPr>
          <a:xfrm>
            <a:off x="1542144" y="2485731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1" name="Triangle isocèle 130"/>
          <p:cNvSpPr/>
          <p:nvPr/>
        </p:nvSpPr>
        <p:spPr>
          <a:xfrm rot="10800000">
            <a:off x="3145639" y="2500209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Triangle isocèle 132"/>
          <p:cNvSpPr/>
          <p:nvPr/>
        </p:nvSpPr>
        <p:spPr>
          <a:xfrm rot="10800000">
            <a:off x="3131218" y="1661053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50216" y="3298818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4" name="Rectangle 133"/>
          <p:cNvSpPr/>
          <p:nvPr/>
        </p:nvSpPr>
        <p:spPr>
          <a:xfrm>
            <a:off x="458268" y="2932054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À faire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35" name="Rectangle 134"/>
          <p:cNvSpPr/>
          <p:nvPr/>
        </p:nvSpPr>
        <p:spPr>
          <a:xfrm>
            <a:off x="1552875" y="2921463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Triangle isocèle 135"/>
          <p:cNvSpPr/>
          <p:nvPr/>
        </p:nvSpPr>
        <p:spPr>
          <a:xfrm rot="10800000">
            <a:off x="3156370" y="2935941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Rectangle 136"/>
          <p:cNvSpPr/>
          <p:nvPr/>
        </p:nvSpPr>
        <p:spPr>
          <a:xfrm>
            <a:off x="483844" y="3576017"/>
            <a:ext cx="9149093" cy="1807618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889481" y="3626189"/>
            <a:ext cx="151227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Anticorps anti HBS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733" y="3943540"/>
            <a:ext cx="1529906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Anticorps anti HCV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733" y="4221995"/>
            <a:ext cx="1895391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Anticorps anti HIV (1+2)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224" y="4505881"/>
            <a:ext cx="92570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Créatinine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612" y="4787746"/>
            <a:ext cx="2044727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CRP = C-Réactive Protéine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46645" y="3634104"/>
            <a:ext cx="463588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FNS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1107" y="3928848"/>
            <a:ext cx="849335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Glycémie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59524" y="4223226"/>
            <a:ext cx="2606739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Groupage sanguin ABO /Rhésus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70577" y="4503597"/>
            <a:ext cx="43794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INR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344" y="4780455"/>
            <a:ext cx="1707199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Ionogramme sanguin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2794" y="3603912"/>
            <a:ext cx="83965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TCA /TCK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25673" y="3904018"/>
            <a:ext cx="1316899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Temps de Quick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25686" y="4199484"/>
            <a:ext cx="362600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TP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40365" y="4465835"/>
            <a:ext cx="91108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Troponine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24269" y="4753857"/>
            <a:ext cx="1220783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Urée sanguine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012" y="5033876"/>
            <a:ext cx="2299925" cy="324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VS (vitesse de sédimentation)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89737" y="3695919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3" name="Rectangle 152"/>
          <p:cNvSpPr/>
          <p:nvPr/>
        </p:nvSpPr>
        <p:spPr>
          <a:xfrm>
            <a:off x="7127035" y="5097563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4" name="Rectangle 153"/>
          <p:cNvSpPr/>
          <p:nvPr/>
        </p:nvSpPr>
        <p:spPr>
          <a:xfrm>
            <a:off x="698320" y="400071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5" name="Rectangle 154"/>
          <p:cNvSpPr/>
          <p:nvPr/>
        </p:nvSpPr>
        <p:spPr>
          <a:xfrm>
            <a:off x="696175" y="429478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6" name="Rectangle 155"/>
          <p:cNvSpPr/>
          <p:nvPr/>
        </p:nvSpPr>
        <p:spPr>
          <a:xfrm>
            <a:off x="694027" y="4575968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Rectangle 156"/>
          <p:cNvSpPr/>
          <p:nvPr/>
        </p:nvSpPr>
        <p:spPr>
          <a:xfrm>
            <a:off x="691883" y="4844274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8" name="Rectangle 157"/>
          <p:cNvSpPr/>
          <p:nvPr/>
        </p:nvSpPr>
        <p:spPr>
          <a:xfrm>
            <a:off x="3855795" y="3693771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1" name="Rectangle 190"/>
          <p:cNvSpPr/>
          <p:nvPr/>
        </p:nvSpPr>
        <p:spPr>
          <a:xfrm>
            <a:off x="3864378" y="399857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2" name="Rectangle 191"/>
          <p:cNvSpPr/>
          <p:nvPr/>
        </p:nvSpPr>
        <p:spPr>
          <a:xfrm>
            <a:off x="3862233" y="429264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3" name="Rectangle 192"/>
          <p:cNvSpPr/>
          <p:nvPr/>
        </p:nvSpPr>
        <p:spPr>
          <a:xfrm>
            <a:off x="3860085" y="457382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4" name="Rectangle 193"/>
          <p:cNvSpPr/>
          <p:nvPr/>
        </p:nvSpPr>
        <p:spPr>
          <a:xfrm>
            <a:off x="3857941" y="4842126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Rectangle 194"/>
          <p:cNvSpPr/>
          <p:nvPr/>
        </p:nvSpPr>
        <p:spPr>
          <a:xfrm>
            <a:off x="7124887" y="3665865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6" name="Rectangle 195"/>
          <p:cNvSpPr/>
          <p:nvPr/>
        </p:nvSpPr>
        <p:spPr>
          <a:xfrm>
            <a:off x="7120591" y="3970664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7" name="Rectangle 196"/>
          <p:cNvSpPr/>
          <p:nvPr/>
        </p:nvSpPr>
        <p:spPr>
          <a:xfrm>
            <a:off x="7118446" y="4264734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8" name="Rectangle 197"/>
          <p:cNvSpPr/>
          <p:nvPr/>
        </p:nvSpPr>
        <p:spPr>
          <a:xfrm>
            <a:off x="7116298" y="4545914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9" name="Rectangle 198"/>
          <p:cNvSpPr/>
          <p:nvPr/>
        </p:nvSpPr>
        <p:spPr>
          <a:xfrm>
            <a:off x="7114154" y="4814220"/>
            <a:ext cx="180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0" name="Titre 1"/>
          <p:cNvSpPr txBox="1">
            <a:spLocks/>
          </p:cNvSpPr>
          <p:nvPr/>
        </p:nvSpPr>
        <p:spPr>
          <a:xfrm>
            <a:off x="3392322" y="1614766"/>
            <a:ext cx="271226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Demandeur</a:t>
            </a:r>
            <a:r>
              <a:rPr lang="fr-FR" sz="1400" dirty="0" smtClean="0"/>
              <a:t> : médecin demandeur</a:t>
            </a:r>
            <a:endParaRPr lang="fr-FR" sz="1400" dirty="0"/>
          </a:p>
        </p:txBody>
      </p:sp>
      <p:sp>
        <p:nvSpPr>
          <p:cNvPr id="201" name="Titre 1"/>
          <p:cNvSpPr txBox="1">
            <a:spLocks/>
          </p:cNvSpPr>
          <p:nvPr/>
        </p:nvSpPr>
        <p:spPr>
          <a:xfrm>
            <a:off x="3418043" y="1984410"/>
            <a:ext cx="660808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Famille</a:t>
            </a:r>
            <a:r>
              <a:rPr lang="fr-FR" sz="1400" dirty="0" smtClean="0"/>
              <a:t> : famille des analyses biologique, chaque famille ayant des groupes des analyses</a:t>
            </a:r>
            <a:endParaRPr lang="fr-FR" sz="1400" dirty="0"/>
          </a:p>
        </p:txBody>
      </p:sp>
      <p:sp>
        <p:nvSpPr>
          <p:cNvPr id="202" name="Rectangle 201"/>
          <p:cNvSpPr/>
          <p:nvPr/>
        </p:nvSpPr>
        <p:spPr>
          <a:xfrm>
            <a:off x="3446168" y="2435549"/>
            <a:ext cx="3168361" cy="386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Groupe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 : groupe des analyse biologique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3482658" y="2891269"/>
            <a:ext cx="3904821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À faire </a:t>
            </a:r>
            <a:r>
              <a:rPr lang="fr-FR" sz="1400" dirty="0" smtClean="0">
                <a:latin typeface="+mj-lt"/>
                <a:ea typeface="+mj-ea"/>
                <a:cs typeface="+mj-cs"/>
              </a:rPr>
              <a:t>: choix de faire les analyses, interne, externe 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204" name="Rectangle 203"/>
          <p:cNvSpPr/>
          <p:nvPr/>
        </p:nvSpPr>
        <p:spPr>
          <a:xfrm>
            <a:off x="9706522" y="5004481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207" name="Titre 1"/>
          <p:cNvSpPr txBox="1">
            <a:spLocks/>
          </p:cNvSpPr>
          <p:nvPr/>
        </p:nvSpPr>
        <p:spPr>
          <a:xfrm>
            <a:off x="496349" y="5637071"/>
            <a:ext cx="2046077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/>
              <a:t>Exploration </a:t>
            </a:r>
            <a:r>
              <a:rPr lang="fr-FR" sz="1400" dirty="0" smtClean="0"/>
              <a:t>demandées </a:t>
            </a:r>
            <a:endParaRPr lang="fr-FR" sz="1400" dirty="0"/>
          </a:p>
        </p:txBody>
      </p:sp>
      <p:sp>
        <p:nvSpPr>
          <p:cNvPr id="208" name="Rectangle 207"/>
          <p:cNvSpPr/>
          <p:nvPr/>
        </p:nvSpPr>
        <p:spPr>
          <a:xfrm>
            <a:off x="8154186" y="5682680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0" name="Rectangle 209"/>
          <p:cNvSpPr/>
          <p:nvPr/>
        </p:nvSpPr>
        <p:spPr>
          <a:xfrm>
            <a:off x="305329" y="5592301"/>
            <a:ext cx="9324000" cy="977304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14" name="Connecteur droit 213"/>
          <p:cNvCxnSpPr/>
          <p:nvPr/>
        </p:nvCxnSpPr>
        <p:spPr>
          <a:xfrm>
            <a:off x="306388" y="6041070"/>
            <a:ext cx="932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16" name="Image 2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198" y="6073527"/>
            <a:ext cx="468000" cy="468000"/>
          </a:xfrm>
          <a:prstGeom prst="rect">
            <a:avLst/>
          </a:prstGeom>
        </p:spPr>
      </p:pic>
      <p:cxnSp>
        <p:nvCxnSpPr>
          <p:cNvPr id="218" name="Connecteur droit 217"/>
          <p:cNvCxnSpPr/>
          <p:nvPr/>
        </p:nvCxnSpPr>
        <p:spPr>
          <a:xfrm flipH="1">
            <a:off x="7697549" y="5583446"/>
            <a:ext cx="0" cy="986159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9" name="Rectangle 218"/>
          <p:cNvSpPr/>
          <p:nvPr/>
        </p:nvSpPr>
        <p:spPr>
          <a:xfrm>
            <a:off x="669700" y="6173635"/>
            <a:ext cx="6948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1" name="Rectangle 220"/>
          <p:cNvSpPr/>
          <p:nvPr/>
        </p:nvSpPr>
        <p:spPr>
          <a:xfrm>
            <a:off x="9706522" y="6328916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89" name="Titre 1"/>
          <p:cNvSpPr txBox="1">
            <a:spLocks/>
          </p:cNvSpPr>
          <p:nvPr/>
        </p:nvSpPr>
        <p:spPr>
          <a:xfrm>
            <a:off x="7658206" y="2893067"/>
            <a:ext cx="126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À prélever</a:t>
            </a:r>
            <a:endParaRPr lang="fr-FR" sz="1400" dirty="0"/>
          </a:p>
        </p:txBody>
      </p:sp>
      <p:sp>
        <p:nvSpPr>
          <p:cNvPr id="90" name="Rectangle 89"/>
          <p:cNvSpPr/>
          <p:nvPr/>
        </p:nvSpPr>
        <p:spPr>
          <a:xfrm>
            <a:off x="7438278" y="2961822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" name="Connecteur droit avec flèche 2"/>
          <p:cNvCxnSpPr/>
          <p:nvPr/>
        </p:nvCxnSpPr>
        <p:spPr>
          <a:xfrm flipV="1">
            <a:off x="10277341" y="5834130"/>
            <a:ext cx="605307" cy="494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itre 1"/>
          <p:cNvSpPr txBox="1">
            <a:spLocks/>
          </p:cNvSpPr>
          <p:nvPr/>
        </p:nvSpPr>
        <p:spPr>
          <a:xfrm>
            <a:off x="9973068" y="5519012"/>
            <a:ext cx="2046077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 un fichier PDF</a:t>
            </a:r>
            <a:endParaRPr lang="fr-FR" sz="1400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2123380" y="3215036"/>
            <a:ext cx="875927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Le </a:t>
            </a:r>
            <a:r>
              <a:rPr lang="fr-FR" sz="1400" b="1" dirty="0" smtClean="0"/>
              <a:t>Bilan standard </a:t>
            </a:r>
            <a:r>
              <a:rPr lang="fr-FR" sz="1400" dirty="0" smtClean="0"/>
              <a:t>c’est un choix, le demandeur peut sélectionner un analyse biologique ou bien choisir le bilan standard</a:t>
            </a:r>
            <a:endParaRPr lang="fr-FR" sz="1400" b="1" dirty="0"/>
          </a:p>
        </p:txBody>
      </p:sp>
      <p:sp>
        <p:nvSpPr>
          <p:cNvPr id="102" name="Titre 1"/>
          <p:cNvSpPr txBox="1">
            <a:spLocks/>
          </p:cNvSpPr>
          <p:nvPr/>
        </p:nvSpPr>
        <p:spPr>
          <a:xfrm>
            <a:off x="203350" y="6595364"/>
            <a:ext cx="3243932" cy="2150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tableau c’est un tableau dynamique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6993790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46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Historique demandes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260844" y="1794918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 / Groupe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1333474" y="1773405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demande</a:t>
            </a:r>
            <a:endParaRPr lang="fr-FR" sz="1400" dirty="0"/>
          </a:p>
        </p:txBody>
      </p:sp>
      <p:sp>
        <p:nvSpPr>
          <p:cNvPr id="104" name="Rectangle 103"/>
          <p:cNvSpPr/>
          <p:nvPr/>
        </p:nvSpPr>
        <p:spPr>
          <a:xfrm>
            <a:off x="8141309" y="1844772"/>
            <a:ext cx="972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Supprimer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19828" y="2373742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884875" y="1728635"/>
            <a:ext cx="828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3025869" y="1728635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7216851" y="1719780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885940" y="2241799"/>
            <a:ext cx="828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13" name="Image 1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560" y="2338651"/>
            <a:ext cx="468000" cy="468000"/>
          </a:xfrm>
          <a:prstGeom prst="rect">
            <a:avLst/>
          </a:prstGeom>
        </p:spPr>
      </p:pic>
      <p:sp>
        <p:nvSpPr>
          <p:cNvPr id="117" name="Rectangle 116"/>
          <p:cNvSpPr/>
          <p:nvPr/>
        </p:nvSpPr>
        <p:spPr>
          <a:xfrm>
            <a:off x="3347728" y="2357550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18" name="Connecteur droit 117"/>
          <p:cNvCxnSpPr/>
          <p:nvPr/>
        </p:nvCxnSpPr>
        <p:spPr>
          <a:xfrm>
            <a:off x="8129854" y="1719780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2" name="Titre 1"/>
          <p:cNvSpPr txBox="1">
            <a:spLocks/>
          </p:cNvSpPr>
          <p:nvPr/>
        </p:nvSpPr>
        <p:spPr>
          <a:xfrm>
            <a:off x="7229854" y="1784136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27" name="Titre 1"/>
          <p:cNvSpPr txBox="1">
            <a:spLocks/>
          </p:cNvSpPr>
          <p:nvPr/>
        </p:nvSpPr>
        <p:spPr>
          <a:xfrm>
            <a:off x="203350" y="6450372"/>
            <a:ext cx="324393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tableau c’est un tableau dynamique</a:t>
            </a:r>
            <a:endParaRPr lang="fr-FR" sz="1400" dirty="0"/>
          </a:p>
        </p:txBody>
      </p:sp>
      <p:pic>
        <p:nvPicPr>
          <p:cNvPr id="42" name="Image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10" y="234153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687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47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Saisie résultats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101" name="Titre 1"/>
          <p:cNvSpPr txBox="1">
            <a:spLocks/>
          </p:cNvSpPr>
          <p:nvPr/>
        </p:nvSpPr>
        <p:spPr>
          <a:xfrm>
            <a:off x="3260844" y="2657804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Résultats d’analyse</a:t>
            </a:r>
            <a:endParaRPr lang="fr-FR" sz="1400" dirty="0"/>
          </a:p>
        </p:txBody>
      </p:sp>
      <p:sp>
        <p:nvSpPr>
          <p:cNvPr id="103" name="Titre 1"/>
          <p:cNvSpPr txBox="1">
            <a:spLocks/>
          </p:cNvSpPr>
          <p:nvPr/>
        </p:nvSpPr>
        <p:spPr>
          <a:xfrm>
            <a:off x="1333474" y="2636291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106" name="Rectangle 105"/>
          <p:cNvSpPr/>
          <p:nvPr/>
        </p:nvSpPr>
        <p:spPr>
          <a:xfrm>
            <a:off x="884875" y="2591521"/>
            <a:ext cx="6156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3025869" y="2591521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0" name="Connecteur droit 109"/>
          <p:cNvCxnSpPr/>
          <p:nvPr/>
        </p:nvCxnSpPr>
        <p:spPr>
          <a:xfrm>
            <a:off x="5078957" y="2582666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1" name="Connecteur droit 110"/>
          <p:cNvCxnSpPr/>
          <p:nvPr/>
        </p:nvCxnSpPr>
        <p:spPr>
          <a:xfrm>
            <a:off x="885940" y="3104685"/>
            <a:ext cx="6156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7" name="Rectangle 116"/>
          <p:cNvSpPr/>
          <p:nvPr/>
        </p:nvSpPr>
        <p:spPr>
          <a:xfrm>
            <a:off x="3334849" y="3220436"/>
            <a:ext cx="139949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960326" y="1793373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2" name="Rectangle 41"/>
          <p:cNvSpPr/>
          <p:nvPr/>
        </p:nvSpPr>
        <p:spPr>
          <a:xfrm>
            <a:off x="1664833" y="1829023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riangle isocèle 42"/>
          <p:cNvSpPr/>
          <p:nvPr/>
        </p:nvSpPr>
        <p:spPr>
          <a:xfrm rot="10800000">
            <a:off x="3262157" y="1843501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4517265" y="1826616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1261" y="1828904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854756" y="1843382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Titre 1"/>
          <p:cNvSpPr txBox="1">
            <a:spLocks/>
          </p:cNvSpPr>
          <p:nvPr/>
        </p:nvSpPr>
        <p:spPr>
          <a:xfrm>
            <a:off x="5254923" y="2668535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Unité de mesure</a:t>
            </a:r>
            <a:endParaRPr lang="fr-FR" sz="1400" dirty="0"/>
          </a:p>
        </p:txBody>
      </p:sp>
      <p:sp>
        <p:nvSpPr>
          <p:cNvPr id="50" name="Rectangle 49"/>
          <p:cNvSpPr/>
          <p:nvPr/>
        </p:nvSpPr>
        <p:spPr>
          <a:xfrm>
            <a:off x="5367567" y="3231167"/>
            <a:ext cx="139949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riangle isocèle 1"/>
          <p:cNvSpPr/>
          <p:nvPr/>
        </p:nvSpPr>
        <p:spPr>
          <a:xfrm rot="10800000">
            <a:off x="6528513" y="3256327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/>
          <p:cNvSpPr/>
          <p:nvPr/>
        </p:nvSpPr>
        <p:spPr>
          <a:xfrm>
            <a:off x="7435693" y="3634309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Ajouter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3168543" y="4381424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Résultats d’analyse</a:t>
            </a:r>
            <a:endParaRPr lang="fr-FR" sz="1400" dirty="0"/>
          </a:p>
        </p:txBody>
      </p:sp>
      <p:sp>
        <p:nvSpPr>
          <p:cNvPr id="55" name="Titre 1"/>
          <p:cNvSpPr txBox="1">
            <a:spLocks/>
          </p:cNvSpPr>
          <p:nvPr/>
        </p:nvSpPr>
        <p:spPr>
          <a:xfrm>
            <a:off x="1241173" y="4359911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Groupe</a:t>
            </a:r>
            <a:endParaRPr lang="fr-FR" sz="1400" dirty="0"/>
          </a:p>
        </p:txBody>
      </p:sp>
      <p:sp>
        <p:nvSpPr>
          <p:cNvPr id="56" name="Rectangle 55"/>
          <p:cNvSpPr/>
          <p:nvPr/>
        </p:nvSpPr>
        <p:spPr>
          <a:xfrm>
            <a:off x="7211882" y="4431278"/>
            <a:ext cx="972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Supprimer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7527" y="4960248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Rectangle 65"/>
          <p:cNvSpPr/>
          <p:nvPr/>
        </p:nvSpPr>
        <p:spPr>
          <a:xfrm>
            <a:off x="792574" y="4315141"/>
            <a:ext cx="7632966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8" name="Connecteur droit 67"/>
          <p:cNvCxnSpPr/>
          <p:nvPr/>
        </p:nvCxnSpPr>
        <p:spPr>
          <a:xfrm>
            <a:off x="2933568" y="4315141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9" name="Connecteur droit 68"/>
          <p:cNvCxnSpPr/>
          <p:nvPr/>
        </p:nvCxnSpPr>
        <p:spPr>
          <a:xfrm>
            <a:off x="4986656" y="4306286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necteur droit 69"/>
          <p:cNvCxnSpPr/>
          <p:nvPr/>
        </p:nvCxnSpPr>
        <p:spPr>
          <a:xfrm flipV="1">
            <a:off x="793639" y="4803671"/>
            <a:ext cx="7631901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1" name="Image 7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9133" y="4925157"/>
            <a:ext cx="468000" cy="46800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3242548" y="4944056"/>
            <a:ext cx="139949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6" name="Titre 1"/>
          <p:cNvSpPr txBox="1">
            <a:spLocks/>
          </p:cNvSpPr>
          <p:nvPr/>
        </p:nvSpPr>
        <p:spPr>
          <a:xfrm>
            <a:off x="5162622" y="4392155"/>
            <a:ext cx="1572344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Unité de mesure</a:t>
            </a:r>
            <a:endParaRPr lang="fr-FR" sz="1400" dirty="0"/>
          </a:p>
        </p:txBody>
      </p:sp>
      <p:sp>
        <p:nvSpPr>
          <p:cNvPr id="77" name="Rectangle 76"/>
          <p:cNvSpPr/>
          <p:nvPr/>
        </p:nvSpPr>
        <p:spPr>
          <a:xfrm>
            <a:off x="5275266" y="4954787"/>
            <a:ext cx="139949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1" name="Triangle isocèle 80"/>
          <p:cNvSpPr/>
          <p:nvPr/>
        </p:nvSpPr>
        <p:spPr>
          <a:xfrm rot="5400000">
            <a:off x="1059906" y="3173795"/>
            <a:ext cx="252000" cy="360000"/>
          </a:xfrm>
          <a:prstGeom prst="triangl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6950722" y="4321273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2" name="Rectangle 81"/>
          <p:cNvSpPr/>
          <p:nvPr/>
        </p:nvSpPr>
        <p:spPr>
          <a:xfrm>
            <a:off x="7369528" y="5658297"/>
            <a:ext cx="1080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Valider</a:t>
            </a:r>
          </a:p>
        </p:txBody>
      </p:sp>
      <p:sp>
        <p:nvSpPr>
          <p:cNvPr id="90" name="Titre 1"/>
          <p:cNvSpPr txBox="1">
            <a:spLocks/>
          </p:cNvSpPr>
          <p:nvPr/>
        </p:nvSpPr>
        <p:spPr>
          <a:xfrm>
            <a:off x="203350" y="6450372"/>
            <a:ext cx="324393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Ces tableaux sont des tableaux dynamique</a:t>
            </a:r>
            <a:endParaRPr lang="fr-FR" sz="1400" dirty="0"/>
          </a:p>
        </p:txBody>
      </p:sp>
      <p:sp>
        <p:nvSpPr>
          <p:cNvPr id="73" name="Rectangle 72"/>
          <p:cNvSpPr/>
          <p:nvPr/>
        </p:nvSpPr>
        <p:spPr>
          <a:xfrm>
            <a:off x="766816" y="1636334"/>
            <a:ext cx="6567714" cy="236198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Titre 1"/>
          <p:cNvSpPr txBox="1">
            <a:spLocks/>
          </p:cNvSpPr>
          <p:nvPr/>
        </p:nvSpPr>
        <p:spPr>
          <a:xfrm>
            <a:off x="1305568" y="3136424"/>
            <a:ext cx="1619715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Analyse sélectionné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5659690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48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Modifications résultats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résultats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273720" y="1833555"/>
            <a:ext cx="1801889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 / Groupe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1346351" y="1812042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d’analyse</a:t>
            </a:r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8926921" y="1857651"/>
            <a:ext cx="972000" cy="3228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Supprimer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032705" y="2412379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9" name="Rectangle 88"/>
          <p:cNvSpPr/>
          <p:nvPr/>
        </p:nvSpPr>
        <p:spPr>
          <a:xfrm>
            <a:off x="897752" y="1767272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1" name="Connecteur droit 90"/>
          <p:cNvCxnSpPr/>
          <p:nvPr/>
        </p:nvCxnSpPr>
        <p:spPr>
          <a:xfrm>
            <a:off x="3038746" y="176727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3" name="Connecteur droit 92"/>
          <p:cNvCxnSpPr/>
          <p:nvPr/>
        </p:nvCxnSpPr>
        <p:spPr>
          <a:xfrm>
            <a:off x="8002463" y="17584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Connecteur droit 101"/>
          <p:cNvCxnSpPr/>
          <p:nvPr/>
        </p:nvCxnSpPr>
        <p:spPr>
          <a:xfrm>
            <a:off x="898817" y="2280436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5" name="Image 10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72" y="2377288"/>
            <a:ext cx="468000" cy="468000"/>
          </a:xfrm>
          <a:prstGeom prst="rect">
            <a:avLst/>
          </a:prstGeom>
        </p:spPr>
      </p:pic>
      <p:cxnSp>
        <p:nvCxnSpPr>
          <p:cNvPr id="109" name="Connecteur droit 108"/>
          <p:cNvCxnSpPr/>
          <p:nvPr/>
        </p:nvCxnSpPr>
        <p:spPr>
          <a:xfrm>
            <a:off x="7077447" y="17584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3" name="Connecteur droit 112"/>
          <p:cNvCxnSpPr/>
          <p:nvPr/>
        </p:nvCxnSpPr>
        <p:spPr>
          <a:xfrm>
            <a:off x="8915466" y="17584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8015465" y="1848531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3347728" y="2434825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7102526" y="1847195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Modifier</a:t>
            </a:r>
            <a:endParaRPr lang="fr-FR" sz="1400" dirty="0"/>
          </a:p>
        </p:txBody>
      </p:sp>
      <p:pic>
        <p:nvPicPr>
          <p:cNvPr id="133" name="Image 1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645" y="2391398"/>
            <a:ext cx="461787" cy="468000"/>
          </a:xfrm>
          <a:prstGeom prst="rect">
            <a:avLst/>
          </a:prstGeom>
        </p:spPr>
      </p:pic>
      <p:sp>
        <p:nvSpPr>
          <p:cNvPr id="134" name="Titre 1"/>
          <p:cNvSpPr txBox="1">
            <a:spLocks/>
          </p:cNvSpPr>
          <p:nvPr/>
        </p:nvSpPr>
        <p:spPr>
          <a:xfrm>
            <a:off x="203350" y="6450372"/>
            <a:ext cx="3243932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Cet tableau c’est un tableau dynamique</a:t>
            </a:r>
            <a:endParaRPr lang="fr-FR" sz="1400" dirty="0"/>
          </a:p>
        </p:txBody>
      </p:sp>
      <p:pic>
        <p:nvPicPr>
          <p:cNvPr id="45" name="Image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5381" y="2341539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976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49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Résultats du Labo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Modifications résultats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Labo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</a:t>
            </a:r>
            <a:r>
              <a:rPr lang="fr-FR" sz="1400" dirty="0" smtClean="0"/>
              <a:t>analyses</a:t>
            </a:r>
            <a:endParaRPr lang="fr-FR" sz="1400" dirty="0"/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73" name="Titre 1"/>
          <p:cNvSpPr txBox="1">
            <a:spLocks/>
          </p:cNvSpPr>
          <p:nvPr/>
        </p:nvSpPr>
        <p:spPr>
          <a:xfrm>
            <a:off x="3325235" y="4847208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Examen</a:t>
            </a:r>
            <a:endParaRPr lang="fr-FR" sz="1400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1294835" y="4825695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78" name="Rectangle 77"/>
          <p:cNvSpPr/>
          <p:nvPr/>
        </p:nvSpPr>
        <p:spPr>
          <a:xfrm>
            <a:off x="8386008" y="4858425"/>
            <a:ext cx="126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Commentaire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32705" y="5400274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9" name="Rectangle 88"/>
          <p:cNvSpPr/>
          <p:nvPr/>
        </p:nvSpPr>
        <p:spPr>
          <a:xfrm>
            <a:off x="897752" y="4755167"/>
            <a:ext cx="90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1" name="Connecteur droit 90"/>
          <p:cNvCxnSpPr/>
          <p:nvPr/>
        </p:nvCxnSpPr>
        <p:spPr>
          <a:xfrm>
            <a:off x="4584212" y="475516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2" name="Connecteur droit 101"/>
          <p:cNvCxnSpPr/>
          <p:nvPr/>
        </p:nvCxnSpPr>
        <p:spPr>
          <a:xfrm>
            <a:off x="898817" y="5268331"/>
            <a:ext cx="90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9" name="Connecteur droit 108"/>
          <p:cNvCxnSpPr/>
          <p:nvPr/>
        </p:nvCxnSpPr>
        <p:spPr>
          <a:xfrm>
            <a:off x="8146390" y="474631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Titre 1"/>
          <p:cNvSpPr txBox="1">
            <a:spLocks/>
          </p:cNvSpPr>
          <p:nvPr/>
        </p:nvSpPr>
        <p:spPr>
          <a:xfrm>
            <a:off x="6444242" y="4836426"/>
            <a:ext cx="1692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Valeur de référence</a:t>
            </a:r>
            <a:endParaRPr lang="fr-FR" sz="1400" dirty="0"/>
          </a:p>
        </p:txBody>
      </p:sp>
      <p:sp>
        <p:nvSpPr>
          <p:cNvPr id="126" name="Rectangle 125"/>
          <p:cNvSpPr/>
          <p:nvPr/>
        </p:nvSpPr>
        <p:spPr>
          <a:xfrm>
            <a:off x="6554569" y="5422720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Titre 1"/>
          <p:cNvSpPr txBox="1">
            <a:spLocks/>
          </p:cNvSpPr>
          <p:nvPr/>
        </p:nvSpPr>
        <p:spPr>
          <a:xfrm>
            <a:off x="5093420" y="4835090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</a:t>
            </a:r>
            <a:endParaRPr lang="fr-FR" sz="1400" dirty="0"/>
          </a:p>
        </p:txBody>
      </p:sp>
      <p:sp>
        <p:nvSpPr>
          <p:cNvPr id="45" name="Titre 1"/>
          <p:cNvSpPr txBox="1">
            <a:spLocks/>
          </p:cNvSpPr>
          <p:nvPr/>
        </p:nvSpPr>
        <p:spPr>
          <a:xfrm>
            <a:off x="1045678" y="3430531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d’ordre</a:t>
            </a:r>
            <a:endParaRPr lang="fr-FR" sz="1400" dirty="0"/>
          </a:p>
        </p:txBody>
      </p:sp>
      <p:sp>
        <p:nvSpPr>
          <p:cNvPr id="46" name="Titre 1"/>
          <p:cNvSpPr txBox="1">
            <a:spLocks/>
          </p:cNvSpPr>
          <p:nvPr/>
        </p:nvSpPr>
        <p:spPr>
          <a:xfrm>
            <a:off x="3329699" y="3409018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demande</a:t>
            </a:r>
            <a:endParaRPr lang="fr-FR" sz="1400" dirty="0"/>
          </a:p>
        </p:txBody>
      </p:sp>
      <p:sp>
        <p:nvSpPr>
          <p:cNvPr id="48" name="Rectangle 47"/>
          <p:cNvSpPr/>
          <p:nvPr/>
        </p:nvSpPr>
        <p:spPr>
          <a:xfrm>
            <a:off x="1019828" y="4009355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 48"/>
          <p:cNvSpPr/>
          <p:nvPr/>
        </p:nvSpPr>
        <p:spPr>
          <a:xfrm>
            <a:off x="884875" y="3364248"/>
            <a:ext cx="756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0" name="Connecteur droit 49"/>
          <p:cNvCxnSpPr/>
          <p:nvPr/>
        </p:nvCxnSpPr>
        <p:spPr>
          <a:xfrm>
            <a:off x="3025869" y="3364248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2" name="Connecteur droit 51"/>
          <p:cNvCxnSpPr/>
          <p:nvPr/>
        </p:nvCxnSpPr>
        <p:spPr>
          <a:xfrm>
            <a:off x="885940" y="3825896"/>
            <a:ext cx="756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4" name="Rectangle 53"/>
          <p:cNvSpPr/>
          <p:nvPr/>
        </p:nvSpPr>
        <p:spPr>
          <a:xfrm>
            <a:off x="3231817" y="3993163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6" name="Connecteur droit 65"/>
          <p:cNvCxnSpPr/>
          <p:nvPr/>
        </p:nvCxnSpPr>
        <p:spPr>
          <a:xfrm>
            <a:off x="2652376" y="475516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8" name="Rectangle 67"/>
          <p:cNvSpPr/>
          <p:nvPr/>
        </p:nvSpPr>
        <p:spPr>
          <a:xfrm>
            <a:off x="2832570" y="5422720"/>
            <a:ext cx="1617696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9" name="Connecteur droit 68"/>
          <p:cNvCxnSpPr/>
          <p:nvPr/>
        </p:nvCxnSpPr>
        <p:spPr>
          <a:xfrm>
            <a:off x="6420622" y="474631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0" name="Rectangle 69"/>
          <p:cNvSpPr/>
          <p:nvPr/>
        </p:nvSpPr>
        <p:spPr>
          <a:xfrm>
            <a:off x="4815922" y="5422720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Rectangle 70"/>
          <p:cNvSpPr/>
          <p:nvPr/>
        </p:nvSpPr>
        <p:spPr>
          <a:xfrm>
            <a:off x="8303954" y="5420572"/>
            <a:ext cx="144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08" name="Connecteur droit 107"/>
          <p:cNvCxnSpPr/>
          <p:nvPr/>
        </p:nvCxnSpPr>
        <p:spPr>
          <a:xfrm>
            <a:off x="7525944" y="3368272"/>
            <a:ext cx="0" cy="1152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0" name="Titre 1"/>
          <p:cNvSpPr txBox="1">
            <a:spLocks/>
          </p:cNvSpPr>
          <p:nvPr/>
        </p:nvSpPr>
        <p:spPr>
          <a:xfrm>
            <a:off x="7538946" y="3419749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116" name="Rectangle 115"/>
          <p:cNvSpPr/>
          <p:nvPr/>
        </p:nvSpPr>
        <p:spPr>
          <a:xfrm>
            <a:off x="8419235" y="2360561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725561" y="2378816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8" name="Titre 1"/>
          <p:cNvSpPr txBox="1">
            <a:spLocks/>
          </p:cNvSpPr>
          <p:nvPr/>
        </p:nvSpPr>
        <p:spPr>
          <a:xfrm>
            <a:off x="1019828" y="2362240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119" name="Rectangle 118"/>
          <p:cNvSpPr/>
          <p:nvPr/>
        </p:nvSpPr>
        <p:spPr>
          <a:xfrm>
            <a:off x="4124874" y="2397021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Triangle isocèle 119"/>
          <p:cNvSpPr/>
          <p:nvPr/>
        </p:nvSpPr>
        <p:spPr>
          <a:xfrm rot="10800000">
            <a:off x="3574931" y="2379380"/>
            <a:ext cx="216000" cy="324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 120"/>
          <p:cNvSpPr/>
          <p:nvPr/>
        </p:nvSpPr>
        <p:spPr>
          <a:xfrm>
            <a:off x="884228" y="2196575"/>
            <a:ext cx="9013524" cy="71319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Titre 1"/>
          <p:cNvSpPr txBox="1">
            <a:spLocks/>
          </p:cNvSpPr>
          <p:nvPr/>
        </p:nvSpPr>
        <p:spPr>
          <a:xfrm>
            <a:off x="8281375" y="2952526"/>
            <a:ext cx="3785363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 : </a:t>
            </a:r>
            <a:r>
              <a:rPr lang="fr-FR" sz="1400" dirty="0" smtClean="0"/>
              <a:t>Date de demande, N° ordre.</a:t>
            </a:r>
            <a:endParaRPr lang="fr-FR" sz="1400" b="1" dirty="0"/>
          </a:p>
        </p:txBody>
      </p:sp>
      <p:pic>
        <p:nvPicPr>
          <p:cNvPr id="72" name="Image 7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26" y="3912762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067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Statistiques des analyses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805780" y="1741857"/>
            <a:ext cx="72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2" name="Rectangle 41"/>
          <p:cNvSpPr/>
          <p:nvPr/>
        </p:nvSpPr>
        <p:spPr>
          <a:xfrm>
            <a:off x="1613316" y="1777507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riangle isocèle 42"/>
          <p:cNvSpPr/>
          <p:nvPr/>
        </p:nvSpPr>
        <p:spPr>
          <a:xfrm rot="10800000">
            <a:off x="3210640" y="1791985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4362722" y="1800858"/>
            <a:ext cx="72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09598" y="1803146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713093" y="1817624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Rectangle 72"/>
          <p:cNvSpPr/>
          <p:nvPr/>
        </p:nvSpPr>
        <p:spPr>
          <a:xfrm>
            <a:off x="7850753" y="1772953"/>
            <a:ext cx="1080000" cy="2970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Exploration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945360" y="1762362"/>
            <a:ext cx="180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riangle isocèle 74"/>
          <p:cNvSpPr/>
          <p:nvPr/>
        </p:nvSpPr>
        <p:spPr>
          <a:xfrm rot="10800000">
            <a:off x="10548855" y="1776840"/>
            <a:ext cx="180000" cy="252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2925988" y="2425984"/>
            <a:ext cx="1801889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Résultats d’analyse</a:t>
            </a:r>
            <a:endParaRPr lang="fr-FR" sz="1400" dirty="0"/>
          </a:p>
        </p:txBody>
      </p:sp>
      <p:sp>
        <p:nvSpPr>
          <p:cNvPr id="79" name="Titre 1"/>
          <p:cNvSpPr txBox="1">
            <a:spLocks/>
          </p:cNvSpPr>
          <p:nvPr/>
        </p:nvSpPr>
        <p:spPr>
          <a:xfrm>
            <a:off x="818313" y="2404471"/>
            <a:ext cx="1242463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d’analyse</a:t>
            </a:r>
            <a:endParaRPr lang="fr-FR" sz="1400" dirty="0"/>
          </a:p>
        </p:txBody>
      </p:sp>
      <p:sp>
        <p:nvSpPr>
          <p:cNvPr id="91" name="Rectangle 90"/>
          <p:cNvSpPr/>
          <p:nvPr/>
        </p:nvSpPr>
        <p:spPr>
          <a:xfrm>
            <a:off x="684973" y="3004808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2" name="Rectangle 91"/>
          <p:cNvSpPr/>
          <p:nvPr/>
        </p:nvSpPr>
        <p:spPr>
          <a:xfrm>
            <a:off x="550020" y="2359701"/>
            <a:ext cx="4500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3" name="Connecteur droit 92"/>
          <p:cNvCxnSpPr/>
          <p:nvPr/>
        </p:nvCxnSpPr>
        <p:spPr>
          <a:xfrm>
            <a:off x="2691014" y="2359701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Connecteur droit 103"/>
          <p:cNvCxnSpPr/>
          <p:nvPr/>
        </p:nvCxnSpPr>
        <p:spPr>
          <a:xfrm>
            <a:off x="551085" y="2872865"/>
            <a:ext cx="4500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Rectangle 113"/>
          <p:cNvSpPr/>
          <p:nvPr/>
        </p:nvSpPr>
        <p:spPr>
          <a:xfrm>
            <a:off x="2999996" y="3027254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" name="Connecteur en angle 4"/>
          <p:cNvCxnSpPr/>
          <p:nvPr/>
        </p:nvCxnSpPr>
        <p:spPr>
          <a:xfrm>
            <a:off x="2051196" y="3825025"/>
            <a:ext cx="3771558" cy="2704563"/>
          </a:xfrm>
          <a:prstGeom prst="bentConnector3">
            <a:avLst>
              <a:gd name="adj1" fmla="val -196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557502" y="3805668"/>
            <a:ext cx="1442262" cy="2551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Unité de mesure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19" name="Rectangle 118"/>
          <p:cNvSpPr/>
          <p:nvPr/>
        </p:nvSpPr>
        <p:spPr>
          <a:xfrm>
            <a:off x="5891012" y="6265540"/>
            <a:ext cx="1218124" cy="251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Date d’analyse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3812143" y="4690815"/>
            <a:ext cx="1538909" cy="2804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Résultat d’analyse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25480" y="4767768"/>
            <a:ext cx="180000" cy="1748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2880018" y="5254580"/>
            <a:ext cx="180000" cy="1262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Rectangle 120"/>
          <p:cNvSpPr/>
          <p:nvPr/>
        </p:nvSpPr>
        <p:spPr>
          <a:xfrm>
            <a:off x="4305914" y="5435322"/>
            <a:ext cx="180000" cy="108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2" name="Rectangle 121"/>
          <p:cNvSpPr/>
          <p:nvPr/>
        </p:nvSpPr>
        <p:spPr>
          <a:xfrm>
            <a:off x="7620747" y="6249987"/>
            <a:ext cx="1674609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le graphe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7871" y="3684082"/>
            <a:ext cx="6968027" cy="293878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Rectangle 52"/>
          <p:cNvSpPr/>
          <p:nvPr/>
        </p:nvSpPr>
        <p:spPr>
          <a:xfrm>
            <a:off x="573630" y="1623457"/>
            <a:ext cx="10583700" cy="648139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836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50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Statistiques des analyses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20371" t="13689" r="21427" b="5326"/>
          <a:stretch/>
        </p:blipFill>
        <p:spPr>
          <a:xfrm>
            <a:off x="2126401" y="2014977"/>
            <a:ext cx="7128000" cy="432730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55" name="Rectangle 54"/>
          <p:cNvSpPr/>
          <p:nvPr/>
        </p:nvSpPr>
        <p:spPr>
          <a:xfrm>
            <a:off x="305869" y="1749341"/>
            <a:ext cx="1827144" cy="478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Exemple de fichier PDF</a:t>
            </a:r>
            <a:endParaRPr lang="fr-FR" sz="14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7937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des résultats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sp>
        <p:nvSpPr>
          <p:cNvPr id="41" name="Titre 1"/>
          <p:cNvSpPr txBox="1">
            <a:spLocks/>
          </p:cNvSpPr>
          <p:nvPr/>
        </p:nvSpPr>
        <p:spPr>
          <a:xfrm>
            <a:off x="1063355" y="4691128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</a:t>
            </a:r>
            <a:endParaRPr lang="fr-FR" sz="1400" dirty="0"/>
          </a:p>
        </p:txBody>
      </p:sp>
      <p:sp>
        <p:nvSpPr>
          <p:cNvPr id="42" name="Rectangle 41"/>
          <p:cNvSpPr/>
          <p:nvPr/>
        </p:nvSpPr>
        <p:spPr>
          <a:xfrm>
            <a:off x="1961044" y="4701020"/>
            <a:ext cx="180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Triangle isocèle 42"/>
          <p:cNvSpPr/>
          <p:nvPr/>
        </p:nvSpPr>
        <p:spPr>
          <a:xfrm rot="10800000">
            <a:off x="3535247" y="4731014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3937708" y="4685732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>
                <a:latin typeface="+mj-lt"/>
                <a:ea typeface="+mj-ea"/>
                <a:cs typeface="+mj-cs"/>
              </a:rPr>
              <a:t>Groupe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39135" y="4713773"/>
            <a:ext cx="180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Triangle isocèle 45"/>
          <p:cNvSpPr/>
          <p:nvPr/>
        </p:nvSpPr>
        <p:spPr>
          <a:xfrm rot="10800000">
            <a:off x="6406630" y="4730888"/>
            <a:ext cx="216000" cy="288000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Titre 1"/>
          <p:cNvSpPr txBox="1">
            <a:spLocks/>
          </p:cNvSpPr>
          <p:nvPr/>
        </p:nvSpPr>
        <p:spPr>
          <a:xfrm>
            <a:off x="3273720" y="1833555"/>
            <a:ext cx="1801889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Famille / Groupe</a:t>
            </a:r>
            <a:endParaRPr lang="fr-FR" sz="1400" dirty="0"/>
          </a:p>
        </p:txBody>
      </p:sp>
      <p:sp>
        <p:nvSpPr>
          <p:cNvPr id="53" name="Titre 1"/>
          <p:cNvSpPr txBox="1">
            <a:spLocks/>
          </p:cNvSpPr>
          <p:nvPr/>
        </p:nvSpPr>
        <p:spPr>
          <a:xfrm>
            <a:off x="1190927" y="1812042"/>
            <a:ext cx="1397888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Date de résultats</a:t>
            </a:r>
            <a:endParaRPr lang="fr-FR" sz="1400" dirty="0"/>
          </a:p>
        </p:txBody>
      </p:sp>
      <p:sp>
        <p:nvSpPr>
          <p:cNvPr id="55" name="Rectangle 54"/>
          <p:cNvSpPr/>
          <p:nvPr/>
        </p:nvSpPr>
        <p:spPr>
          <a:xfrm>
            <a:off x="1032705" y="2412379"/>
            <a:ext cx="180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 55"/>
          <p:cNvSpPr/>
          <p:nvPr/>
        </p:nvSpPr>
        <p:spPr>
          <a:xfrm>
            <a:off x="897752" y="1767272"/>
            <a:ext cx="7344000" cy="1188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7" name="Connecteur droit 56"/>
          <p:cNvCxnSpPr/>
          <p:nvPr/>
        </p:nvCxnSpPr>
        <p:spPr>
          <a:xfrm>
            <a:off x="3038746" y="1767272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necteur droit 67"/>
          <p:cNvCxnSpPr/>
          <p:nvPr/>
        </p:nvCxnSpPr>
        <p:spPr>
          <a:xfrm>
            <a:off x="898817" y="2280436"/>
            <a:ext cx="7344000" cy="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0" name="Connecteur droit 69"/>
          <p:cNvCxnSpPr/>
          <p:nvPr/>
        </p:nvCxnSpPr>
        <p:spPr>
          <a:xfrm>
            <a:off x="7077447" y="1758417"/>
            <a:ext cx="0" cy="1188000"/>
          </a:xfrm>
          <a:prstGeom prst="line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2" name="Titre 1"/>
          <p:cNvSpPr txBox="1">
            <a:spLocks/>
          </p:cNvSpPr>
          <p:nvPr/>
        </p:nvSpPr>
        <p:spPr>
          <a:xfrm>
            <a:off x="7216974" y="1822773"/>
            <a:ext cx="900000" cy="3947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Imprimer</a:t>
            </a:r>
            <a:endParaRPr lang="fr-FR" sz="1400" dirty="0"/>
          </a:p>
        </p:txBody>
      </p:sp>
      <p:sp>
        <p:nvSpPr>
          <p:cNvPr id="77" name="Rectangle 76"/>
          <p:cNvSpPr/>
          <p:nvPr/>
        </p:nvSpPr>
        <p:spPr>
          <a:xfrm>
            <a:off x="3347728" y="2434825"/>
            <a:ext cx="3510800" cy="360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010" y="2341539"/>
            <a:ext cx="540000" cy="540000"/>
          </a:xfrm>
          <a:prstGeom prst="rect">
            <a:avLst/>
          </a:prstGeom>
        </p:spPr>
      </p:pic>
      <p:sp>
        <p:nvSpPr>
          <p:cNvPr id="82" name="Titre 1"/>
          <p:cNvSpPr txBox="1">
            <a:spLocks/>
          </p:cNvSpPr>
          <p:nvPr/>
        </p:nvSpPr>
        <p:spPr>
          <a:xfrm>
            <a:off x="945299" y="3182146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/>
              <a:t>Récapitulatif examens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5604" y="3542406"/>
            <a:ext cx="6181843" cy="187854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0" name="Rectangle 89"/>
          <p:cNvSpPr/>
          <p:nvPr/>
        </p:nvSpPr>
        <p:spPr>
          <a:xfrm>
            <a:off x="1063580" y="3914466"/>
            <a:ext cx="90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Période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1926462" y="3910855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Du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3806774" y="3897969"/>
            <a:ext cx="540000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Au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2478003" y="3898112"/>
            <a:ext cx="126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5" name="Rectangle 104"/>
          <p:cNvSpPr/>
          <p:nvPr/>
        </p:nvSpPr>
        <p:spPr>
          <a:xfrm>
            <a:off x="4356172" y="3895964"/>
            <a:ext cx="1260000" cy="36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6" name="Rectangle 105"/>
          <p:cNvSpPr/>
          <p:nvPr/>
        </p:nvSpPr>
        <p:spPr>
          <a:xfrm>
            <a:off x="1951672" y="3787111"/>
            <a:ext cx="3852000" cy="612000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7" name="Rectangle 106"/>
          <p:cNvSpPr/>
          <p:nvPr/>
        </p:nvSpPr>
        <p:spPr>
          <a:xfrm>
            <a:off x="7221366" y="5032853"/>
            <a:ext cx="2679296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Imprimer l’historique des résultats</a:t>
            </a:r>
          </a:p>
        </p:txBody>
      </p:sp>
    </p:spTree>
    <p:extLst>
      <p:ext uri="{BB962C8B-B14F-4D97-AF65-F5344CB8AC3E}">
        <p14:creationId xmlns:p14="http://schemas.microsoft.com/office/powerpoint/2010/main" val="84945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historique des résultats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Microbiologie</a:t>
            </a:r>
            <a:endParaRPr lang="fr-FR" sz="14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l="21460" t="14216" r="22515" b="17826"/>
          <a:stretch/>
        </p:blipFill>
        <p:spPr>
          <a:xfrm>
            <a:off x="2382592" y="1712889"/>
            <a:ext cx="7231894" cy="49320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48" name="Rectangle 47"/>
          <p:cNvSpPr/>
          <p:nvPr/>
        </p:nvSpPr>
        <p:spPr>
          <a:xfrm>
            <a:off x="305869" y="1697825"/>
            <a:ext cx="1827144" cy="4787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b="1" dirty="0" smtClean="0">
                <a:latin typeface="+mj-lt"/>
                <a:ea typeface="+mj-ea"/>
                <a:cs typeface="+mj-cs"/>
              </a:rPr>
              <a:t>Exemple de fichier PDF</a:t>
            </a:r>
            <a:endParaRPr lang="fr-FR" sz="14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2424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re 1"/>
          <p:cNvSpPr txBox="1">
            <a:spLocks/>
          </p:cNvSpPr>
          <p:nvPr/>
        </p:nvSpPr>
        <p:spPr>
          <a:xfrm>
            <a:off x="3152059" y="59579"/>
            <a:ext cx="5989991" cy="540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Écran 51 –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E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xploration – </a:t>
            </a:r>
          </a:p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Biologiques </a:t>
            </a:r>
            <a:r>
              <a:rPr lang="fr-FR" altLang="fr-FR" sz="1800" b="1" dirty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/ </a:t>
            </a:r>
            <a:r>
              <a:rPr lang="fr-FR" alt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Microsoft YaHei" panose="020B0503020204020204" pitchFamily="34" charset="-122"/>
              </a:rPr>
              <a:t>Microbiologie</a:t>
            </a:r>
            <a:endParaRPr lang="fr-FR" sz="1800" dirty="0"/>
          </a:p>
        </p:txBody>
      </p:sp>
      <p:sp>
        <p:nvSpPr>
          <p:cNvPr id="84" name="Rectangle 83"/>
          <p:cNvSpPr/>
          <p:nvPr/>
        </p:nvSpPr>
        <p:spPr>
          <a:xfrm>
            <a:off x="191991" y="573517"/>
            <a:ext cx="11880000" cy="622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Rectangle 84"/>
          <p:cNvSpPr/>
          <p:nvPr/>
        </p:nvSpPr>
        <p:spPr>
          <a:xfrm>
            <a:off x="222627" y="304862"/>
            <a:ext cx="1900753" cy="2330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6" name="Rectangle 85"/>
          <p:cNvSpPr/>
          <p:nvPr/>
        </p:nvSpPr>
        <p:spPr>
          <a:xfrm>
            <a:off x="9873916" y="298335"/>
            <a:ext cx="1900753" cy="2542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 smtClean="0"/>
          </a:p>
        </p:txBody>
      </p:sp>
      <p:sp>
        <p:nvSpPr>
          <p:cNvPr id="87" name="ZoneTexte 86"/>
          <p:cNvSpPr txBox="1"/>
          <p:nvPr/>
        </p:nvSpPr>
        <p:spPr>
          <a:xfrm>
            <a:off x="231585" y="26828"/>
            <a:ext cx="128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Service</a:t>
            </a:r>
            <a:endParaRPr lang="fr-FR" sz="1400" dirty="0"/>
          </a:p>
        </p:txBody>
      </p:sp>
      <p:sp>
        <p:nvSpPr>
          <p:cNvPr id="88" name="Rectangle 87"/>
          <p:cNvSpPr/>
          <p:nvPr/>
        </p:nvSpPr>
        <p:spPr>
          <a:xfrm>
            <a:off x="9900662" y="19660"/>
            <a:ext cx="118763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/>
              <a:t>Date et heure</a:t>
            </a:r>
          </a:p>
        </p:txBody>
      </p:sp>
      <p:sp>
        <p:nvSpPr>
          <p:cNvPr id="94" name="Titre 1"/>
          <p:cNvSpPr txBox="1">
            <a:spLocks/>
          </p:cNvSpPr>
          <p:nvPr/>
        </p:nvSpPr>
        <p:spPr>
          <a:xfrm>
            <a:off x="2479820" y="685959"/>
            <a:ext cx="1026946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N° dossier</a:t>
            </a:r>
            <a:endParaRPr lang="fr-FR" sz="1400" dirty="0"/>
          </a:p>
        </p:txBody>
      </p:sp>
      <p:sp>
        <p:nvSpPr>
          <p:cNvPr id="95" name="Titre 1"/>
          <p:cNvSpPr txBox="1">
            <a:spLocks/>
          </p:cNvSpPr>
          <p:nvPr/>
        </p:nvSpPr>
        <p:spPr>
          <a:xfrm>
            <a:off x="4870182" y="672854"/>
            <a:ext cx="959100" cy="3974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Patient </a:t>
            </a:r>
            <a:endParaRPr lang="fr-FR" sz="1400" dirty="0"/>
          </a:p>
        </p:txBody>
      </p:sp>
      <p:sp>
        <p:nvSpPr>
          <p:cNvPr id="96" name="Titre 1"/>
          <p:cNvSpPr txBox="1">
            <a:spLocks/>
          </p:cNvSpPr>
          <p:nvPr/>
        </p:nvSpPr>
        <p:spPr>
          <a:xfrm>
            <a:off x="7697549" y="692366"/>
            <a:ext cx="560942" cy="3850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Age </a:t>
            </a:r>
            <a:endParaRPr lang="fr-FR" sz="1400" dirty="0"/>
          </a:p>
        </p:txBody>
      </p:sp>
      <p:sp>
        <p:nvSpPr>
          <p:cNvPr id="97" name="Rectangle 96"/>
          <p:cNvSpPr/>
          <p:nvPr/>
        </p:nvSpPr>
        <p:spPr>
          <a:xfrm>
            <a:off x="3667218" y="730985"/>
            <a:ext cx="1080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8" name="Rectangle 97"/>
          <p:cNvSpPr/>
          <p:nvPr/>
        </p:nvSpPr>
        <p:spPr>
          <a:xfrm>
            <a:off x="5841404" y="686261"/>
            <a:ext cx="1641189" cy="3530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9" name="Rectangle 98"/>
          <p:cNvSpPr/>
          <p:nvPr/>
        </p:nvSpPr>
        <p:spPr>
          <a:xfrm>
            <a:off x="8251647" y="737613"/>
            <a:ext cx="792000" cy="288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0" name="Rectangle 99"/>
          <p:cNvSpPr/>
          <p:nvPr/>
        </p:nvSpPr>
        <p:spPr>
          <a:xfrm>
            <a:off x="2429229" y="627099"/>
            <a:ext cx="6892827" cy="464315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Titre 1"/>
          <p:cNvSpPr txBox="1">
            <a:spLocks/>
          </p:cNvSpPr>
          <p:nvPr/>
        </p:nvSpPr>
        <p:spPr>
          <a:xfrm>
            <a:off x="3860603" y="756737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02095</a:t>
            </a:r>
            <a:endParaRPr lang="fr-FR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950052" y="740319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Amara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6614530" y="746360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amine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141" name="Rectangle 140"/>
          <p:cNvSpPr/>
          <p:nvPr/>
        </p:nvSpPr>
        <p:spPr>
          <a:xfrm>
            <a:off x="8300317" y="765185"/>
            <a:ext cx="720000" cy="2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 defTabSz="449263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1400" dirty="0" smtClean="0">
                <a:latin typeface="+mj-lt"/>
                <a:ea typeface="+mj-ea"/>
                <a:cs typeface="+mj-cs"/>
              </a:rPr>
              <a:t>43 ans</a:t>
            </a:r>
            <a:endParaRPr lang="fr-FR" sz="1400" dirty="0">
              <a:latin typeface="+mj-lt"/>
              <a:ea typeface="+mj-ea"/>
              <a:cs typeface="+mj-cs"/>
            </a:endParaRPr>
          </a:p>
        </p:txBody>
      </p:sp>
      <p:sp>
        <p:nvSpPr>
          <p:cNvPr id="64" name="Titre 1"/>
          <p:cNvSpPr txBox="1">
            <a:spLocks/>
          </p:cNvSpPr>
          <p:nvPr/>
        </p:nvSpPr>
        <p:spPr>
          <a:xfrm>
            <a:off x="273503" y="533522"/>
            <a:ext cx="1080000" cy="4404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600" b="1" u="sng" dirty="0">
                <a:latin typeface="+mn-lt"/>
                <a:ea typeface="+mn-ea"/>
                <a:cs typeface="+mn-cs"/>
              </a:rPr>
              <a:t>Patient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-205984" y="1144109"/>
            <a:ext cx="108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Demandées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056" y="1150737"/>
            <a:ext cx="1800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Historique demandes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09129" y="1153354"/>
            <a:ext cx="129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/>
              <a:t>Saisie résultats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16169" y="1146342"/>
            <a:ext cx="1908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Modifications </a:t>
            </a:r>
            <a:r>
              <a:rPr lang="fr-FR" sz="1400" dirty="0" smtClean="0"/>
              <a:t>résultats</a:t>
            </a:r>
            <a:endParaRPr lang="fr-FR" sz="1400" dirty="0"/>
          </a:p>
        </p:txBody>
      </p:sp>
      <p:sp>
        <p:nvSpPr>
          <p:cNvPr id="62" name="Rectangle 61"/>
          <p:cNvSpPr/>
          <p:nvPr/>
        </p:nvSpPr>
        <p:spPr>
          <a:xfrm>
            <a:off x="5943472" y="1150737"/>
            <a:ext cx="1512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Résultats du </a:t>
            </a:r>
            <a:r>
              <a:rPr lang="fr-FR" sz="1400" dirty="0" smtClean="0"/>
              <a:t>Labo</a:t>
            </a:r>
            <a:endParaRPr lang="fr-FR" sz="1400" dirty="0"/>
          </a:p>
        </p:txBody>
      </p:sp>
      <p:sp>
        <p:nvSpPr>
          <p:cNvPr id="63" name="Rectangle 62"/>
          <p:cNvSpPr/>
          <p:nvPr/>
        </p:nvSpPr>
        <p:spPr>
          <a:xfrm>
            <a:off x="7476019" y="1141039"/>
            <a:ext cx="201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Statistiques des analyses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01330" y="1146938"/>
            <a:ext cx="1656000" cy="360000"/>
          </a:xfrm>
          <a:prstGeom prst="rect">
            <a:avLst/>
          </a:prstGeom>
          <a:solidFill>
            <a:srgbClr val="00B0F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Historique résultats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182818" y="1139928"/>
            <a:ext cx="1224000" cy="360000"/>
          </a:xfrm>
          <a:prstGeom prst="rect">
            <a:avLst/>
          </a:prstGeom>
          <a:solidFill>
            <a:srgbClr val="92D05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/>
              <a:t>Microbiologie</a:t>
            </a:r>
          </a:p>
        </p:txBody>
      </p:sp>
      <p:sp>
        <p:nvSpPr>
          <p:cNvPr id="82" name="Titre 1"/>
          <p:cNvSpPr txBox="1">
            <a:spLocks/>
          </p:cNvSpPr>
          <p:nvPr/>
        </p:nvSpPr>
        <p:spPr>
          <a:xfrm>
            <a:off x="945299" y="1675320"/>
            <a:ext cx="1930485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u="sng" dirty="0" smtClean="0"/>
              <a:t>Validation technique</a:t>
            </a:r>
            <a:endParaRPr lang="fr-FR" sz="1400" b="1" u="sng" dirty="0"/>
          </a:p>
        </p:txBody>
      </p:sp>
      <p:sp>
        <p:nvSpPr>
          <p:cNvPr id="54" name="Rectangle 53"/>
          <p:cNvSpPr/>
          <p:nvPr/>
        </p:nvSpPr>
        <p:spPr>
          <a:xfrm>
            <a:off x="8444993" y="2270414"/>
            <a:ext cx="1332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Recherche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51319" y="2288669"/>
            <a:ext cx="1080000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9" name="Titre 1"/>
          <p:cNvSpPr txBox="1">
            <a:spLocks/>
          </p:cNvSpPr>
          <p:nvPr/>
        </p:nvSpPr>
        <p:spPr>
          <a:xfrm>
            <a:off x="1045586" y="2272093"/>
            <a:ext cx="1720777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dirty="0" smtClean="0"/>
              <a:t>Critère de recherche</a:t>
            </a:r>
            <a:endParaRPr lang="fr-FR" sz="1400" dirty="0"/>
          </a:p>
        </p:txBody>
      </p:sp>
      <p:sp>
        <p:nvSpPr>
          <p:cNvPr id="71" name="Rectangle 70"/>
          <p:cNvSpPr/>
          <p:nvPr/>
        </p:nvSpPr>
        <p:spPr>
          <a:xfrm>
            <a:off x="4150632" y="2306874"/>
            <a:ext cx="4021515" cy="324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3" name="Triangle isocèle 72"/>
          <p:cNvSpPr/>
          <p:nvPr/>
        </p:nvSpPr>
        <p:spPr>
          <a:xfrm rot="10800000">
            <a:off x="3600688" y="2289233"/>
            <a:ext cx="216000" cy="394544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4" name="Rectangle 73"/>
          <p:cNvSpPr/>
          <p:nvPr/>
        </p:nvSpPr>
        <p:spPr>
          <a:xfrm>
            <a:off x="909986" y="2106428"/>
            <a:ext cx="9013524" cy="1396626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itre 1"/>
          <p:cNvSpPr txBox="1">
            <a:spLocks/>
          </p:cNvSpPr>
          <p:nvPr/>
        </p:nvSpPr>
        <p:spPr>
          <a:xfrm>
            <a:off x="1414085" y="2946730"/>
            <a:ext cx="1737973" cy="36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Toutes les demandes</a:t>
            </a:r>
            <a:endParaRPr lang="fr-FR" sz="1400" b="1" dirty="0"/>
          </a:p>
        </p:txBody>
      </p:sp>
      <p:sp>
        <p:nvSpPr>
          <p:cNvPr id="76" name="Rectangle 75"/>
          <p:cNvSpPr/>
          <p:nvPr/>
        </p:nvSpPr>
        <p:spPr>
          <a:xfrm>
            <a:off x="1194158" y="3015485"/>
            <a:ext cx="21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Titre 1"/>
          <p:cNvSpPr txBox="1">
            <a:spLocks/>
          </p:cNvSpPr>
          <p:nvPr/>
        </p:nvSpPr>
        <p:spPr>
          <a:xfrm>
            <a:off x="1045586" y="2573235"/>
            <a:ext cx="4233344" cy="3497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49263" fontAlgn="base" hangingPunct="0">
              <a:lnSpc>
                <a:spcPct val="95000"/>
              </a:lnSpc>
              <a:spcAft>
                <a:spcPct val="0"/>
              </a:spcAft>
            </a:pPr>
            <a:r>
              <a:rPr lang="fr-FR" sz="1400" b="1" dirty="0" smtClean="0"/>
              <a:t>Critère de recherche = </a:t>
            </a:r>
            <a:r>
              <a:rPr lang="fr-FR" sz="1400" dirty="0" smtClean="0"/>
              <a:t>Nom, Prénom, N° de demande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919475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4472</Words>
  <Application>Microsoft Office PowerPoint</Application>
  <PresentationFormat>Grand écran</PresentationFormat>
  <Paragraphs>2157</Paragraphs>
  <Slides>64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64</vt:i4>
      </vt:variant>
    </vt:vector>
  </HeadingPairs>
  <TitlesOfParts>
    <vt:vector size="70" baseType="lpstr">
      <vt:lpstr>Microsoft YaHei</vt:lpstr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Dev</dc:creator>
  <cp:lastModifiedBy>Dev</cp:lastModifiedBy>
  <cp:revision>206</cp:revision>
  <dcterms:created xsi:type="dcterms:W3CDTF">2015-11-02T10:39:38Z</dcterms:created>
  <dcterms:modified xsi:type="dcterms:W3CDTF">2015-11-25T08:57:29Z</dcterms:modified>
</cp:coreProperties>
</file>