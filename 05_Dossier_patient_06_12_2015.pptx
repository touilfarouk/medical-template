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6" r:id="rId2"/>
    <p:sldId id="323" r:id="rId3"/>
    <p:sldId id="324" r:id="rId4"/>
    <p:sldId id="325" r:id="rId5"/>
    <p:sldId id="326" r:id="rId6"/>
    <p:sldId id="327" r:id="rId7"/>
    <p:sldId id="328" r:id="rId8"/>
    <p:sldId id="329" r:id="rId9"/>
    <p:sldId id="330" r:id="rId10"/>
    <p:sldId id="331" r:id="rId11"/>
    <p:sldId id="332" r:id="rId12"/>
    <p:sldId id="333" r:id="rId13"/>
    <p:sldId id="334" r:id="rId14"/>
    <p:sldId id="335" r:id="rId15"/>
    <p:sldId id="336" r:id="rId16"/>
    <p:sldId id="337" r:id="rId17"/>
    <p:sldId id="338" r:id="rId18"/>
    <p:sldId id="339" r:id="rId19"/>
    <p:sldId id="340" r:id="rId20"/>
    <p:sldId id="341" r:id="rId21"/>
    <p:sldId id="342" r:id="rId22"/>
    <p:sldId id="343" r:id="rId23"/>
    <p:sldId id="344" r:id="rId24"/>
    <p:sldId id="345" r:id="rId25"/>
    <p:sldId id="256" r:id="rId26"/>
    <p:sldId id="258" r:id="rId27"/>
    <p:sldId id="259" r:id="rId28"/>
    <p:sldId id="260" r:id="rId29"/>
    <p:sldId id="261" r:id="rId30"/>
    <p:sldId id="262" r:id="rId31"/>
    <p:sldId id="263" r:id="rId32"/>
    <p:sldId id="264" r:id="rId33"/>
    <p:sldId id="265" r:id="rId34"/>
    <p:sldId id="266" r:id="rId35"/>
    <p:sldId id="299" r:id="rId36"/>
    <p:sldId id="300" r:id="rId37"/>
    <p:sldId id="301" r:id="rId38"/>
    <p:sldId id="302" r:id="rId39"/>
    <p:sldId id="303" r:id="rId40"/>
    <p:sldId id="304" r:id="rId41"/>
    <p:sldId id="305" r:id="rId42"/>
    <p:sldId id="306" r:id="rId43"/>
    <p:sldId id="307" r:id="rId44"/>
    <p:sldId id="308" r:id="rId45"/>
    <p:sldId id="277" r:id="rId46"/>
    <p:sldId id="278" r:id="rId47"/>
    <p:sldId id="267" r:id="rId48"/>
    <p:sldId id="268" r:id="rId49"/>
    <p:sldId id="269" r:id="rId50"/>
    <p:sldId id="283" r:id="rId51"/>
    <p:sldId id="270" r:id="rId52"/>
    <p:sldId id="284" r:id="rId53"/>
    <p:sldId id="285" r:id="rId54"/>
    <p:sldId id="286" r:id="rId55"/>
    <p:sldId id="287" r:id="rId56"/>
    <p:sldId id="288" r:id="rId57"/>
    <p:sldId id="289" r:id="rId58"/>
    <p:sldId id="290" r:id="rId59"/>
    <p:sldId id="291" r:id="rId60"/>
    <p:sldId id="292" r:id="rId61"/>
    <p:sldId id="293" r:id="rId62"/>
    <p:sldId id="294" r:id="rId63"/>
    <p:sldId id="295" r:id="rId64"/>
    <p:sldId id="296" r:id="rId65"/>
    <p:sldId id="297" r:id="rId66"/>
    <p:sldId id="298" r:id="rId67"/>
    <p:sldId id="310" r:id="rId68"/>
    <p:sldId id="311" r:id="rId69"/>
    <p:sldId id="312" r:id="rId70"/>
    <p:sldId id="313" r:id="rId71"/>
    <p:sldId id="314" r:id="rId72"/>
    <p:sldId id="315" r:id="rId73"/>
    <p:sldId id="316" r:id="rId74"/>
    <p:sldId id="317" r:id="rId75"/>
    <p:sldId id="318" r:id="rId76"/>
    <p:sldId id="319" r:id="rId77"/>
    <p:sldId id="320" r:id="rId78"/>
    <p:sldId id="321" r:id="rId79"/>
    <p:sldId id="322" r:id="rId80"/>
    <p:sldId id="346" r:id="rId81"/>
    <p:sldId id="347" r:id="rId82"/>
    <p:sldId id="348" r:id="rId83"/>
    <p:sldId id="349" r:id="rId84"/>
    <p:sldId id="350" r:id="rId85"/>
    <p:sldId id="351" r:id="rId86"/>
    <p:sldId id="352" r:id="rId87"/>
    <p:sldId id="353" r:id="rId88"/>
    <p:sldId id="354" r:id="rId89"/>
    <p:sldId id="355" r:id="rId90"/>
    <p:sldId id="356" r:id="rId91"/>
    <p:sldId id="357" r:id="rId92"/>
    <p:sldId id="358" r:id="rId93"/>
    <p:sldId id="359" r:id="rId94"/>
    <p:sldId id="360" r:id="rId95"/>
    <p:sldId id="361" r:id="rId96"/>
    <p:sldId id="362" r:id="rId97"/>
    <p:sldId id="363" r:id="rId98"/>
    <p:sldId id="364" r:id="rId99"/>
    <p:sldId id="365" r:id="rId100"/>
    <p:sldId id="366" r:id="rId101"/>
    <p:sldId id="367" r:id="rId102"/>
    <p:sldId id="368" r:id="rId103"/>
    <p:sldId id="369" r:id="rId104"/>
    <p:sldId id="370" r:id="rId105"/>
    <p:sldId id="371" r:id="rId106"/>
    <p:sldId id="372" r:id="rId107"/>
    <p:sldId id="373" r:id="rId108"/>
    <p:sldId id="374" r:id="rId109"/>
    <p:sldId id="375" r:id="rId1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4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6" y="6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viewProps" Target="viewProp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theme" Target="theme/theme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9C1AA-44D5-46C3-A8C1-9B7F0A9C771F}" type="datetimeFigureOut">
              <a:rPr lang="fr-FR" smtClean="0"/>
              <a:t>10/12/2015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39247-A9E0-4DE6-9DC4-56685A7D8F93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18416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9C1AA-44D5-46C3-A8C1-9B7F0A9C771F}" type="datetimeFigureOut">
              <a:rPr lang="fr-FR" smtClean="0"/>
              <a:t>10/12/2015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39247-A9E0-4DE6-9DC4-56685A7D8F93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000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9C1AA-44D5-46C3-A8C1-9B7F0A9C771F}" type="datetimeFigureOut">
              <a:rPr lang="fr-FR" smtClean="0"/>
              <a:t>10/12/2015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39247-A9E0-4DE6-9DC4-56685A7D8F93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99809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9C1AA-44D5-46C3-A8C1-9B7F0A9C771F}" type="datetimeFigureOut">
              <a:rPr lang="fr-FR" smtClean="0"/>
              <a:t>10/12/2015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39247-A9E0-4DE6-9DC4-56685A7D8F93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54560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9C1AA-44D5-46C3-A8C1-9B7F0A9C771F}" type="datetimeFigureOut">
              <a:rPr lang="fr-FR" smtClean="0"/>
              <a:t>10/12/2015</a:t>
            </a:fld>
            <a:endParaRPr lang="fr-FR" dirty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39247-A9E0-4DE6-9DC4-56685A7D8F93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97761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9C1AA-44D5-46C3-A8C1-9B7F0A9C771F}" type="datetimeFigureOut">
              <a:rPr lang="fr-FR" smtClean="0"/>
              <a:t>10/12/2015</a:t>
            </a:fld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39247-A9E0-4DE6-9DC4-56685A7D8F93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74729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9C1AA-44D5-46C3-A8C1-9B7F0A9C771F}" type="datetimeFigureOut">
              <a:rPr lang="fr-FR" smtClean="0"/>
              <a:t>10/12/2015</a:t>
            </a:fld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39247-A9E0-4DE6-9DC4-56685A7D8F93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76424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9C1AA-44D5-46C3-A8C1-9B7F0A9C771F}" type="datetimeFigureOut">
              <a:rPr lang="fr-FR" smtClean="0"/>
              <a:t>10/12/2015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39247-A9E0-4DE6-9DC4-56685A7D8F93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0375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9C1AA-44D5-46C3-A8C1-9B7F0A9C771F}" type="datetimeFigureOut">
              <a:rPr lang="fr-FR" smtClean="0"/>
              <a:t>10/12/2015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39247-A9E0-4DE6-9DC4-56685A7D8F93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27460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9C1AA-44D5-46C3-A8C1-9B7F0A9C771F}" type="datetimeFigureOut">
              <a:rPr lang="fr-FR" smtClean="0"/>
              <a:t>10/12/2015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39247-A9E0-4DE6-9DC4-56685A7D8F93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33136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9C1AA-44D5-46C3-A8C1-9B7F0A9C771F}" type="datetimeFigureOut">
              <a:rPr lang="fr-FR" smtClean="0"/>
              <a:t>10/12/2015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39247-A9E0-4DE6-9DC4-56685A7D8F93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80506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A9C1AA-44D5-46C3-A8C1-9B7F0A9C771F}" type="datetimeFigureOut">
              <a:rPr lang="fr-FR" smtClean="0"/>
              <a:t>10/12/2015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B39247-A9E0-4DE6-9DC4-56685A7D8F93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57493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92976" y="1162756"/>
            <a:ext cx="3600000" cy="1800000"/>
          </a:xfrm>
          <a:prstGeom prst="rect">
            <a:avLst/>
          </a:prstGeom>
          <a:noFill/>
          <a:effectLst>
            <a:glow rad="101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/>
          <p:cNvSpPr/>
          <p:nvPr/>
        </p:nvSpPr>
        <p:spPr>
          <a:xfrm>
            <a:off x="4509908" y="3211688"/>
            <a:ext cx="3600000" cy="1800000"/>
          </a:xfrm>
          <a:prstGeom prst="rect">
            <a:avLst/>
          </a:prstGeom>
          <a:noFill/>
          <a:effectLst>
            <a:glow rad="101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/>
          <p:cNvSpPr/>
          <p:nvPr/>
        </p:nvSpPr>
        <p:spPr>
          <a:xfrm>
            <a:off x="598311" y="1151467"/>
            <a:ext cx="3600000" cy="1800000"/>
          </a:xfrm>
          <a:prstGeom prst="rect">
            <a:avLst/>
          </a:prstGeom>
          <a:noFill/>
          <a:effectLst>
            <a:glow rad="101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615243" y="3200399"/>
            <a:ext cx="3600000" cy="1800000"/>
          </a:xfrm>
          <a:prstGeom prst="rect">
            <a:avLst/>
          </a:prstGeom>
          <a:noFill/>
          <a:effectLst>
            <a:glow rad="101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8376362" y="1151467"/>
            <a:ext cx="3600000" cy="1800000"/>
          </a:xfrm>
          <a:prstGeom prst="rect">
            <a:avLst/>
          </a:prstGeom>
          <a:noFill/>
          <a:effectLst>
            <a:glow rad="101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8393294" y="3200399"/>
            <a:ext cx="3600000" cy="1800000"/>
          </a:xfrm>
          <a:prstGeom prst="rect">
            <a:avLst/>
          </a:prstGeom>
          <a:noFill/>
          <a:effectLst>
            <a:glow rad="101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Titre 1"/>
          <p:cNvSpPr txBox="1">
            <a:spLocks/>
          </p:cNvSpPr>
          <p:nvPr/>
        </p:nvSpPr>
        <p:spPr>
          <a:xfrm>
            <a:off x="1200075" y="1683227"/>
            <a:ext cx="2452916" cy="560153"/>
          </a:xfrm>
          <a:prstGeom prst="rect">
            <a:avLst/>
          </a:prstGeom>
        </p:spPr>
        <p:txBody>
          <a:bodyPr vert="horz" wrap="none" lIns="91440" tIns="45720" rIns="91440" bIns="4572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32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Acte médical</a:t>
            </a:r>
            <a:endParaRPr lang="fr-FR" sz="3200" dirty="0"/>
          </a:p>
        </p:txBody>
      </p:sp>
      <p:sp>
        <p:nvSpPr>
          <p:cNvPr id="11" name="Titre 1"/>
          <p:cNvSpPr txBox="1">
            <a:spLocks/>
          </p:cNvSpPr>
          <p:nvPr/>
        </p:nvSpPr>
        <p:spPr>
          <a:xfrm>
            <a:off x="5595783" y="1688873"/>
            <a:ext cx="1484702" cy="560153"/>
          </a:xfrm>
          <a:prstGeom prst="rect">
            <a:avLst/>
          </a:prstGeom>
        </p:spPr>
        <p:txBody>
          <a:bodyPr vert="horz" wrap="none" lIns="91440" tIns="45720" rIns="91440" bIns="4572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32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Accueil</a:t>
            </a:r>
            <a:endParaRPr lang="fr-FR" sz="3200" dirty="0"/>
          </a:p>
        </p:txBody>
      </p:sp>
      <p:sp>
        <p:nvSpPr>
          <p:cNvPr id="12" name="Titre 1"/>
          <p:cNvSpPr txBox="1">
            <a:spLocks/>
          </p:cNvSpPr>
          <p:nvPr/>
        </p:nvSpPr>
        <p:spPr>
          <a:xfrm>
            <a:off x="9406260" y="1680708"/>
            <a:ext cx="1529586" cy="560153"/>
          </a:xfrm>
          <a:prstGeom prst="rect">
            <a:avLst/>
          </a:prstGeom>
        </p:spPr>
        <p:txBody>
          <a:bodyPr vert="horz" wrap="none" lIns="91440" tIns="45720" rIns="91440" bIns="4572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32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Agenda</a:t>
            </a:r>
            <a:endParaRPr lang="fr-FR" sz="3200" dirty="0"/>
          </a:p>
        </p:txBody>
      </p:sp>
      <p:sp>
        <p:nvSpPr>
          <p:cNvPr id="13" name="Titre 1"/>
          <p:cNvSpPr txBox="1">
            <a:spLocks/>
          </p:cNvSpPr>
          <p:nvPr/>
        </p:nvSpPr>
        <p:spPr>
          <a:xfrm>
            <a:off x="1360941" y="3720873"/>
            <a:ext cx="2052165" cy="560153"/>
          </a:xfrm>
          <a:prstGeom prst="rect">
            <a:avLst/>
          </a:prstGeom>
        </p:spPr>
        <p:txBody>
          <a:bodyPr vert="horz" wrap="none" lIns="91440" tIns="45720" rIns="91440" bIns="4572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32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Statistique</a:t>
            </a:r>
            <a:endParaRPr lang="fr-FR" sz="3200" dirty="0"/>
          </a:p>
        </p:txBody>
      </p:sp>
      <p:sp>
        <p:nvSpPr>
          <p:cNvPr id="14" name="Titre 1"/>
          <p:cNvSpPr txBox="1">
            <a:spLocks/>
          </p:cNvSpPr>
          <p:nvPr/>
        </p:nvSpPr>
        <p:spPr>
          <a:xfrm>
            <a:off x="5364248" y="3732161"/>
            <a:ext cx="1962397" cy="560153"/>
          </a:xfrm>
          <a:prstGeom prst="rect">
            <a:avLst/>
          </a:prstGeom>
        </p:spPr>
        <p:txBody>
          <a:bodyPr vert="horz" wrap="none" lIns="91440" tIns="45720" rIns="91440" bIns="4572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en-US" altLang="fr-FR" sz="32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Reporting</a:t>
            </a:r>
            <a:endParaRPr lang="en-US" sz="3200" dirty="0"/>
          </a:p>
        </p:txBody>
      </p:sp>
      <p:sp>
        <p:nvSpPr>
          <p:cNvPr id="15" name="Titre 1"/>
          <p:cNvSpPr txBox="1">
            <a:spLocks/>
          </p:cNvSpPr>
          <p:nvPr/>
        </p:nvSpPr>
        <p:spPr>
          <a:xfrm>
            <a:off x="9497240" y="3720870"/>
            <a:ext cx="1483098" cy="560153"/>
          </a:xfrm>
          <a:prstGeom prst="rect">
            <a:avLst/>
          </a:prstGeom>
        </p:spPr>
        <p:txBody>
          <a:bodyPr vert="horz" wrap="none" lIns="91440" tIns="45720" rIns="91440" bIns="4572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32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Quitter</a:t>
            </a:r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30881407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4530810" y="59579"/>
            <a:ext cx="3298193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01 – Patient - Accueil /</a:t>
            </a:r>
            <a:b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</a:br>
            <a:r>
              <a:rPr lang="fr-FR" altLang="fr-FR" sz="1800" b="1" dirty="0" smtClean="0">
                <a:latin typeface="Times New Roman" panose="02020603050405020304" pitchFamily="18" charset="0"/>
              </a:rPr>
              <a:t>Identification patient</a:t>
            </a:r>
            <a:endParaRPr lang="fr-FR" sz="1800" dirty="0"/>
          </a:p>
        </p:txBody>
      </p:sp>
      <p:sp>
        <p:nvSpPr>
          <p:cNvPr id="3" name="Rectangle 2"/>
          <p:cNvSpPr/>
          <p:nvPr/>
        </p:nvSpPr>
        <p:spPr>
          <a:xfrm>
            <a:off x="1949179" y="1959812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363113" y="1865043"/>
            <a:ext cx="1619955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Nom de naissance *</a:t>
            </a:r>
            <a:endParaRPr lang="fr-FR" sz="1400" dirty="0"/>
          </a:p>
        </p:txBody>
      </p:sp>
      <p:sp>
        <p:nvSpPr>
          <p:cNvPr id="5" name="Rectangle 4"/>
          <p:cNvSpPr/>
          <p:nvPr/>
        </p:nvSpPr>
        <p:spPr>
          <a:xfrm>
            <a:off x="4816578" y="1966414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Titre 1"/>
          <p:cNvSpPr txBox="1">
            <a:spLocks/>
          </p:cNvSpPr>
          <p:nvPr/>
        </p:nvSpPr>
        <p:spPr>
          <a:xfrm>
            <a:off x="3944303" y="1937309"/>
            <a:ext cx="908699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Prénom *</a:t>
            </a:r>
            <a:endParaRPr lang="fr-FR" sz="1400" dirty="0"/>
          </a:p>
        </p:txBody>
      </p:sp>
      <p:sp>
        <p:nvSpPr>
          <p:cNvPr id="7" name="Rectangle 6"/>
          <p:cNvSpPr/>
          <p:nvPr/>
        </p:nvSpPr>
        <p:spPr>
          <a:xfrm>
            <a:off x="1949178" y="2356640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Titre 1"/>
          <p:cNvSpPr txBox="1">
            <a:spLocks/>
          </p:cNvSpPr>
          <p:nvPr/>
        </p:nvSpPr>
        <p:spPr>
          <a:xfrm>
            <a:off x="341566" y="2287069"/>
            <a:ext cx="1678782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de  naissance *</a:t>
            </a:r>
            <a:endParaRPr lang="fr-FR" sz="1400" dirty="0"/>
          </a:p>
        </p:txBody>
      </p:sp>
      <p:sp>
        <p:nvSpPr>
          <p:cNvPr id="9" name="Rectangle 8"/>
          <p:cNvSpPr/>
          <p:nvPr/>
        </p:nvSpPr>
        <p:spPr>
          <a:xfrm>
            <a:off x="1932172" y="2771551"/>
            <a:ext cx="1708252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Titre 1"/>
          <p:cNvSpPr txBox="1">
            <a:spLocks/>
          </p:cNvSpPr>
          <p:nvPr/>
        </p:nvSpPr>
        <p:spPr>
          <a:xfrm>
            <a:off x="293195" y="2673450"/>
            <a:ext cx="178030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Wilaya de  naissance</a:t>
            </a:r>
            <a:endParaRPr lang="fr-FR" sz="1400" dirty="0"/>
          </a:p>
        </p:txBody>
      </p:sp>
      <p:sp>
        <p:nvSpPr>
          <p:cNvPr id="11" name="Rectangle 10"/>
          <p:cNvSpPr/>
          <p:nvPr/>
        </p:nvSpPr>
        <p:spPr>
          <a:xfrm>
            <a:off x="8189188" y="2410296"/>
            <a:ext cx="828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" name="Titre 1"/>
          <p:cNvSpPr txBox="1">
            <a:spLocks/>
          </p:cNvSpPr>
          <p:nvPr/>
        </p:nvSpPr>
        <p:spPr>
          <a:xfrm>
            <a:off x="6623300" y="2301178"/>
            <a:ext cx="1612725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Situation familiale</a:t>
            </a:r>
            <a:endParaRPr lang="fr-FR" sz="1400" dirty="0"/>
          </a:p>
        </p:txBody>
      </p:sp>
      <p:sp>
        <p:nvSpPr>
          <p:cNvPr id="13" name="Rectangle 12"/>
          <p:cNvSpPr/>
          <p:nvPr/>
        </p:nvSpPr>
        <p:spPr>
          <a:xfrm>
            <a:off x="4839317" y="2390150"/>
            <a:ext cx="144893" cy="20856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" name="Titre 1"/>
          <p:cNvSpPr txBox="1">
            <a:spLocks/>
          </p:cNvSpPr>
          <p:nvPr/>
        </p:nvSpPr>
        <p:spPr>
          <a:xfrm>
            <a:off x="3987672" y="2312526"/>
            <a:ext cx="1009334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Présumé</a:t>
            </a:r>
            <a:endParaRPr lang="fr-FR" sz="1400" dirty="0"/>
          </a:p>
        </p:txBody>
      </p:sp>
      <p:sp>
        <p:nvSpPr>
          <p:cNvPr id="15" name="Triangle isocèle 14"/>
          <p:cNvSpPr/>
          <p:nvPr/>
        </p:nvSpPr>
        <p:spPr>
          <a:xfrm rot="10800000">
            <a:off x="8838787" y="2432415"/>
            <a:ext cx="175159" cy="237507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6" name="Rectangle 15"/>
          <p:cNvSpPr/>
          <p:nvPr/>
        </p:nvSpPr>
        <p:spPr>
          <a:xfrm>
            <a:off x="8189188" y="1959812"/>
            <a:ext cx="828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" name="Titre 1"/>
          <p:cNvSpPr txBox="1">
            <a:spLocks/>
          </p:cNvSpPr>
          <p:nvPr/>
        </p:nvSpPr>
        <p:spPr>
          <a:xfrm>
            <a:off x="6978276" y="1937299"/>
            <a:ext cx="582889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Sexe</a:t>
            </a:r>
            <a:endParaRPr lang="fr-FR" sz="1400" dirty="0"/>
          </a:p>
        </p:txBody>
      </p:sp>
      <p:sp>
        <p:nvSpPr>
          <p:cNvPr id="18" name="Triangle isocèle 17"/>
          <p:cNvSpPr/>
          <p:nvPr/>
        </p:nvSpPr>
        <p:spPr>
          <a:xfrm rot="10800000">
            <a:off x="8817880" y="1992545"/>
            <a:ext cx="175159" cy="237507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9" name="Rectangle 18"/>
          <p:cNvSpPr/>
          <p:nvPr/>
        </p:nvSpPr>
        <p:spPr>
          <a:xfrm>
            <a:off x="10262303" y="2393238"/>
            <a:ext cx="987416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" name="Titre 1"/>
          <p:cNvSpPr txBox="1">
            <a:spLocks/>
          </p:cNvSpPr>
          <p:nvPr/>
        </p:nvSpPr>
        <p:spPr>
          <a:xfrm>
            <a:off x="9101130" y="2375238"/>
            <a:ext cx="1494142" cy="324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Nom marital</a:t>
            </a:r>
            <a:endParaRPr lang="fr-FR" sz="1400" dirty="0"/>
          </a:p>
        </p:txBody>
      </p:sp>
      <p:sp>
        <p:nvSpPr>
          <p:cNvPr id="21" name="Rectangle 20"/>
          <p:cNvSpPr/>
          <p:nvPr/>
        </p:nvSpPr>
        <p:spPr>
          <a:xfrm>
            <a:off x="6018521" y="2397693"/>
            <a:ext cx="479631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2" name="Titre 1"/>
          <p:cNvSpPr txBox="1">
            <a:spLocks/>
          </p:cNvSpPr>
          <p:nvPr/>
        </p:nvSpPr>
        <p:spPr>
          <a:xfrm>
            <a:off x="5550932" y="2308414"/>
            <a:ext cx="50941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Âge</a:t>
            </a:r>
            <a:endParaRPr lang="fr-FR" sz="1400" dirty="0"/>
          </a:p>
        </p:txBody>
      </p:sp>
      <p:sp>
        <p:nvSpPr>
          <p:cNvPr id="23" name="Rectangle 22"/>
          <p:cNvSpPr/>
          <p:nvPr/>
        </p:nvSpPr>
        <p:spPr>
          <a:xfrm>
            <a:off x="191992" y="594181"/>
            <a:ext cx="11758269" cy="535570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4" name="Titre 1"/>
          <p:cNvSpPr txBox="1">
            <a:spLocks/>
          </p:cNvSpPr>
          <p:nvPr/>
        </p:nvSpPr>
        <p:spPr>
          <a:xfrm>
            <a:off x="185127" y="5964589"/>
            <a:ext cx="11812634" cy="79709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000" dirty="0" smtClean="0"/>
              <a:t>Type </a:t>
            </a:r>
            <a:r>
              <a:rPr lang="fr-FR" sz="1000" dirty="0"/>
              <a:t>de </a:t>
            </a:r>
            <a:r>
              <a:rPr lang="fr-FR" sz="1000" dirty="0" smtClean="0"/>
              <a:t>patient (catégorie des patients) : Hospitalisation – Patient externe – Prise en charge. </a:t>
            </a:r>
            <a:endParaRPr lang="fr-FR" sz="1000" dirty="0"/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000" dirty="0"/>
              <a:t>Type </a:t>
            </a:r>
            <a:r>
              <a:rPr lang="fr-FR" sz="1000" dirty="0" smtClean="0"/>
              <a:t>Pièce d’identité (P,I)  : Carte d’identité (CI) – Permis de conduire (PC)  – passeport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000" dirty="0" smtClean="0"/>
              <a:t>Mode de facturation : Normale – Garde – Férie.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000" dirty="0" smtClean="0"/>
              <a:t>Si le sexe = Homme ne pas afficher le champs  ‘’nom marital’’.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000" dirty="0" smtClean="0"/>
              <a:t>Si le patient existe déjà dans la base de donnée affiché un message d’alerte «</a:t>
            </a:r>
            <a:r>
              <a:rPr lang="fr-FR" sz="1000" dirty="0"/>
              <a:t> </a:t>
            </a:r>
            <a:r>
              <a:rPr lang="fr-FR" sz="1000" dirty="0" smtClean="0"/>
              <a:t>patient existe »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43" name="Rectangle 42"/>
          <p:cNvSpPr/>
          <p:nvPr/>
        </p:nvSpPr>
        <p:spPr>
          <a:xfrm>
            <a:off x="5721259" y="2778206"/>
            <a:ext cx="783524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4" name="Titre 1"/>
          <p:cNvSpPr txBox="1">
            <a:spLocks/>
          </p:cNvSpPr>
          <p:nvPr/>
        </p:nvSpPr>
        <p:spPr>
          <a:xfrm>
            <a:off x="3716837" y="2722818"/>
            <a:ext cx="2045277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Commune de  naissance</a:t>
            </a:r>
            <a:endParaRPr lang="fr-FR" sz="1400" dirty="0"/>
          </a:p>
        </p:txBody>
      </p:sp>
      <p:sp>
        <p:nvSpPr>
          <p:cNvPr id="45" name="Triangle isocèle 44"/>
          <p:cNvSpPr/>
          <p:nvPr/>
        </p:nvSpPr>
        <p:spPr>
          <a:xfrm rot="10800000">
            <a:off x="3484752" y="2783591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6" name="Triangle isocèle 45"/>
          <p:cNvSpPr/>
          <p:nvPr/>
        </p:nvSpPr>
        <p:spPr>
          <a:xfrm rot="10800000">
            <a:off x="6311671" y="2803678"/>
            <a:ext cx="180000" cy="252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6" name="Rectangle 55"/>
          <p:cNvSpPr/>
          <p:nvPr/>
        </p:nvSpPr>
        <p:spPr>
          <a:xfrm>
            <a:off x="8279842" y="5517828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Valider </a:t>
            </a:r>
            <a:endParaRPr lang="fr-FR" sz="1400" dirty="0"/>
          </a:p>
        </p:txBody>
      </p:sp>
      <p:sp>
        <p:nvSpPr>
          <p:cNvPr id="67" name="Titre 1"/>
          <p:cNvSpPr txBox="1">
            <a:spLocks/>
          </p:cNvSpPr>
          <p:nvPr/>
        </p:nvSpPr>
        <p:spPr>
          <a:xfrm>
            <a:off x="4984210" y="3165467"/>
            <a:ext cx="764815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dirty="0" smtClean="0"/>
              <a:t>Wilaya </a:t>
            </a:r>
            <a:endParaRPr lang="fr-FR" sz="1400" dirty="0"/>
          </a:p>
        </p:txBody>
      </p:sp>
      <p:sp>
        <p:nvSpPr>
          <p:cNvPr id="70" name="Rectangle 69"/>
          <p:cNvSpPr/>
          <p:nvPr/>
        </p:nvSpPr>
        <p:spPr>
          <a:xfrm>
            <a:off x="1940930" y="3188326"/>
            <a:ext cx="28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1" name="Titre 1"/>
          <p:cNvSpPr txBox="1">
            <a:spLocks/>
          </p:cNvSpPr>
          <p:nvPr/>
        </p:nvSpPr>
        <p:spPr>
          <a:xfrm>
            <a:off x="1140028" y="3150626"/>
            <a:ext cx="929476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Adresse * </a:t>
            </a:r>
            <a:endParaRPr lang="fr-FR" sz="1400" dirty="0"/>
          </a:p>
        </p:txBody>
      </p:sp>
      <p:sp>
        <p:nvSpPr>
          <p:cNvPr id="72" name="Rectangle 71"/>
          <p:cNvSpPr/>
          <p:nvPr/>
        </p:nvSpPr>
        <p:spPr>
          <a:xfrm>
            <a:off x="5720369" y="3196696"/>
            <a:ext cx="133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3" name="Titre 1"/>
          <p:cNvSpPr txBox="1">
            <a:spLocks/>
          </p:cNvSpPr>
          <p:nvPr/>
        </p:nvSpPr>
        <p:spPr>
          <a:xfrm>
            <a:off x="7156453" y="3118271"/>
            <a:ext cx="109974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Commune</a:t>
            </a:r>
            <a:endParaRPr lang="fr-FR" sz="1200" dirty="0" smtClean="0"/>
          </a:p>
        </p:txBody>
      </p:sp>
      <p:sp>
        <p:nvSpPr>
          <p:cNvPr id="74" name="Rectangle 73"/>
          <p:cNvSpPr/>
          <p:nvPr/>
        </p:nvSpPr>
        <p:spPr>
          <a:xfrm>
            <a:off x="8194031" y="3171385"/>
            <a:ext cx="109055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5" name="Titre 1"/>
          <p:cNvSpPr txBox="1">
            <a:spLocks/>
          </p:cNvSpPr>
          <p:nvPr/>
        </p:nvSpPr>
        <p:spPr>
          <a:xfrm>
            <a:off x="9459203" y="3103833"/>
            <a:ext cx="108300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Code Postal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560745" y="3144311"/>
            <a:ext cx="671988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6" name="Triangle isocèle 85"/>
          <p:cNvSpPr/>
          <p:nvPr/>
        </p:nvSpPr>
        <p:spPr>
          <a:xfrm rot="10800000">
            <a:off x="9085448" y="3195219"/>
            <a:ext cx="175159" cy="237507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8" name="Triangle isocèle 87"/>
          <p:cNvSpPr/>
          <p:nvPr/>
        </p:nvSpPr>
        <p:spPr>
          <a:xfrm rot="10800000">
            <a:off x="6863958" y="3219502"/>
            <a:ext cx="175159" cy="237507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2" name="Titre 1"/>
          <p:cNvSpPr txBox="1">
            <a:spLocks/>
          </p:cNvSpPr>
          <p:nvPr/>
        </p:nvSpPr>
        <p:spPr>
          <a:xfrm>
            <a:off x="1240161" y="3573020"/>
            <a:ext cx="1519033" cy="26926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E-mail</a:t>
            </a:r>
            <a:endParaRPr lang="fr-FR" sz="1400" dirty="0"/>
          </a:p>
        </p:txBody>
      </p:sp>
      <p:sp>
        <p:nvSpPr>
          <p:cNvPr id="93" name="Rectangle 92"/>
          <p:cNvSpPr/>
          <p:nvPr/>
        </p:nvSpPr>
        <p:spPr>
          <a:xfrm>
            <a:off x="1951662" y="3584644"/>
            <a:ext cx="1660572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4773307" y="3581907"/>
            <a:ext cx="1063710" cy="2710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Téléphone</a:t>
            </a:r>
            <a:endParaRPr lang="fr-FR" sz="1400" dirty="0"/>
          </a:p>
        </p:txBody>
      </p:sp>
      <p:sp>
        <p:nvSpPr>
          <p:cNvPr id="95" name="Rectangle 94"/>
          <p:cNvSpPr/>
          <p:nvPr/>
        </p:nvSpPr>
        <p:spPr>
          <a:xfrm>
            <a:off x="5721259" y="3581907"/>
            <a:ext cx="133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311736" y="1786507"/>
            <a:ext cx="11160000" cy="2245061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10158438" y="5521382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Imprimer</a:t>
            </a:r>
            <a:endParaRPr lang="fr-FR" sz="1400" dirty="0"/>
          </a:p>
        </p:txBody>
      </p:sp>
      <p:sp>
        <p:nvSpPr>
          <p:cNvPr id="100" name="Titre 1"/>
          <p:cNvSpPr txBox="1">
            <a:spLocks/>
          </p:cNvSpPr>
          <p:nvPr/>
        </p:nvSpPr>
        <p:spPr>
          <a:xfrm>
            <a:off x="708698" y="795288"/>
            <a:ext cx="1175322" cy="29700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de dossier </a:t>
            </a:r>
            <a:endParaRPr lang="fr-FR" sz="1400" dirty="0"/>
          </a:p>
        </p:txBody>
      </p:sp>
      <p:sp>
        <p:nvSpPr>
          <p:cNvPr id="101" name="Rectangle 100"/>
          <p:cNvSpPr/>
          <p:nvPr/>
        </p:nvSpPr>
        <p:spPr>
          <a:xfrm>
            <a:off x="1947031" y="774301"/>
            <a:ext cx="1151809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Rectangle 101"/>
          <p:cNvSpPr/>
          <p:nvPr/>
        </p:nvSpPr>
        <p:spPr>
          <a:xfrm>
            <a:off x="341566" y="692172"/>
            <a:ext cx="11160000" cy="904491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3" name="Titre 1"/>
          <p:cNvSpPr txBox="1">
            <a:spLocks/>
          </p:cNvSpPr>
          <p:nvPr/>
        </p:nvSpPr>
        <p:spPr>
          <a:xfrm>
            <a:off x="397196" y="1126643"/>
            <a:ext cx="1541912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Date </a:t>
            </a:r>
            <a:r>
              <a:rPr lang="fr-FR" dirty="0" smtClean="0"/>
              <a:t>d'admission *</a:t>
            </a:r>
            <a:endParaRPr lang="fr-FR" dirty="0"/>
          </a:p>
        </p:txBody>
      </p:sp>
      <p:sp>
        <p:nvSpPr>
          <p:cNvPr id="104" name="Rectangle 103"/>
          <p:cNvSpPr/>
          <p:nvPr/>
        </p:nvSpPr>
        <p:spPr>
          <a:xfrm>
            <a:off x="1978903" y="1155893"/>
            <a:ext cx="1125858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5" name="Triangle isocèle 104"/>
          <p:cNvSpPr/>
          <p:nvPr/>
        </p:nvSpPr>
        <p:spPr>
          <a:xfrm rot="10800000">
            <a:off x="5792320" y="1142676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0" name="Titre 1"/>
          <p:cNvSpPr txBox="1">
            <a:spLocks/>
          </p:cNvSpPr>
          <p:nvPr/>
        </p:nvSpPr>
        <p:spPr>
          <a:xfrm>
            <a:off x="3266290" y="1120018"/>
            <a:ext cx="1541912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smtClean="0"/>
              <a:t>Type de patient</a:t>
            </a:r>
            <a:endParaRPr lang="fr-FR" dirty="0"/>
          </a:p>
        </p:txBody>
      </p:sp>
      <p:sp>
        <p:nvSpPr>
          <p:cNvPr id="111" name="Rectangle 110"/>
          <p:cNvSpPr/>
          <p:nvPr/>
        </p:nvSpPr>
        <p:spPr>
          <a:xfrm>
            <a:off x="4834745" y="1122764"/>
            <a:ext cx="1125858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2" name="Titre 1"/>
          <p:cNvSpPr txBox="1">
            <a:spLocks/>
          </p:cNvSpPr>
          <p:nvPr/>
        </p:nvSpPr>
        <p:spPr>
          <a:xfrm>
            <a:off x="6461216" y="1120262"/>
            <a:ext cx="836337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smtClean="0"/>
              <a:t>Service</a:t>
            </a:r>
            <a:endParaRPr lang="fr-FR" dirty="0"/>
          </a:p>
        </p:txBody>
      </p:sp>
      <p:sp>
        <p:nvSpPr>
          <p:cNvPr id="113" name="Rectangle 112"/>
          <p:cNvSpPr/>
          <p:nvPr/>
        </p:nvSpPr>
        <p:spPr>
          <a:xfrm>
            <a:off x="7246646" y="1122764"/>
            <a:ext cx="1125858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4" name="Triangle isocèle 113"/>
          <p:cNvSpPr/>
          <p:nvPr/>
        </p:nvSpPr>
        <p:spPr>
          <a:xfrm rot="10800000">
            <a:off x="11067149" y="1122782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5" name="Titre 1"/>
          <p:cNvSpPr txBox="1">
            <a:spLocks/>
          </p:cNvSpPr>
          <p:nvPr/>
        </p:nvSpPr>
        <p:spPr>
          <a:xfrm>
            <a:off x="8534033" y="1113393"/>
            <a:ext cx="1541912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smtClean="0"/>
              <a:t>Médecin traitant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0115740" y="1116139"/>
            <a:ext cx="1125858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7" name="Triangle isocèle 116"/>
          <p:cNvSpPr/>
          <p:nvPr/>
        </p:nvSpPr>
        <p:spPr>
          <a:xfrm rot="10800000">
            <a:off x="8184796" y="1142662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9" name="Rectangle 118"/>
          <p:cNvSpPr/>
          <p:nvPr/>
        </p:nvSpPr>
        <p:spPr>
          <a:xfrm>
            <a:off x="1939109" y="4430603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0" name="Titre 1"/>
          <p:cNvSpPr txBox="1">
            <a:spLocks/>
          </p:cNvSpPr>
          <p:nvPr/>
        </p:nvSpPr>
        <p:spPr>
          <a:xfrm>
            <a:off x="1146160" y="4374798"/>
            <a:ext cx="78595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Type </a:t>
            </a:r>
            <a:r>
              <a:rPr lang="fr-FR" sz="1400" dirty="0" smtClean="0"/>
              <a:t>P.I</a:t>
            </a:r>
            <a:endParaRPr lang="fr-FR" sz="1400" dirty="0"/>
          </a:p>
        </p:txBody>
      </p:sp>
      <p:sp>
        <p:nvSpPr>
          <p:cNvPr id="121" name="Rectangle 120"/>
          <p:cNvSpPr/>
          <p:nvPr/>
        </p:nvSpPr>
        <p:spPr>
          <a:xfrm>
            <a:off x="6749004" y="4390433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3" name="Rectangle 122"/>
          <p:cNvSpPr/>
          <p:nvPr/>
        </p:nvSpPr>
        <p:spPr>
          <a:xfrm>
            <a:off x="4071626" y="4421314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4" name="Titre 1"/>
          <p:cNvSpPr txBox="1">
            <a:spLocks/>
          </p:cNvSpPr>
          <p:nvPr/>
        </p:nvSpPr>
        <p:spPr>
          <a:xfrm>
            <a:off x="3383247" y="4388568"/>
            <a:ext cx="604425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P.I</a:t>
            </a:r>
            <a:endParaRPr lang="fr-FR" sz="1400" dirty="0"/>
          </a:p>
        </p:txBody>
      </p:sp>
      <p:sp>
        <p:nvSpPr>
          <p:cNvPr id="125" name="Triangle isocèle 124"/>
          <p:cNvSpPr/>
          <p:nvPr/>
        </p:nvSpPr>
        <p:spPr>
          <a:xfrm rot="10800000">
            <a:off x="2829320" y="4441409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6" name="Rectangle 125"/>
          <p:cNvSpPr/>
          <p:nvPr/>
        </p:nvSpPr>
        <p:spPr>
          <a:xfrm>
            <a:off x="9136376" y="4388170"/>
            <a:ext cx="987416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Titre 1"/>
          <p:cNvSpPr txBox="1">
            <a:spLocks/>
          </p:cNvSpPr>
          <p:nvPr/>
        </p:nvSpPr>
        <p:spPr>
          <a:xfrm>
            <a:off x="8117700" y="4354433"/>
            <a:ext cx="1494142" cy="324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Délivré le</a:t>
            </a:r>
          </a:p>
        </p:txBody>
      </p:sp>
      <p:sp>
        <p:nvSpPr>
          <p:cNvPr id="129" name="Titre 1"/>
          <p:cNvSpPr txBox="1">
            <a:spLocks/>
          </p:cNvSpPr>
          <p:nvPr/>
        </p:nvSpPr>
        <p:spPr>
          <a:xfrm>
            <a:off x="5663576" y="4382378"/>
            <a:ext cx="1072368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Délivré </a:t>
            </a:r>
            <a:r>
              <a:rPr lang="fr-FR" sz="1400" dirty="0" smtClean="0"/>
              <a:t>par</a:t>
            </a:r>
            <a:endParaRPr lang="fr-FR" sz="1400" dirty="0"/>
          </a:p>
        </p:txBody>
      </p:sp>
      <p:sp>
        <p:nvSpPr>
          <p:cNvPr id="141" name="Rectangle 140"/>
          <p:cNvSpPr/>
          <p:nvPr/>
        </p:nvSpPr>
        <p:spPr>
          <a:xfrm>
            <a:off x="1919233" y="4940807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2" name="Titre 1"/>
          <p:cNvSpPr txBox="1">
            <a:spLocks/>
          </p:cNvSpPr>
          <p:nvPr/>
        </p:nvSpPr>
        <p:spPr>
          <a:xfrm>
            <a:off x="436235" y="4898616"/>
            <a:ext cx="1476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Mode facturation</a:t>
            </a:r>
            <a:endParaRPr lang="fr-FR" sz="1400" dirty="0"/>
          </a:p>
        </p:txBody>
      </p:sp>
      <p:sp>
        <p:nvSpPr>
          <p:cNvPr id="143" name="Triangle isocèle 142"/>
          <p:cNvSpPr/>
          <p:nvPr/>
        </p:nvSpPr>
        <p:spPr>
          <a:xfrm rot="10800000">
            <a:off x="2809444" y="4951613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4" name="Rectangle 143"/>
          <p:cNvSpPr/>
          <p:nvPr/>
        </p:nvSpPr>
        <p:spPr>
          <a:xfrm>
            <a:off x="5178336" y="4913933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5" name="Titre 1"/>
          <p:cNvSpPr txBox="1">
            <a:spLocks/>
          </p:cNvSpPr>
          <p:nvPr/>
        </p:nvSpPr>
        <p:spPr>
          <a:xfrm>
            <a:off x="4181191" y="4870590"/>
            <a:ext cx="1044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Convention</a:t>
            </a:r>
            <a:endParaRPr lang="fr-FR" sz="1400" dirty="0"/>
          </a:p>
        </p:txBody>
      </p:sp>
      <p:sp>
        <p:nvSpPr>
          <p:cNvPr id="146" name="Triangle isocèle 145"/>
          <p:cNvSpPr/>
          <p:nvPr/>
        </p:nvSpPr>
        <p:spPr>
          <a:xfrm rot="10800000">
            <a:off x="6071107" y="4911659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7" name="Rectangle 146"/>
          <p:cNvSpPr/>
          <p:nvPr/>
        </p:nvSpPr>
        <p:spPr>
          <a:xfrm>
            <a:off x="348194" y="4250381"/>
            <a:ext cx="11160000" cy="116339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8" name="Rectangle 147"/>
          <p:cNvSpPr/>
          <p:nvPr/>
        </p:nvSpPr>
        <p:spPr>
          <a:xfrm>
            <a:off x="4072744" y="4967879"/>
            <a:ext cx="144893" cy="20856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21511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4530811" y="59579"/>
            <a:ext cx="3298193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02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Patient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- Accueil /</a:t>
            </a:r>
            <a:b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</a:br>
            <a:r>
              <a:rPr lang="fr-FR" altLang="fr-FR" sz="1800" b="1" dirty="0" smtClean="0">
                <a:latin typeface="Times New Roman" panose="02020603050405020304" pitchFamily="18" charset="0"/>
              </a:rPr>
              <a:t>Acte médical</a:t>
            </a:r>
            <a:endParaRPr lang="fr-FR" sz="1800" dirty="0"/>
          </a:p>
        </p:txBody>
      </p:sp>
      <p:sp>
        <p:nvSpPr>
          <p:cNvPr id="3" name="Rectangle 2"/>
          <p:cNvSpPr/>
          <p:nvPr/>
        </p:nvSpPr>
        <p:spPr>
          <a:xfrm>
            <a:off x="1949179" y="1959812"/>
            <a:ext cx="1691245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363113" y="1865043"/>
            <a:ext cx="1619955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Nom de naissance *</a:t>
            </a:r>
            <a:endParaRPr lang="fr-FR" sz="1400" dirty="0"/>
          </a:p>
        </p:txBody>
      </p:sp>
      <p:sp>
        <p:nvSpPr>
          <p:cNvPr id="5" name="Rectangle 4"/>
          <p:cNvSpPr/>
          <p:nvPr/>
        </p:nvSpPr>
        <p:spPr>
          <a:xfrm>
            <a:off x="4816578" y="1966414"/>
            <a:ext cx="1691245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Titre 1"/>
          <p:cNvSpPr txBox="1">
            <a:spLocks/>
          </p:cNvSpPr>
          <p:nvPr/>
        </p:nvSpPr>
        <p:spPr>
          <a:xfrm>
            <a:off x="3944303" y="1937309"/>
            <a:ext cx="908699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Prénom *</a:t>
            </a:r>
            <a:endParaRPr lang="fr-FR" sz="1400" dirty="0"/>
          </a:p>
        </p:txBody>
      </p:sp>
      <p:sp>
        <p:nvSpPr>
          <p:cNvPr id="7" name="Rectangle 6"/>
          <p:cNvSpPr/>
          <p:nvPr/>
        </p:nvSpPr>
        <p:spPr>
          <a:xfrm>
            <a:off x="1949178" y="2356640"/>
            <a:ext cx="1691245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Titre 1"/>
          <p:cNvSpPr txBox="1">
            <a:spLocks/>
          </p:cNvSpPr>
          <p:nvPr/>
        </p:nvSpPr>
        <p:spPr>
          <a:xfrm>
            <a:off x="341566" y="2287069"/>
            <a:ext cx="1678782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de  naissance *</a:t>
            </a:r>
            <a:endParaRPr lang="fr-FR" sz="1400" dirty="0"/>
          </a:p>
        </p:txBody>
      </p:sp>
      <p:sp>
        <p:nvSpPr>
          <p:cNvPr id="9" name="Rectangle 8"/>
          <p:cNvSpPr/>
          <p:nvPr/>
        </p:nvSpPr>
        <p:spPr>
          <a:xfrm>
            <a:off x="1932172" y="2771551"/>
            <a:ext cx="1708252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Titre 1"/>
          <p:cNvSpPr txBox="1">
            <a:spLocks/>
          </p:cNvSpPr>
          <p:nvPr/>
        </p:nvSpPr>
        <p:spPr>
          <a:xfrm>
            <a:off x="293195" y="2673450"/>
            <a:ext cx="178030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Wilaya de  naissance</a:t>
            </a:r>
            <a:endParaRPr lang="fr-FR" sz="1400" dirty="0"/>
          </a:p>
        </p:txBody>
      </p:sp>
      <p:sp>
        <p:nvSpPr>
          <p:cNvPr id="11" name="Rectangle 10"/>
          <p:cNvSpPr/>
          <p:nvPr/>
        </p:nvSpPr>
        <p:spPr>
          <a:xfrm>
            <a:off x="8189188" y="2410296"/>
            <a:ext cx="828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" name="Titre 1"/>
          <p:cNvSpPr txBox="1">
            <a:spLocks/>
          </p:cNvSpPr>
          <p:nvPr/>
        </p:nvSpPr>
        <p:spPr>
          <a:xfrm>
            <a:off x="6623300" y="2301178"/>
            <a:ext cx="1612725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Situation familiale</a:t>
            </a:r>
            <a:endParaRPr lang="fr-FR" sz="1400" dirty="0"/>
          </a:p>
        </p:txBody>
      </p:sp>
      <p:sp>
        <p:nvSpPr>
          <p:cNvPr id="13" name="Rectangle 12"/>
          <p:cNvSpPr/>
          <p:nvPr/>
        </p:nvSpPr>
        <p:spPr>
          <a:xfrm>
            <a:off x="4839317" y="2390150"/>
            <a:ext cx="144893" cy="20856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" name="Titre 1"/>
          <p:cNvSpPr txBox="1">
            <a:spLocks/>
          </p:cNvSpPr>
          <p:nvPr/>
        </p:nvSpPr>
        <p:spPr>
          <a:xfrm>
            <a:off x="3987672" y="2312526"/>
            <a:ext cx="1009334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Présumé</a:t>
            </a:r>
            <a:endParaRPr lang="fr-FR" sz="1400" dirty="0"/>
          </a:p>
        </p:txBody>
      </p:sp>
      <p:sp>
        <p:nvSpPr>
          <p:cNvPr id="16" name="Rectangle 15"/>
          <p:cNvSpPr/>
          <p:nvPr/>
        </p:nvSpPr>
        <p:spPr>
          <a:xfrm>
            <a:off x="8189188" y="1959812"/>
            <a:ext cx="828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" name="Titre 1"/>
          <p:cNvSpPr txBox="1">
            <a:spLocks/>
          </p:cNvSpPr>
          <p:nvPr/>
        </p:nvSpPr>
        <p:spPr>
          <a:xfrm>
            <a:off x="6978276" y="1937299"/>
            <a:ext cx="582889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Sexe</a:t>
            </a:r>
            <a:endParaRPr lang="fr-FR" sz="1400" dirty="0"/>
          </a:p>
        </p:txBody>
      </p:sp>
      <p:sp>
        <p:nvSpPr>
          <p:cNvPr id="19" name="Rectangle 18"/>
          <p:cNvSpPr/>
          <p:nvPr/>
        </p:nvSpPr>
        <p:spPr>
          <a:xfrm>
            <a:off x="10262303" y="2393238"/>
            <a:ext cx="987416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" name="Titre 1"/>
          <p:cNvSpPr txBox="1">
            <a:spLocks/>
          </p:cNvSpPr>
          <p:nvPr/>
        </p:nvSpPr>
        <p:spPr>
          <a:xfrm>
            <a:off x="9101130" y="2375238"/>
            <a:ext cx="1494142" cy="324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Nom marital</a:t>
            </a:r>
            <a:endParaRPr lang="fr-FR" sz="1400" dirty="0"/>
          </a:p>
        </p:txBody>
      </p:sp>
      <p:sp>
        <p:nvSpPr>
          <p:cNvPr id="21" name="Rectangle 20"/>
          <p:cNvSpPr/>
          <p:nvPr/>
        </p:nvSpPr>
        <p:spPr>
          <a:xfrm>
            <a:off x="6018521" y="2397693"/>
            <a:ext cx="479631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2" name="Titre 1"/>
          <p:cNvSpPr txBox="1">
            <a:spLocks/>
          </p:cNvSpPr>
          <p:nvPr/>
        </p:nvSpPr>
        <p:spPr>
          <a:xfrm>
            <a:off x="5550932" y="2308414"/>
            <a:ext cx="50941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Âge</a:t>
            </a:r>
            <a:endParaRPr lang="fr-FR" sz="1400" dirty="0"/>
          </a:p>
        </p:txBody>
      </p:sp>
      <p:sp>
        <p:nvSpPr>
          <p:cNvPr id="23" name="Rectangle 22"/>
          <p:cNvSpPr/>
          <p:nvPr/>
        </p:nvSpPr>
        <p:spPr>
          <a:xfrm>
            <a:off x="191992" y="594181"/>
            <a:ext cx="11758269" cy="535570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4" name="Titre 1"/>
          <p:cNvSpPr txBox="1">
            <a:spLocks/>
          </p:cNvSpPr>
          <p:nvPr/>
        </p:nvSpPr>
        <p:spPr>
          <a:xfrm>
            <a:off x="185127" y="5964589"/>
            <a:ext cx="11812634" cy="79709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000" dirty="0" smtClean="0"/>
              <a:t>Type </a:t>
            </a:r>
            <a:r>
              <a:rPr lang="fr-FR" sz="1000" dirty="0"/>
              <a:t>de </a:t>
            </a:r>
            <a:r>
              <a:rPr lang="fr-FR" sz="1000" dirty="0" smtClean="0"/>
              <a:t>patient (catégorie des patients) : Hospitalisation – Patient externe – Prise en charge. </a:t>
            </a:r>
            <a:endParaRPr lang="fr-FR" sz="1000" dirty="0"/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000" dirty="0"/>
              <a:t>Type </a:t>
            </a:r>
            <a:r>
              <a:rPr lang="fr-FR" sz="1000" dirty="0" smtClean="0"/>
              <a:t>Pièce d’identité (P,I)  : Carte d’identité (CI) – Permis de conduire (PC)  – passeport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000" dirty="0" smtClean="0"/>
              <a:t>Mode de facturation : Normale – Garde – Férie.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000" dirty="0" smtClean="0"/>
              <a:t>Si le sexe = Homme ne pas afficher le champs  ‘’nom marital’’.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000" dirty="0" smtClean="0"/>
              <a:t>Si le patient existe déjà dans la base de donnée affiché un message d’alerte «</a:t>
            </a:r>
            <a:r>
              <a:rPr lang="fr-FR" sz="1000" dirty="0"/>
              <a:t> </a:t>
            </a:r>
            <a:r>
              <a:rPr lang="fr-FR" sz="1000" dirty="0" smtClean="0"/>
              <a:t>patient existe »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43" name="Rectangle 42"/>
          <p:cNvSpPr/>
          <p:nvPr/>
        </p:nvSpPr>
        <p:spPr>
          <a:xfrm>
            <a:off x="5721259" y="2778206"/>
            <a:ext cx="783524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4" name="Titre 1"/>
          <p:cNvSpPr txBox="1">
            <a:spLocks/>
          </p:cNvSpPr>
          <p:nvPr/>
        </p:nvSpPr>
        <p:spPr>
          <a:xfrm>
            <a:off x="3716837" y="2722818"/>
            <a:ext cx="2045277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Commune de  naissance</a:t>
            </a:r>
            <a:endParaRPr lang="fr-FR" sz="1400" dirty="0"/>
          </a:p>
        </p:txBody>
      </p:sp>
      <p:sp>
        <p:nvSpPr>
          <p:cNvPr id="67" name="Titre 1"/>
          <p:cNvSpPr txBox="1">
            <a:spLocks/>
          </p:cNvSpPr>
          <p:nvPr/>
        </p:nvSpPr>
        <p:spPr>
          <a:xfrm>
            <a:off x="4984210" y="3165467"/>
            <a:ext cx="764815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dirty="0" smtClean="0"/>
              <a:t>Wilaya </a:t>
            </a:r>
            <a:endParaRPr lang="fr-FR" sz="1400" dirty="0"/>
          </a:p>
        </p:txBody>
      </p:sp>
      <p:sp>
        <p:nvSpPr>
          <p:cNvPr id="70" name="Rectangle 69"/>
          <p:cNvSpPr/>
          <p:nvPr/>
        </p:nvSpPr>
        <p:spPr>
          <a:xfrm>
            <a:off x="1940930" y="3188326"/>
            <a:ext cx="288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1" name="Titre 1"/>
          <p:cNvSpPr txBox="1">
            <a:spLocks/>
          </p:cNvSpPr>
          <p:nvPr/>
        </p:nvSpPr>
        <p:spPr>
          <a:xfrm>
            <a:off x="1140028" y="3150626"/>
            <a:ext cx="929476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Adresse * </a:t>
            </a:r>
            <a:endParaRPr lang="fr-FR" sz="1400" dirty="0"/>
          </a:p>
        </p:txBody>
      </p:sp>
      <p:sp>
        <p:nvSpPr>
          <p:cNvPr id="72" name="Rectangle 71"/>
          <p:cNvSpPr/>
          <p:nvPr/>
        </p:nvSpPr>
        <p:spPr>
          <a:xfrm>
            <a:off x="5720369" y="3196696"/>
            <a:ext cx="1332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3" name="Titre 1"/>
          <p:cNvSpPr txBox="1">
            <a:spLocks/>
          </p:cNvSpPr>
          <p:nvPr/>
        </p:nvSpPr>
        <p:spPr>
          <a:xfrm>
            <a:off x="7156453" y="3118271"/>
            <a:ext cx="109974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Commune</a:t>
            </a:r>
            <a:endParaRPr lang="fr-FR" sz="1200" dirty="0" smtClean="0"/>
          </a:p>
        </p:txBody>
      </p:sp>
      <p:sp>
        <p:nvSpPr>
          <p:cNvPr id="74" name="Rectangle 73"/>
          <p:cNvSpPr/>
          <p:nvPr/>
        </p:nvSpPr>
        <p:spPr>
          <a:xfrm>
            <a:off x="8194031" y="3171385"/>
            <a:ext cx="1090555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5" name="Titre 1"/>
          <p:cNvSpPr txBox="1">
            <a:spLocks/>
          </p:cNvSpPr>
          <p:nvPr/>
        </p:nvSpPr>
        <p:spPr>
          <a:xfrm>
            <a:off x="9459203" y="3103833"/>
            <a:ext cx="108300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Code Postal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560745" y="3041279"/>
            <a:ext cx="671988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2" name="Titre 1"/>
          <p:cNvSpPr txBox="1">
            <a:spLocks/>
          </p:cNvSpPr>
          <p:nvPr/>
        </p:nvSpPr>
        <p:spPr>
          <a:xfrm>
            <a:off x="1240162" y="3573020"/>
            <a:ext cx="679072" cy="3371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E-mail</a:t>
            </a:r>
            <a:endParaRPr lang="fr-FR" sz="1400" dirty="0"/>
          </a:p>
        </p:txBody>
      </p:sp>
      <p:sp>
        <p:nvSpPr>
          <p:cNvPr id="93" name="Rectangle 92"/>
          <p:cNvSpPr/>
          <p:nvPr/>
        </p:nvSpPr>
        <p:spPr>
          <a:xfrm>
            <a:off x="1951662" y="3584644"/>
            <a:ext cx="1660572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4773307" y="3581907"/>
            <a:ext cx="1063710" cy="2710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Téléphone</a:t>
            </a:r>
            <a:endParaRPr lang="fr-FR" sz="1400" dirty="0"/>
          </a:p>
        </p:txBody>
      </p:sp>
      <p:sp>
        <p:nvSpPr>
          <p:cNvPr id="95" name="Rectangle 94"/>
          <p:cNvSpPr/>
          <p:nvPr/>
        </p:nvSpPr>
        <p:spPr>
          <a:xfrm>
            <a:off x="5721259" y="3581907"/>
            <a:ext cx="1332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311736" y="1786507"/>
            <a:ext cx="11160000" cy="2245061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Titre 1"/>
          <p:cNvSpPr txBox="1">
            <a:spLocks/>
          </p:cNvSpPr>
          <p:nvPr/>
        </p:nvSpPr>
        <p:spPr>
          <a:xfrm>
            <a:off x="708698" y="795288"/>
            <a:ext cx="1175322" cy="29700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de dossier </a:t>
            </a:r>
            <a:endParaRPr lang="fr-FR" sz="1400" dirty="0"/>
          </a:p>
        </p:txBody>
      </p:sp>
      <p:sp>
        <p:nvSpPr>
          <p:cNvPr id="101" name="Rectangle 100"/>
          <p:cNvSpPr/>
          <p:nvPr/>
        </p:nvSpPr>
        <p:spPr>
          <a:xfrm>
            <a:off x="1947031" y="774301"/>
            <a:ext cx="1151809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Rectangle 101"/>
          <p:cNvSpPr/>
          <p:nvPr/>
        </p:nvSpPr>
        <p:spPr>
          <a:xfrm>
            <a:off x="341566" y="692172"/>
            <a:ext cx="11160000" cy="904491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3" name="Titre 1"/>
          <p:cNvSpPr txBox="1">
            <a:spLocks/>
          </p:cNvSpPr>
          <p:nvPr/>
        </p:nvSpPr>
        <p:spPr>
          <a:xfrm>
            <a:off x="397196" y="1126643"/>
            <a:ext cx="1541912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Date </a:t>
            </a:r>
            <a:r>
              <a:rPr lang="fr-FR" dirty="0" smtClean="0"/>
              <a:t>d'admission *</a:t>
            </a:r>
            <a:endParaRPr lang="fr-FR" dirty="0"/>
          </a:p>
        </p:txBody>
      </p:sp>
      <p:sp>
        <p:nvSpPr>
          <p:cNvPr id="104" name="Rectangle 103"/>
          <p:cNvSpPr/>
          <p:nvPr/>
        </p:nvSpPr>
        <p:spPr>
          <a:xfrm>
            <a:off x="1978903" y="1155893"/>
            <a:ext cx="1125858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0" name="Titre 1"/>
          <p:cNvSpPr txBox="1">
            <a:spLocks/>
          </p:cNvSpPr>
          <p:nvPr/>
        </p:nvSpPr>
        <p:spPr>
          <a:xfrm>
            <a:off x="3266290" y="1120018"/>
            <a:ext cx="1541912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smtClean="0"/>
              <a:t>Type de patient</a:t>
            </a:r>
            <a:endParaRPr lang="fr-FR" dirty="0"/>
          </a:p>
        </p:txBody>
      </p:sp>
      <p:sp>
        <p:nvSpPr>
          <p:cNvPr id="111" name="Rectangle 110"/>
          <p:cNvSpPr/>
          <p:nvPr/>
        </p:nvSpPr>
        <p:spPr>
          <a:xfrm>
            <a:off x="4834745" y="1122764"/>
            <a:ext cx="1125858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2" name="Titre 1"/>
          <p:cNvSpPr txBox="1">
            <a:spLocks/>
          </p:cNvSpPr>
          <p:nvPr/>
        </p:nvSpPr>
        <p:spPr>
          <a:xfrm>
            <a:off x="6461216" y="1120262"/>
            <a:ext cx="836337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smtClean="0"/>
              <a:t>Service</a:t>
            </a:r>
            <a:endParaRPr lang="fr-FR" dirty="0"/>
          </a:p>
        </p:txBody>
      </p:sp>
      <p:sp>
        <p:nvSpPr>
          <p:cNvPr id="113" name="Rectangle 112"/>
          <p:cNvSpPr/>
          <p:nvPr/>
        </p:nvSpPr>
        <p:spPr>
          <a:xfrm>
            <a:off x="7246646" y="1122764"/>
            <a:ext cx="1125858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5" name="Titre 1"/>
          <p:cNvSpPr txBox="1">
            <a:spLocks/>
          </p:cNvSpPr>
          <p:nvPr/>
        </p:nvSpPr>
        <p:spPr>
          <a:xfrm>
            <a:off x="8534033" y="1113393"/>
            <a:ext cx="1541912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smtClean="0"/>
              <a:t>Médecin traitant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0115740" y="1116139"/>
            <a:ext cx="1125858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9" name="Rectangle 118"/>
          <p:cNvSpPr/>
          <p:nvPr/>
        </p:nvSpPr>
        <p:spPr>
          <a:xfrm>
            <a:off x="1939109" y="4430603"/>
            <a:ext cx="108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0" name="Titre 1"/>
          <p:cNvSpPr txBox="1">
            <a:spLocks/>
          </p:cNvSpPr>
          <p:nvPr/>
        </p:nvSpPr>
        <p:spPr>
          <a:xfrm>
            <a:off x="1146160" y="4374798"/>
            <a:ext cx="78595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Type </a:t>
            </a:r>
            <a:r>
              <a:rPr lang="fr-FR" sz="1400" dirty="0" smtClean="0"/>
              <a:t>P.I</a:t>
            </a:r>
            <a:endParaRPr lang="fr-FR" sz="1400" dirty="0"/>
          </a:p>
        </p:txBody>
      </p:sp>
      <p:sp>
        <p:nvSpPr>
          <p:cNvPr id="121" name="Rectangle 120"/>
          <p:cNvSpPr/>
          <p:nvPr/>
        </p:nvSpPr>
        <p:spPr>
          <a:xfrm>
            <a:off x="6749004" y="4390433"/>
            <a:ext cx="108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3" name="Rectangle 122"/>
          <p:cNvSpPr/>
          <p:nvPr/>
        </p:nvSpPr>
        <p:spPr>
          <a:xfrm>
            <a:off x="4071626" y="4421314"/>
            <a:ext cx="108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4" name="Titre 1"/>
          <p:cNvSpPr txBox="1">
            <a:spLocks/>
          </p:cNvSpPr>
          <p:nvPr/>
        </p:nvSpPr>
        <p:spPr>
          <a:xfrm>
            <a:off x="3383247" y="4388568"/>
            <a:ext cx="604425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P.I</a:t>
            </a:r>
            <a:endParaRPr lang="fr-FR" sz="1400" dirty="0"/>
          </a:p>
        </p:txBody>
      </p:sp>
      <p:sp>
        <p:nvSpPr>
          <p:cNvPr id="125" name="Triangle isocèle 124"/>
          <p:cNvSpPr/>
          <p:nvPr/>
        </p:nvSpPr>
        <p:spPr>
          <a:xfrm rot="10800000">
            <a:off x="2829320" y="4441409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6" name="Rectangle 125"/>
          <p:cNvSpPr/>
          <p:nvPr/>
        </p:nvSpPr>
        <p:spPr>
          <a:xfrm>
            <a:off x="9136376" y="4388170"/>
            <a:ext cx="987416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Titre 1"/>
          <p:cNvSpPr txBox="1">
            <a:spLocks/>
          </p:cNvSpPr>
          <p:nvPr/>
        </p:nvSpPr>
        <p:spPr>
          <a:xfrm>
            <a:off x="8117700" y="4354433"/>
            <a:ext cx="1494142" cy="324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Délivré le</a:t>
            </a:r>
          </a:p>
        </p:txBody>
      </p:sp>
      <p:sp>
        <p:nvSpPr>
          <p:cNvPr id="129" name="Titre 1"/>
          <p:cNvSpPr txBox="1">
            <a:spLocks/>
          </p:cNvSpPr>
          <p:nvPr/>
        </p:nvSpPr>
        <p:spPr>
          <a:xfrm>
            <a:off x="5663576" y="4382378"/>
            <a:ext cx="1072368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Délivré </a:t>
            </a:r>
            <a:r>
              <a:rPr lang="fr-FR" sz="1400" dirty="0" smtClean="0"/>
              <a:t>par</a:t>
            </a:r>
            <a:endParaRPr lang="fr-FR" sz="1400" dirty="0"/>
          </a:p>
        </p:txBody>
      </p:sp>
      <p:sp>
        <p:nvSpPr>
          <p:cNvPr id="141" name="Rectangle 140"/>
          <p:cNvSpPr/>
          <p:nvPr/>
        </p:nvSpPr>
        <p:spPr>
          <a:xfrm>
            <a:off x="1919233" y="4940807"/>
            <a:ext cx="108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2" name="Titre 1"/>
          <p:cNvSpPr txBox="1">
            <a:spLocks/>
          </p:cNvSpPr>
          <p:nvPr/>
        </p:nvSpPr>
        <p:spPr>
          <a:xfrm>
            <a:off x="436235" y="4898616"/>
            <a:ext cx="1476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Mode facturation</a:t>
            </a:r>
            <a:endParaRPr lang="fr-FR" sz="1400" dirty="0"/>
          </a:p>
        </p:txBody>
      </p:sp>
      <p:sp>
        <p:nvSpPr>
          <p:cNvPr id="143" name="Triangle isocèle 142"/>
          <p:cNvSpPr/>
          <p:nvPr/>
        </p:nvSpPr>
        <p:spPr>
          <a:xfrm rot="10800000">
            <a:off x="2809444" y="4951613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4" name="Rectangle 143"/>
          <p:cNvSpPr/>
          <p:nvPr/>
        </p:nvSpPr>
        <p:spPr>
          <a:xfrm>
            <a:off x="5178336" y="4913933"/>
            <a:ext cx="108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5" name="Titre 1"/>
          <p:cNvSpPr txBox="1">
            <a:spLocks/>
          </p:cNvSpPr>
          <p:nvPr/>
        </p:nvSpPr>
        <p:spPr>
          <a:xfrm>
            <a:off x="4181191" y="4870590"/>
            <a:ext cx="1044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Convention</a:t>
            </a:r>
            <a:endParaRPr lang="fr-FR" sz="1400" dirty="0"/>
          </a:p>
        </p:txBody>
      </p:sp>
      <p:sp>
        <p:nvSpPr>
          <p:cNvPr id="146" name="Triangle isocèle 145"/>
          <p:cNvSpPr/>
          <p:nvPr/>
        </p:nvSpPr>
        <p:spPr>
          <a:xfrm rot="10800000">
            <a:off x="6071107" y="4911659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7" name="Rectangle 146"/>
          <p:cNvSpPr/>
          <p:nvPr/>
        </p:nvSpPr>
        <p:spPr>
          <a:xfrm>
            <a:off x="348194" y="4250381"/>
            <a:ext cx="11160000" cy="116339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8" name="Rectangle 147"/>
          <p:cNvSpPr/>
          <p:nvPr/>
        </p:nvSpPr>
        <p:spPr>
          <a:xfrm>
            <a:off x="4072744" y="4967879"/>
            <a:ext cx="144893" cy="2085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72682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4273579" y="59579"/>
            <a:ext cx="3231012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03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Patient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- Accueil /</a:t>
            </a:r>
            <a:b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</a:br>
            <a:r>
              <a:rPr lang="fr-FR" altLang="fr-FR" sz="1800" b="1" dirty="0" smtClean="0">
                <a:latin typeface="Times New Roman" panose="02020603050405020304" pitchFamily="18" charset="0"/>
              </a:rPr>
              <a:t>Acte médical - biologie</a:t>
            </a:r>
            <a:endParaRPr lang="fr-FR" sz="1800" dirty="0"/>
          </a:p>
        </p:txBody>
      </p:sp>
      <p:sp>
        <p:nvSpPr>
          <p:cNvPr id="3" name="Rectangle 2"/>
          <p:cNvSpPr/>
          <p:nvPr/>
        </p:nvSpPr>
        <p:spPr>
          <a:xfrm>
            <a:off x="1949179" y="1588752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1142318" y="1509127"/>
            <a:ext cx="776915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Famille</a:t>
            </a:r>
            <a:endParaRPr lang="fr-FR" sz="1400" dirty="0"/>
          </a:p>
        </p:txBody>
      </p:sp>
      <p:sp>
        <p:nvSpPr>
          <p:cNvPr id="5" name="Rectangle 4"/>
          <p:cNvSpPr/>
          <p:nvPr/>
        </p:nvSpPr>
        <p:spPr>
          <a:xfrm>
            <a:off x="5452682" y="1595354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Titre 1"/>
          <p:cNvSpPr txBox="1">
            <a:spLocks/>
          </p:cNvSpPr>
          <p:nvPr/>
        </p:nvSpPr>
        <p:spPr>
          <a:xfrm>
            <a:off x="4580407" y="1566249"/>
            <a:ext cx="908699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Groupe</a:t>
            </a:r>
            <a:endParaRPr lang="fr-FR" sz="1400" dirty="0"/>
          </a:p>
        </p:txBody>
      </p:sp>
      <p:sp>
        <p:nvSpPr>
          <p:cNvPr id="14" name="Titre 1"/>
          <p:cNvSpPr txBox="1">
            <a:spLocks/>
          </p:cNvSpPr>
          <p:nvPr/>
        </p:nvSpPr>
        <p:spPr>
          <a:xfrm>
            <a:off x="9098700" y="1476728"/>
            <a:ext cx="1260363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Bilan standard</a:t>
            </a:r>
            <a:endParaRPr lang="fr-FR" sz="1400" dirty="0"/>
          </a:p>
        </p:txBody>
      </p:sp>
      <p:sp>
        <p:nvSpPr>
          <p:cNvPr id="23" name="Rectangle 22"/>
          <p:cNvSpPr/>
          <p:nvPr/>
        </p:nvSpPr>
        <p:spPr>
          <a:xfrm>
            <a:off x="191992" y="594181"/>
            <a:ext cx="11758269" cy="618479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4" name="Titre 1"/>
          <p:cNvSpPr txBox="1">
            <a:spLocks/>
          </p:cNvSpPr>
          <p:nvPr/>
        </p:nvSpPr>
        <p:spPr>
          <a:xfrm>
            <a:off x="6396747" y="5517827"/>
            <a:ext cx="3519899" cy="10412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050" dirty="0"/>
              <a:t>Chaque famille d'analyse contient </a:t>
            </a:r>
            <a:r>
              <a:rPr lang="fr-FR" sz="1050" dirty="0" smtClean="0"/>
              <a:t>des groupes des analyses biologiques.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050" dirty="0" smtClean="0"/>
              <a:t>Quand on choisir le groupe d’analyse un tableau s’affiche pour choisir l’analyse </a:t>
            </a:r>
            <a:r>
              <a:rPr lang="fr-FR" sz="1050" dirty="0"/>
              <a:t>biologique correspondante au choix de </a:t>
            </a:r>
            <a:r>
              <a:rPr lang="fr-FR" sz="1050" dirty="0" smtClean="0"/>
              <a:t>patient, ou bien on peut coché le choix ‘’ Bilan standard’’ pour choisir un analyse standard. 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56" name="Rectangle 55"/>
          <p:cNvSpPr/>
          <p:nvPr/>
        </p:nvSpPr>
        <p:spPr>
          <a:xfrm>
            <a:off x="4729267" y="6199087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Recherche</a:t>
            </a:r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11736" y="1415446"/>
            <a:ext cx="11160000" cy="4046083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9" name="Rectangle 118"/>
          <p:cNvSpPr/>
          <p:nvPr/>
        </p:nvSpPr>
        <p:spPr>
          <a:xfrm>
            <a:off x="1270248" y="5675813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0" name="Titre 1"/>
          <p:cNvSpPr txBox="1">
            <a:spLocks/>
          </p:cNvSpPr>
          <p:nvPr/>
        </p:nvSpPr>
        <p:spPr>
          <a:xfrm>
            <a:off x="477299" y="5620008"/>
            <a:ext cx="78595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Famille</a:t>
            </a:r>
            <a:endParaRPr lang="fr-FR" sz="1400" dirty="0"/>
          </a:p>
        </p:txBody>
      </p:sp>
      <p:sp>
        <p:nvSpPr>
          <p:cNvPr id="123" name="Rectangle 122"/>
          <p:cNvSpPr/>
          <p:nvPr/>
        </p:nvSpPr>
        <p:spPr>
          <a:xfrm>
            <a:off x="3402765" y="5666524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4" name="Titre 1"/>
          <p:cNvSpPr txBox="1">
            <a:spLocks/>
          </p:cNvSpPr>
          <p:nvPr/>
        </p:nvSpPr>
        <p:spPr>
          <a:xfrm>
            <a:off x="2651501" y="5646361"/>
            <a:ext cx="736635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Groupe</a:t>
            </a:r>
            <a:endParaRPr lang="fr-FR" sz="1400" dirty="0"/>
          </a:p>
        </p:txBody>
      </p:sp>
      <p:sp>
        <p:nvSpPr>
          <p:cNvPr id="125" name="Triangle isocèle 124"/>
          <p:cNvSpPr/>
          <p:nvPr/>
        </p:nvSpPr>
        <p:spPr>
          <a:xfrm rot="10800000">
            <a:off x="2160459" y="5686619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9" name="Titre 1"/>
          <p:cNvSpPr txBox="1">
            <a:spLocks/>
          </p:cNvSpPr>
          <p:nvPr/>
        </p:nvSpPr>
        <p:spPr>
          <a:xfrm>
            <a:off x="758102" y="6167483"/>
            <a:ext cx="1242165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Bilan standard</a:t>
            </a:r>
            <a:endParaRPr lang="fr-FR" sz="1400" dirty="0"/>
          </a:p>
        </p:txBody>
      </p:sp>
      <p:sp>
        <p:nvSpPr>
          <p:cNvPr id="141" name="Rectangle 140"/>
          <p:cNvSpPr/>
          <p:nvPr/>
        </p:nvSpPr>
        <p:spPr>
          <a:xfrm>
            <a:off x="3396639" y="6199133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2" name="Titre 1"/>
          <p:cNvSpPr txBox="1">
            <a:spLocks/>
          </p:cNvSpPr>
          <p:nvPr/>
        </p:nvSpPr>
        <p:spPr>
          <a:xfrm>
            <a:off x="2192532" y="6167073"/>
            <a:ext cx="1210233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Alphabétique</a:t>
            </a:r>
            <a:endParaRPr lang="fr-FR" sz="1400" dirty="0"/>
          </a:p>
        </p:txBody>
      </p:sp>
      <p:sp>
        <p:nvSpPr>
          <p:cNvPr id="143" name="Triangle isocèle 142"/>
          <p:cNvSpPr/>
          <p:nvPr/>
        </p:nvSpPr>
        <p:spPr>
          <a:xfrm rot="10800000">
            <a:off x="4292919" y="6223104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7" name="Rectangle 146"/>
          <p:cNvSpPr/>
          <p:nvPr/>
        </p:nvSpPr>
        <p:spPr>
          <a:xfrm>
            <a:off x="330438" y="5519329"/>
            <a:ext cx="11160000" cy="116339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3" name="Rectangle 82"/>
          <p:cNvSpPr/>
          <p:nvPr/>
        </p:nvSpPr>
        <p:spPr>
          <a:xfrm>
            <a:off x="396479" y="753011"/>
            <a:ext cx="1332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Biologie</a:t>
            </a:r>
            <a:endParaRPr lang="fr-FR" sz="1400" dirty="0"/>
          </a:p>
        </p:txBody>
      </p:sp>
      <p:sp>
        <p:nvSpPr>
          <p:cNvPr id="84" name="Rectangle 83"/>
          <p:cNvSpPr/>
          <p:nvPr/>
        </p:nvSpPr>
        <p:spPr>
          <a:xfrm>
            <a:off x="1834340" y="759639"/>
            <a:ext cx="133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Radiologie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262914" y="752659"/>
            <a:ext cx="168154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Spécialité médicale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056358" y="758528"/>
            <a:ext cx="2304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Actes </a:t>
            </a:r>
            <a:r>
              <a:rPr lang="fr-FR" sz="1400" dirty="0" smtClean="0"/>
              <a:t>Médicaux-chirurgicaux</a:t>
            </a:r>
            <a:endParaRPr lang="fr-FR" sz="1400" dirty="0"/>
          </a:p>
        </p:txBody>
      </p:sp>
      <p:sp>
        <p:nvSpPr>
          <p:cNvPr id="89" name="Triangle isocèle 88"/>
          <p:cNvSpPr/>
          <p:nvPr/>
        </p:nvSpPr>
        <p:spPr>
          <a:xfrm rot="10800000">
            <a:off x="3465777" y="1597521"/>
            <a:ext cx="161002" cy="452535"/>
          </a:xfrm>
          <a:prstGeom prst="triangle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6" name="Triangle isocèle 95"/>
          <p:cNvSpPr/>
          <p:nvPr/>
        </p:nvSpPr>
        <p:spPr>
          <a:xfrm rot="10800000">
            <a:off x="7004575" y="1604146"/>
            <a:ext cx="127406" cy="445910"/>
          </a:xfrm>
          <a:prstGeom prst="triangl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7" name="Rectangle 76"/>
          <p:cNvSpPr/>
          <p:nvPr/>
        </p:nvSpPr>
        <p:spPr>
          <a:xfrm>
            <a:off x="930137" y="2054944"/>
            <a:ext cx="2762320" cy="3277998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8" name="Titre 1"/>
          <p:cNvSpPr txBox="1">
            <a:spLocks/>
          </p:cNvSpPr>
          <p:nvPr/>
        </p:nvSpPr>
        <p:spPr>
          <a:xfrm>
            <a:off x="1047705" y="2072949"/>
            <a:ext cx="2328338" cy="323767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Biochimie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Bactériologie / Parasitologie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Hématologie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Toxicologie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Immunologie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Auto immunité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Vitamines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Sérologie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Pharmacologie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Marqueurs Tumoraux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Métaux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Pasteur </a:t>
            </a:r>
            <a:r>
              <a:rPr lang="fr-FR" sz="1400" dirty="0"/>
              <a:t>C</a:t>
            </a:r>
            <a:r>
              <a:rPr lang="fr-FR" sz="1400" dirty="0" smtClean="0"/>
              <a:t>erba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Hormonologie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Allergie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Hémostase</a:t>
            </a:r>
          </a:p>
        </p:txBody>
      </p:sp>
      <p:sp>
        <p:nvSpPr>
          <p:cNvPr id="17" name="Accolade ouvrante 16"/>
          <p:cNvSpPr/>
          <p:nvPr/>
        </p:nvSpPr>
        <p:spPr>
          <a:xfrm rot="16200000">
            <a:off x="9439333" y="1094696"/>
            <a:ext cx="321621" cy="1466481"/>
          </a:xfrm>
          <a:prstGeom prst="leftBrace">
            <a:avLst>
              <a:gd name="adj1" fmla="val 8333"/>
              <a:gd name="adj2" fmla="val 4863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1" name="Rectangle 80"/>
          <p:cNvSpPr/>
          <p:nvPr/>
        </p:nvSpPr>
        <p:spPr>
          <a:xfrm>
            <a:off x="8519502" y="2019505"/>
            <a:ext cx="2762320" cy="3277998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2" name="Titre 1"/>
          <p:cNvSpPr txBox="1">
            <a:spLocks/>
          </p:cNvSpPr>
          <p:nvPr/>
        </p:nvSpPr>
        <p:spPr>
          <a:xfrm>
            <a:off x="8585180" y="2024427"/>
            <a:ext cx="2328338" cy="323767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1400" dirty="0"/>
              <a:t>Anticorps anti HBS</a:t>
            </a:r>
          </a:p>
          <a:p>
            <a:r>
              <a:rPr lang="fr-FR" sz="1400" dirty="0"/>
              <a:t>Anticorps anti HCV</a:t>
            </a:r>
          </a:p>
          <a:p>
            <a:r>
              <a:rPr lang="fr-FR" sz="1400" dirty="0"/>
              <a:t>Anticorps anti HIV (1+2)</a:t>
            </a:r>
          </a:p>
          <a:p>
            <a:r>
              <a:rPr lang="fr-FR" sz="1400" dirty="0"/>
              <a:t>Créatinine</a:t>
            </a:r>
          </a:p>
          <a:p>
            <a:r>
              <a:rPr lang="fr-FR" sz="1400" dirty="0"/>
              <a:t>CRP = </a:t>
            </a:r>
            <a:r>
              <a:rPr lang="fr-FR" sz="1400" dirty="0" smtClean="0"/>
              <a:t>C-Réactive </a:t>
            </a:r>
            <a:r>
              <a:rPr lang="fr-FR" sz="1400" dirty="0"/>
              <a:t>Protéine</a:t>
            </a:r>
          </a:p>
          <a:p>
            <a:r>
              <a:rPr lang="fr-FR" sz="1400" dirty="0"/>
              <a:t>FNS</a:t>
            </a:r>
          </a:p>
          <a:p>
            <a:r>
              <a:rPr lang="fr-FR" sz="1400" dirty="0"/>
              <a:t>Glycémie</a:t>
            </a:r>
          </a:p>
          <a:p>
            <a:r>
              <a:rPr lang="fr-FR" sz="1400" dirty="0"/>
              <a:t>Groupage sanguin ABO /Rhésus D</a:t>
            </a:r>
          </a:p>
          <a:p>
            <a:r>
              <a:rPr lang="fr-FR" sz="1400" dirty="0"/>
              <a:t>INR</a:t>
            </a:r>
          </a:p>
          <a:p>
            <a:r>
              <a:rPr lang="fr-FR" sz="1400" dirty="0"/>
              <a:t>Ionogramme sanguin</a:t>
            </a:r>
          </a:p>
          <a:p>
            <a:r>
              <a:rPr lang="fr-FR" sz="1400" dirty="0"/>
              <a:t>TCA /TCK</a:t>
            </a:r>
          </a:p>
          <a:p>
            <a:r>
              <a:rPr lang="fr-FR" sz="1400" dirty="0"/>
              <a:t>Temps de Quick</a:t>
            </a:r>
          </a:p>
          <a:p>
            <a:r>
              <a:rPr lang="fr-FR" sz="1400" dirty="0"/>
              <a:t>TP</a:t>
            </a:r>
          </a:p>
          <a:p>
            <a:r>
              <a:rPr lang="fr-FR" sz="1400" dirty="0"/>
              <a:t>Troponine</a:t>
            </a:r>
          </a:p>
          <a:p>
            <a:r>
              <a:rPr lang="fr-FR" sz="1400" dirty="0"/>
              <a:t>Urée sanguine</a:t>
            </a:r>
          </a:p>
          <a:p>
            <a:r>
              <a:rPr lang="fr-FR" sz="1400" dirty="0"/>
              <a:t>VS (vitesse de sédimentation</a:t>
            </a:r>
            <a:r>
              <a:rPr lang="fr-FR" sz="1400" dirty="0" smtClean="0"/>
              <a:t>)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4123282" y="2047578"/>
            <a:ext cx="3479495" cy="3277998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Triangle isocèle 99"/>
          <p:cNvSpPr/>
          <p:nvPr/>
        </p:nvSpPr>
        <p:spPr>
          <a:xfrm rot="10800000">
            <a:off x="4273579" y="5693880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25" name="Connecteur droit 24"/>
          <p:cNvCxnSpPr/>
          <p:nvPr/>
        </p:nvCxnSpPr>
        <p:spPr>
          <a:xfrm>
            <a:off x="6208358" y="5531483"/>
            <a:ext cx="0" cy="1152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7" name="Connecteur droit avec flèche 26"/>
          <p:cNvCxnSpPr/>
          <p:nvPr/>
        </p:nvCxnSpPr>
        <p:spPr>
          <a:xfrm>
            <a:off x="2123380" y="2663687"/>
            <a:ext cx="23253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Accolade ouvrante 27"/>
          <p:cNvSpPr/>
          <p:nvPr/>
        </p:nvSpPr>
        <p:spPr>
          <a:xfrm>
            <a:off x="4568482" y="2218455"/>
            <a:ext cx="360844" cy="1266868"/>
          </a:xfrm>
          <a:prstGeom prst="leftBrace">
            <a:avLst>
              <a:gd name="adj1" fmla="val 8333"/>
              <a:gd name="adj2" fmla="val 2557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Rectangle 28"/>
          <p:cNvSpPr/>
          <p:nvPr/>
        </p:nvSpPr>
        <p:spPr>
          <a:xfrm>
            <a:off x="4847314" y="2185788"/>
            <a:ext cx="2694175" cy="14718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Cytologie	</a:t>
            </a:r>
          </a:p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Biologie	</a:t>
            </a:r>
          </a:p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Hémostase	</a:t>
            </a:r>
          </a:p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Groupage sanguins et anticorps irréguliers	</a:t>
            </a:r>
          </a:p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Formule numération sanguine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273578" y="3795388"/>
            <a:ext cx="2911907" cy="1440277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32" name="Connecteur droit avec flèche 31"/>
          <p:cNvCxnSpPr/>
          <p:nvPr/>
        </p:nvCxnSpPr>
        <p:spPr>
          <a:xfrm>
            <a:off x="5817705" y="3485323"/>
            <a:ext cx="390653" cy="3038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4671668" y="3878666"/>
            <a:ext cx="2996787" cy="13184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Equilibre </a:t>
            </a:r>
            <a:r>
              <a:rPr lang="fr-FR" sz="1400" dirty="0" smtClean="0">
                <a:latin typeface="+mj-lt"/>
                <a:ea typeface="+mj-ea"/>
                <a:cs typeface="+mj-cs"/>
              </a:rPr>
              <a:t>leucocytaire</a:t>
            </a:r>
          </a:p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endParaRPr lang="fr-FR" sz="500" dirty="0">
              <a:latin typeface="+mj-lt"/>
              <a:ea typeface="+mj-ea"/>
              <a:cs typeface="+mj-cs"/>
            </a:endParaRPr>
          </a:p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FNS</a:t>
            </a:r>
          </a:p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endParaRPr lang="fr-FR" sz="500" dirty="0" smtClean="0">
              <a:latin typeface="+mj-lt"/>
              <a:ea typeface="+mj-ea"/>
              <a:cs typeface="+mj-cs"/>
            </a:endParaRPr>
          </a:p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Myélogramme</a:t>
            </a:r>
            <a:endParaRPr lang="fr-FR" sz="1400" dirty="0">
              <a:latin typeface="+mj-lt"/>
              <a:ea typeface="+mj-ea"/>
              <a:cs typeface="+mj-cs"/>
            </a:endParaRPr>
          </a:p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endParaRPr lang="fr-FR" sz="500" dirty="0" smtClean="0">
              <a:latin typeface="+mj-lt"/>
              <a:ea typeface="+mj-ea"/>
              <a:cs typeface="+mj-cs"/>
            </a:endParaRPr>
          </a:p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Réticulocytes</a:t>
            </a:r>
            <a:endParaRPr lang="fr-FR" sz="1400" dirty="0">
              <a:latin typeface="+mj-lt"/>
              <a:ea typeface="+mj-ea"/>
              <a:cs typeface="+mj-cs"/>
            </a:endParaRPr>
          </a:p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endParaRPr lang="fr-FR" sz="500" dirty="0" smtClean="0">
              <a:latin typeface="+mj-lt"/>
              <a:ea typeface="+mj-ea"/>
              <a:cs typeface="+mj-cs"/>
            </a:endParaRPr>
          </a:p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VS </a:t>
            </a:r>
            <a:r>
              <a:rPr lang="fr-FR" sz="1400" dirty="0">
                <a:latin typeface="+mj-lt"/>
                <a:ea typeface="+mj-ea"/>
                <a:cs typeface="+mj-cs"/>
              </a:rPr>
              <a:t>(vitesse de sédimentation)</a:t>
            </a:r>
          </a:p>
        </p:txBody>
      </p:sp>
      <p:sp>
        <p:nvSpPr>
          <p:cNvPr id="38" name="Ellipse 37"/>
          <p:cNvSpPr/>
          <p:nvPr/>
        </p:nvSpPr>
        <p:spPr>
          <a:xfrm flipV="1">
            <a:off x="4473247" y="3915856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8" name="Ellipse 107"/>
          <p:cNvSpPr/>
          <p:nvPr/>
        </p:nvSpPr>
        <p:spPr>
          <a:xfrm flipV="1">
            <a:off x="4468078" y="4174236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9" name="Ellipse 108"/>
          <p:cNvSpPr/>
          <p:nvPr/>
        </p:nvSpPr>
        <p:spPr>
          <a:xfrm flipV="1">
            <a:off x="4466151" y="4435031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0" name="Ellipse 109"/>
          <p:cNvSpPr/>
          <p:nvPr/>
        </p:nvSpPr>
        <p:spPr>
          <a:xfrm flipV="1">
            <a:off x="4461990" y="4722330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1" name="Ellipse 110"/>
          <p:cNvSpPr/>
          <p:nvPr/>
        </p:nvSpPr>
        <p:spPr>
          <a:xfrm flipV="1">
            <a:off x="4465638" y="5002556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2" name="Ellipse 111"/>
          <p:cNvSpPr/>
          <p:nvPr/>
        </p:nvSpPr>
        <p:spPr>
          <a:xfrm flipV="1">
            <a:off x="616859" y="6243913"/>
            <a:ext cx="180000" cy="18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3" name="Ellipse 112"/>
          <p:cNvSpPr/>
          <p:nvPr/>
        </p:nvSpPr>
        <p:spPr>
          <a:xfrm flipV="1">
            <a:off x="8892857" y="1559267"/>
            <a:ext cx="180000" cy="18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4" name="Ellipse 113"/>
          <p:cNvSpPr/>
          <p:nvPr/>
        </p:nvSpPr>
        <p:spPr>
          <a:xfrm flipV="1">
            <a:off x="8945853" y="1603348"/>
            <a:ext cx="90000" cy="90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5" name="Rectangle 114"/>
          <p:cNvSpPr/>
          <p:nvPr/>
        </p:nvSpPr>
        <p:spPr>
          <a:xfrm>
            <a:off x="9930750" y="5609364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Valider</a:t>
            </a:r>
          </a:p>
        </p:txBody>
      </p:sp>
    </p:spTree>
    <p:extLst>
      <p:ext uri="{BB962C8B-B14F-4D97-AF65-F5344CB8AC3E}">
        <p14:creationId xmlns:p14="http://schemas.microsoft.com/office/powerpoint/2010/main" val="3949035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4273579" y="59579"/>
            <a:ext cx="3231012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04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Patient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- Accueil /</a:t>
            </a:r>
            <a:b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</a:br>
            <a:r>
              <a:rPr lang="fr-FR" altLang="fr-FR" sz="1800" b="1" dirty="0" smtClean="0">
                <a:latin typeface="Times New Roman" panose="02020603050405020304" pitchFamily="18" charset="0"/>
              </a:rPr>
              <a:t>Acte médical - radiologie</a:t>
            </a:r>
            <a:endParaRPr lang="fr-FR" sz="1800" dirty="0"/>
          </a:p>
        </p:txBody>
      </p:sp>
      <p:sp>
        <p:nvSpPr>
          <p:cNvPr id="3" name="Rectangle 2"/>
          <p:cNvSpPr/>
          <p:nvPr/>
        </p:nvSpPr>
        <p:spPr>
          <a:xfrm>
            <a:off x="1949179" y="1588752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1142318" y="1509127"/>
            <a:ext cx="776915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Famille</a:t>
            </a:r>
            <a:endParaRPr lang="fr-FR" sz="1400" dirty="0"/>
          </a:p>
        </p:txBody>
      </p:sp>
      <p:sp>
        <p:nvSpPr>
          <p:cNvPr id="5" name="Rectangle 4"/>
          <p:cNvSpPr/>
          <p:nvPr/>
        </p:nvSpPr>
        <p:spPr>
          <a:xfrm>
            <a:off x="5452682" y="1595354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Titre 1"/>
          <p:cNvSpPr txBox="1">
            <a:spLocks/>
          </p:cNvSpPr>
          <p:nvPr/>
        </p:nvSpPr>
        <p:spPr>
          <a:xfrm>
            <a:off x="4580407" y="1566249"/>
            <a:ext cx="908699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Groupe</a:t>
            </a:r>
            <a:endParaRPr lang="fr-FR" sz="1400" dirty="0"/>
          </a:p>
        </p:txBody>
      </p:sp>
      <p:sp>
        <p:nvSpPr>
          <p:cNvPr id="23" name="Rectangle 22"/>
          <p:cNvSpPr/>
          <p:nvPr/>
        </p:nvSpPr>
        <p:spPr>
          <a:xfrm>
            <a:off x="191992" y="594181"/>
            <a:ext cx="11758269" cy="618479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4" name="Titre 1"/>
          <p:cNvSpPr txBox="1">
            <a:spLocks/>
          </p:cNvSpPr>
          <p:nvPr/>
        </p:nvSpPr>
        <p:spPr>
          <a:xfrm>
            <a:off x="6295196" y="5881791"/>
            <a:ext cx="3380916" cy="7962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000" dirty="0"/>
              <a:t>Chaque famille de radiologie contient </a:t>
            </a:r>
            <a:r>
              <a:rPr lang="fr-FR" sz="1000" dirty="0" smtClean="0"/>
              <a:t>des groupes des examens radiologies.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000" dirty="0" smtClean="0"/>
              <a:t>Quand </a:t>
            </a:r>
            <a:r>
              <a:rPr lang="fr-FR" sz="1000" dirty="0"/>
              <a:t>on choisir le groupe </a:t>
            </a:r>
            <a:r>
              <a:rPr lang="fr-FR" sz="1000" dirty="0" smtClean="0"/>
              <a:t>d’examen un </a:t>
            </a:r>
            <a:r>
              <a:rPr lang="fr-FR" sz="1000" dirty="0"/>
              <a:t>tableau s’affiche pour choisir </a:t>
            </a:r>
            <a:r>
              <a:rPr lang="fr-FR" sz="1000" dirty="0" smtClean="0"/>
              <a:t>l’examens </a:t>
            </a:r>
            <a:r>
              <a:rPr lang="fr-FR" sz="1000" dirty="0"/>
              <a:t>radiologique </a:t>
            </a:r>
            <a:r>
              <a:rPr lang="fr-FR" sz="1000" dirty="0" smtClean="0"/>
              <a:t>correspondant </a:t>
            </a:r>
            <a:r>
              <a:rPr lang="fr-FR" sz="1000" dirty="0"/>
              <a:t>au choix de </a:t>
            </a:r>
            <a:r>
              <a:rPr lang="fr-FR" sz="1000" dirty="0" smtClean="0"/>
              <a:t>patient.</a:t>
            </a:r>
            <a:endParaRPr lang="fr-FR" sz="1000" dirty="0"/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56" name="Rectangle 55"/>
          <p:cNvSpPr/>
          <p:nvPr/>
        </p:nvSpPr>
        <p:spPr>
          <a:xfrm>
            <a:off x="4729267" y="6199087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Recherche</a:t>
            </a:r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11736" y="1415446"/>
            <a:ext cx="11160000" cy="4046083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9" name="Rectangle 118"/>
          <p:cNvSpPr/>
          <p:nvPr/>
        </p:nvSpPr>
        <p:spPr>
          <a:xfrm>
            <a:off x="1270248" y="5675813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0" name="Titre 1"/>
          <p:cNvSpPr txBox="1">
            <a:spLocks/>
          </p:cNvSpPr>
          <p:nvPr/>
        </p:nvSpPr>
        <p:spPr>
          <a:xfrm>
            <a:off x="477299" y="5620008"/>
            <a:ext cx="78595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Famille</a:t>
            </a:r>
            <a:endParaRPr lang="fr-FR" sz="1400" dirty="0"/>
          </a:p>
        </p:txBody>
      </p:sp>
      <p:sp>
        <p:nvSpPr>
          <p:cNvPr id="123" name="Rectangle 122"/>
          <p:cNvSpPr/>
          <p:nvPr/>
        </p:nvSpPr>
        <p:spPr>
          <a:xfrm>
            <a:off x="3402765" y="5666524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4" name="Titre 1"/>
          <p:cNvSpPr txBox="1">
            <a:spLocks/>
          </p:cNvSpPr>
          <p:nvPr/>
        </p:nvSpPr>
        <p:spPr>
          <a:xfrm>
            <a:off x="2651501" y="5646361"/>
            <a:ext cx="736635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Groupe</a:t>
            </a:r>
            <a:endParaRPr lang="fr-FR" sz="1400" dirty="0"/>
          </a:p>
        </p:txBody>
      </p:sp>
      <p:sp>
        <p:nvSpPr>
          <p:cNvPr id="125" name="Triangle isocèle 124"/>
          <p:cNvSpPr/>
          <p:nvPr/>
        </p:nvSpPr>
        <p:spPr>
          <a:xfrm rot="10800000">
            <a:off x="2160459" y="5686619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1" name="Rectangle 140"/>
          <p:cNvSpPr/>
          <p:nvPr/>
        </p:nvSpPr>
        <p:spPr>
          <a:xfrm>
            <a:off x="1660605" y="6199133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2" name="Titre 1"/>
          <p:cNvSpPr txBox="1">
            <a:spLocks/>
          </p:cNvSpPr>
          <p:nvPr/>
        </p:nvSpPr>
        <p:spPr>
          <a:xfrm>
            <a:off x="456498" y="6167073"/>
            <a:ext cx="1210233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Alphabétique</a:t>
            </a:r>
            <a:endParaRPr lang="fr-FR" sz="1400" dirty="0"/>
          </a:p>
        </p:txBody>
      </p:sp>
      <p:sp>
        <p:nvSpPr>
          <p:cNvPr id="143" name="Triangle isocèle 142"/>
          <p:cNvSpPr/>
          <p:nvPr/>
        </p:nvSpPr>
        <p:spPr>
          <a:xfrm rot="10800000">
            <a:off x="2556885" y="6223104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7" name="Rectangle 146"/>
          <p:cNvSpPr/>
          <p:nvPr/>
        </p:nvSpPr>
        <p:spPr>
          <a:xfrm>
            <a:off x="330438" y="5519329"/>
            <a:ext cx="11160000" cy="116339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3" name="Rectangle 82"/>
          <p:cNvSpPr/>
          <p:nvPr/>
        </p:nvSpPr>
        <p:spPr>
          <a:xfrm>
            <a:off x="396479" y="753011"/>
            <a:ext cx="133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Biologie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834340" y="759639"/>
            <a:ext cx="1332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Radiologie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262914" y="752659"/>
            <a:ext cx="168154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Spécialité médicale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056358" y="758528"/>
            <a:ext cx="2304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Actes </a:t>
            </a:r>
            <a:r>
              <a:rPr lang="fr-FR" sz="1400" dirty="0" smtClean="0"/>
              <a:t>Médicaux-chirurgicaux</a:t>
            </a:r>
            <a:endParaRPr lang="fr-FR" sz="1400" dirty="0"/>
          </a:p>
        </p:txBody>
      </p:sp>
      <p:sp>
        <p:nvSpPr>
          <p:cNvPr id="89" name="Triangle isocèle 88"/>
          <p:cNvSpPr/>
          <p:nvPr/>
        </p:nvSpPr>
        <p:spPr>
          <a:xfrm rot="10800000">
            <a:off x="3465777" y="1597521"/>
            <a:ext cx="161002" cy="452535"/>
          </a:xfrm>
          <a:prstGeom prst="triangle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6" name="Triangle isocèle 95"/>
          <p:cNvSpPr/>
          <p:nvPr/>
        </p:nvSpPr>
        <p:spPr>
          <a:xfrm rot="10800000">
            <a:off x="7004575" y="1604146"/>
            <a:ext cx="127406" cy="445910"/>
          </a:xfrm>
          <a:prstGeom prst="triangl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7" name="Rectangle 76"/>
          <p:cNvSpPr/>
          <p:nvPr/>
        </p:nvSpPr>
        <p:spPr>
          <a:xfrm>
            <a:off x="453179" y="2000305"/>
            <a:ext cx="3469463" cy="202055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8" name="Titre 1"/>
          <p:cNvSpPr txBox="1">
            <a:spLocks/>
          </p:cNvSpPr>
          <p:nvPr/>
        </p:nvSpPr>
        <p:spPr>
          <a:xfrm>
            <a:off x="517379" y="2091647"/>
            <a:ext cx="3220531" cy="19292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Examens spécialisés avec opacification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Radiographie standard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Scintigraphie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Radiologie interventionnelle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Echographie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Echo-doppler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IRM ‘’Imagerie Résonance Magnétique’’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scannographie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201747" y="2047372"/>
            <a:ext cx="2495442" cy="41553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Triangle isocèle 99"/>
          <p:cNvSpPr/>
          <p:nvPr/>
        </p:nvSpPr>
        <p:spPr>
          <a:xfrm rot="10800000">
            <a:off x="4273579" y="5693880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25" name="Connecteur droit 24"/>
          <p:cNvCxnSpPr/>
          <p:nvPr/>
        </p:nvCxnSpPr>
        <p:spPr>
          <a:xfrm>
            <a:off x="6208358" y="5531483"/>
            <a:ext cx="0" cy="122119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5350813" y="2105127"/>
            <a:ext cx="938077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Radiologie</a:t>
            </a:r>
          </a:p>
        </p:txBody>
      </p:sp>
      <p:cxnSp>
        <p:nvCxnSpPr>
          <p:cNvPr id="16" name="Connecteur droit avec flèche 15"/>
          <p:cNvCxnSpPr/>
          <p:nvPr/>
        </p:nvCxnSpPr>
        <p:spPr>
          <a:xfrm flipH="1">
            <a:off x="5819851" y="2455506"/>
            <a:ext cx="1" cy="4369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840178" y="3683031"/>
            <a:ext cx="3362459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Echo-Doppler artériel abdominal et rénal	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548661" y="2877999"/>
            <a:ext cx="938077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Choix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cxnSp>
        <p:nvCxnSpPr>
          <p:cNvPr id="58" name="Connecteur droit avec flèche 57"/>
          <p:cNvCxnSpPr>
            <a:stCxn id="18" idx="2"/>
            <a:endCxn id="59" idx="0"/>
          </p:cNvCxnSpPr>
          <p:nvPr/>
        </p:nvCxnSpPr>
        <p:spPr>
          <a:xfrm flipH="1">
            <a:off x="6443697" y="3980035"/>
            <a:ext cx="1077711" cy="3565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5705697" y="4336587"/>
            <a:ext cx="1476000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Médecin traitant 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60" name="Ellipse 59"/>
          <p:cNvSpPr/>
          <p:nvPr/>
        </p:nvSpPr>
        <p:spPr>
          <a:xfrm flipV="1">
            <a:off x="5705697" y="3770085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2" name="Rectangle 61"/>
          <p:cNvSpPr/>
          <p:nvPr/>
        </p:nvSpPr>
        <p:spPr>
          <a:xfrm>
            <a:off x="7148837" y="4365175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endParaRPr lang="fr-FR" sz="14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9983758" y="4999764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Valider</a:t>
            </a:r>
          </a:p>
        </p:txBody>
      </p:sp>
      <p:cxnSp>
        <p:nvCxnSpPr>
          <p:cNvPr id="9" name="Connecteur en angle 8"/>
          <p:cNvCxnSpPr>
            <a:endCxn id="6" idx="1"/>
          </p:cNvCxnSpPr>
          <p:nvPr/>
        </p:nvCxnSpPr>
        <p:spPr>
          <a:xfrm flipV="1">
            <a:off x="1660605" y="1741134"/>
            <a:ext cx="2919802" cy="1624918"/>
          </a:xfrm>
          <a:prstGeom prst="bentConnector3">
            <a:avLst>
              <a:gd name="adj1" fmla="val 8767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eur droit avec flèche 49"/>
          <p:cNvCxnSpPr/>
          <p:nvPr/>
        </p:nvCxnSpPr>
        <p:spPr>
          <a:xfrm flipH="1">
            <a:off x="5799975" y="3204256"/>
            <a:ext cx="1" cy="4369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riangle isocèle 52"/>
          <p:cNvSpPr/>
          <p:nvPr/>
        </p:nvSpPr>
        <p:spPr>
          <a:xfrm rot="10800000">
            <a:off x="8634998" y="4372739"/>
            <a:ext cx="180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2011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4530811" y="59579"/>
            <a:ext cx="3579519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05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Patient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- Accueil /</a:t>
            </a:r>
            <a:b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</a:br>
            <a:r>
              <a:rPr lang="fr-FR" altLang="fr-FR" sz="1800" b="1" dirty="0" smtClean="0">
                <a:latin typeface="Times New Roman" panose="02020603050405020304" pitchFamily="18" charset="0"/>
              </a:rPr>
              <a:t>Acte médical – spécialité médicale</a:t>
            </a:r>
            <a:endParaRPr lang="fr-FR" sz="1800" dirty="0"/>
          </a:p>
        </p:txBody>
      </p:sp>
      <p:sp>
        <p:nvSpPr>
          <p:cNvPr id="3" name="Rectangle 2"/>
          <p:cNvSpPr/>
          <p:nvPr/>
        </p:nvSpPr>
        <p:spPr>
          <a:xfrm>
            <a:off x="1236692" y="4332983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429831" y="4253358"/>
            <a:ext cx="776915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Famille</a:t>
            </a:r>
            <a:endParaRPr lang="fr-FR" sz="1400" dirty="0"/>
          </a:p>
        </p:txBody>
      </p:sp>
      <p:sp>
        <p:nvSpPr>
          <p:cNvPr id="5" name="Rectangle 4"/>
          <p:cNvSpPr/>
          <p:nvPr/>
        </p:nvSpPr>
        <p:spPr>
          <a:xfrm>
            <a:off x="4896087" y="1794137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Titre 1"/>
          <p:cNvSpPr txBox="1">
            <a:spLocks/>
          </p:cNvSpPr>
          <p:nvPr/>
        </p:nvSpPr>
        <p:spPr>
          <a:xfrm>
            <a:off x="4023812" y="1765032"/>
            <a:ext cx="908699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Groupe</a:t>
            </a:r>
            <a:endParaRPr lang="fr-FR" sz="1400" dirty="0"/>
          </a:p>
        </p:txBody>
      </p:sp>
      <p:sp>
        <p:nvSpPr>
          <p:cNvPr id="23" name="Rectangle 22"/>
          <p:cNvSpPr/>
          <p:nvPr/>
        </p:nvSpPr>
        <p:spPr>
          <a:xfrm>
            <a:off x="191992" y="594181"/>
            <a:ext cx="11758269" cy="618479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4" name="Titre 1"/>
          <p:cNvSpPr txBox="1">
            <a:spLocks/>
          </p:cNvSpPr>
          <p:nvPr/>
        </p:nvSpPr>
        <p:spPr>
          <a:xfrm>
            <a:off x="6295195" y="5675813"/>
            <a:ext cx="5100697" cy="100217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000" dirty="0" smtClean="0"/>
              <a:t>Chaque spécialité médicale ayant des familles de spécialité et chaque famille contient des groupes des spécialités médicales.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000" dirty="0"/>
              <a:t>Quand on choisir </a:t>
            </a:r>
            <a:r>
              <a:rPr lang="fr-FR" sz="1000" dirty="0" smtClean="0"/>
              <a:t>la spécialité un choix des familles s’affiche, pour sélectionner une, et quand on choisir la famille un choix des groupe de spécialité s’affiche aussi pour donner la main un </a:t>
            </a:r>
            <a:r>
              <a:rPr lang="fr-FR" sz="1000" dirty="0"/>
              <a:t>tableau </a:t>
            </a:r>
            <a:r>
              <a:rPr lang="fr-FR" sz="1000" dirty="0" smtClean="0"/>
              <a:t>qui s’affiche </a:t>
            </a:r>
            <a:r>
              <a:rPr lang="fr-FR" sz="1000" dirty="0"/>
              <a:t>pour choisir </a:t>
            </a:r>
            <a:r>
              <a:rPr lang="fr-FR" sz="1000" dirty="0" smtClean="0"/>
              <a:t>la spécialité médicales correspondante au choix de patient.</a:t>
            </a:r>
            <a:endParaRPr lang="fr-FR" sz="1000" dirty="0"/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56" name="Rectangle 55"/>
          <p:cNvSpPr/>
          <p:nvPr/>
        </p:nvSpPr>
        <p:spPr>
          <a:xfrm>
            <a:off x="4729267" y="6199087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Recherche</a:t>
            </a:r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11736" y="1273370"/>
            <a:ext cx="11160000" cy="4038088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9" name="Rectangle 118"/>
          <p:cNvSpPr/>
          <p:nvPr/>
        </p:nvSpPr>
        <p:spPr>
          <a:xfrm>
            <a:off x="3496614" y="5556546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0" name="Titre 1"/>
          <p:cNvSpPr txBox="1">
            <a:spLocks/>
          </p:cNvSpPr>
          <p:nvPr/>
        </p:nvSpPr>
        <p:spPr>
          <a:xfrm>
            <a:off x="2703665" y="5500741"/>
            <a:ext cx="78595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Famille</a:t>
            </a:r>
            <a:endParaRPr lang="fr-FR" sz="1400" dirty="0"/>
          </a:p>
        </p:txBody>
      </p:sp>
      <p:sp>
        <p:nvSpPr>
          <p:cNvPr id="123" name="Rectangle 122"/>
          <p:cNvSpPr/>
          <p:nvPr/>
        </p:nvSpPr>
        <p:spPr>
          <a:xfrm>
            <a:off x="1269161" y="6090595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4" name="Titre 1"/>
          <p:cNvSpPr txBox="1">
            <a:spLocks/>
          </p:cNvSpPr>
          <p:nvPr/>
        </p:nvSpPr>
        <p:spPr>
          <a:xfrm>
            <a:off x="517897" y="6070432"/>
            <a:ext cx="736635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Groupe</a:t>
            </a:r>
            <a:endParaRPr lang="fr-FR" sz="1400" dirty="0"/>
          </a:p>
        </p:txBody>
      </p:sp>
      <p:sp>
        <p:nvSpPr>
          <p:cNvPr id="125" name="Triangle isocèle 124"/>
          <p:cNvSpPr/>
          <p:nvPr/>
        </p:nvSpPr>
        <p:spPr>
          <a:xfrm rot="10800000">
            <a:off x="4386825" y="5567352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1" name="Rectangle 140"/>
          <p:cNvSpPr/>
          <p:nvPr/>
        </p:nvSpPr>
        <p:spPr>
          <a:xfrm>
            <a:off x="3502655" y="6079865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2" name="Titre 1"/>
          <p:cNvSpPr txBox="1">
            <a:spLocks/>
          </p:cNvSpPr>
          <p:nvPr/>
        </p:nvSpPr>
        <p:spPr>
          <a:xfrm>
            <a:off x="2298548" y="6047805"/>
            <a:ext cx="1210233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Alphabétique</a:t>
            </a:r>
            <a:endParaRPr lang="fr-FR" sz="1400" dirty="0"/>
          </a:p>
        </p:txBody>
      </p:sp>
      <p:sp>
        <p:nvSpPr>
          <p:cNvPr id="143" name="Triangle isocèle 142"/>
          <p:cNvSpPr/>
          <p:nvPr/>
        </p:nvSpPr>
        <p:spPr>
          <a:xfrm rot="10800000">
            <a:off x="4398935" y="6103836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7" name="Rectangle 146"/>
          <p:cNvSpPr/>
          <p:nvPr/>
        </p:nvSpPr>
        <p:spPr>
          <a:xfrm>
            <a:off x="330438" y="5422303"/>
            <a:ext cx="11160000" cy="1260421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3" name="Rectangle 82"/>
          <p:cNvSpPr/>
          <p:nvPr/>
        </p:nvSpPr>
        <p:spPr>
          <a:xfrm>
            <a:off x="396479" y="753011"/>
            <a:ext cx="133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Biologie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834340" y="759639"/>
            <a:ext cx="133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Radiologie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262914" y="752659"/>
            <a:ext cx="168154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Spécialité médicale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056358" y="758528"/>
            <a:ext cx="2304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Actes </a:t>
            </a:r>
            <a:r>
              <a:rPr lang="fr-FR" sz="1400" dirty="0" smtClean="0"/>
              <a:t>Médicaux-chirurgicaux</a:t>
            </a:r>
            <a:endParaRPr lang="fr-FR" sz="1400" dirty="0"/>
          </a:p>
        </p:txBody>
      </p:sp>
      <p:sp>
        <p:nvSpPr>
          <p:cNvPr id="89" name="Triangle isocèle 88"/>
          <p:cNvSpPr/>
          <p:nvPr/>
        </p:nvSpPr>
        <p:spPr>
          <a:xfrm rot="10800000">
            <a:off x="2753290" y="4341752"/>
            <a:ext cx="161002" cy="452535"/>
          </a:xfrm>
          <a:prstGeom prst="triangle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6" name="Triangle isocèle 95"/>
          <p:cNvSpPr/>
          <p:nvPr/>
        </p:nvSpPr>
        <p:spPr>
          <a:xfrm rot="10800000">
            <a:off x="6447980" y="1802929"/>
            <a:ext cx="127406" cy="445910"/>
          </a:xfrm>
          <a:prstGeom prst="triangl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7" name="Rectangle 76"/>
          <p:cNvSpPr/>
          <p:nvPr/>
        </p:nvSpPr>
        <p:spPr>
          <a:xfrm>
            <a:off x="988151" y="2251732"/>
            <a:ext cx="2163484" cy="1945059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8" name="Titre 1"/>
          <p:cNvSpPr txBox="1">
            <a:spLocks/>
          </p:cNvSpPr>
          <p:nvPr/>
        </p:nvSpPr>
        <p:spPr>
          <a:xfrm>
            <a:off x="1070836" y="2326869"/>
            <a:ext cx="1975612" cy="186992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Anatomo-pathologie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Biologie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Cardiologie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Gastro-entérologie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Neurologie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Ophtalmologie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Pneumologie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Radiologie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vasculaire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26300" y="4824985"/>
            <a:ext cx="2453333" cy="409496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Triangle isocèle 99"/>
          <p:cNvSpPr/>
          <p:nvPr/>
        </p:nvSpPr>
        <p:spPr>
          <a:xfrm rot="10800000">
            <a:off x="2153227" y="6091447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25" name="Connecteur droit 24"/>
          <p:cNvCxnSpPr/>
          <p:nvPr/>
        </p:nvCxnSpPr>
        <p:spPr>
          <a:xfrm>
            <a:off x="6208358" y="5412214"/>
            <a:ext cx="0" cy="126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" name="Rectangle 11"/>
          <p:cNvSpPr/>
          <p:nvPr/>
        </p:nvSpPr>
        <p:spPr>
          <a:xfrm>
            <a:off x="1206746" y="4872880"/>
            <a:ext cx="1862165" cy="32924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Examen endoscopique</a:t>
            </a:r>
          </a:p>
        </p:txBody>
      </p:sp>
      <p:sp>
        <p:nvSpPr>
          <p:cNvPr id="60" name="Ellipse 59"/>
          <p:cNvSpPr/>
          <p:nvPr/>
        </p:nvSpPr>
        <p:spPr>
          <a:xfrm flipV="1">
            <a:off x="3912072" y="2454786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3" name="Rectangle 62"/>
          <p:cNvSpPr/>
          <p:nvPr/>
        </p:nvSpPr>
        <p:spPr>
          <a:xfrm>
            <a:off x="6006342" y="4899981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Valider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21708" y="1411265"/>
            <a:ext cx="2160000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sz="1400" dirty="0"/>
              <a:t>Exploration </a:t>
            </a:r>
            <a:r>
              <a:rPr lang="fr-FR" sz="1400" dirty="0" smtClean="0"/>
              <a:t>spécialisée</a:t>
            </a:r>
            <a:endParaRPr lang="fr-FR" sz="1400" dirty="0"/>
          </a:p>
        </p:txBody>
      </p:sp>
      <p:sp>
        <p:nvSpPr>
          <p:cNvPr id="48" name="Ellipse 47"/>
          <p:cNvSpPr/>
          <p:nvPr/>
        </p:nvSpPr>
        <p:spPr>
          <a:xfrm flipV="1">
            <a:off x="587227" y="1498319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Rectangle 48"/>
          <p:cNvSpPr/>
          <p:nvPr/>
        </p:nvSpPr>
        <p:spPr>
          <a:xfrm>
            <a:off x="7638757" y="1430630"/>
            <a:ext cx="2160000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sz="1400" dirty="0"/>
              <a:t>Consultation spécialisée</a:t>
            </a:r>
          </a:p>
        </p:txBody>
      </p:sp>
      <p:sp>
        <p:nvSpPr>
          <p:cNvPr id="50" name="Ellipse 49"/>
          <p:cNvSpPr/>
          <p:nvPr/>
        </p:nvSpPr>
        <p:spPr>
          <a:xfrm flipV="1">
            <a:off x="7504276" y="1517684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1" name="Rectangle 50"/>
          <p:cNvSpPr/>
          <p:nvPr/>
        </p:nvSpPr>
        <p:spPr>
          <a:xfrm>
            <a:off x="1452223" y="1807415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2" name="Titre 1"/>
          <p:cNvSpPr txBox="1">
            <a:spLocks/>
          </p:cNvSpPr>
          <p:nvPr/>
        </p:nvSpPr>
        <p:spPr>
          <a:xfrm>
            <a:off x="486337" y="1727790"/>
            <a:ext cx="972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Spécialité</a:t>
            </a:r>
            <a:endParaRPr lang="fr-FR" sz="1400" dirty="0"/>
          </a:p>
        </p:txBody>
      </p:sp>
      <p:sp>
        <p:nvSpPr>
          <p:cNvPr id="53" name="Triangle isocèle 52"/>
          <p:cNvSpPr/>
          <p:nvPr/>
        </p:nvSpPr>
        <p:spPr>
          <a:xfrm rot="10800000">
            <a:off x="2968821" y="1816184"/>
            <a:ext cx="161002" cy="452535"/>
          </a:xfrm>
          <a:prstGeom prst="triangle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1" name="Rectangle 60"/>
          <p:cNvSpPr/>
          <p:nvPr/>
        </p:nvSpPr>
        <p:spPr>
          <a:xfrm>
            <a:off x="3798524" y="2232970"/>
            <a:ext cx="3291389" cy="25920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4" name="Ellipse 63"/>
          <p:cNvSpPr/>
          <p:nvPr/>
        </p:nvSpPr>
        <p:spPr>
          <a:xfrm flipV="1">
            <a:off x="3912072" y="3023785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5" name="Ellipse 64"/>
          <p:cNvSpPr/>
          <p:nvPr/>
        </p:nvSpPr>
        <p:spPr>
          <a:xfrm flipV="1">
            <a:off x="3915091" y="3653120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6" name="Ellipse 65"/>
          <p:cNvSpPr/>
          <p:nvPr/>
        </p:nvSpPr>
        <p:spPr>
          <a:xfrm flipV="1">
            <a:off x="3915739" y="4330845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7" name="Rectangle 66"/>
          <p:cNvSpPr/>
          <p:nvPr/>
        </p:nvSpPr>
        <p:spPr>
          <a:xfrm>
            <a:off x="1263622" y="5563174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8" name="Titre 1"/>
          <p:cNvSpPr txBox="1">
            <a:spLocks/>
          </p:cNvSpPr>
          <p:nvPr/>
        </p:nvSpPr>
        <p:spPr>
          <a:xfrm>
            <a:off x="391160" y="5533873"/>
            <a:ext cx="1008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Spécialité médicale</a:t>
            </a:r>
            <a:endParaRPr lang="fr-FR" sz="1400" dirty="0"/>
          </a:p>
        </p:txBody>
      </p:sp>
      <p:sp>
        <p:nvSpPr>
          <p:cNvPr id="69" name="Triangle isocèle 68"/>
          <p:cNvSpPr/>
          <p:nvPr/>
        </p:nvSpPr>
        <p:spPr>
          <a:xfrm rot="10800000">
            <a:off x="2153833" y="5573980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0" name="Ellipse 69"/>
          <p:cNvSpPr/>
          <p:nvPr/>
        </p:nvSpPr>
        <p:spPr>
          <a:xfrm flipV="1">
            <a:off x="620359" y="1531451"/>
            <a:ext cx="72000" cy="72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7" name="Connecteur en angle 16"/>
          <p:cNvCxnSpPr/>
          <p:nvPr/>
        </p:nvCxnSpPr>
        <p:spPr>
          <a:xfrm rot="5400000">
            <a:off x="305001" y="3556980"/>
            <a:ext cx="1320770" cy="307113"/>
          </a:xfrm>
          <a:prstGeom prst="bentConnector3">
            <a:avLst>
              <a:gd name="adj1" fmla="val -16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eur en angle 91"/>
          <p:cNvCxnSpPr>
            <a:stCxn id="97" idx="3"/>
            <a:endCxn id="6" idx="1"/>
          </p:cNvCxnSpPr>
          <p:nvPr/>
        </p:nvCxnSpPr>
        <p:spPr>
          <a:xfrm flipV="1">
            <a:off x="3279633" y="1939917"/>
            <a:ext cx="744179" cy="3089816"/>
          </a:xfrm>
          <a:prstGeom prst="bentConnector3">
            <a:avLst>
              <a:gd name="adj1" fmla="val 2506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Rectangle 98"/>
          <p:cNvSpPr/>
          <p:nvPr/>
        </p:nvSpPr>
        <p:spPr>
          <a:xfrm>
            <a:off x="4233506" y="2347079"/>
            <a:ext cx="2700000" cy="33839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r>
              <a:rPr lang="fr-FR" sz="1400" dirty="0" smtClean="0"/>
              <a:t>CPRE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242080" y="2818485"/>
            <a:ext cx="2700000" cy="5190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r>
              <a:rPr lang="fr-FR" sz="1400" dirty="0" smtClean="0"/>
              <a:t>Fibroscopie </a:t>
            </a:r>
            <a:r>
              <a:rPr lang="fr-FR" sz="1400" dirty="0"/>
              <a:t>Œsogastroduodénale </a:t>
            </a:r>
            <a:endParaRPr lang="fr-FR" sz="1400" dirty="0" smtClean="0"/>
          </a:p>
          <a:p>
            <a:r>
              <a:rPr lang="fr-FR" sz="1400" dirty="0" smtClean="0"/>
              <a:t>FOGD </a:t>
            </a:r>
            <a:r>
              <a:rPr lang="fr-FR" sz="1400" dirty="0"/>
              <a:t>sous </a:t>
            </a:r>
            <a:r>
              <a:rPr lang="fr-FR" sz="1400" dirty="0" smtClean="0"/>
              <a:t>AG</a:t>
            </a:r>
            <a:endParaRPr lang="fr-FR" sz="1400" dirty="0"/>
          </a:p>
        </p:txBody>
      </p:sp>
      <p:sp>
        <p:nvSpPr>
          <p:cNvPr id="102" name="Rectangle 101"/>
          <p:cNvSpPr/>
          <p:nvPr/>
        </p:nvSpPr>
        <p:spPr>
          <a:xfrm>
            <a:off x="4238100" y="3446709"/>
            <a:ext cx="2700000" cy="56458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r>
              <a:rPr lang="fr-FR" sz="1400" dirty="0" smtClean="0"/>
              <a:t>FOGD </a:t>
            </a:r>
            <a:r>
              <a:rPr lang="fr-FR" sz="1400" dirty="0"/>
              <a:t>sous AG avec Ligature </a:t>
            </a:r>
            <a:endParaRPr lang="fr-FR" sz="1400" dirty="0" smtClean="0"/>
          </a:p>
          <a:p>
            <a:r>
              <a:rPr lang="fr-FR" sz="1400" dirty="0" smtClean="0"/>
              <a:t>ou </a:t>
            </a:r>
            <a:r>
              <a:rPr lang="fr-FR" sz="1400" dirty="0"/>
              <a:t>Sclérose Varices </a:t>
            </a:r>
            <a:r>
              <a:rPr lang="fr-FR" sz="1400" dirty="0" err="1" smtClean="0"/>
              <a:t>oes</a:t>
            </a:r>
            <a:endParaRPr lang="fr-FR" sz="1400" dirty="0"/>
          </a:p>
        </p:txBody>
      </p:sp>
      <p:sp>
        <p:nvSpPr>
          <p:cNvPr id="103" name="Rectangle 102"/>
          <p:cNvSpPr/>
          <p:nvPr/>
        </p:nvSpPr>
        <p:spPr>
          <a:xfrm>
            <a:off x="4258880" y="4067595"/>
            <a:ext cx="2700000" cy="63627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r>
              <a:rPr lang="fr-FR" sz="1400" dirty="0">
                <a:solidFill>
                  <a:schemeClr val="dk1"/>
                </a:solidFill>
              </a:rPr>
              <a:t>Ponction d'Ascite </a:t>
            </a:r>
          </a:p>
          <a:p>
            <a:r>
              <a:rPr lang="fr-FR" sz="1400" dirty="0">
                <a:solidFill>
                  <a:schemeClr val="dk1"/>
                </a:solidFill>
              </a:rPr>
              <a:t>/Prise en </a:t>
            </a:r>
            <a:r>
              <a:rPr lang="fr-FR" sz="1400" dirty="0" smtClean="0">
                <a:solidFill>
                  <a:schemeClr val="dk1"/>
                </a:solidFill>
              </a:rPr>
              <a:t>charge</a:t>
            </a:r>
          </a:p>
          <a:p>
            <a:r>
              <a:rPr lang="fr-FR" sz="1400" dirty="0" smtClean="0">
                <a:solidFill>
                  <a:schemeClr val="dk1"/>
                </a:solidFill>
              </a:rPr>
              <a:t>/</a:t>
            </a:r>
            <a:r>
              <a:rPr lang="fr-FR" sz="1400" dirty="0">
                <a:solidFill>
                  <a:schemeClr val="dk1"/>
                </a:solidFill>
              </a:rPr>
              <a:t>injection Album</a:t>
            </a:r>
          </a:p>
        </p:txBody>
      </p:sp>
      <p:cxnSp>
        <p:nvCxnSpPr>
          <p:cNvPr id="104" name="Connecteur droit 103"/>
          <p:cNvCxnSpPr/>
          <p:nvPr/>
        </p:nvCxnSpPr>
        <p:spPr>
          <a:xfrm>
            <a:off x="7261906" y="1284155"/>
            <a:ext cx="11946" cy="3588725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5" name="Rectangle 104"/>
          <p:cNvSpPr/>
          <p:nvPr/>
        </p:nvSpPr>
        <p:spPr>
          <a:xfrm>
            <a:off x="8533809" y="1946537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8" name="Titre 1"/>
          <p:cNvSpPr txBox="1">
            <a:spLocks/>
          </p:cNvSpPr>
          <p:nvPr/>
        </p:nvSpPr>
        <p:spPr>
          <a:xfrm>
            <a:off x="7273852" y="1917432"/>
            <a:ext cx="1274638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Consultation spécialisée</a:t>
            </a:r>
            <a:endParaRPr lang="fr-FR" sz="1400" dirty="0"/>
          </a:p>
        </p:txBody>
      </p:sp>
      <p:sp>
        <p:nvSpPr>
          <p:cNvPr id="109" name="Triangle isocèle 108"/>
          <p:cNvSpPr/>
          <p:nvPr/>
        </p:nvSpPr>
        <p:spPr>
          <a:xfrm rot="10800000">
            <a:off x="10085702" y="1955329"/>
            <a:ext cx="127406" cy="445910"/>
          </a:xfrm>
          <a:prstGeom prst="triangl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1" name="Rectangle 80"/>
          <p:cNvSpPr/>
          <p:nvPr/>
        </p:nvSpPr>
        <p:spPr>
          <a:xfrm>
            <a:off x="7608081" y="2420375"/>
            <a:ext cx="2719926" cy="236876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r>
              <a:rPr lang="fr-FR" sz="1400" dirty="0"/>
              <a:t>Allergologie / Anatomo-pathologie</a:t>
            </a:r>
          </a:p>
          <a:p>
            <a:r>
              <a:rPr lang="fr-FR" sz="1400" dirty="0"/>
              <a:t>Anesthésie / </a:t>
            </a:r>
            <a:r>
              <a:rPr lang="fr-FR" sz="1400" dirty="0" smtClean="0"/>
              <a:t>Cancérologie</a:t>
            </a:r>
            <a:endParaRPr lang="fr-FR" sz="1400" dirty="0"/>
          </a:p>
          <a:p>
            <a:r>
              <a:rPr lang="fr-FR" sz="1400" dirty="0"/>
              <a:t>Cardiologie / Dentaire	</a:t>
            </a:r>
          </a:p>
          <a:p>
            <a:r>
              <a:rPr lang="fr-FR" sz="1400" dirty="0"/>
              <a:t>Dermatologie  / </a:t>
            </a:r>
            <a:r>
              <a:rPr lang="fr-FR" sz="1400" dirty="0" smtClean="0"/>
              <a:t>Endocrinologie</a:t>
            </a:r>
            <a:endParaRPr lang="fr-FR" sz="1400" dirty="0"/>
          </a:p>
          <a:p>
            <a:r>
              <a:rPr lang="fr-FR" sz="1400" dirty="0"/>
              <a:t>Gastro-entérologie / Gynécologie</a:t>
            </a:r>
          </a:p>
          <a:p>
            <a:r>
              <a:rPr lang="fr-FR" sz="1400" dirty="0"/>
              <a:t>Néphrologie / </a:t>
            </a:r>
            <a:r>
              <a:rPr lang="fr-FR" sz="1400" dirty="0" smtClean="0"/>
              <a:t>Neurologie</a:t>
            </a:r>
            <a:endParaRPr lang="fr-FR" sz="1400" dirty="0"/>
          </a:p>
          <a:p>
            <a:r>
              <a:rPr lang="fr-FR" sz="1400" dirty="0"/>
              <a:t>Ophtalmologie / ORL	</a:t>
            </a:r>
          </a:p>
          <a:p>
            <a:r>
              <a:rPr lang="fr-FR" sz="1400" dirty="0"/>
              <a:t>Orthopédie / Pédiatrie	</a:t>
            </a:r>
          </a:p>
          <a:p>
            <a:r>
              <a:rPr lang="fr-FR" sz="1400" dirty="0"/>
              <a:t>Pneumologie / </a:t>
            </a:r>
            <a:r>
              <a:rPr lang="fr-FR" sz="1400" dirty="0" smtClean="0"/>
              <a:t>Psychiatrie</a:t>
            </a:r>
            <a:endParaRPr lang="fr-FR" sz="1400" dirty="0"/>
          </a:p>
          <a:p>
            <a:r>
              <a:rPr lang="fr-FR" sz="1400" dirty="0"/>
              <a:t>Rhumatologie / </a:t>
            </a:r>
            <a:r>
              <a:rPr lang="fr-FR" sz="1400" dirty="0" smtClean="0"/>
              <a:t>Stomatologie</a:t>
            </a:r>
            <a:endParaRPr lang="fr-FR" sz="1400" dirty="0"/>
          </a:p>
          <a:p>
            <a:r>
              <a:rPr lang="fr-FR" sz="1400" dirty="0"/>
              <a:t>Urologie / Vasculaire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9070520" y="4881893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4" name="Titre 1"/>
          <p:cNvSpPr txBox="1">
            <a:spLocks/>
          </p:cNvSpPr>
          <p:nvPr/>
        </p:nvSpPr>
        <p:spPr>
          <a:xfrm>
            <a:off x="7625034" y="4852788"/>
            <a:ext cx="141841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Médecin traitant</a:t>
            </a:r>
            <a:endParaRPr lang="fr-FR" sz="1400" dirty="0"/>
          </a:p>
        </p:txBody>
      </p:sp>
      <p:sp>
        <p:nvSpPr>
          <p:cNvPr id="115" name="Triangle isocèle 114"/>
          <p:cNvSpPr/>
          <p:nvPr/>
        </p:nvSpPr>
        <p:spPr>
          <a:xfrm rot="10800000">
            <a:off x="10556564" y="4889572"/>
            <a:ext cx="180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86" name="Connecteur en angle 85"/>
          <p:cNvCxnSpPr>
            <a:stCxn id="81" idx="3"/>
            <a:endCxn id="113" idx="3"/>
          </p:cNvCxnSpPr>
          <p:nvPr/>
        </p:nvCxnSpPr>
        <p:spPr>
          <a:xfrm>
            <a:off x="10328007" y="3604756"/>
            <a:ext cx="433758" cy="1421137"/>
          </a:xfrm>
          <a:prstGeom prst="bentConnector3">
            <a:avLst>
              <a:gd name="adj1" fmla="val 15270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993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3489617" y="59579"/>
            <a:ext cx="4620714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06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Patient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- Accueil /</a:t>
            </a:r>
            <a:b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</a:br>
            <a:r>
              <a:rPr lang="fr-FR" altLang="fr-FR" sz="1800" b="1" dirty="0" smtClean="0">
                <a:latin typeface="Times New Roman" panose="02020603050405020304" pitchFamily="18" charset="0"/>
              </a:rPr>
              <a:t>Acte médical – Actes médicaux chirurgicaux</a:t>
            </a:r>
            <a:endParaRPr lang="fr-FR" sz="1800" dirty="0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2494747" y="1311271"/>
            <a:ext cx="776915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Libellé</a:t>
            </a:r>
            <a:endParaRPr lang="fr-FR" sz="1400" dirty="0"/>
          </a:p>
        </p:txBody>
      </p:sp>
      <p:sp>
        <p:nvSpPr>
          <p:cNvPr id="5" name="Rectangle 4"/>
          <p:cNvSpPr/>
          <p:nvPr/>
        </p:nvSpPr>
        <p:spPr>
          <a:xfrm>
            <a:off x="4131787" y="1833999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3" name="Rectangle 22"/>
          <p:cNvSpPr/>
          <p:nvPr/>
        </p:nvSpPr>
        <p:spPr>
          <a:xfrm>
            <a:off x="191992" y="594181"/>
            <a:ext cx="11758269" cy="618479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4" name="Titre 1"/>
          <p:cNvSpPr txBox="1">
            <a:spLocks/>
          </p:cNvSpPr>
          <p:nvPr/>
        </p:nvSpPr>
        <p:spPr>
          <a:xfrm>
            <a:off x="6295195" y="5675813"/>
            <a:ext cx="5100697" cy="100217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000" dirty="0" smtClean="0"/>
              <a:t>Chaque spécialité médicale ayant des familles de spécialité et chaque famille contient des groupes des spécialités médicales.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000" dirty="0"/>
              <a:t>Quand on choisir </a:t>
            </a:r>
            <a:r>
              <a:rPr lang="fr-FR" sz="1000" dirty="0" smtClean="0"/>
              <a:t>la spécialité un choix des familles s’affiche, pour sélectionner une, et quand on choisir la famille un choix des groupe de spécialité s’affiche aussi pour donner la main un </a:t>
            </a:r>
            <a:r>
              <a:rPr lang="fr-FR" sz="1000" dirty="0"/>
              <a:t>tableau </a:t>
            </a:r>
            <a:r>
              <a:rPr lang="fr-FR" sz="1000" dirty="0" smtClean="0"/>
              <a:t>qui s’affiche </a:t>
            </a:r>
            <a:r>
              <a:rPr lang="fr-FR" sz="1000" dirty="0"/>
              <a:t>pour choisir </a:t>
            </a:r>
            <a:r>
              <a:rPr lang="fr-FR" sz="1000" dirty="0" smtClean="0"/>
              <a:t>la spécialité médicales correspondante au choix de patient.</a:t>
            </a:r>
            <a:endParaRPr lang="fr-FR" sz="1000" dirty="0"/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56" name="Rectangle 55"/>
          <p:cNvSpPr/>
          <p:nvPr/>
        </p:nvSpPr>
        <p:spPr>
          <a:xfrm>
            <a:off x="4488013" y="6065317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Recherche</a:t>
            </a:r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11736" y="1273370"/>
            <a:ext cx="7956000" cy="3497714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3" name="Rectangle 122"/>
          <p:cNvSpPr/>
          <p:nvPr/>
        </p:nvSpPr>
        <p:spPr>
          <a:xfrm>
            <a:off x="1269161" y="6090595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4" name="Titre 1"/>
          <p:cNvSpPr txBox="1">
            <a:spLocks/>
          </p:cNvSpPr>
          <p:nvPr/>
        </p:nvSpPr>
        <p:spPr>
          <a:xfrm>
            <a:off x="332369" y="6070432"/>
            <a:ext cx="996088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Code acte</a:t>
            </a:r>
            <a:endParaRPr lang="fr-FR" sz="1400" dirty="0"/>
          </a:p>
        </p:txBody>
      </p:sp>
      <p:sp>
        <p:nvSpPr>
          <p:cNvPr id="147" name="Rectangle 146"/>
          <p:cNvSpPr/>
          <p:nvPr/>
        </p:nvSpPr>
        <p:spPr>
          <a:xfrm>
            <a:off x="330438" y="5422303"/>
            <a:ext cx="11160000" cy="1260421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3" name="Rectangle 82"/>
          <p:cNvSpPr/>
          <p:nvPr/>
        </p:nvSpPr>
        <p:spPr>
          <a:xfrm>
            <a:off x="396479" y="753011"/>
            <a:ext cx="133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Biologie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834340" y="759639"/>
            <a:ext cx="133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Radiologie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262914" y="752659"/>
            <a:ext cx="168154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Spécialité médicale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056358" y="758528"/>
            <a:ext cx="2304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Actes Médicaux-chirurgicaux</a:t>
            </a:r>
          </a:p>
        </p:txBody>
      </p:sp>
      <p:sp>
        <p:nvSpPr>
          <p:cNvPr id="96" name="Triangle isocèle 95"/>
          <p:cNvSpPr/>
          <p:nvPr/>
        </p:nvSpPr>
        <p:spPr>
          <a:xfrm rot="10800000">
            <a:off x="5613507" y="1858579"/>
            <a:ext cx="180000" cy="324000"/>
          </a:xfrm>
          <a:prstGeom prst="triangl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Triangle isocèle 99"/>
          <p:cNvSpPr/>
          <p:nvPr/>
        </p:nvSpPr>
        <p:spPr>
          <a:xfrm rot="10800000">
            <a:off x="2153227" y="6091447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25" name="Connecteur droit 24"/>
          <p:cNvCxnSpPr/>
          <p:nvPr/>
        </p:nvCxnSpPr>
        <p:spPr>
          <a:xfrm>
            <a:off x="6208358" y="5412214"/>
            <a:ext cx="0" cy="126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0" name="Ellipse 59"/>
          <p:cNvSpPr/>
          <p:nvPr/>
        </p:nvSpPr>
        <p:spPr>
          <a:xfrm flipV="1">
            <a:off x="571399" y="2070128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3" name="Rectangle 62"/>
          <p:cNvSpPr/>
          <p:nvPr/>
        </p:nvSpPr>
        <p:spPr>
          <a:xfrm>
            <a:off x="6935736" y="4924112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Ajouter</a:t>
            </a:r>
          </a:p>
        </p:txBody>
      </p:sp>
      <p:sp>
        <p:nvSpPr>
          <p:cNvPr id="52" name="Titre 1"/>
          <p:cNvSpPr txBox="1">
            <a:spLocks/>
          </p:cNvSpPr>
          <p:nvPr/>
        </p:nvSpPr>
        <p:spPr>
          <a:xfrm>
            <a:off x="1005772" y="1330461"/>
            <a:ext cx="614229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Code</a:t>
            </a:r>
            <a:endParaRPr lang="fr-FR" sz="1400" dirty="0"/>
          </a:p>
        </p:txBody>
      </p:sp>
      <p:sp>
        <p:nvSpPr>
          <p:cNvPr id="61" name="Rectangle 60"/>
          <p:cNvSpPr/>
          <p:nvPr/>
        </p:nvSpPr>
        <p:spPr>
          <a:xfrm>
            <a:off x="4099433" y="2219718"/>
            <a:ext cx="1694074" cy="1570403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4" name="Ellipse 63"/>
          <p:cNvSpPr/>
          <p:nvPr/>
        </p:nvSpPr>
        <p:spPr>
          <a:xfrm flipV="1">
            <a:off x="571399" y="2611619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5" name="Ellipse 64"/>
          <p:cNvSpPr/>
          <p:nvPr/>
        </p:nvSpPr>
        <p:spPr>
          <a:xfrm flipV="1">
            <a:off x="576231" y="3256172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6" name="Ellipse 65"/>
          <p:cNvSpPr/>
          <p:nvPr/>
        </p:nvSpPr>
        <p:spPr>
          <a:xfrm flipV="1">
            <a:off x="576231" y="3877714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7" name="Rectangle 66"/>
          <p:cNvSpPr/>
          <p:nvPr/>
        </p:nvSpPr>
        <p:spPr>
          <a:xfrm>
            <a:off x="1263622" y="5563174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8" name="Titre 1"/>
          <p:cNvSpPr txBox="1">
            <a:spLocks/>
          </p:cNvSpPr>
          <p:nvPr/>
        </p:nvSpPr>
        <p:spPr>
          <a:xfrm>
            <a:off x="391160" y="5533873"/>
            <a:ext cx="1008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Spécialité</a:t>
            </a:r>
            <a:endParaRPr lang="fr-FR" sz="1400" dirty="0"/>
          </a:p>
        </p:txBody>
      </p:sp>
      <p:sp>
        <p:nvSpPr>
          <p:cNvPr id="69" name="Triangle isocèle 68"/>
          <p:cNvSpPr/>
          <p:nvPr/>
        </p:nvSpPr>
        <p:spPr>
          <a:xfrm rot="10800000">
            <a:off x="2153833" y="5573980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4233506" y="2347078"/>
            <a:ext cx="1080000" cy="360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r>
              <a:rPr lang="fr-FR" sz="1400" dirty="0" smtClean="0"/>
              <a:t>C 1 (100 %)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242080" y="2818485"/>
            <a:ext cx="1080000" cy="360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r>
              <a:rPr lang="fr-FR" sz="1400" dirty="0"/>
              <a:t>C </a:t>
            </a:r>
            <a:r>
              <a:rPr lang="fr-FR" sz="1400" dirty="0" smtClean="0"/>
              <a:t>2 (</a:t>
            </a:r>
            <a:r>
              <a:rPr lang="fr-FR" sz="1400" dirty="0"/>
              <a:t>5</a:t>
            </a:r>
            <a:r>
              <a:rPr lang="fr-FR" sz="1400" dirty="0" smtClean="0"/>
              <a:t>0 </a:t>
            </a:r>
            <a:r>
              <a:rPr lang="fr-FR" sz="1400" dirty="0"/>
              <a:t>%)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238100" y="3314189"/>
            <a:ext cx="1080000" cy="360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r>
              <a:rPr lang="fr-FR" sz="1400" dirty="0"/>
              <a:t>C </a:t>
            </a:r>
            <a:r>
              <a:rPr lang="fr-FR" sz="1400" dirty="0" smtClean="0"/>
              <a:t>3 (</a:t>
            </a:r>
            <a:r>
              <a:rPr lang="fr-FR" sz="1400" dirty="0"/>
              <a:t>3</a:t>
            </a:r>
            <a:r>
              <a:rPr lang="fr-FR" sz="1400" dirty="0" smtClean="0"/>
              <a:t>0 </a:t>
            </a:r>
            <a:r>
              <a:rPr lang="fr-FR" sz="1400" dirty="0"/>
              <a:t>%)</a:t>
            </a:r>
            <a:endParaRPr lang="fr-FR" sz="1400" dirty="0" smtClean="0"/>
          </a:p>
        </p:txBody>
      </p:sp>
      <p:cxnSp>
        <p:nvCxnSpPr>
          <p:cNvPr id="104" name="Connecteur droit 103"/>
          <p:cNvCxnSpPr/>
          <p:nvPr/>
        </p:nvCxnSpPr>
        <p:spPr>
          <a:xfrm>
            <a:off x="5923437" y="1284154"/>
            <a:ext cx="0" cy="3492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5" name="Rectangle 104"/>
          <p:cNvSpPr/>
          <p:nvPr/>
        </p:nvSpPr>
        <p:spPr>
          <a:xfrm>
            <a:off x="6055495" y="1867254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4" name="Titre 1"/>
          <p:cNvSpPr txBox="1">
            <a:spLocks/>
          </p:cNvSpPr>
          <p:nvPr/>
        </p:nvSpPr>
        <p:spPr>
          <a:xfrm>
            <a:off x="6197866" y="1328178"/>
            <a:ext cx="141841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Médecin traitant</a:t>
            </a:r>
            <a:endParaRPr lang="fr-FR" sz="1400" dirty="0"/>
          </a:p>
        </p:txBody>
      </p:sp>
      <p:cxnSp>
        <p:nvCxnSpPr>
          <p:cNvPr id="71" name="Connecteur droit 70"/>
          <p:cNvCxnSpPr/>
          <p:nvPr/>
        </p:nvCxnSpPr>
        <p:spPr>
          <a:xfrm>
            <a:off x="1616470" y="1297406"/>
            <a:ext cx="0" cy="3492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2" name="Connecteur droit 71"/>
          <p:cNvCxnSpPr/>
          <p:nvPr/>
        </p:nvCxnSpPr>
        <p:spPr>
          <a:xfrm flipH="1" flipV="1">
            <a:off x="349226" y="1777201"/>
            <a:ext cx="7920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4" name="Connecteur droit 73"/>
          <p:cNvCxnSpPr/>
          <p:nvPr/>
        </p:nvCxnSpPr>
        <p:spPr>
          <a:xfrm>
            <a:off x="947236" y="1290782"/>
            <a:ext cx="0" cy="3492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5" name="Titre 1"/>
          <p:cNvSpPr txBox="1">
            <a:spLocks/>
          </p:cNvSpPr>
          <p:nvPr/>
        </p:nvSpPr>
        <p:spPr>
          <a:xfrm>
            <a:off x="336539" y="1323837"/>
            <a:ext cx="614229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Sélect</a:t>
            </a:r>
            <a:endParaRPr lang="fr-FR" sz="1400" dirty="0"/>
          </a:p>
        </p:txBody>
      </p:sp>
      <p:cxnSp>
        <p:nvCxnSpPr>
          <p:cNvPr id="76" name="Connecteur droit 75"/>
          <p:cNvCxnSpPr/>
          <p:nvPr/>
        </p:nvCxnSpPr>
        <p:spPr>
          <a:xfrm>
            <a:off x="4021744" y="1277530"/>
            <a:ext cx="0" cy="3492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9" name="Titre 1"/>
          <p:cNvSpPr txBox="1">
            <a:spLocks/>
          </p:cNvSpPr>
          <p:nvPr/>
        </p:nvSpPr>
        <p:spPr>
          <a:xfrm>
            <a:off x="4330173" y="1344403"/>
            <a:ext cx="1258754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Pourcentage %</a:t>
            </a:r>
            <a:endParaRPr lang="fr-FR" sz="1400" dirty="0"/>
          </a:p>
        </p:txBody>
      </p:sp>
      <p:sp>
        <p:nvSpPr>
          <p:cNvPr id="80" name="Triangle isocèle 79"/>
          <p:cNvSpPr/>
          <p:nvPr/>
        </p:nvSpPr>
        <p:spPr>
          <a:xfrm rot="10800000">
            <a:off x="7554953" y="1887955"/>
            <a:ext cx="180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82" name="Connecteur droit 81"/>
          <p:cNvCxnSpPr/>
          <p:nvPr/>
        </p:nvCxnSpPr>
        <p:spPr>
          <a:xfrm flipH="1" flipV="1">
            <a:off x="329349" y="2393425"/>
            <a:ext cx="3672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8" name="Connecteur droit 87"/>
          <p:cNvCxnSpPr/>
          <p:nvPr/>
        </p:nvCxnSpPr>
        <p:spPr>
          <a:xfrm flipH="1" flipV="1">
            <a:off x="5928395" y="2400053"/>
            <a:ext cx="230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3" name="Connecteur droit 92"/>
          <p:cNvCxnSpPr/>
          <p:nvPr/>
        </p:nvCxnSpPr>
        <p:spPr>
          <a:xfrm flipH="1" flipV="1">
            <a:off x="349229" y="2969895"/>
            <a:ext cx="3672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4" name="Connecteur droit 93"/>
          <p:cNvCxnSpPr/>
          <p:nvPr/>
        </p:nvCxnSpPr>
        <p:spPr>
          <a:xfrm flipH="1" flipV="1">
            <a:off x="5948275" y="2976523"/>
            <a:ext cx="230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5" name="Connecteur droit 94"/>
          <p:cNvCxnSpPr/>
          <p:nvPr/>
        </p:nvCxnSpPr>
        <p:spPr>
          <a:xfrm flipH="1" flipV="1">
            <a:off x="349229" y="3645757"/>
            <a:ext cx="3672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0" name="Connecteur droit 109"/>
          <p:cNvCxnSpPr/>
          <p:nvPr/>
        </p:nvCxnSpPr>
        <p:spPr>
          <a:xfrm flipH="1" flipV="1">
            <a:off x="5948275" y="3652385"/>
            <a:ext cx="230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1" name="Connecteur droit 110"/>
          <p:cNvCxnSpPr/>
          <p:nvPr/>
        </p:nvCxnSpPr>
        <p:spPr>
          <a:xfrm flipH="1" flipV="1">
            <a:off x="316097" y="4222228"/>
            <a:ext cx="7956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2" name="Rectangle 111"/>
          <p:cNvSpPr/>
          <p:nvPr/>
        </p:nvSpPr>
        <p:spPr>
          <a:xfrm>
            <a:off x="4151667" y="3841706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7" name="Rectangle 116"/>
          <p:cNvSpPr/>
          <p:nvPr/>
        </p:nvSpPr>
        <p:spPr>
          <a:xfrm>
            <a:off x="6075375" y="3835205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8" name="Triangle isocèle 117"/>
          <p:cNvSpPr/>
          <p:nvPr/>
        </p:nvSpPr>
        <p:spPr>
          <a:xfrm rot="10800000">
            <a:off x="7574833" y="3842654"/>
            <a:ext cx="180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1" name="Ellipse 120"/>
          <p:cNvSpPr/>
          <p:nvPr/>
        </p:nvSpPr>
        <p:spPr>
          <a:xfrm flipV="1">
            <a:off x="557486" y="4431639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2" name="Rectangle 121"/>
          <p:cNvSpPr/>
          <p:nvPr/>
        </p:nvSpPr>
        <p:spPr>
          <a:xfrm>
            <a:off x="6075375" y="2562992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6" name="Triangle isocèle 125"/>
          <p:cNvSpPr/>
          <p:nvPr/>
        </p:nvSpPr>
        <p:spPr>
          <a:xfrm rot="10800000">
            <a:off x="7574833" y="2570441"/>
            <a:ext cx="180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6088625" y="4365288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8" name="Triangle isocèle 127"/>
          <p:cNvSpPr/>
          <p:nvPr/>
        </p:nvSpPr>
        <p:spPr>
          <a:xfrm rot="10800000">
            <a:off x="7588083" y="4372737"/>
            <a:ext cx="180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9" name="Rectangle 128"/>
          <p:cNvSpPr/>
          <p:nvPr/>
        </p:nvSpPr>
        <p:spPr>
          <a:xfrm>
            <a:off x="6088627" y="3159339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0" name="Triangle isocèle 129"/>
          <p:cNvSpPr/>
          <p:nvPr/>
        </p:nvSpPr>
        <p:spPr>
          <a:xfrm rot="10800000">
            <a:off x="7588085" y="3166788"/>
            <a:ext cx="180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1" name="Triangle isocèle 130"/>
          <p:cNvSpPr/>
          <p:nvPr/>
        </p:nvSpPr>
        <p:spPr>
          <a:xfrm rot="10800000">
            <a:off x="5646639" y="3862528"/>
            <a:ext cx="180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2" name="Rectangle 131"/>
          <p:cNvSpPr/>
          <p:nvPr/>
        </p:nvSpPr>
        <p:spPr>
          <a:xfrm>
            <a:off x="4145041" y="4351911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3" name="Triangle isocèle 132"/>
          <p:cNvSpPr/>
          <p:nvPr/>
        </p:nvSpPr>
        <p:spPr>
          <a:xfrm rot="10800000">
            <a:off x="5640013" y="4359481"/>
            <a:ext cx="180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4" name="Titre 1"/>
          <p:cNvSpPr txBox="1">
            <a:spLocks/>
          </p:cNvSpPr>
          <p:nvPr/>
        </p:nvSpPr>
        <p:spPr>
          <a:xfrm>
            <a:off x="999149" y="1920180"/>
            <a:ext cx="452132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 9</a:t>
            </a:r>
            <a:endParaRPr lang="fr-FR" sz="1400" dirty="0"/>
          </a:p>
        </p:txBody>
      </p:sp>
      <p:sp>
        <p:nvSpPr>
          <p:cNvPr id="135" name="Ellipse 134"/>
          <p:cNvSpPr/>
          <p:nvPr/>
        </p:nvSpPr>
        <p:spPr>
          <a:xfrm flipV="1">
            <a:off x="607107" y="2101296"/>
            <a:ext cx="72000" cy="72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1810084" y="1893538"/>
            <a:ext cx="1750094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Dilatation pulmonaire</a:t>
            </a:r>
          </a:p>
        </p:txBody>
      </p:sp>
    </p:spTree>
    <p:extLst>
      <p:ext uri="{BB962C8B-B14F-4D97-AF65-F5344CB8AC3E}">
        <p14:creationId xmlns:p14="http://schemas.microsoft.com/office/powerpoint/2010/main" val="22366051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3489617" y="59579"/>
            <a:ext cx="4620714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07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Patient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– Gestion des patients/</a:t>
            </a:r>
            <a:b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</a:br>
            <a:r>
              <a:rPr lang="fr-FR" altLang="fr-FR" sz="1800" b="1" dirty="0" smtClean="0">
                <a:latin typeface="Times New Roman" panose="02020603050405020304" pitchFamily="18" charset="0"/>
              </a:rPr>
              <a:t>Liste des patients</a:t>
            </a:r>
            <a:endParaRPr lang="fr-FR" sz="1800" dirty="0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1328478" y="2040141"/>
            <a:ext cx="126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d’entrée </a:t>
            </a:r>
            <a:endParaRPr lang="fr-FR" sz="1400" dirty="0"/>
          </a:p>
        </p:txBody>
      </p:sp>
      <p:sp>
        <p:nvSpPr>
          <p:cNvPr id="23" name="Rectangle 22"/>
          <p:cNvSpPr/>
          <p:nvPr/>
        </p:nvSpPr>
        <p:spPr>
          <a:xfrm>
            <a:off x="191992" y="594182"/>
            <a:ext cx="11758269" cy="542230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56" name="Rectangle 55"/>
          <p:cNvSpPr/>
          <p:nvPr/>
        </p:nvSpPr>
        <p:spPr>
          <a:xfrm>
            <a:off x="8190594" y="935112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Recherche</a:t>
            </a:r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11736" y="1975736"/>
            <a:ext cx="9972000" cy="2700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3" name="Rectangle 122"/>
          <p:cNvSpPr/>
          <p:nvPr/>
        </p:nvSpPr>
        <p:spPr>
          <a:xfrm>
            <a:off x="3525849" y="958070"/>
            <a:ext cx="4507766" cy="305045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7" name="Rectangle 146"/>
          <p:cNvSpPr/>
          <p:nvPr/>
        </p:nvSpPr>
        <p:spPr>
          <a:xfrm>
            <a:off x="290682" y="757541"/>
            <a:ext cx="9936000" cy="714656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0" name="Ellipse 59"/>
          <p:cNvSpPr/>
          <p:nvPr/>
        </p:nvSpPr>
        <p:spPr>
          <a:xfrm flipV="1">
            <a:off x="8469709" y="2613470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2" name="Titre 1"/>
          <p:cNvSpPr txBox="1">
            <a:spLocks/>
          </p:cNvSpPr>
          <p:nvPr/>
        </p:nvSpPr>
        <p:spPr>
          <a:xfrm>
            <a:off x="288260" y="2032827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67" name="Rectangle 66"/>
          <p:cNvSpPr/>
          <p:nvPr/>
        </p:nvSpPr>
        <p:spPr>
          <a:xfrm>
            <a:off x="2297295" y="951420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8" name="Titre 1"/>
          <p:cNvSpPr txBox="1">
            <a:spLocks/>
          </p:cNvSpPr>
          <p:nvPr/>
        </p:nvSpPr>
        <p:spPr>
          <a:xfrm>
            <a:off x="629702" y="922119"/>
            <a:ext cx="1692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Critère de recherche</a:t>
            </a:r>
            <a:endParaRPr lang="fr-FR" sz="1400" dirty="0"/>
          </a:p>
        </p:txBody>
      </p:sp>
      <p:sp>
        <p:nvSpPr>
          <p:cNvPr id="69" name="Triangle isocèle 68"/>
          <p:cNvSpPr/>
          <p:nvPr/>
        </p:nvSpPr>
        <p:spPr>
          <a:xfrm rot="10800000">
            <a:off x="3187506" y="962226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04" name="Connecteur droit 103"/>
          <p:cNvCxnSpPr/>
          <p:nvPr/>
        </p:nvCxnSpPr>
        <p:spPr>
          <a:xfrm>
            <a:off x="4384053" y="1999772"/>
            <a:ext cx="0" cy="270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4" name="Titre 1"/>
          <p:cNvSpPr txBox="1">
            <a:spLocks/>
          </p:cNvSpPr>
          <p:nvPr/>
        </p:nvSpPr>
        <p:spPr>
          <a:xfrm>
            <a:off x="4436560" y="2058568"/>
            <a:ext cx="162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Prénom</a:t>
            </a:r>
            <a:endParaRPr lang="fr-FR" sz="1400" dirty="0"/>
          </a:p>
        </p:txBody>
      </p:sp>
      <p:cxnSp>
        <p:nvCxnSpPr>
          <p:cNvPr id="71" name="Connecteur droit 70"/>
          <p:cNvCxnSpPr/>
          <p:nvPr/>
        </p:nvCxnSpPr>
        <p:spPr>
          <a:xfrm>
            <a:off x="1285167" y="1999772"/>
            <a:ext cx="0" cy="270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2" name="Connecteur droit 71"/>
          <p:cNvCxnSpPr/>
          <p:nvPr/>
        </p:nvCxnSpPr>
        <p:spPr>
          <a:xfrm flipH="1" flipV="1">
            <a:off x="349226" y="2479567"/>
            <a:ext cx="9936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4" name="Connecteur droit 73"/>
          <p:cNvCxnSpPr/>
          <p:nvPr/>
        </p:nvCxnSpPr>
        <p:spPr>
          <a:xfrm>
            <a:off x="9110588" y="1993148"/>
            <a:ext cx="0" cy="270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5" name="Titre 1"/>
          <p:cNvSpPr txBox="1">
            <a:spLocks/>
          </p:cNvSpPr>
          <p:nvPr/>
        </p:nvSpPr>
        <p:spPr>
          <a:xfrm>
            <a:off x="8073371" y="2039455"/>
            <a:ext cx="881725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Sélection</a:t>
            </a:r>
            <a:endParaRPr lang="fr-FR" sz="1400" dirty="0"/>
          </a:p>
        </p:txBody>
      </p:sp>
      <p:cxnSp>
        <p:nvCxnSpPr>
          <p:cNvPr id="76" name="Connecteur droit 75"/>
          <p:cNvCxnSpPr/>
          <p:nvPr/>
        </p:nvCxnSpPr>
        <p:spPr>
          <a:xfrm>
            <a:off x="2683275" y="1979896"/>
            <a:ext cx="0" cy="270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9" name="Titre 1"/>
          <p:cNvSpPr txBox="1">
            <a:spLocks/>
          </p:cNvSpPr>
          <p:nvPr/>
        </p:nvSpPr>
        <p:spPr>
          <a:xfrm>
            <a:off x="2729055" y="2046769"/>
            <a:ext cx="162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Nom de naissance</a:t>
            </a:r>
            <a:endParaRPr lang="fr-FR" sz="1400" dirty="0"/>
          </a:p>
        </p:txBody>
      </p:sp>
      <p:sp>
        <p:nvSpPr>
          <p:cNvPr id="134" name="Titre 1"/>
          <p:cNvSpPr txBox="1">
            <a:spLocks/>
          </p:cNvSpPr>
          <p:nvPr/>
        </p:nvSpPr>
        <p:spPr>
          <a:xfrm>
            <a:off x="449262" y="2515482"/>
            <a:ext cx="67071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9" name="Rectangle 8"/>
          <p:cNvSpPr/>
          <p:nvPr/>
        </p:nvSpPr>
        <p:spPr>
          <a:xfrm>
            <a:off x="1359068" y="2581742"/>
            <a:ext cx="1106599" cy="2890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14/05/2013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73" name="Ellipse 72"/>
          <p:cNvSpPr/>
          <p:nvPr/>
        </p:nvSpPr>
        <p:spPr>
          <a:xfrm flipV="1">
            <a:off x="9576263" y="2606846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86" name="Connecteur droit 85"/>
          <p:cNvCxnSpPr/>
          <p:nvPr/>
        </p:nvCxnSpPr>
        <p:spPr>
          <a:xfrm>
            <a:off x="6110568" y="1973272"/>
            <a:ext cx="0" cy="270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9" name="Titre 1"/>
          <p:cNvSpPr txBox="1">
            <a:spLocks/>
          </p:cNvSpPr>
          <p:nvPr/>
        </p:nvSpPr>
        <p:spPr>
          <a:xfrm>
            <a:off x="9261849" y="2032827"/>
            <a:ext cx="889001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Supprime </a:t>
            </a:r>
            <a:endParaRPr lang="fr-FR" sz="1400" dirty="0"/>
          </a:p>
        </p:txBody>
      </p:sp>
      <p:sp>
        <p:nvSpPr>
          <p:cNvPr id="103" name="Titre 1"/>
          <p:cNvSpPr txBox="1">
            <a:spLocks/>
          </p:cNvSpPr>
          <p:nvPr/>
        </p:nvSpPr>
        <p:spPr>
          <a:xfrm>
            <a:off x="6179524" y="2026770"/>
            <a:ext cx="162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de naissance</a:t>
            </a:r>
            <a:endParaRPr lang="fr-FR" sz="1400" dirty="0"/>
          </a:p>
        </p:txBody>
      </p:sp>
      <p:cxnSp>
        <p:nvCxnSpPr>
          <p:cNvPr id="108" name="Connecteur droit 107"/>
          <p:cNvCxnSpPr/>
          <p:nvPr/>
        </p:nvCxnSpPr>
        <p:spPr>
          <a:xfrm>
            <a:off x="7884760" y="1973272"/>
            <a:ext cx="0" cy="270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9" name="Rectangle 108"/>
          <p:cNvSpPr/>
          <p:nvPr/>
        </p:nvSpPr>
        <p:spPr>
          <a:xfrm>
            <a:off x="2902947" y="2575118"/>
            <a:ext cx="1106599" cy="2890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13" name="Rectangle 112"/>
          <p:cNvSpPr/>
          <p:nvPr/>
        </p:nvSpPr>
        <p:spPr>
          <a:xfrm>
            <a:off x="4645605" y="2581746"/>
            <a:ext cx="1106599" cy="2890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15" name="Rectangle 114"/>
          <p:cNvSpPr/>
          <p:nvPr/>
        </p:nvSpPr>
        <p:spPr>
          <a:xfrm>
            <a:off x="6441278" y="2588370"/>
            <a:ext cx="1106599" cy="2890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22/04/1972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16" name="Titre 1"/>
          <p:cNvSpPr txBox="1">
            <a:spLocks/>
          </p:cNvSpPr>
          <p:nvPr/>
        </p:nvSpPr>
        <p:spPr>
          <a:xfrm>
            <a:off x="329351" y="1518537"/>
            <a:ext cx="2501672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/>
              <a:t>Liste des </a:t>
            </a:r>
            <a:r>
              <a:rPr lang="fr-FR" sz="1600" b="1" u="sng" dirty="0" smtClean="0"/>
              <a:t>patients </a:t>
            </a:r>
            <a:r>
              <a:rPr lang="fr-FR" sz="1600" dirty="0" smtClean="0"/>
              <a:t>  </a:t>
            </a:r>
            <a:r>
              <a:rPr lang="fr-FR" sz="1600" b="1" u="sng" dirty="0" smtClean="0"/>
              <a:t>Exemple</a:t>
            </a:r>
            <a:endParaRPr lang="fr-FR" sz="1600" b="1" u="sng" dirty="0"/>
          </a:p>
        </p:txBody>
      </p:sp>
      <p:sp>
        <p:nvSpPr>
          <p:cNvPr id="119" name="Ellipse 118"/>
          <p:cNvSpPr/>
          <p:nvPr/>
        </p:nvSpPr>
        <p:spPr>
          <a:xfrm flipV="1">
            <a:off x="8436579" y="3123678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20" name="Connecteur droit 119"/>
          <p:cNvCxnSpPr/>
          <p:nvPr/>
        </p:nvCxnSpPr>
        <p:spPr>
          <a:xfrm flipH="1" flipV="1">
            <a:off x="316096" y="2936767"/>
            <a:ext cx="9936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6" name="Ellipse 135"/>
          <p:cNvSpPr/>
          <p:nvPr/>
        </p:nvSpPr>
        <p:spPr>
          <a:xfrm flipV="1">
            <a:off x="9543133" y="3130306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0" name="Ellipse 139"/>
          <p:cNvSpPr/>
          <p:nvPr/>
        </p:nvSpPr>
        <p:spPr>
          <a:xfrm flipV="1">
            <a:off x="8449833" y="3706774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41" name="Connecteur droit 140"/>
          <p:cNvCxnSpPr/>
          <p:nvPr/>
        </p:nvCxnSpPr>
        <p:spPr>
          <a:xfrm flipH="1" flipV="1">
            <a:off x="329350" y="3506611"/>
            <a:ext cx="9936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3" name="Ellipse 142"/>
          <p:cNvSpPr/>
          <p:nvPr/>
        </p:nvSpPr>
        <p:spPr>
          <a:xfrm flipV="1">
            <a:off x="9556387" y="3700150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8" name="Ellipse 147"/>
          <p:cNvSpPr/>
          <p:nvPr/>
        </p:nvSpPr>
        <p:spPr>
          <a:xfrm flipV="1">
            <a:off x="8449833" y="4316372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49" name="Connecteur droit 148"/>
          <p:cNvCxnSpPr/>
          <p:nvPr/>
        </p:nvCxnSpPr>
        <p:spPr>
          <a:xfrm flipH="1" flipV="1">
            <a:off x="329350" y="4076453"/>
            <a:ext cx="9936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1" name="Ellipse 150"/>
          <p:cNvSpPr/>
          <p:nvPr/>
        </p:nvSpPr>
        <p:spPr>
          <a:xfrm flipV="1">
            <a:off x="9556387" y="4309748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5" name="Titre 1"/>
          <p:cNvSpPr txBox="1">
            <a:spLocks/>
          </p:cNvSpPr>
          <p:nvPr/>
        </p:nvSpPr>
        <p:spPr>
          <a:xfrm>
            <a:off x="469142" y="2992212"/>
            <a:ext cx="670716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</a:t>
            </a:r>
            <a:endParaRPr lang="fr-FR" sz="1800" b="1" dirty="0"/>
          </a:p>
        </p:txBody>
      </p:sp>
      <p:sp>
        <p:nvSpPr>
          <p:cNvPr id="157" name="Titre 1"/>
          <p:cNvSpPr txBox="1">
            <a:spLocks/>
          </p:cNvSpPr>
          <p:nvPr/>
        </p:nvSpPr>
        <p:spPr>
          <a:xfrm>
            <a:off x="462518" y="3568679"/>
            <a:ext cx="670716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</a:t>
            </a:r>
            <a:endParaRPr lang="fr-FR" sz="1800" b="1" dirty="0"/>
          </a:p>
        </p:txBody>
      </p:sp>
      <p:sp>
        <p:nvSpPr>
          <p:cNvPr id="158" name="Titre 1"/>
          <p:cNvSpPr txBox="1">
            <a:spLocks/>
          </p:cNvSpPr>
          <p:nvPr/>
        </p:nvSpPr>
        <p:spPr>
          <a:xfrm>
            <a:off x="469142" y="4131895"/>
            <a:ext cx="670716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</a:t>
            </a:r>
            <a:endParaRPr lang="fr-FR" sz="1800" b="1" dirty="0"/>
          </a:p>
        </p:txBody>
      </p:sp>
      <p:sp>
        <p:nvSpPr>
          <p:cNvPr id="159" name="Titre 1"/>
          <p:cNvSpPr txBox="1">
            <a:spLocks/>
          </p:cNvSpPr>
          <p:nvPr/>
        </p:nvSpPr>
        <p:spPr>
          <a:xfrm>
            <a:off x="1410047" y="2978960"/>
            <a:ext cx="119974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60" name="Titre 1"/>
          <p:cNvSpPr txBox="1">
            <a:spLocks/>
          </p:cNvSpPr>
          <p:nvPr/>
        </p:nvSpPr>
        <p:spPr>
          <a:xfrm>
            <a:off x="1403423" y="3581935"/>
            <a:ext cx="119974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61" name="Titre 1"/>
          <p:cNvSpPr txBox="1">
            <a:spLocks/>
          </p:cNvSpPr>
          <p:nvPr/>
        </p:nvSpPr>
        <p:spPr>
          <a:xfrm>
            <a:off x="1390170" y="4138524"/>
            <a:ext cx="119974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62" name="Titre 1"/>
          <p:cNvSpPr txBox="1">
            <a:spLocks/>
          </p:cNvSpPr>
          <p:nvPr/>
        </p:nvSpPr>
        <p:spPr>
          <a:xfrm>
            <a:off x="2940671" y="2972336"/>
            <a:ext cx="119974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63" name="Titre 1"/>
          <p:cNvSpPr txBox="1">
            <a:spLocks/>
          </p:cNvSpPr>
          <p:nvPr/>
        </p:nvSpPr>
        <p:spPr>
          <a:xfrm>
            <a:off x="2934047" y="3575311"/>
            <a:ext cx="119974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64" name="Titre 1"/>
          <p:cNvSpPr txBox="1">
            <a:spLocks/>
          </p:cNvSpPr>
          <p:nvPr/>
        </p:nvSpPr>
        <p:spPr>
          <a:xfrm>
            <a:off x="2920794" y="4131900"/>
            <a:ext cx="119974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65" name="Titre 1"/>
          <p:cNvSpPr txBox="1">
            <a:spLocks/>
          </p:cNvSpPr>
          <p:nvPr/>
        </p:nvSpPr>
        <p:spPr>
          <a:xfrm>
            <a:off x="4636953" y="2998840"/>
            <a:ext cx="119974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66" name="Titre 1"/>
          <p:cNvSpPr txBox="1">
            <a:spLocks/>
          </p:cNvSpPr>
          <p:nvPr/>
        </p:nvSpPr>
        <p:spPr>
          <a:xfrm>
            <a:off x="4630329" y="3601815"/>
            <a:ext cx="119974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67" name="Titre 1"/>
          <p:cNvSpPr txBox="1">
            <a:spLocks/>
          </p:cNvSpPr>
          <p:nvPr/>
        </p:nvSpPr>
        <p:spPr>
          <a:xfrm>
            <a:off x="4617076" y="4158404"/>
            <a:ext cx="119974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68" name="Titre 1"/>
          <p:cNvSpPr txBox="1">
            <a:spLocks/>
          </p:cNvSpPr>
          <p:nvPr/>
        </p:nvSpPr>
        <p:spPr>
          <a:xfrm>
            <a:off x="6439250" y="2985586"/>
            <a:ext cx="119974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69" name="Titre 1"/>
          <p:cNvSpPr txBox="1">
            <a:spLocks/>
          </p:cNvSpPr>
          <p:nvPr/>
        </p:nvSpPr>
        <p:spPr>
          <a:xfrm>
            <a:off x="6432626" y="3588561"/>
            <a:ext cx="119974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70" name="Titre 1"/>
          <p:cNvSpPr txBox="1">
            <a:spLocks/>
          </p:cNvSpPr>
          <p:nvPr/>
        </p:nvSpPr>
        <p:spPr>
          <a:xfrm>
            <a:off x="6419373" y="4145150"/>
            <a:ext cx="119974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72" name="Titre 1"/>
          <p:cNvSpPr txBox="1">
            <a:spLocks/>
          </p:cNvSpPr>
          <p:nvPr/>
        </p:nvSpPr>
        <p:spPr>
          <a:xfrm>
            <a:off x="440660" y="5312738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174" name="Titre 1"/>
          <p:cNvSpPr txBox="1">
            <a:spLocks/>
          </p:cNvSpPr>
          <p:nvPr/>
        </p:nvSpPr>
        <p:spPr>
          <a:xfrm>
            <a:off x="2831022" y="5299633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175" name="Titre 1"/>
          <p:cNvSpPr txBox="1">
            <a:spLocks/>
          </p:cNvSpPr>
          <p:nvPr/>
        </p:nvSpPr>
        <p:spPr>
          <a:xfrm>
            <a:off x="1821443" y="5290752"/>
            <a:ext cx="67071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77" name="Titre 1"/>
          <p:cNvSpPr txBox="1">
            <a:spLocks/>
          </p:cNvSpPr>
          <p:nvPr/>
        </p:nvSpPr>
        <p:spPr>
          <a:xfrm>
            <a:off x="5658389" y="5319145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178" name="Rectangle 177"/>
          <p:cNvSpPr/>
          <p:nvPr/>
        </p:nvSpPr>
        <p:spPr>
          <a:xfrm>
            <a:off x="3691406" y="5365442"/>
            <a:ext cx="1106599" cy="2890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79" name="Rectangle 178"/>
          <p:cNvSpPr/>
          <p:nvPr/>
        </p:nvSpPr>
        <p:spPr>
          <a:xfrm>
            <a:off x="4355884" y="5371483"/>
            <a:ext cx="1106599" cy="2890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80" name="Rectangle 179"/>
          <p:cNvSpPr/>
          <p:nvPr/>
        </p:nvSpPr>
        <p:spPr>
          <a:xfrm>
            <a:off x="6003571" y="5378712"/>
            <a:ext cx="1106599" cy="2890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81" name="Rectangle 180"/>
          <p:cNvSpPr/>
          <p:nvPr/>
        </p:nvSpPr>
        <p:spPr>
          <a:xfrm>
            <a:off x="1628058" y="5357764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2" name="Rectangle 181"/>
          <p:cNvSpPr/>
          <p:nvPr/>
        </p:nvSpPr>
        <p:spPr>
          <a:xfrm>
            <a:off x="3821294" y="5351140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3" name="Rectangle 182"/>
          <p:cNvSpPr/>
          <p:nvPr/>
        </p:nvSpPr>
        <p:spPr>
          <a:xfrm>
            <a:off x="6193437" y="5364392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4" name="Rectangle 183"/>
          <p:cNvSpPr/>
          <p:nvPr/>
        </p:nvSpPr>
        <p:spPr>
          <a:xfrm>
            <a:off x="350318" y="5150633"/>
            <a:ext cx="9936000" cy="714656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5" name="Titre 1"/>
          <p:cNvSpPr txBox="1">
            <a:spLocks/>
          </p:cNvSpPr>
          <p:nvPr/>
        </p:nvSpPr>
        <p:spPr>
          <a:xfrm>
            <a:off x="294888" y="4746692"/>
            <a:ext cx="1828492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Affichage</a:t>
            </a:r>
            <a:r>
              <a:rPr lang="fr-FR" sz="1600" dirty="0"/>
              <a:t> </a:t>
            </a:r>
            <a:r>
              <a:rPr lang="fr-FR" sz="1600" dirty="0" smtClean="0"/>
              <a:t>  </a:t>
            </a:r>
            <a:r>
              <a:rPr lang="fr-FR" sz="1600" b="1" u="sng" dirty="0" smtClean="0"/>
              <a:t>Exemple</a:t>
            </a:r>
            <a:endParaRPr lang="fr-FR" sz="1600" b="1" u="sng" dirty="0"/>
          </a:p>
        </p:txBody>
      </p:sp>
      <p:sp>
        <p:nvSpPr>
          <p:cNvPr id="186" name="Titre 1"/>
          <p:cNvSpPr txBox="1">
            <a:spLocks/>
          </p:cNvSpPr>
          <p:nvPr/>
        </p:nvSpPr>
        <p:spPr>
          <a:xfrm>
            <a:off x="86068" y="6277866"/>
            <a:ext cx="9814594" cy="4239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dirty="0" smtClean="0"/>
              <a:t>Critère de recherche</a:t>
            </a:r>
            <a:r>
              <a:rPr lang="fr-FR" sz="1400" b="1" dirty="0"/>
              <a:t> </a:t>
            </a:r>
            <a:r>
              <a:rPr lang="fr-FR" sz="1400" b="1" dirty="0" smtClean="0"/>
              <a:t>: </a:t>
            </a:r>
            <a:r>
              <a:rPr lang="fr-FR" sz="1400" dirty="0" smtClean="0"/>
              <a:t>Nom de naissance, prénom, service, N° dossier</a:t>
            </a:r>
          </a:p>
        </p:txBody>
      </p:sp>
    </p:spTree>
    <p:extLst>
      <p:ext uri="{BB962C8B-B14F-4D97-AF65-F5344CB8AC3E}">
        <p14:creationId xmlns:p14="http://schemas.microsoft.com/office/powerpoint/2010/main" val="15782952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3489617" y="59579"/>
            <a:ext cx="4620714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08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Patient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– Fiche patient/</a:t>
            </a:r>
            <a:endParaRPr lang="fr-FR" alt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Etat civil</a:t>
            </a:r>
            <a:endParaRPr lang="fr-FR" sz="1800" dirty="0"/>
          </a:p>
        </p:txBody>
      </p:sp>
      <p:sp>
        <p:nvSpPr>
          <p:cNvPr id="23" name="Rectangle 22"/>
          <p:cNvSpPr/>
          <p:nvPr/>
        </p:nvSpPr>
        <p:spPr>
          <a:xfrm>
            <a:off x="191992" y="594180"/>
            <a:ext cx="11758269" cy="619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892310" y="1845105"/>
            <a:ext cx="1800000" cy="286059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7" name="Rectangle 146"/>
          <p:cNvSpPr/>
          <p:nvPr/>
        </p:nvSpPr>
        <p:spPr>
          <a:xfrm>
            <a:off x="1920696" y="1297413"/>
            <a:ext cx="9936000" cy="1337322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7" name="Rectangle 66"/>
          <p:cNvSpPr/>
          <p:nvPr/>
        </p:nvSpPr>
        <p:spPr>
          <a:xfrm>
            <a:off x="3896717" y="1430164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8" name="Titre 1"/>
          <p:cNvSpPr txBox="1">
            <a:spLocks/>
          </p:cNvSpPr>
          <p:nvPr/>
        </p:nvSpPr>
        <p:spPr>
          <a:xfrm>
            <a:off x="2768325" y="1410495"/>
            <a:ext cx="119174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Provenance</a:t>
            </a:r>
            <a:endParaRPr lang="fr-FR" sz="1400" dirty="0"/>
          </a:p>
        </p:txBody>
      </p:sp>
      <p:sp>
        <p:nvSpPr>
          <p:cNvPr id="69" name="Triangle isocèle 68"/>
          <p:cNvSpPr/>
          <p:nvPr/>
        </p:nvSpPr>
        <p:spPr>
          <a:xfrm rot="10800000">
            <a:off x="4801558" y="1426004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7" name="Titre 1"/>
          <p:cNvSpPr txBox="1">
            <a:spLocks/>
          </p:cNvSpPr>
          <p:nvPr/>
        </p:nvSpPr>
        <p:spPr>
          <a:xfrm>
            <a:off x="1964661" y="700986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78" name="Titre 1"/>
          <p:cNvSpPr txBox="1">
            <a:spLocks/>
          </p:cNvSpPr>
          <p:nvPr/>
        </p:nvSpPr>
        <p:spPr>
          <a:xfrm>
            <a:off x="4355023" y="687881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80" name="Titre 1"/>
          <p:cNvSpPr txBox="1">
            <a:spLocks/>
          </p:cNvSpPr>
          <p:nvPr/>
        </p:nvSpPr>
        <p:spPr>
          <a:xfrm>
            <a:off x="3345444" y="771764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81" name="Titre 1"/>
          <p:cNvSpPr txBox="1">
            <a:spLocks/>
          </p:cNvSpPr>
          <p:nvPr/>
        </p:nvSpPr>
        <p:spPr>
          <a:xfrm>
            <a:off x="7182390" y="707393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82" name="Rectangle 81"/>
          <p:cNvSpPr/>
          <p:nvPr/>
        </p:nvSpPr>
        <p:spPr>
          <a:xfrm>
            <a:off x="5453943" y="793446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6118421" y="79948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7766108" y="780212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3152059" y="746012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7" name="Rectangle 86"/>
          <p:cNvSpPr/>
          <p:nvPr/>
        </p:nvSpPr>
        <p:spPr>
          <a:xfrm>
            <a:off x="5345295" y="739388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8" name="Rectangle 87"/>
          <p:cNvSpPr/>
          <p:nvPr/>
        </p:nvSpPr>
        <p:spPr>
          <a:xfrm>
            <a:off x="7717438" y="752640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2" name="Rectangle 91"/>
          <p:cNvSpPr/>
          <p:nvPr/>
        </p:nvSpPr>
        <p:spPr>
          <a:xfrm>
            <a:off x="1914072" y="631644"/>
            <a:ext cx="9936000" cy="53385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3" name="Titre 1"/>
          <p:cNvSpPr txBox="1">
            <a:spLocks/>
          </p:cNvSpPr>
          <p:nvPr/>
        </p:nvSpPr>
        <p:spPr>
          <a:xfrm>
            <a:off x="776035" y="817807"/>
            <a:ext cx="972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Affichage</a:t>
            </a:r>
            <a:endParaRPr lang="fr-FR" sz="1600" b="1" u="sng" dirty="0"/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487049" y="1480037"/>
            <a:ext cx="1440000" cy="54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Fiche d’identification</a:t>
            </a:r>
            <a:endParaRPr lang="fr-FR" sz="1600" b="1" u="sng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1911649" y="1813849"/>
            <a:ext cx="2052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Service d’hospitalisation</a:t>
            </a:r>
            <a:endParaRPr lang="fr-FR" sz="1400" dirty="0"/>
          </a:p>
        </p:txBody>
      </p:sp>
      <p:sp>
        <p:nvSpPr>
          <p:cNvPr id="96" name="Triangle isocèle 95"/>
          <p:cNvSpPr/>
          <p:nvPr/>
        </p:nvSpPr>
        <p:spPr>
          <a:xfrm rot="10800000">
            <a:off x="5510711" y="1859698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Titre 1"/>
          <p:cNvSpPr txBox="1">
            <a:spLocks/>
          </p:cNvSpPr>
          <p:nvPr/>
        </p:nvSpPr>
        <p:spPr>
          <a:xfrm>
            <a:off x="2412186" y="2215180"/>
            <a:ext cx="1574045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Service d’accueil</a:t>
            </a:r>
            <a:endParaRPr lang="fr-FR" sz="1400" dirty="0"/>
          </a:p>
        </p:txBody>
      </p:sp>
      <p:sp>
        <p:nvSpPr>
          <p:cNvPr id="101" name="Rectangle 100"/>
          <p:cNvSpPr/>
          <p:nvPr/>
        </p:nvSpPr>
        <p:spPr>
          <a:xfrm>
            <a:off x="3892310" y="2262549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Titre 1"/>
          <p:cNvSpPr txBox="1">
            <a:spLocks/>
          </p:cNvSpPr>
          <p:nvPr/>
        </p:nvSpPr>
        <p:spPr>
          <a:xfrm>
            <a:off x="5804035" y="1793420"/>
            <a:ext cx="1519928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d’admission</a:t>
            </a:r>
            <a:endParaRPr lang="fr-FR" sz="1400" dirty="0"/>
          </a:p>
        </p:txBody>
      </p:sp>
      <p:sp>
        <p:nvSpPr>
          <p:cNvPr id="105" name="Triangle isocèle 104"/>
          <p:cNvSpPr/>
          <p:nvPr/>
        </p:nvSpPr>
        <p:spPr>
          <a:xfrm rot="10800000">
            <a:off x="5510710" y="2262146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1" name="Titre 1"/>
          <p:cNvSpPr txBox="1">
            <a:spLocks/>
          </p:cNvSpPr>
          <p:nvPr/>
        </p:nvSpPr>
        <p:spPr>
          <a:xfrm>
            <a:off x="5665777" y="2198473"/>
            <a:ext cx="1574045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de dépôt</a:t>
            </a:r>
            <a:endParaRPr lang="fr-FR" sz="1400" dirty="0"/>
          </a:p>
        </p:txBody>
      </p:sp>
      <p:sp>
        <p:nvSpPr>
          <p:cNvPr id="117" name="Rectangle 116"/>
          <p:cNvSpPr/>
          <p:nvPr/>
        </p:nvSpPr>
        <p:spPr>
          <a:xfrm>
            <a:off x="7344512" y="1838481"/>
            <a:ext cx="1440000" cy="2860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1" name="Rectangle 120"/>
          <p:cNvSpPr/>
          <p:nvPr/>
        </p:nvSpPr>
        <p:spPr>
          <a:xfrm>
            <a:off x="10210593" y="2217711"/>
            <a:ext cx="1440000" cy="286059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2" name="Triangle isocèle 121"/>
          <p:cNvSpPr/>
          <p:nvPr/>
        </p:nvSpPr>
        <p:spPr>
          <a:xfrm rot="10800000">
            <a:off x="11449157" y="2217850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4" name="Titre 1"/>
          <p:cNvSpPr txBox="1">
            <a:spLocks/>
          </p:cNvSpPr>
          <p:nvPr/>
        </p:nvSpPr>
        <p:spPr>
          <a:xfrm>
            <a:off x="9241353" y="1800632"/>
            <a:ext cx="996943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125" name="Rectangle 124"/>
          <p:cNvSpPr/>
          <p:nvPr/>
        </p:nvSpPr>
        <p:spPr>
          <a:xfrm>
            <a:off x="10210593" y="1804450"/>
            <a:ext cx="1440000" cy="2860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7354749" y="2224339"/>
            <a:ext cx="1440000" cy="286059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8" name="Titre 1"/>
          <p:cNvSpPr txBox="1">
            <a:spLocks/>
          </p:cNvSpPr>
          <p:nvPr/>
        </p:nvSpPr>
        <p:spPr>
          <a:xfrm>
            <a:off x="9247981" y="2204823"/>
            <a:ext cx="996943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Statut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526185" y="3205523"/>
            <a:ext cx="162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Titre 1"/>
          <p:cNvSpPr txBox="1">
            <a:spLocks/>
          </p:cNvSpPr>
          <p:nvPr/>
        </p:nvSpPr>
        <p:spPr>
          <a:xfrm>
            <a:off x="1940119" y="3110754"/>
            <a:ext cx="1619955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Nom de naissance *</a:t>
            </a:r>
            <a:endParaRPr lang="fr-FR" sz="1400" dirty="0"/>
          </a:p>
        </p:txBody>
      </p:sp>
      <p:sp>
        <p:nvSpPr>
          <p:cNvPr id="110" name="Rectangle 109"/>
          <p:cNvSpPr/>
          <p:nvPr/>
        </p:nvSpPr>
        <p:spPr>
          <a:xfrm>
            <a:off x="6393584" y="3212125"/>
            <a:ext cx="162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2" name="Titre 1"/>
          <p:cNvSpPr txBox="1">
            <a:spLocks/>
          </p:cNvSpPr>
          <p:nvPr/>
        </p:nvSpPr>
        <p:spPr>
          <a:xfrm>
            <a:off x="5521309" y="3183020"/>
            <a:ext cx="908699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Prénom *</a:t>
            </a:r>
            <a:endParaRPr lang="fr-FR" sz="1400" dirty="0"/>
          </a:p>
        </p:txBody>
      </p:sp>
      <p:sp>
        <p:nvSpPr>
          <p:cNvPr id="116" name="Rectangle 115"/>
          <p:cNvSpPr/>
          <p:nvPr/>
        </p:nvSpPr>
        <p:spPr>
          <a:xfrm>
            <a:off x="3526184" y="3602351"/>
            <a:ext cx="162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8" name="Titre 1"/>
          <p:cNvSpPr txBox="1">
            <a:spLocks/>
          </p:cNvSpPr>
          <p:nvPr/>
        </p:nvSpPr>
        <p:spPr>
          <a:xfrm>
            <a:off x="1918572" y="3532780"/>
            <a:ext cx="1678782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de  naissance *</a:t>
            </a:r>
            <a:endParaRPr lang="fr-FR" sz="1400" dirty="0"/>
          </a:p>
        </p:txBody>
      </p:sp>
      <p:sp>
        <p:nvSpPr>
          <p:cNvPr id="126" name="Rectangle 125"/>
          <p:cNvSpPr/>
          <p:nvPr/>
        </p:nvSpPr>
        <p:spPr>
          <a:xfrm>
            <a:off x="6399277" y="3605302"/>
            <a:ext cx="162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9" name="Titre 1"/>
          <p:cNvSpPr txBox="1">
            <a:spLocks/>
          </p:cNvSpPr>
          <p:nvPr/>
        </p:nvSpPr>
        <p:spPr>
          <a:xfrm>
            <a:off x="5408537" y="3574604"/>
            <a:ext cx="972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Wilaya de  naissance</a:t>
            </a:r>
            <a:endParaRPr lang="fr-FR" sz="1400" dirty="0"/>
          </a:p>
        </p:txBody>
      </p:sp>
      <p:sp>
        <p:nvSpPr>
          <p:cNvPr id="135" name="Rectangle 134"/>
          <p:cNvSpPr/>
          <p:nvPr/>
        </p:nvSpPr>
        <p:spPr>
          <a:xfrm>
            <a:off x="9395135" y="3205523"/>
            <a:ext cx="90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7" name="Titre 1"/>
          <p:cNvSpPr txBox="1">
            <a:spLocks/>
          </p:cNvSpPr>
          <p:nvPr/>
        </p:nvSpPr>
        <p:spPr>
          <a:xfrm>
            <a:off x="8740812" y="3183010"/>
            <a:ext cx="582889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Sexe</a:t>
            </a:r>
            <a:endParaRPr lang="fr-FR" sz="1400" dirty="0"/>
          </a:p>
        </p:txBody>
      </p:sp>
      <p:sp>
        <p:nvSpPr>
          <p:cNvPr id="145" name="Rectangle 144"/>
          <p:cNvSpPr/>
          <p:nvPr/>
        </p:nvSpPr>
        <p:spPr>
          <a:xfrm>
            <a:off x="9393907" y="3630558"/>
            <a:ext cx="144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6" name="Titre 1"/>
          <p:cNvSpPr txBox="1">
            <a:spLocks/>
          </p:cNvSpPr>
          <p:nvPr/>
        </p:nvSpPr>
        <p:spPr>
          <a:xfrm>
            <a:off x="8196079" y="3597468"/>
            <a:ext cx="126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Commune de  naissance</a:t>
            </a:r>
            <a:endParaRPr lang="fr-FR" sz="1400" dirty="0"/>
          </a:p>
        </p:txBody>
      </p:sp>
      <p:sp>
        <p:nvSpPr>
          <p:cNvPr id="150" name="Titre 1"/>
          <p:cNvSpPr txBox="1">
            <a:spLocks/>
          </p:cNvSpPr>
          <p:nvPr/>
        </p:nvSpPr>
        <p:spPr>
          <a:xfrm>
            <a:off x="6480516" y="4741583"/>
            <a:ext cx="764815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Wilaya </a:t>
            </a:r>
            <a:endParaRPr lang="fr-FR" sz="1200" dirty="0"/>
          </a:p>
        </p:txBody>
      </p:sp>
      <p:sp>
        <p:nvSpPr>
          <p:cNvPr id="152" name="Rectangle 151"/>
          <p:cNvSpPr/>
          <p:nvPr/>
        </p:nvSpPr>
        <p:spPr>
          <a:xfrm>
            <a:off x="3544438" y="4791841"/>
            <a:ext cx="2808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3" name="Titre 1"/>
          <p:cNvSpPr txBox="1">
            <a:spLocks/>
          </p:cNvSpPr>
          <p:nvPr/>
        </p:nvSpPr>
        <p:spPr>
          <a:xfrm>
            <a:off x="2703780" y="4754141"/>
            <a:ext cx="929476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Adresse * </a:t>
            </a:r>
            <a:endParaRPr lang="fr-FR" sz="1400" dirty="0"/>
          </a:p>
        </p:txBody>
      </p:sp>
      <p:sp>
        <p:nvSpPr>
          <p:cNvPr id="154" name="Rectangle 153"/>
          <p:cNvSpPr/>
          <p:nvPr/>
        </p:nvSpPr>
        <p:spPr>
          <a:xfrm>
            <a:off x="7184879" y="4774641"/>
            <a:ext cx="90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6" name="Titre 1"/>
          <p:cNvSpPr txBox="1">
            <a:spLocks/>
          </p:cNvSpPr>
          <p:nvPr/>
        </p:nvSpPr>
        <p:spPr>
          <a:xfrm>
            <a:off x="8041883" y="4732086"/>
            <a:ext cx="972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Commune</a:t>
            </a:r>
            <a:endParaRPr lang="fr-FR" sz="1200" dirty="0" smtClean="0"/>
          </a:p>
        </p:txBody>
      </p:sp>
      <p:sp>
        <p:nvSpPr>
          <p:cNvPr id="171" name="Rectangle 170"/>
          <p:cNvSpPr/>
          <p:nvPr/>
        </p:nvSpPr>
        <p:spPr>
          <a:xfrm>
            <a:off x="8972082" y="4762509"/>
            <a:ext cx="108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2" name="Titre 1"/>
          <p:cNvSpPr txBox="1">
            <a:spLocks/>
          </p:cNvSpPr>
          <p:nvPr/>
        </p:nvSpPr>
        <p:spPr>
          <a:xfrm>
            <a:off x="10095309" y="4747104"/>
            <a:ext cx="108300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Code Postal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11077044" y="4762971"/>
            <a:ext cx="671988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4" name="Titre 1"/>
          <p:cNvSpPr txBox="1">
            <a:spLocks/>
          </p:cNvSpPr>
          <p:nvPr/>
        </p:nvSpPr>
        <p:spPr>
          <a:xfrm>
            <a:off x="5648661" y="5177416"/>
            <a:ext cx="679072" cy="3371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E-mail</a:t>
            </a:r>
            <a:endParaRPr lang="fr-FR" sz="1400" dirty="0"/>
          </a:p>
        </p:txBody>
      </p:sp>
      <p:sp>
        <p:nvSpPr>
          <p:cNvPr id="175" name="Rectangle 174"/>
          <p:cNvSpPr/>
          <p:nvPr/>
        </p:nvSpPr>
        <p:spPr>
          <a:xfrm>
            <a:off x="6400925" y="5160104"/>
            <a:ext cx="1660572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6" name="Titre 1"/>
          <p:cNvSpPr txBox="1">
            <a:spLocks/>
          </p:cNvSpPr>
          <p:nvPr/>
        </p:nvSpPr>
        <p:spPr>
          <a:xfrm>
            <a:off x="2613783" y="5185725"/>
            <a:ext cx="1063710" cy="2710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Téléphone</a:t>
            </a:r>
            <a:endParaRPr lang="fr-FR" sz="1400" dirty="0"/>
          </a:p>
        </p:txBody>
      </p:sp>
      <p:sp>
        <p:nvSpPr>
          <p:cNvPr id="177" name="Rectangle 176"/>
          <p:cNvSpPr/>
          <p:nvPr/>
        </p:nvSpPr>
        <p:spPr>
          <a:xfrm>
            <a:off x="3550917" y="5183124"/>
            <a:ext cx="1332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8" name="Rectangle 177"/>
          <p:cNvSpPr/>
          <p:nvPr/>
        </p:nvSpPr>
        <p:spPr>
          <a:xfrm>
            <a:off x="1888742" y="3124982"/>
            <a:ext cx="9972000" cy="3204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9" name="Rectangle 178"/>
          <p:cNvSpPr/>
          <p:nvPr/>
        </p:nvSpPr>
        <p:spPr>
          <a:xfrm>
            <a:off x="3555871" y="5941349"/>
            <a:ext cx="1332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0" name="Titre 1"/>
          <p:cNvSpPr txBox="1">
            <a:spLocks/>
          </p:cNvSpPr>
          <p:nvPr/>
        </p:nvSpPr>
        <p:spPr>
          <a:xfrm>
            <a:off x="2776174" y="5885544"/>
            <a:ext cx="78595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Type </a:t>
            </a:r>
            <a:r>
              <a:rPr lang="fr-FR" sz="1400" dirty="0" smtClean="0"/>
              <a:t>P.I</a:t>
            </a:r>
            <a:endParaRPr lang="fr-FR" sz="1400" dirty="0"/>
          </a:p>
        </p:txBody>
      </p:sp>
      <p:sp>
        <p:nvSpPr>
          <p:cNvPr id="181" name="Rectangle 180"/>
          <p:cNvSpPr/>
          <p:nvPr/>
        </p:nvSpPr>
        <p:spPr>
          <a:xfrm>
            <a:off x="8776585" y="5940935"/>
            <a:ext cx="108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2" name="Rectangle 181"/>
          <p:cNvSpPr/>
          <p:nvPr/>
        </p:nvSpPr>
        <p:spPr>
          <a:xfrm>
            <a:off x="6390754" y="5932060"/>
            <a:ext cx="1332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3" name="Titre 1"/>
          <p:cNvSpPr txBox="1">
            <a:spLocks/>
          </p:cNvSpPr>
          <p:nvPr/>
        </p:nvSpPr>
        <p:spPr>
          <a:xfrm>
            <a:off x="5702375" y="5899314"/>
            <a:ext cx="604425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P.I</a:t>
            </a:r>
            <a:endParaRPr lang="fr-FR" sz="1400" dirty="0"/>
          </a:p>
        </p:txBody>
      </p:sp>
      <p:sp>
        <p:nvSpPr>
          <p:cNvPr id="184" name="Triangle isocèle 183"/>
          <p:cNvSpPr/>
          <p:nvPr/>
        </p:nvSpPr>
        <p:spPr>
          <a:xfrm rot="10800000">
            <a:off x="4693029" y="5952155"/>
            <a:ext cx="180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5" name="Rectangle 184"/>
          <p:cNvSpPr/>
          <p:nvPr/>
        </p:nvSpPr>
        <p:spPr>
          <a:xfrm>
            <a:off x="10779649" y="5925420"/>
            <a:ext cx="987416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7" name="Titre 1"/>
          <p:cNvSpPr txBox="1">
            <a:spLocks/>
          </p:cNvSpPr>
          <p:nvPr/>
        </p:nvSpPr>
        <p:spPr>
          <a:xfrm>
            <a:off x="9919997" y="5904935"/>
            <a:ext cx="900000" cy="324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Délivré le</a:t>
            </a:r>
          </a:p>
        </p:txBody>
      </p:sp>
      <p:sp>
        <p:nvSpPr>
          <p:cNvPr id="188" name="Titre 1"/>
          <p:cNvSpPr txBox="1">
            <a:spLocks/>
          </p:cNvSpPr>
          <p:nvPr/>
        </p:nvSpPr>
        <p:spPr>
          <a:xfrm>
            <a:off x="7823677" y="5906376"/>
            <a:ext cx="972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Délivré </a:t>
            </a:r>
            <a:r>
              <a:rPr lang="fr-FR" sz="1400" dirty="0" smtClean="0"/>
              <a:t>par</a:t>
            </a:r>
            <a:endParaRPr lang="fr-FR" sz="1400" dirty="0"/>
          </a:p>
        </p:txBody>
      </p:sp>
      <p:sp>
        <p:nvSpPr>
          <p:cNvPr id="197" name="Rectangle 196"/>
          <p:cNvSpPr/>
          <p:nvPr/>
        </p:nvSpPr>
        <p:spPr>
          <a:xfrm>
            <a:off x="3537665" y="4000567"/>
            <a:ext cx="162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98" name="Titre 1"/>
          <p:cNvSpPr txBox="1">
            <a:spLocks/>
          </p:cNvSpPr>
          <p:nvPr/>
        </p:nvSpPr>
        <p:spPr>
          <a:xfrm>
            <a:off x="2064541" y="3931205"/>
            <a:ext cx="1512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Situation familiale</a:t>
            </a:r>
            <a:endParaRPr lang="fr-FR" sz="1400" dirty="0"/>
          </a:p>
        </p:txBody>
      </p:sp>
      <p:sp>
        <p:nvSpPr>
          <p:cNvPr id="199" name="Rectangle 198"/>
          <p:cNvSpPr/>
          <p:nvPr/>
        </p:nvSpPr>
        <p:spPr>
          <a:xfrm>
            <a:off x="6406306" y="3997317"/>
            <a:ext cx="162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0" name="Titre 1"/>
          <p:cNvSpPr txBox="1">
            <a:spLocks/>
          </p:cNvSpPr>
          <p:nvPr/>
        </p:nvSpPr>
        <p:spPr>
          <a:xfrm>
            <a:off x="5289681" y="4004860"/>
            <a:ext cx="1080000" cy="324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Nom marital</a:t>
            </a:r>
            <a:endParaRPr lang="fr-FR" sz="1400" dirty="0"/>
          </a:p>
        </p:txBody>
      </p:sp>
      <p:sp>
        <p:nvSpPr>
          <p:cNvPr id="201" name="Rectangle 200"/>
          <p:cNvSpPr/>
          <p:nvPr/>
        </p:nvSpPr>
        <p:spPr>
          <a:xfrm>
            <a:off x="3549247" y="4397473"/>
            <a:ext cx="1332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2" name="Titre 1"/>
          <p:cNvSpPr txBox="1">
            <a:spLocks/>
          </p:cNvSpPr>
          <p:nvPr/>
        </p:nvSpPr>
        <p:spPr>
          <a:xfrm>
            <a:off x="2225273" y="4368534"/>
            <a:ext cx="1332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Niveau scolaire</a:t>
            </a:r>
            <a:endParaRPr lang="fr-FR" sz="1400" dirty="0"/>
          </a:p>
        </p:txBody>
      </p:sp>
      <p:sp>
        <p:nvSpPr>
          <p:cNvPr id="203" name="Triangle isocèle 202"/>
          <p:cNvSpPr/>
          <p:nvPr/>
        </p:nvSpPr>
        <p:spPr>
          <a:xfrm rot="10800000">
            <a:off x="4687993" y="4410355"/>
            <a:ext cx="180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4" name="Rectangle 203"/>
          <p:cNvSpPr/>
          <p:nvPr/>
        </p:nvSpPr>
        <p:spPr>
          <a:xfrm>
            <a:off x="6387840" y="4382780"/>
            <a:ext cx="1625743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5" name="Titre 1"/>
          <p:cNvSpPr txBox="1">
            <a:spLocks/>
          </p:cNvSpPr>
          <p:nvPr/>
        </p:nvSpPr>
        <p:spPr>
          <a:xfrm>
            <a:off x="5428566" y="4366218"/>
            <a:ext cx="1044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Profession </a:t>
            </a:r>
            <a:endParaRPr lang="fr-FR" sz="1400" dirty="0"/>
          </a:p>
        </p:txBody>
      </p:sp>
      <p:sp>
        <p:nvSpPr>
          <p:cNvPr id="208" name="Rectangle 207"/>
          <p:cNvSpPr/>
          <p:nvPr/>
        </p:nvSpPr>
        <p:spPr>
          <a:xfrm>
            <a:off x="3549245" y="5563665"/>
            <a:ext cx="1332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9" name="Titre 1"/>
          <p:cNvSpPr txBox="1">
            <a:spLocks/>
          </p:cNvSpPr>
          <p:nvPr/>
        </p:nvSpPr>
        <p:spPr>
          <a:xfrm>
            <a:off x="2862312" y="5507860"/>
            <a:ext cx="78595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Parent</a:t>
            </a:r>
            <a:endParaRPr lang="fr-FR" sz="1400" dirty="0"/>
          </a:p>
        </p:txBody>
      </p:sp>
      <p:sp>
        <p:nvSpPr>
          <p:cNvPr id="210" name="Rectangle 209"/>
          <p:cNvSpPr/>
          <p:nvPr/>
        </p:nvSpPr>
        <p:spPr>
          <a:xfrm>
            <a:off x="6383447" y="5542541"/>
            <a:ext cx="1512000" cy="29587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11" name="Titre 1"/>
          <p:cNvSpPr txBox="1">
            <a:spLocks/>
          </p:cNvSpPr>
          <p:nvPr/>
        </p:nvSpPr>
        <p:spPr>
          <a:xfrm>
            <a:off x="5455623" y="5507860"/>
            <a:ext cx="100463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Téléphone </a:t>
            </a:r>
            <a:endParaRPr lang="fr-FR" sz="1400" dirty="0"/>
          </a:p>
        </p:txBody>
      </p:sp>
      <p:sp>
        <p:nvSpPr>
          <p:cNvPr id="212" name="Triangle isocèle 211"/>
          <p:cNvSpPr/>
          <p:nvPr/>
        </p:nvSpPr>
        <p:spPr>
          <a:xfrm rot="10800000">
            <a:off x="4699655" y="5574471"/>
            <a:ext cx="180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13" name="Titre 1"/>
          <p:cNvSpPr txBox="1">
            <a:spLocks/>
          </p:cNvSpPr>
          <p:nvPr/>
        </p:nvSpPr>
        <p:spPr>
          <a:xfrm>
            <a:off x="8432822" y="3983340"/>
            <a:ext cx="900000" cy="4177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Groupe sanguine</a:t>
            </a:r>
            <a:endParaRPr lang="fr-FR" sz="1200" dirty="0" smtClean="0"/>
          </a:p>
        </p:txBody>
      </p:sp>
      <p:sp>
        <p:nvSpPr>
          <p:cNvPr id="214" name="Rectangle 213"/>
          <p:cNvSpPr/>
          <p:nvPr/>
        </p:nvSpPr>
        <p:spPr>
          <a:xfrm>
            <a:off x="9393907" y="4051900"/>
            <a:ext cx="90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15" name="Rectangle 214"/>
          <p:cNvSpPr/>
          <p:nvPr/>
        </p:nvSpPr>
        <p:spPr>
          <a:xfrm>
            <a:off x="9939877" y="6395016"/>
            <a:ext cx="19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Imprimer code barre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8502016" y="6401644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Annuler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7077403" y="6395018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Modifier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2967401" y="2701077"/>
            <a:ext cx="1332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Etat civil</a:t>
            </a:r>
            <a:endParaRPr lang="fr-FR" sz="1400" dirty="0"/>
          </a:p>
        </p:txBody>
      </p:sp>
      <p:sp>
        <p:nvSpPr>
          <p:cNvPr id="220" name="Rectangle 219"/>
          <p:cNvSpPr/>
          <p:nvPr/>
        </p:nvSpPr>
        <p:spPr>
          <a:xfrm>
            <a:off x="4405262" y="2707705"/>
            <a:ext cx="133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smtClean="0"/>
              <a:t>Sécurité sociale</a:t>
            </a:r>
            <a:endParaRPr lang="fr-FR" sz="1400" dirty="0" smtClean="0"/>
          </a:p>
        </p:txBody>
      </p:sp>
      <p:sp>
        <p:nvSpPr>
          <p:cNvPr id="221" name="Rectangle 220"/>
          <p:cNvSpPr/>
          <p:nvPr/>
        </p:nvSpPr>
        <p:spPr>
          <a:xfrm>
            <a:off x="5833836" y="2700725"/>
            <a:ext cx="168154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Mode de transport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7627280" y="2706594"/>
            <a:ext cx="313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Personne à prévenir en cas de nécessité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3124205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3489617" y="59579"/>
            <a:ext cx="4620714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09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Patient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– Fiche patient/</a:t>
            </a:r>
            <a:endParaRPr lang="fr-FR" alt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Sécurité sociale</a:t>
            </a:r>
            <a:endParaRPr lang="fr-FR" sz="1800" dirty="0"/>
          </a:p>
        </p:txBody>
      </p:sp>
      <p:sp>
        <p:nvSpPr>
          <p:cNvPr id="23" name="Rectangle 22"/>
          <p:cNvSpPr/>
          <p:nvPr/>
        </p:nvSpPr>
        <p:spPr>
          <a:xfrm>
            <a:off x="191992" y="594180"/>
            <a:ext cx="11758269" cy="619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892310" y="1871612"/>
            <a:ext cx="1800000" cy="286059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7" name="Rectangle 146"/>
          <p:cNvSpPr/>
          <p:nvPr/>
        </p:nvSpPr>
        <p:spPr>
          <a:xfrm>
            <a:off x="1920696" y="1323920"/>
            <a:ext cx="9936000" cy="1337322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7" name="Rectangle 66"/>
          <p:cNvSpPr/>
          <p:nvPr/>
        </p:nvSpPr>
        <p:spPr>
          <a:xfrm>
            <a:off x="3896717" y="1456671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8" name="Titre 1"/>
          <p:cNvSpPr txBox="1">
            <a:spLocks/>
          </p:cNvSpPr>
          <p:nvPr/>
        </p:nvSpPr>
        <p:spPr>
          <a:xfrm>
            <a:off x="2768325" y="1437002"/>
            <a:ext cx="119174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Provenance</a:t>
            </a:r>
            <a:endParaRPr lang="fr-FR" sz="1400" dirty="0"/>
          </a:p>
        </p:txBody>
      </p:sp>
      <p:sp>
        <p:nvSpPr>
          <p:cNvPr id="69" name="Triangle isocèle 68"/>
          <p:cNvSpPr/>
          <p:nvPr/>
        </p:nvSpPr>
        <p:spPr>
          <a:xfrm rot="10800000">
            <a:off x="4801558" y="1452511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7" name="Titre 1"/>
          <p:cNvSpPr txBox="1">
            <a:spLocks/>
          </p:cNvSpPr>
          <p:nvPr/>
        </p:nvSpPr>
        <p:spPr>
          <a:xfrm>
            <a:off x="1964661" y="727493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78" name="Titre 1"/>
          <p:cNvSpPr txBox="1">
            <a:spLocks/>
          </p:cNvSpPr>
          <p:nvPr/>
        </p:nvSpPr>
        <p:spPr>
          <a:xfrm>
            <a:off x="4355023" y="714388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81" name="Titre 1"/>
          <p:cNvSpPr txBox="1">
            <a:spLocks/>
          </p:cNvSpPr>
          <p:nvPr/>
        </p:nvSpPr>
        <p:spPr>
          <a:xfrm>
            <a:off x="7182390" y="733900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85" name="Rectangle 84"/>
          <p:cNvSpPr/>
          <p:nvPr/>
        </p:nvSpPr>
        <p:spPr>
          <a:xfrm>
            <a:off x="3152059" y="772519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7" name="Rectangle 86"/>
          <p:cNvSpPr/>
          <p:nvPr/>
        </p:nvSpPr>
        <p:spPr>
          <a:xfrm>
            <a:off x="5345295" y="765895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8" name="Rectangle 87"/>
          <p:cNvSpPr/>
          <p:nvPr/>
        </p:nvSpPr>
        <p:spPr>
          <a:xfrm>
            <a:off x="7717438" y="779147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2" name="Rectangle 91"/>
          <p:cNvSpPr/>
          <p:nvPr/>
        </p:nvSpPr>
        <p:spPr>
          <a:xfrm>
            <a:off x="1914072" y="658151"/>
            <a:ext cx="9936000" cy="53385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3" name="Titre 1"/>
          <p:cNvSpPr txBox="1">
            <a:spLocks/>
          </p:cNvSpPr>
          <p:nvPr/>
        </p:nvSpPr>
        <p:spPr>
          <a:xfrm>
            <a:off x="776035" y="751547"/>
            <a:ext cx="972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Affichage</a:t>
            </a:r>
            <a:endParaRPr lang="fr-FR" sz="1600" b="1" u="sng" dirty="0"/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487049" y="1347517"/>
            <a:ext cx="1440000" cy="54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Fiche d’identification</a:t>
            </a:r>
            <a:endParaRPr lang="fr-FR" sz="1600" b="1" u="sng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1911649" y="1840356"/>
            <a:ext cx="2052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Service d’hospitalisation</a:t>
            </a:r>
            <a:endParaRPr lang="fr-FR" sz="1400" dirty="0"/>
          </a:p>
        </p:txBody>
      </p:sp>
      <p:sp>
        <p:nvSpPr>
          <p:cNvPr id="96" name="Triangle isocèle 95"/>
          <p:cNvSpPr/>
          <p:nvPr/>
        </p:nvSpPr>
        <p:spPr>
          <a:xfrm rot="10800000">
            <a:off x="5510711" y="1886205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Titre 1"/>
          <p:cNvSpPr txBox="1">
            <a:spLocks/>
          </p:cNvSpPr>
          <p:nvPr/>
        </p:nvSpPr>
        <p:spPr>
          <a:xfrm>
            <a:off x="2412186" y="2241687"/>
            <a:ext cx="1574045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Service d’accueil</a:t>
            </a:r>
            <a:endParaRPr lang="fr-FR" sz="1400" dirty="0"/>
          </a:p>
        </p:txBody>
      </p:sp>
      <p:sp>
        <p:nvSpPr>
          <p:cNvPr id="101" name="Rectangle 100"/>
          <p:cNvSpPr/>
          <p:nvPr/>
        </p:nvSpPr>
        <p:spPr>
          <a:xfrm>
            <a:off x="3892310" y="2289056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Titre 1"/>
          <p:cNvSpPr txBox="1">
            <a:spLocks/>
          </p:cNvSpPr>
          <p:nvPr/>
        </p:nvSpPr>
        <p:spPr>
          <a:xfrm>
            <a:off x="5804035" y="1819927"/>
            <a:ext cx="1519928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d’admission</a:t>
            </a:r>
            <a:endParaRPr lang="fr-FR" sz="1400" dirty="0"/>
          </a:p>
        </p:txBody>
      </p:sp>
      <p:sp>
        <p:nvSpPr>
          <p:cNvPr id="105" name="Triangle isocèle 104"/>
          <p:cNvSpPr/>
          <p:nvPr/>
        </p:nvSpPr>
        <p:spPr>
          <a:xfrm rot="10800000">
            <a:off x="5510710" y="2288653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1" name="Titre 1"/>
          <p:cNvSpPr txBox="1">
            <a:spLocks/>
          </p:cNvSpPr>
          <p:nvPr/>
        </p:nvSpPr>
        <p:spPr>
          <a:xfrm>
            <a:off x="5983827" y="2224980"/>
            <a:ext cx="1332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de dépôt</a:t>
            </a:r>
            <a:endParaRPr lang="fr-FR" sz="1400" dirty="0"/>
          </a:p>
        </p:txBody>
      </p:sp>
      <p:sp>
        <p:nvSpPr>
          <p:cNvPr id="117" name="Rectangle 116"/>
          <p:cNvSpPr/>
          <p:nvPr/>
        </p:nvSpPr>
        <p:spPr>
          <a:xfrm>
            <a:off x="7344512" y="1864988"/>
            <a:ext cx="1440000" cy="2860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1" name="Rectangle 120"/>
          <p:cNvSpPr/>
          <p:nvPr/>
        </p:nvSpPr>
        <p:spPr>
          <a:xfrm>
            <a:off x="10210593" y="2244218"/>
            <a:ext cx="1440000" cy="286059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2" name="Triangle isocèle 121"/>
          <p:cNvSpPr/>
          <p:nvPr/>
        </p:nvSpPr>
        <p:spPr>
          <a:xfrm rot="10800000">
            <a:off x="11449157" y="2244357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4" name="Titre 1"/>
          <p:cNvSpPr txBox="1">
            <a:spLocks/>
          </p:cNvSpPr>
          <p:nvPr/>
        </p:nvSpPr>
        <p:spPr>
          <a:xfrm>
            <a:off x="9241353" y="1827139"/>
            <a:ext cx="996943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125" name="Rectangle 124"/>
          <p:cNvSpPr/>
          <p:nvPr/>
        </p:nvSpPr>
        <p:spPr>
          <a:xfrm>
            <a:off x="10210593" y="1830957"/>
            <a:ext cx="1440000" cy="2860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7354749" y="2250846"/>
            <a:ext cx="1440000" cy="286059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8" name="Titre 1"/>
          <p:cNvSpPr txBox="1">
            <a:spLocks/>
          </p:cNvSpPr>
          <p:nvPr/>
        </p:nvSpPr>
        <p:spPr>
          <a:xfrm>
            <a:off x="9247981" y="2231330"/>
            <a:ext cx="996943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Statut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889654" y="3220669"/>
            <a:ext cx="162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Titre 1"/>
          <p:cNvSpPr txBox="1">
            <a:spLocks/>
          </p:cNvSpPr>
          <p:nvPr/>
        </p:nvSpPr>
        <p:spPr>
          <a:xfrm>
            <a:off x="2906231" y="3164157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Organisme</a:t>
            </a:r>
            <a:endParaRPr lang="fr-FR" sz="1400" dirty="0"/>
          </a:p>
        </p:txBody>
      </p:sp>
      <p:sp>
        <p:nvSpPr>
          <p:cNvPr id="116" name="Rectangle 115"/>
          <p:cNvSpPr/>
          <p:nvPr/>
        </p:nvSpPr>
        <p:spPr>
          <a:xfrm>
            <a:off x="3896717" y="3669546"/>
            <a:ext cx="162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8" name="Titre 1"/>
          <p:cNvSpPr txBox="1">
            <a:spLocks/>
          </p:cNvSpPr>
          <p:nvPr/>
        </p:nvSpPr>
        <p:spPr>
          <a:xfrm>
            <a:off x="3105967" y="3600296"/>
            <a:ext cx="792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Agence</a:t>
            </a:r>
            <a:endParaRPr lang="fr-FR" sz="1400" dirty="0"/>
          </a:p>
        </p:txBody>
      </p:sp>
      <p:sp>
        <p:nvSpPr>
          <p:cNvPr id="152" name="Rectangle 151"/>
          <p:cNvSpPr/>
          <p:nvPr/>
        </p:nvSpPr>
        <p:spPr>
          <a:xfrm>
            <a:off x="3915501" y="4102727"/>
            <a:ext cx="2808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3" name="Titre 1"/>
          <p:cNvSpPr txBox="1">
            <a:spLocks/>
          </p:cNvSpPr>
          <p:nvPr/>
        </p:nvSpPr>
        <p:spPr>
          <a:xfrm>
            <a:off x="3035087" y="4065027"/>
            <a:ext cx="929476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Adresse  </a:t>
            </a:r>
            <a:endParaRPr lang="fr-FR" sz="1400" dirty="0"/>
          </a:p>
        </p:txBody>
      </p:sp>
      <p:sp>
        <p:nvSpPr>
          <p:cNvPr id="176" name="Titre 1"/>
          <p:cNvSpPr txBox="1">
            <a:spLocks/>
          </p:cNvSpPr>
          <p:nvPr/>
        </p:nvSpPr>
        <p:spPr>
          <a:xfrm>
            <a:off x="6608484" y="4561466"/>
            <a:ext cx="756000" cy="2710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Malade</a:t>
            </a:r>
            <a:endParaRPr lang="fr-FR" sz="1400" dirty="0"/>
          </a:p>
        </p:txBody>
      </p:sp>
      <p:sp>
        <p:nvSpPr>
          <p:cNvPr id="177" name="Rectangle 176"/>
          <p:cNvSpPr/>
          <p:nvPr/>
        </p:nvSpPr>
        <p:spPr>
          <a:xfrm>
            <a:off x="7381253" y="4568517"/>
            <a:ext cx="1332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8" name="Rectangle 177"/>
          <p:cNvSpPr/>
          <p:nvPr/>
        </p:nvSpPr>
        <p:spPr>
          <a:xfrm>
            <a:off x="1884696" y="3125644"/>
            <a:ext cx="9972000" cy="3276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9" name="Rectangle 178"/>
          <p:cNvSpPr/>
          <p:nvPr/>
        </p:nvSpPr>
        <p:spPr>
          <a:xfrm>
            <a:off x="7386542" y="4988956"/>
            <a:ext cx="1332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0" name="Titre 1"/>
          <p:cNvSpPr txBox="1">
            <a:spLocks/>
          </p:cNvSpPr>
          <p:nvPr/>
        </p:nvSpPr>
        <p:spPr>
          <a:xfrm>
            <a:off x="5749163" y="4933151"/>
            <a:ext cx="1658049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ouverture droit</a:t>
            </a:r>
            <a:endParaRPr lang="fr-FR" sz="1400" dirty="0"/>
          </a:p>
        </p:txBody>
      </p:sp>
      <p:sp>
        <p:nvSpPr>
          <p:cNvPr id="197" name="Rectangle 196"/>
          <p:cNvSpPr/>
          <p:nvPr/>
        </p:nvSpPr>
        <p:spPr>
          <a:xfrm>
            <a:off x="7354749" y="3670930"/>
            <a:ext cx="162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98" name="Titre 1"/>
          <p:cNvSpPr txBox="1">
            <a:spLocks/>
          </p:cNvSpPr>
          <p:nvPr/>
        </p:nvSpPr>
        <p:spPr>
          <a:xfrm>
            <a:off x="6247851" y="3600310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Code centre</a:t>
            </a:r>
            <a:endParaRPr lang="fr-FR" sz="1400" dirty="0"/>
          </a:p>
        </p:txBody>
      </p:sp>
      <p:sp>
        <p:nvSpPr>
          <p:cNvPr id="201" name="Rectangle 200"/>
          <p:cNvSpPr/>
          <p:nvPr/>
        </p:nvSpPr>
        <p:spPr>
          <a:xfrm>
            <a:off x="3920306" y="4529993"/>
            <a:ext cx="1332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2" name="Titre 1"/>
          <p:cNvSpPr txBox="1">
            <a:spLocks/>
          </p:cNvSpPr>
          <p:nvPr/>
        </p:nvSpPr>
        <p:spPr>
          <a:xfrm>
            <a:off x="2322159" y="4501054"/>
            <a:ext cx="1552952" cy="38396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</a:t>
            </a:r>
            <a:r>
              <a:rPr lang="fr-FR" sz="1400" smtClean="0"/>
              <a:t>sécurité sociale</a:t>
            </a:r>
            <a:endParaRPr lang="fr-FR" sz="1400" dirty="0"/>
          </a:p>
        </p:txBody>
      </p:sp>
      <p:sp>
        <p:nvSpPr>
          <p:cNvPr id="203" name="Triangle isocèle 202"/>
          <p:cNvSpPr/>
          <p:nvPr/>
        </p:nvSpPr>
        <p:spPr>
          <a:xfrm rot="10800000">
            <a:off x="5059052" y="4542875"/>
            <a:ext cx="180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8" name="Rectangle 207"/>
          <p:cNvSpPr/>
          <p:nvPr/>
        </p:nvSpPr>
        <p:spPr>
          <a:xfrm>
            <a:off x="3920305" y="4980572"/>
            <a:ext cx="1332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9" name="Titre 1"/>
          <p:cNvSpPr txBox="1">
            <a:spLocks/>
          </p:cNvSpPr>
          <p:nvPr/>
        </p:nvSpPr>
        <p:spPr>
          <a:xfrm>
            <a:off x="2769994" y="4964523"/>
            <a:ext cx="1236077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bordereau </a:t>
            </a:r>
            <a:endParaRPr lang="fr-FR" sz="1400" dirty="0"/>
          </a:p>
        </p:txBody>
      </p:sp>
      <p:sp>
        <p:nvSpPr>
          <p:cNvPr id="215" name="Rectangle 214"/>
          <p:cNvSpPr/>
          <p:nvPr/>
        </p:nvSpPr>
        <p:spPr>
          <a:xfrm>
            <a:off x="9939877" y="6395016"/>
            <a:ext cx="19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Imprimer code barre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8502016" y="6401644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Annuler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7077403" y="6395018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Modifier</a:t>
            </a:r>
          </a:p>
        </p:txBody>
      </p:sp>
      <p:sp>
        <p:nvSpPr>
          <p:cNvPr id="98" name="Triangle isocèle 97"/>
          <p:cNvSpPr/>
          <p:nvPr/>
        </p:nvSpPr>
        <p:spPr>
          <a:xfrm rot="10800000">
            <a:off x="5317473" y="3237536"/>
            <a:ext cx="180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3" name="Triangle isocèle 102"/>
          <p:cNvSpPr/>
          <p:nvPr/>
        </p:nvSpPr>
        <p:spPr>
          <a:xfrm rot="10800000">
            <a:off x="5324100" y="3681480"/>
            <a:ext cx="180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4" name="Rectangle 103"/>
          <p:cNvSpPr/>
          <p:nvPr/>
        </p:nvSpPr>
        <p:spPr>
          <a:xfrm>
            <a:off x="7407212" y="5419641"/>
            <a:ext cx="1332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8" name="Titre 1"/>
          <p:cNvSpPr txBox="1">
            <a:spLocks/>
          </p:cNvSpPr>
          <p:nvPr/>
        </p:nvSpPr>
        <p:spPr>
          <a:xfrm>
            <a:off x="5728493" y="5388588"/>
            <a:ext cx="1658049" cy="432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dépôt de prise en charge</a:t>
            </a:r>
            <a:endParaRPr lang="fr-FR" sz="1400" dirty="0"/>
          </a:p>
        </p:txBody>
      </p:sp>
      <p:sp>
        <p:nvSpPr>
          <p:cNvPr id="113" name="Rectangle 112"/>
          <p:cNvSpPr/>
          <p:nvPr/>
        </p:nvSpPr>
        <p:spPr>
          <a:xfrm>
            <a:off x="3927573" y="5435690"/>
            <a:ext cx="1332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4" name="Titre 1"/>
          <p:cNvSpPr txBox="1">
            <a:spLocks/>
          </p:cNvSpPr>
          <p:nvPr/>
        </p:nvSpPr>
        <p:spPr>
          <a:xfrm>
            <a:off x="2276942" y="5419641"/>
            <a:ext cx="1658049" cy="432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expiration de prise en charge</a:t>
            </a:r>
            <a:endParaRPr lang="fr-FR" sz="1400" dirty="0"/>
          </a:p>
        </p:txBody>
      </p:sp>
      <p:sp>
        <p:nvSpPr>
          <p:cNvPr id="115" name="Titre 1"/>
          <p:cNvSpPr txBox="1">
            <a:spLocks/>
          </p:cNvSpPr>
          <p:nvPr/>
        </p:nvSpPr>
        <p:spPr>
          <a:xfrm>
            <a:off x="3010519" y="5933066"/>
            <a:ext cx="900000" cy="2710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Praticien</a:t>
            </a:r>
            <a:endParaRPr lang="fr-FR" sz="1400" dirty="0"/>
          </a:p>
        </p:txBody>
      </p:sp>
      <p:sp>
        <p:nvSpPr>
          <p:cNvPr id="119" name="Rectangle 118"/>
          <p:cNvSpPr/>
          <p:nvPr/>
        </p:nvSpPr>
        <p:spPr>
          <a:xfrm>
            <a:off x="3915808" y="5940117"/>
            <a:ext cx="1332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9" name="Rectangle 138"/>
          <p:cNvSpPr/>
          <p:nvPr/>
        </p:nvSpPr>
        <p:spPr>
          <a:xfrm>
            <a:off x="3007159" y="2714329"/>
            <a:ext cx="133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Etat civil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4445020" y="2720957"/>
            <a:ext cx="1332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/>
              <a:t>Sécurité </a:t>
            </a:r>
            <a:r>
              <a:rPr lang="fr-FR" sz="1400" smtClean="0"/>
              <a:t>sociale</a:t>
            </a:r>
            <a:endParaRPr lang="fr-FR" sz="1400" dirty="0"/>
          </a:p>
        </p:txBody>
      </p:sp>
      <p:sp>
        <p:nvSpPr>
          <p:cNvPr id="141" name="Rectangle 140"/>
          <p:cNvSpPr/>
          <p:nvPr/>
        </p:nvSpPr>
        <p:spPr>
          <a:xfrm>
            <a:off x="5873594" y="2713977"/>
            <a:ext cx="168154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Mode de transport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7667038" y="2719846"/>
            <a:ext cx="313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Personne à prévenir en cas de nécessité</a:t>
            </a:r>
            <a:endParaRPr lang="fr-FR" sz="1400" dirty="0"/>
          </a:p>
        </p:txBody>
      </p:sp>
      <p:sp>
        <p:nvSpPr>
          <p:cNvPr id="143" name="Titre 1"/>
          <p:cNvSpPr txBox="1">
            <a:spLocks/>
          </p:cNvSpPr>
          <p:nvPr/>
        </p:nvSpPr>
        <p:spPr>
          <a:xfrm>
            <a:off x="3345444" y="798268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44" name="Rectangle 143"/>
          <p:cNvSpPr/>
          <p:nvPr/>
        </p:nvSpPr>
        <p:spPr>
          <a:xfrm>
            <a:off x="5453943" y="819950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8" name="Rectangle 147"/>
          <p:cNvSpPr/>
          <p:nvPr/>
        </p:nvSpPr>
        <p:spPr>
          <a:xfrm>
            <a:off x="6118421" y="825991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9" name="Rectangle 148"/>
          <p:cNvSpPr/>
          <p:nvPr/>
        </p:nvSpPr>
        <p:spPr>
          <a:xfrm>
            <a:off x="7766108" y="806716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1101067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3489617" y="59579"/>
            <a:ext cx="4620714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10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Patient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– Fiche patient/</a:t>
            </a:r>
            <a:endParaRPr lang="fr-FR" alt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Mode de transport</a:t>
            </a:r>
            <a:endParaRPr lang="fr-FR" sz="1800" dirty="0"/>
          </a:p>
        </p:txBody>
      </p:sp>
      <p:sp>
        <p:nvSpPr>
          <p:cNvPr id="23" name="Rectangle 22"/>
          <p:cNvSpPr/>
          <p:nvPr/>
        </p:nvSpPr>
        <p:spPr>
          <a:xfrm>
            <a:off x="191992" y="594180"/>
            <a:ext cx="11758269" cy="619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892310" y="1871612"/>
            <a:ext cx="1800000" cy="286059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7" name="Rectangle 146"/>
          <p:cNvSpPr/>
          <p:nvPr/>
        </p:nvSpPr>
        <p:spPr>
          <a:xfrm>
            <a:off x="1920696" y="1323920"/>
            <a:ext cx="9936000" cy="1337322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7" name="Rectangle 66"/>
          <p:cNvSpPr/>
          <p:nvPr/>
        </p:nvSpPr>
        <p:spPr>
          <a:xfrm>
            <a:off x="3896717" y="1456671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8" name="Titre 1"/>
          <p:cNvSpPr txBox="1">
            <a:spLocks/>
          </p:cNvSpPr>
          <p:nvPr/>
        </p:nvSpPr>
        <p:spPr>
          <a:xfrm>
            <a:off x="2768325" y="1437002"/>
            <a:ext cx="119174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Provenance</a:t>
            </a:r>
            <a:endParaRPr lang="fr-FR" sz="1400" dirty="0"/>
          </a:p>
        </p:txBody>
      </p:sp>
      <p:sp>
        <p:nvSpPr>
          <p:cNvPr id="69" name="Triangle isocèle 68"/>
          <p:cNvSpPr/>
          <p:nvPr/>
        </p:nvSpPr>
        <p:spPr>
          <a:xfrm rot="10800000">
            <a:off x="4801558" y="1452511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7" name="Titre 1"/>
          <p:cNvSpPr txBox="1">
            <a:spLocks/>
          </p:cNvSpPr>
          <p:nvPr/>
        </p:nvSpPr>
        <p:spPr>
          <a:xfrm>
            <a:off x="1964661" y="727493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78" name="Titre 1"/>
          <p:cNvSpPr txBox="1">
            <a:spLocks/>
          </p:cNvSpPr>
          <p:nvPr/>
        </p:nvSpPr>
        <p:spPr>
          <a:xfrm>
            <a:off x="4355023" y="714388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81" name="Titre 1"/>
          <p:cNvSpPr txBox="1">
            <a:spLocks/>
          </p:cNvSpPr>
          <p:nvPr/>
        </p:nvSpPr>
        <p:spPr>
          <a:xfrm>
            <a:off x="7182390" y="733900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85" name="Rectangle 84"/>
          <p:cNvSpPr/>
          <p:nvPr/>
        </p:nvSpPr>
        <p:spPr>
          <a:xfrm>
            <a:off x="3152059" y="772519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7" name="Rectangle 86"/>
          <p:cNvSpPr/>
          <p:nvPr/>
        </p:nvSpPr>
        <p:spPr>
          <a:xfrm>
            <a:off x="5345295" y="765895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8" name="Rectangle 87"/>
          <p:cNvSpPr/>
          <p:nvPr/>
        </p:nvSpPr>
        <p:spPr>
          <a:xfrm>
            <a:off x="7717438" y="779147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2" name="Rectangle 91"/>
          <p:cNvSpPr/>
          <p:nvPr/>
        </p:nvSpPr>
        <p:spPr>
          <a:xfrm>
            <a:off x="1914072" y="658151"/>
            <a:ext cx="9936000" cy="53385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3" name="Titre 1"/>
          <p:cNvSpPr txBox="1">
            <a:spLocks/>
          </p:cNvSpPr>
          <p:nvPr/>
        </p:nvSpPr>
        <p:spPr>
          <a:xfrm>
            <a:off x="776035" y="751547"/>
            <a:ext cx="972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Affichage</a:t>
            </a:r>
            <a:endParaRPr lang="fr-FR" sz="1600" b="1" u="sng" dirty="0"/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487049" y="1347517"/>
            <a:ext cx="1440000" cy="54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Fiche d’identification</a:t>
            </a:r>
            <a:endParaRPr lang="fr-FR" sz="1600" b="1" u="sng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1911649" y="1840356"/>
            <a:ext cx="2052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Service d’hospitalisation</a:t>
            </a:r>
            <a:endParaRPr lang="fr-FR" sz="1400" dirty="0"/>
          </a:p>
        </p:txBody>
      </p:sp>
      <p:sp>
        <p:nvSpPr>
          <p:cNvPr id="96" name="Triangle isocèle 95"/>
          <p:cNvSpPr/>
          <p:nvPr/>
        </p:nvSpPr>
        <p:spPr>
          <a:xfrm rot="10800000">
            <a:off x="5510711" y="1886205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Titre 1"/>
          <p:cNvSpPr txBox="1">
            <a:spLocks/>
          </p:cNvSpPr>
          <p:nvPr/>
        </p:nvSpPr>
        <p:spPr>
          <a:xfrm>
            <a:off x="2412186" y="2241687"/>
            <a:ext cx="1574045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Service d’accueil</a:t>
            </a:r>
            <a:endParaRPr lang="fr-FR" sz="1400" dirty="0"/>
          </a:p>
        </p:txBody>
      </p:sp>
      <p:sp>
        <p:nvSpPr>
          <p:cNvPr id="101" name="Rectangle 100"/>
          <p:cNvSpPr/>
          <p:nvPr/>
        </p:nvSpPr>
        <p:spPr>
          <a:xfrm>
            <a:off x="3892310" y="2289056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Titre 1"/>
          <p:cNvSpPr txBox="1">
            <a:spLocks/>
          </p:cNvSpPr>
          <p:nvPr/>
        </p:nvSpPr>
        <p:spPr>
          <a:xfrm>
            <a:off x="5804035" y="1819927"/>
            <a:ext cx="1519928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d’admission</a:t>
            </a:r>
            <a:endParaRPr lang="fr-FR" sz="1400" dirty="0"/>
          </a:p>
        </p:txBody>
      </p:sp>
      <p:sp>
        <p:nvSpPr>
          <p:cNvPr id="105" name="Triangle isocèle 104"/>
          <p:cNvSpPr/>
          <p:nvPr/>
        </p:nvSpPr>
        <p:spPr>
          <a:xfrm rot="10800000">
            <a:off x="5510710" y="2288653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1" name="Titre 1"/>
          <p:cNvSpPr txBox="1">
            <a:spLocks/>
          </p:cNvSpPr>
          <p:nvPr/>
        </p:nvSpPr>
        <p:spPr>
          <a:xfrm>
            <a:off x="5983827" y="2224980"/>
            <a:ext cx="1332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de dépôt</a:t>
            </a:r>
            <a:endParaRPr lang="fr-FR" sz="1400" dirty="0"/>
          </a:p>
        </p:txBody>
      </p:sp>
      <p:sp>
        <p:nvSpPr>
          <p:cNvPr id="117" name="Rectangle 116"/>
          <p:cNvSpPr/>
          <p:nvPr/>
        </p:nvSpPr>
        <p:spPr>
          <a:xfrm>
            <a:off x="7344512" y="1864988"/>
            <a:ext cx="1440000" cy="2860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1" name="Rectangle 120"/>
          <p:cNvSpPr/>
          <p:nvPr/>
        </p:nvSpPr>
        <p:spPr>
          <a:xfrm>
            <a:off x="10210593" y="2244218"/>
            <a:ext cx="1440000" cy="286059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2" name="Triangle isocèle 121"/>
          <p:cNvSpPr/>
          <p:nvPr/>
        </p:nvSpPr>
        <p:spPr>
          <a:xfrm rot="10800000">
            <a:off x="11449157" y="2244357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4" name="Titre 1"/>
          <p:cNvSpPr txBox="1">
            <a:spLocks/>
          </p:cNvSpPr>
          <p:nvPr/>
        </p:nvSpPr>
        <p:spPr>
          <a:xfrm>
            <a:off x="9241353" y="1827139"/>
            <a:ext cx="996943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125" name="Rectangle 124"/>
          <p:cNvSpPr/>
          <p:nvPr/>
        </p:nvSpPr>
        <p:spPr>
          <a:xfrm>
            <a:off x="10210593" y="1830957"/>
            <a:ext cx="1440000" cy="2860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7354749" y="2250846"/>
            <a:ext cx="1440000" cy="286059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8" name="Titre 1"/>
          <p:cNvSpPr txBox="1">
            <a:spLocks/>
          </p:cNvSpPr>
          <p:nvPr/>
        </p:nvSpPr>
        <p:spPr>
          <a:xfrm>
            <a:off x="9247981" y="2231330"/>
            <a:ext cx="996943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Statut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889654" y="3445955"/>
            <a:ext cx="162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Titre 1"/>
          <p:cNvSpPr txBox="1">
            <a:spLocks/>
          </p:cNvSpPr>
          <p:nvPr/>
        </p:nvSpPr>
        <p:spPr>
          <a:xfrm>
            <a:off x="2627938" y="3429199"/>
            <a:ext cx="126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smtClean="0"/>
              <a:t>Raison social</a:t>
            </a:r>
            <a:endParaRPr lang="fr-FR" sz="1400" dirty="0"/>
          </a:p>
        </p:txBody>
      </p:sp>
      <p:sp>
        <p:nvSpPr>
          <p:cNvPr id="152" name="Rectangle 151"/>
          <p:cNvSpPr/>
          <p:nvPr/>
        </p:nvSpPr>
        <p:spPr>
          <a:xfrm>
            <a:off x="3915501" y="3970203"/>
            <a:ext cx="2808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3" name="Titre 1"/>
          <p:cNvSpPr txBox="1">
            <a:spLocks/>
          </p:cNvSpPr>
          <p:nvPr/>
        </p:nvSpPr>
        <p:spPr>
          <a:xfrm>
            <a:off x="2995331" y="3919251"/>
            <a:ext cx="972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Adresse</a:t>
            </a:r>
            <a:endParaRPr lang="fr-FR" sz="1400" dirty="0"/>
          </a:p>
        </p:txBody>
      </p:sp>
      <p:sp>
        <p:nvSpPr>
          <p:cNvPr id="178" name="Rectangle 177"/>
          <p:cNvSpPr/>
          <p:nvPr/>
        </p:nvSpPr>
        <p:spPr>
          <a:xfrm>
            <a:off x="1884696" y="3195842"/>
            <a:ext cx="9972000" cy="2662861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1" name="Rectangle 200"/>
          <p:cNvSpPr/>
          <p:nvPr/>
        </p:nvSpPr>
        <p:spPr>
          <a:xfrm>
            <a:off x="3920306" y="4476985"/>
            <a:ext cx="1332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2" name="Titre 1"/>
          <p:cNvSpPr txBox="1">
            <a:spLocks/>
          </p:cNvSpPr>
          <p:nvPr/>
        </p:nvSpPr>
        <p:spPr>
          <a:xfrm>
            <a:off x="2911757" y="4443509"/>
            <a:ext cx="972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Téléphone</a:t>
            </a:r>
            <a:endParaRPr lang="fr-FR" sz="1400" dirty="0"/>
          </a:p>
        </p:txBody>
      </p:sp>
      <p:sp>
        <p:nvSpPr>
          <p:cNvPr id="208" name="Rectangle 207"/>
          <p:cNvSpPr/>
          <p:nvPr/>
        </p:nvSpPr>
        <p:spPr>
          <a:xfrm>
            <a:off x="3920305" y="4927564"/>
            <a:ext cx="1332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9" name="Titre 1"/>
          <p:cNvSpPr txBox="1">
            <a:spLocks/>
          </p:cNvSpPr>
          <p:nvPr/>
        </p:nvSpPr>
        <p:spPr>
          <a:xfrm>
            <a:off x="3097966" y="4872299"/>
            <a:ext cx="972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Faxe</a:t>
            </a:r>
            <a:endParaRPr lang="fr-FR" sz="1400" dirty="0"/>
          </a:p>
        </p:txBody>
      </p:sp>
      <p:sp>
        <p:nvSpPr>
          <p:cNvPr id="215" name="Rectangle 214"/>
          <p:cNvSpPr/>
          <p:nvPr/>
        </p:nvSpPr>
        <p:spPr>
          <a:xfrm>
            <a:off x="9860365" y="6023955"/>
            <a:ext cx="19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Imprimer code barre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8422504" y="6030583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Annuler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6997891" y="6023957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Modifier</a:t>
            </a:r>
          </a:p>
        </p:txBody>
      </p:sp>
      <p:sp>
        <p:nvSpPr>
          <p:cNvPr id="98" name="Triangle isocèle 97"/>
          <p:cNvSpPr/>
          <p:nvPr/>
        </p:nvSpPr>
        <p:spPr>
          <a:xfrm rot="10800000">
            <a:off x="5317473" y="3462822"/>
            <a:ext cx="180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3" name="Rectangle 112"/>
          <p:cNvSpPr/>
          <p:nvPr/>
        </p:nvSpPr>
        <p:spPr>
          <a:xfrm>
            <a:off x="3927573" y="5382682"/>
            <a:ext cx="1332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4" name="Titre 1"/>
          <p:cNvSpPr txBox="1">
            <a:spLocks/>
          </p:cNvSpPr>
          <p:nvPr/>
        </p:nvSpPr>
        <p:spPr>
          <a:xfrm>
            <a:off x="3007159" y="5326509"/>
            <a:ext cx="972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E-mail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3007159" y="2714329"/>
            <a:ext cx="133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Etat civil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4445020" y="2720957"/>
            <a:ext cx="133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/>
              <a:t>Sécurité </a:t>
            </a:r>
            <a:r>
              <a:rPr lang="fr-FR" sz="1400" smtClean="0"/>
              <a:t>sociale</a:t>
            </a:r>
            <a:endParaRPr lang="fr-FR" sz="1400" dirty="0"/>
          </a:p>
        </p:txBody>
      </p:sp>
      <p:sp>
        <p:nvSpPr>
          <p:cNvPr id="141" name="Rectangle 140"/>
          <p:cNvSpPr/>
          <p:nvPr/>
        </p:nvSpPr>
        <p:spPr>
          <a:xfrm>
            <a:off x="5873594" y="2713977"/>
            <a:ext cx="168154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Mode de transport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7667038" y="2719846"/>
            <a:ext cx="313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Personne à prévenir en cas de nécessité</a:t>
            </a:r>
            <a:endParaRPr lang="fr-FR" sz="1400" dirty="0"/>
          </a:p>
        </p:txBody>
      </p:sp>
      <p:sp>
        <p:nvSpPr>
          <p:cNvPr id="75" name="Titre 1"/>
          <p:cNvSpPr txBox="1">
            <a:spLocks/>
          </p:cNvSpPr>
          <p:nvPr/>
        </p:nvSpPr>
        <p:spPr>
          <a:xfrm>
            <a:off x="3345444" y="798268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76" name="Rectangle 75"/>
          <p:cNvSpPr/>
          <p:nvPr/>
        </p:nvSpPr>
        <p:spPr>
          <a:xfrm>
            <a:off x="5453943" y="819950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6118421" y="825991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7766108" y="806716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400672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3489617" y="59579"/>
            <a:ext cx="4620714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11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Patient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– Fiche patient/</a:t>
            </a:r>
            <a:endParaRPr lang="fr-FR" alt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Personne à prévenir</a:t>
            </a:r>
            <a:endParaRPr lang="fr-FR" sz="1800" dirty="0"/>
          </a:p>
        </p:txBody>
      </p:sp>
      <p:sp>
        <p:nvSpPr>
          <p:cNvPr id="23" name="Rectangle 22"/>
          <p:cNvSpPr/>
          <p:nvPr/>
        </p:nvSpPr>
        <p:spPr>
          <a:xfrm>
            <a:off x="191992" y="594180"/>
            <a:ext cx="11758269" cy="619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892310" y="1845105"/>
            <a:ext cx="1800000" cy="286059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7" name="Rectangle 146"/>
          <p:cNvSpPr/>
          <p:nvPr/>
        </p:nvSpPr>
        <p:spPr>
          <a:xfrm>
            <a:off x="1920696" y="1297413"/>
            <a:ext cx="9936000" cy="1337322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7" name="Rectangle 66"/>
          <p:cNvSpPr/>
          <p:nvPr/>
        </p:nvSpPr>
        <p:spPr>
          <a:xfrm>
            <a:off x="3896717" y="1430164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8" name="Titre 1"/>
          <p:cNvSpPr txBox="1">
            <a:spLocks/>
          </p:cNvSpPr>
          <p:nvPr/>
        </p:nvSpPr>
        <p:spPr>
          <a:xfrm>
            <a:off x="2768325" y="1410495"/>
            <a:ext cx="119174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Provenance</a:t>
            </a:r>
            <a:endParaRPr lang="fr-FR" sz="1400" dirty="0"/>
          </a:p>
        </p:txBody>
      </p:sp>
      <p:sp>
        <p:nvSpPr>
          <p:cNvPr id="69" name="Triangle isocèle 68"/>
          <p:cNvSpPr/>
          <p:nvPr/>
        </p:nvSpPr>
        <p:spPr>
          <a:xfrm rot="10800000">
            <a:off x="4801558" y="1426004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7" name="Titre 1"/>
          <p:cNvSpPr txBox="1">
            <a:spLocks/>
          </p:cNvSpPr>
          <p:nvPr/>
        </p:nvSpPr>
        <p:spPr>
          <a:xfrm>
            <a:off x="1964661" y="700986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78" name="Titre 1"/>
          <p:cNvSpPr txBox="1">
            <a:spLocks/>
          </p:cNvSpPr>
          <p:nvPr/>
        </p:nvSpPr>
        <p:spPr>
          <a:xfrm>
            <a:off x="4355023" y="687881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81" name="Titre 1"/>
          <p:cNvSpPr txBox="1">
            <a:spLocks/>
          </p:cNvSpPr>
          <p:nvPr/>
        </p:nvSpPr>
        <p:spPr>
          <a:xfrm>
            <a:off x="7182390" y="707393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85" name="Rectangle 84"/>
          <p:cNvSpPr/>
          <p:nvPr/>
        </p:nvSpPr>
        <p:spPr>
          <a:xfrm>
            <a:off x="3152059" y="746012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7" name="Rectangle 86"/>
          <p:cNvSpPr/>
          <p:nvPr/>
        </p:nvSpPr>
        <p:spPr>
          <a:xfrm>
            <a:off x="5345295" y="739388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8" name="Rectangle 87"/>
          <p:cNvSpPr/>
          <p:nvPr/>
        </p:nvSpPr>
        <p:spPr>
          <a:xfrm>
            <a:off x="7717438" y="752640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2" name="Rectangle 91"/>
          <p:cNvSpPr/>
          <p:nvPr/>
        </p:nvSpPr>
        <p:spPr>
          <a:xfrm>
            <a:off x="1914072" y="631644"/>
            <a:ext cx="9936000" cy="53385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3" name="Titre 1"/>
          <p:cNvSpPr txBox="1">
            <a:spLocks/>
          </p:cNvSpPr>
          <p:nvPr/>
        </p:nvSpPr>
        <p:spPr>
          <a:xfrm>
            <a:off x="776035" y="817807"/>
            <a:ext cx="972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Affichage</a:t>
            </a:r>
            <a:endParaRPr lang="fr-FR" sz="1600" b="1" u="sng" dirty="0"/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487049" y="1480037"/>
            <a:ext cx="1440000" cy="54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Fiche d’identification</a:t>
            </a:r>
            <a:endParaRPr lang="fr-FR" sz="1600" b="1" u="sng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1911649" y="1813849"/>
            <a:ext cx="2052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Service d’hospitalisation</a:t>
            </a:r>
            <a:endParaRPr lang="fr-FR" sz="1400" dirty="0"/>
          </a:p>
        </p:txBody>
      </p:sp>
      <p:sp>
        <p:nvSpPr>
          <p:cNvPr id="96" name="Triangle isocèle 95"/>
          <p:cNvSpPr/>
          <p:nvPr/>
        </p:nvSpPr>
        <p:spPr>
          <a:xfrm rot="10800000">
            <a:off x="5510711" y="1859698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Titre 1"/>
          <p:cNvSpPr txBox="1">
            <a:spLocks/>
          </p:cNvSpPr>
          <p:nvPr/>
        </p:nvSpPr>
        <p:spPr>
          <a:xfrm>
            <a:off x="2412186" y="2215180"/>
            <a:ext cx="1574045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Service d’accueil</a:t>
            </a:r>
            <a:endParaRPr lang="fr-FR" sz="1400" dirty="0"/>
          </a:p>
        </p:txBody>
      </p:sp>
      <p:sp>
        <p:nvSpPr>
          <p:cNvPr id="101" name="Rectangle 100"/>
          <p:cNvSpPr/>
          <p:nvPr/>
        </p:nvSpPr>
        <p:spPr>
          <a:xfrm>
            <a:off x="3892310" y="2262549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Titre 1"/>
          <p:cNvSpPr txBox="1">
            <a:spLocks/>
          </p:cNvSpPr>
          <p:nvPr/>
        </p:nvSpPr>
        <p:spPr>
          <a:xfrm>
            <a:off x="5804035" y="1793420"/>
            <a:ext cx="1519928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d’admission</a:t>
            </a:r>
            <a:endParaRPr lang="fr-FR" sz="1400" dirty="0"/>
          </a:p>
        </p:txBody>
      </p:sp>
      <p:sp>
        <p:nvSpPr>
          <p:cNvPr id="105" name="Triangle isocèle 104"/>
          <p:cNvSpPr/>
          <p:nvPr/>
        </p:nvSpPr>
        <p:spPr>
          <a:xfrm rot="10800000">
            <a:off x="5510710" y="2262146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1" name="Titre 1"/>
          <p:cNvSpPr txBox="1">
            <a:spLocks/>
          </p:cNvSpPr>
          <p:nvPr/>
        </p:nvSpPr>
        <p:spPr>
          <a:xfrm>
            <a:off x="5665777" y="2198473"/>
            <a:ext cx="1574045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de dépôt</a:t>
            </a:r>
            <a:endParaRPr lang="fr-FR" sz="1400" dirty="0"/>
          </a:p>
        </p:txBody>
      </p:sp>
      <p:sp>
        <p:nvSpPr>
          <p:cNvPr id="117" name="Rectangle 116"/>
          <p:cNvSpPr/>
          <p:nvPr/>
        </p:nvSpPr>
        <p:spPr>
          <a:xfrm>
            <a:off x="7344512" y="1838481"/>
            <a:ext cx="1440000" cy="2860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1" name="Rectangle 120"/>
          <p:cNvSpPr/>
          <p:nvPr/>
        </p:nvSpPr>
        <p:spPr>
          <a:xfrm>
            <a:off x="10210593" y="2217711"/>
            <a:ext cx="1440000" cy="286059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2" name="Triangle isocèle 121"/>
          <p:cNvSpPr/>
          <p:nvPr/>
        </p:nvSpPr>
        <p:spPr>
          <a:xfrm rot="10800000">
            <a:off x="11449157" y="2217850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4" name="Titre 1"/>
          <p:cNvSpPr txBox="1">
            <a:spLocks/>
          </p:cNvSpPr>
          <p:nvPr/>
        </p:nvSpPr>
        <p:spPr>
          <a:xfrm>
            <a:off x="9241353" y="1800632"/>
            <a:ext cx="996943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125" name="Rectangle 124"/>
          <p:cNvSpPr/>
          <p:nvPr/>
        </p:nvSpPr>
        <p:spPr>
          <a:xfrm>
            <a:off x="10210593" y="1804450"/>
            <a:ext cx="1440000" cy="2860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7354749" y="2224339"/>
            <a:ext cx="1440000" cy="286059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8" name="Titre 1"/>
          <p:cNvSpPr txBox="1">
            <a:spLocks/>
          </p:cNvSpPr>
          <p:nvPr/>
        </p:nvSpPr>
        <p:spPr>
          <a:xfrm>
            <a:off x="9247981" y="2204823"/>
            <a:ext cx="996943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Statut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539437" y="3854877"/>
            <a:ext cx="180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Titre 1"/>
          <p:cNvSpPr txBox="1">
            <a:spLocks/>
          </p:cNvSpPr>
          <p:nvPr/>
        </p:nvSpPr>
        <p:spPr>
          <a:xfrm>
            <a:off x="1953371" y="3799864"/>
            <a:ext cx="1619955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Nom de naissance *</a:t>
            </a:r>
            <a:endParaRPr lang="fr-FR" sz="1400" dirty="0"/>
          </a:p>
        </p:txBody>
      </p:sp>
      <p:sp>
        <p:nvSpPr>
          <p:cNvPr id="110" name="Rectangle 109"/>
          <p:cNvSpPr/>
          <p:nvPr/>
        </p:nvSpPr>
        <p:spPr>
          <a:xfrm>
            <a:off x="3544366" y="4365066"/>
            <a:ext cx="180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2" name="Titre 1"/>
          <p:cNvSpPr txBox="1">
            <a:spLocks/>
          </p:cNvSpPr>
          <p:nvPr/>
        </p:nvSpPr>
        <p:spPr>
          <a:xfrm>
            <a:off x="2672091" y="4388969"/>
            <a:ext cx="908699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Prénom *</a:t>
            </a:r>
            <a:endParaRPr lang="fr-FR" sz="1400" dirty="0"/>
          </a:p>
        </p:txBody>
      </p:sp>
      <p:sp>
        <p:nvSpPr>
          <p:cNvPr id="152" name="Rectangle 151"/>
          <p:cNvSpPr/>
          <p:nvPr/>
        </p:nvSpPr>
        <p:spPr>
          <a:xfrm>
            <a:off x="3544438" y="5852012"/>
            <a:ext cx="360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3" name="Titre 1"/>
          <p:cNvSpPr txBox="1">
            <a:spLocks/>
          </p:cNvSpPr>
          <p:nvPr/>
        </p:nvSpPr>
        <p:spPr>
          <a:xfrm>
            <a:off x="2703780" y="5814312"/>
            <a:ext cx="929476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Adresse </a:t>
            </a:r>
            <a:endParaRPr lang="fr-FR" sz="1400" dirty="0"/>
          </a:p>
        </p:txBody>
      </p:sp>
      <p:sp>
        <p:nvSpPr>
          <p:cNvPr id="174" name="Titre 1"/>
          <p:cNvSpPr txBox="1">
            <a:spLocks/>
          </p:cNvSpPr>
          <p:nvPr/>
        </p:nvSpPr>
        <p:spPr>
          <a:xfrm>
            <a:off x="2799439" y="5362946"/>
            <a:ext cx="679072" cy="3371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E-mail</a:t>
            </a:r>
            <a:endParaRPr lang="fr-FR" sz="1400" dirty="0"/>
          </a:p>
        </p:txBody>
      </p:sp>
      <p:sp>
        <p:nvSpPr>
          <p:cNvPr id="175" name="Rectangle 174"/>
          <p:cNvSpPr/>
          <p:nvPr/>
        </p:nvSpPr>
        <p:spPr>
          <a:xfrm>
            <a:off x="3551703" y="5385390"/>
            <a:ext cx="180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6" name="Titre 1"/>
          <p:cNvSpPr txBox="1">
            <a:spLocks/>
          </p:cNvSpPr>
          <p:nvPr/>
        </p:nvSpPr>
        <p:spPr>
          <a:xfrm>
            <a:off x="2471091" y="4921855"/>
            <a:ext cx="1063710" cy="2710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Téléphone *</a:t>
            </a:r>
            <a:endParaRPr lang="fr-FR" sz="1400" dirty="0"/>
          </a:p>
        </p:txBody>
      </p:sp>
      <p:sp>
        <p:nvSpPr>
          <p:cNvPr id="177" name="Rectangle 176"/>
          <p:cNvSpPr/>
          <p:nvPr/>
        </p:nvSpPr>
        <p:spPr>
          <a:xfrm>
            <a:off x="3550917" y="4904829"/>
            <a:ext cx="180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8" name="Rectangle 177"/>
          <p:cNvSpPr/>
          <p:nvPr/>
        </p:nvSpPr>
        <p:spPr>
          <a:xfrm>
            <a:off x="1888742" y="3124982"/>
            <a:ext cx="9972000" cy="3204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15" name="Rectangle 214"/>
          <p:cNvSpPr/>
          <p:nvPr/>
        </p:nvSpPr>
        <p:spPr>
          <a:xfrm>
            <a:off x="9939877" y="6395016"/>
            <a:ext cx="19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Imprimer code barre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8502016" y="6401644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Annuler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7077403" y="6395018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Modifier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2967401" y="2701077"/>
            <a:ext cx="133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Etat civil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4405262" y="2707705"/>
            <a:ext cx="133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smtClean="0"/>
              <a:t>Sécurité sociale</a:t>
            </a:r>
            <a:endParaRPr lang="fr-FR" sz="1400" dirty="0" smtClean="0"/>
          </a:p>
        </p:txBody>
      </p:sp>
      <p:sp>
        <p:nvSpPr>
          <p:cNvPr id="221" name="Rectangle 220"/>
          <p:cNvSpPr/>
          <p:nvPr/>
        </p:nvSpPr>
        <p:spPr>
          <a:xfrm>
            <a:off x="5833836" y="2700725"/>
            <a:ext cx="168154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Mode de transport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7627280" y="2706594"/>
            <a:ext cx="3132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Personne à prévenir en cas de nécessité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3535993" y="3324049"/>
            <a:ext cx="180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4" name="Titre 1"/>
          <p:cNvSpPr txBox="1">
            <a:spLocks/>
          </p:cNvSpPr>
          <p:nvPr/>
        </p:nvSpPr>
        <p:spPr>
          <a:xfrm>
            <a:off x="2862312" y="3321252"/>
            <a:ext cx="78595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Parent</a:t>
            </a:r>
            <a:endParaRPr lang="fr-FR" sz="1400" dirty="0"/>
          </a:p>
        </p:txBody>
      </p:sp>
      <p:sp>
        <p:nvSpPr>
          <p:cNvPr id="108" name="Triangle isocèle 107"/>
          <p:cNvSpPr/>
          <p:nvPr/>
        </p:nvSpPr>
        <p:spPr>
          <a:xfrm rot="10800000">
            <a:off x="5155095" y="3348106"/>
            <a:ext cx="175133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9" name="Titre 1"/>
          <p:cNvSpPr txBox="1">
            <a:spLocks/>
          </p:cNvSpPr>
          <p:nvPr/>
        </p:nvSpPr>
        <p:spPr>
          <a:xfrm>
            <a:off x="3345444" y="771764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13" name="Rectangle 112"/>
          <p:cNvSpPr/>
          <p:nvPr/>
        </p:nvSpPr>
        <p:spPr>
          <a:xfrm>
            <a:off x="5453943" y="793446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14" name="Rectangle 113"/>
          <p:cNvSpPr/>
          <p:nvPr/>
        </p:nvSpPr>
        <p:spPr>
          <a:xfrm>
            <a:off x="6118421" y="79948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15" name="Rectangle 114"/>
          <p:cNvSpPr/>
          <p:nvPr/>
        </p:nvSpPr>
        <p:spPr>
          <a:xfrm>
            <a:off x="7766108" y="780212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172499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3573326" y="103211"/>
            <a:ext cx="4620714" cy="40380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12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Patient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– Suivi vaccination</a:t>
            </a:r>
            <a:endParaRPr lang="fr-FR" alt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91992" y="612638"/>
            <a:ext cx="11758269" cy="528588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1920696" y="1522697"/>
            <a:ext cx="6852243" cy="3075804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7" name="Rectangle 66"/>
          <p:cNvSpPr/>
          <p:nvPr/>
        </p:nvSpPr>
        <p:spPr>
          <a:xfrm>
            <a:off x="3896717" y="1801220"/>
            <a:ext cx="16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8" name="Titre 1"/>
          <p:cNvSpPr txBox="1">
            <a:spLocks/>
          </p:cNvSpPr>
          <p:nvPr/>
        </p:nvSpPr>
        <p:spPr>
          <a:xfrm>
            <a:off x="2991607" y="1768188"/>
            <a:ext cx="90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Vaccin</a:t>
            </a:r>
            <a:endParaRPr lang="fr-FR" sz="1400" dirty="0"/>
          </a:p>
        </p:txBody>
      </p:sp>
      <p:sp>
        <p:nvSpPr>
          <p:cNvPr id="69" name="Triangle isocèle 68"/>
          <p:cNvSpPr/>
          <p:nvPr/>
        </p:nvSpPr>
        <p:spPr>
          <a:xfrm rot="10800000">
            <a:off x="5400865" y="1809065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7" name="Titre 1"/>
          <p:cNvSpPr txBox="1">
            <a:spLocks/>
          </p:cNvSpPr>
          <p:nvPr/>
        </p:nvSpPr>
        <p:spPr>
          <a:xfrm>
            <a:off x="1964661" y="926270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78" name="Titre 1"/>
          <p:cNvSpPr txBox="1">
            <a:spLocks/>
          </p:cNvSpPr>
          <p:nvPr/>
        </p:nvSpPr>
        <p:spPr>
          <a:xfrm>
            <a:off x="4355023" y="913165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80" name="Titre 1"/>
          <p:cNvSpPr txBox="1">
            <a:spLocks/>
          </p:cNvSpPr>
          <p:nvPr/>
        </p:nvSpPr>
        <p:spPr>
          <a:xfrm>
            <a:off x="3345444" y="970544"/>
            <a:ext cx="670716" cy="28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81" name="Titre 1"/>
          <p:cNvSpPr txBox="1">
            <a:spLocks/>
          </p:cNvSpPr>
          <p:nvPr/>
        </p:nvSpPr>
        <p:spPr>
          <a:xfrm>
            <a:off x="7182390" y="932677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82" name="Rectangle 81"/>
          <p:cNvSpPr/>
          <p:nvPr/>
        </p:nvSpPr>
        <p:spPr>
          <a:xfrm>
            <a:off x="5450982" y="1005479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6145778" y="1011519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7779361" y="992244"/>
            <a:ext cx="684000" cy="28904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3152059" y="971296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7" name="Rectangle 86"/>
          <p:cNvSpPr/>
          <p:nvPr/>
        </p:nvSpPr>
        <p:spPr>
          <a:xfrm>
            <a:off x="5345295" y="951420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8" name="Rectangle 87"/>
          <p:cNvSpPr/>
          <p:nvPr/>
        </p:nvSpPr>
        <p:spPr>
          <a:xfrm>
            <a:off x="7717438" y="977924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2" name="Rectangle 91"/>
          <p:cNvSpPr/>
          <p:nvPr/>
        </p:nvSpPr>
        <p:spPr>
          <a:xfrm>
            <a:off x="1914072" y="856928"/>
            <a:ext cx="6858867" cy="53385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3" name="Titre 1"/>
          <p:cNvSpPr txBox="1">
            <a:spLocks/>
          </p:cNvSpPr>
          <p:nvPr/>
        </p:nvSpPr>
        <p:spPr>
          <a:xfrm>
            <a:off x="776762" y="856928"/>
            <a:ext cx="972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Affichage</a:t>
            </a:r>
            <a:endParaRPr lang="fr-FR" sz="1600" b="1" u="sng" dirty="0"/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119438" y="1522697"/>
            <a:ext cx="1915028" cy="5014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Suivi vaccination</a:t>
            </a:r>
            <a:endParaRPr lang="fr-FR" sz="1600" b="1" u="sng" dirty="0"/>
          </a:p>
        </p:txBody>
      </p:sp>
      <p:sp>
        <p:nvSpPr>
          <p:cNvPr id="102" name="Titre 1"/>
          <p:cNvSpPr txBox="1">
            <a:spLocks/>
          </p:cNvSpPr>
          <p:nvPr/>
        </p:nvSpPr>
        <p:spPr>
          <a:xfrm>
            <a:off x="2358470" y="2805616"/>
            <a:ext cx="144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d’injection</a:t>
            </a:r>
            <a:endParaRPr lang="fr-FR" sz="1400" dirty="0"/>
          </a:p>
        </p:txBody>
      </p:sp>
      <p:sp>
        <p:nvSpPr>
          <p:cNvPr id="111" name="Titre 1"/>
          <p:cNvSpPr txBox="1">
            <a:spLocks/>
          </p:cNvSpPr>
          <p:nvPr/>
        </p:nvSpPr>
        <p:spPr>
          <a:xfrm>
            <a:off x="2887515" y="2297634"/>
            <a:ext cx="90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Médecin</a:t>
            </a:r>
            <a:endParaRPr lang="fr-FR" sz="1400" dirty="0"/>
          </a:p>
        </p:txBody>
      </p:sp>
      <p:sp>
        <p:nvSpPr>
          <p:cNvPr id="124" name="Titre 1"/>
          <p:cNvSpPr txBox="1">
            <a:spLocks/>
          </p:cNvSpPr>
          <p:nvPr/>
        </p:nvSpPr>
        <p:spPr>
          <a:xfrm>
            <a:off x="2335487" y="3987180"/>
            <a:ext cx="1656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Prochaine injection</a:t>
            </a:r>
            <a:endParaRPr lang="fr-FR" sz="1400" dirty="0"/>
          </a:p>
        </p:txBody>
      </p:sp>
      <p:sp>
        <p:nvSpPr>
          <p:cNvPr id="125" name="Rectangle 124"/>
          <p:cNvSpPr/>
          <p:nvPr/>
        </p:nvSpPr>
        <p:spPr>
          <a:xfrm>
            <a:off x="3915810" y="4017556"/>
            <a:ext cx="1692000" cy="286059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3874123" y="2336752"/>
            <a:ext cx="1692000" cy="286059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17" name="Rectangle 216"/>
          <p:cNvSpPr/>
          <p:nvPr/>
        </p:nvSpPr>
        <p:spPr>
          <a:xfrm>
            <a:off x="7177438" y="4156950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Ajouter</a:t>
            </a:r>
          </a:p>
        </p:txBody>
      </p:sp>
      <p:sp>
        <p:nvSpPr>
          <p:cNvPr id="63" name="Titre 1"/>
          <p:cNvSpPr txBox="1">
            <a:spLocks/>
          </p:cNvSpPr>
          <p:nvPr/>
        </p:nvSpPr>
        <p:spPr>
          <a:xfrm>
            <a:off x="6178247" y="1767750"/>
            <a:ext cx="90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Première</a:t>
            </a:r>
            <a:endParaRPr lang="fr-FR" sz="1400" dirty="0"/>
          </a:p>
        </p:txBody>
      </p:sp>
      <p:sp>
        <p:nvSpPr>
          <p:cNvPr id="64" name="Ellipse 63"/>
          <p:cNvSpPr/>
          <p:nvPr/>
        </p:nvSpPr>
        <p:spPr>
          <a:xfrm flipV="1">
            <a:off x="5944240" y="1844180"/>
            <a:ext cx="180000" cy="18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5" name="Titre 1"/>
          <p:cNvSpPr txBox="1">
            <a:spLocks/>
          </p:cNvSpPr>
          <p:nvPr/>
        </p:nvSpPr>
        <p:spPr>
          <a:xfrm>
            <a:off x="7616109" y="1774378"/>
            <a:ext cx="90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Rappel</a:t>
            </a:r>
            <a:endParaRPr lang="fr-FR" sz="1400" dirty="0"/>
          </a:p>
        </p:txBody>
      </p:sp>
      <p:sp>
        <p:nvSpPr>
          <p:cNvPr id="66" name="Ellipse 65"/>
          <p:cNvSpPr/>
          <p:nvPr/>
        </p:nvSpPr>
        <p:spPr>
          <a:xfrm flipV="1">
            <a:off x="7382102" y="1850808"/>
            <a:ext cx="180000" cy="18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0" name="Rectangle 69"/>
          <p:cNvSpPr/>
          <p:nvPr/>
        </p:nvSpPr>
        <p:spPr>
          <a:xfrm>
            <a:off x="3903345" y="2859802"/>
            <a:ext cx="54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1" name="Triangle isocèle 70"/>
          <p:cNvSpPr/>
          <p:nvPr/>
        </p:nvSpPr>
        <p:spPr>
          <a:xfrm rot="10800000">
            <a:off x="4252137" y="2867647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2" name="Rectangle 71"/>
          <p:cNvSpPr/>
          <p:nvPr/>
        </p:nvSpPr>
        <p:spPr>
          <a:xfrm>
            <a:off x="4479815" y="2853178"/>
            <a:ext cx="54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3" name="Triangle isocèle 72"/>
          <p:cNvSpPr/>
          <p:nvPr/>
        </p:nvSpPr>
        <p:spPr>
          <a:xfrm rot="10800000">
            <a:off x="4828607" y="2861023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4" name="Rectangle 73"/>
          <p:cNvSpPr/>
          <p:nvPr/>
        </p:nvSpPr>
        <p:spPr>
          <a:xfrm>
            <a:off x="5062911" y="2853178"/>
            <a:ext cx="54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5" name="Triangle isocèle 74"/>
          <p:cNvSpPr/>
          <p:nvPr/>
        </p:nvSpPr>
        <p:spPr>
          <a:xfrm rot="10800000">
            <a:off x="5424955" y="2861023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6" name="Titre 1"/>
          <p:cNvSpPr txBox="1">
            <a:spLocks/>
          </p:cNvSpPr>
          <p:nvPr/>
        </p:nvSpPr>
        <p:spPr>
          <a:xfrm>
            <a:off x="174627" y="6089970"/>
            <a:ext cx="9090992" cy="5834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dirty="0" smtClean="0"/>
              <a:t>Vaccin :</a:t>
            </a:r>
            <a:r>
              <a:rPr lang="fr-FR" sz="1400" dirty="0" smtClean="0"/>
              <a:t> BCG – Diphtérie – DT-Coq – Grippe – Hépatite B – Méningo-Coq – Pneumo-Coq – Polio inactive – Tétanos.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 un tableau dynamique s’affiche quand on ajoutent un vaccin pour le patient.</a:t>
            </a:r>
            <a:endParaRPr lang="fr-FR" sz="1400" dirty="0"/>
          </a:p>
        </p:txBody>
      </p:sp>
      <p:sp>
        <p:nvSpPr>
          <p:cNvPr id="79" name="Rectangle 78"/>
          <p:cNvSpPr/>
          <p:nvPr/>
        </p:nvSpPr>
        <p:spPr>
          <a:xfrm>
            <a:off x="9123261" y="1529324"/>
            <a:ext cx="2098768" cy="3095307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0" name="Titre 1"/>
          <p:cNvSpPr txBox="1">
            <a:spLocks/>
          </p:cNvSpPr>
          <p:nvPr/>
        </p:nvSpPr>
        <p:spPr>
          <a:xfrm>
            <a:off x="9578925" y="2238016"/>
            <a:ext cx="108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Aujourd'hui</a:t>
            </a:r>
            <a:endParaRPr lang="fr-FR" sz="1400" dirty="0"/>
          </a:p>
        </p:txBody>
      </p:sp>
      <p:sp>
        <p:nvSpPr>
          <p:cNvPr id="131" name="Ellipse 130"/>
          <p:cNvSpPr/>
          <p:nvPr/>
        </p:nvSpPr>
        <p:spPr>
          <a:xfrm flipV="1">
            <a:off x="9344918" y="2314446"/>
            <a:ext cx="180000" cy="18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2" name="Titre 1"/>
          <p:cNvSpPr txBox="1">
            <a:spLocks/>
          </p:cNvSpPr>
          <p:nvPr/>
        </p:nvSpPr>
        <p:spPr>
          <a:xfrm>
            <a:off x="9600112" y="2708286"/>
            <a:ext cx="144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Dans trois mois</a:t>
            </a:r>
            <a:endParaRPr lang="fr-FR" sz="1400" dirty="0"/>
          </a:p>
        </p:txBody>
      </p:sp>
      <p:sp>
        <p:nvSpPr>
          <p:cNvPr id="133" name="Ellipse 132"/>
          <p:cNvSpPr/>
          <p:nvPr/>
        </p:nvSpPr>
        <p:spPr>
          <a:xfrm flipV="1">
            <a:off x="9366105" y="2784716"/>
            <a:ext cx="180000" cy="18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0" name="Titre 1"/>
          <p:cNvSpPr txBox="1">
            <a:spLocks/>
          </p:cNvSpPr>
          <p:nvPr/>
        </p:nvSpPr>
        <p:spPr>
          <a:xfrm>
            <a:off x="9233805" y="1621220"/>
            <a:ext cx="972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R.D.V</a:t>
            </a:r>
            <a:endParaRPr lang="fr-FR" sz="1600" b="1" u="sng" dirty="0"/>
          </a:p>
        </p:txBody>
      </p:sp>
      <p:sp>
        <p:nvSpPr>
          <p:cNvPr id="141" name="Titre 1"/>
          <p:cNvSpPr txBox="1">
            <a:spLocks/>
          </p:cNvSpPr>
          <p:nvPr/>
        </p:nvSpPr>
        <p:spPr>
          <a:xfrm>
            <a:off x="9597964" y="3156900"/>
            <a:ext cx="144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Dans six mois</a:t>
            </a:r>
            <a:endParaRPr lang="fr-FR" sz="1400" dirty="0"/>
          </a:p>
        </p:txBody>
      </p:sp>
      <p:sp>
        <p:nvSpPr>
          <p:cNvPr id="142" name="Ellipse 141"/>
          <p:cNvSpPr/>
          <p:nvPr/>
        </p:nvSpPr>
        <p:spPr>
          <a:xfrm flipV="1">
            <a:off x="9363957" y="3233330"/>
            <a:ext cx="180000" cy="18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3" name="Titre 1"/>
          <p:cNvSpPr txBox="1">
            <a:spLocks/>
          </p:cNvSpPr>
          <p:nvPr/>
        </p:nvSpPr>
        <p:spPr>
          <a:xfrm>
            <a:off x="9597964" y="3620542"/>
            <a:ext cx="144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Raté</a:t>
            </a:r>
            <a:endParaRPr lang="fr-FR" sz="1400" dirty="0"/>
          </a:p>
        </p:txBody>
      </p:sp>
      <p:sp>
        <p:nvSpPr>
          <p:cNvPr id="144" name="Ellipse 143"/>
          <p:cNvSpPr/>
          <p:nvPr/>
        </p:nvSpPr>
        <p:spPr>
          <a:xfrm flipV="1">
            <a:off x="9363957" y="3696972"/>
            <a:ext cx="180000" cy="18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5" name="Titre 1"/>
          <p:cNvSpPr txBox="1">
            <a:spLocks/>
          </p:cNvSpPr>
          <p:nvPr/>
        </p:nvSpPr>
        <p:spPr>
          <a:xfrm>
            <a:off x="2976975" y="4821982"/>
            <a:ext cx="90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Type</a:t>
            </a:r>
            <a:endParaRPr lang="fr-FR" sz="1400" dirty="0"/>
          </a:p>
        </p:txBody>
      </p:sp>
      <p:sp>
        <p:nvSpPr>
          <p:cNvPr id="146" name="Rectangle 145"/>
          <p:cNvSpPr/>
          <p:nvPr/>
        </p:nvSpPr>
        <p:spPr>
          <a:xfrm>
            <a:off x="1921596" y="4757577"/>
            <a:ext cx="9300433" cy="1008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9" name="Titre 1"/>
          <p:cNvSpPr txBox="1">
            <a:spLocks/>
          </p:cNvSpPr>
          <p:nvPr/>
        </p:nvSpPr>
        <p:spPr>
          <a:xfrm>
            <a:off x="1936757" y="4814668"/>
            <a:ext cx="90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Vaccin</a:t>
            </a:r>
            <a:endParaRPr lang="fr-FR" sz="1400" dirty="0"/>
          </a:p>
        </p:txBody>
      </p:sp>
      <p:cxnSp>
        <p:nvCxnSpPr>
          <p:cNvPr id="150" name="Connecteur droit 149"/>
          <p:cNvCxnSpPr/>
          <p:nvPr/>
        </p:nvCxnSpPr>
        <p:spPr>
          <a:xfrm>
            <a:off x="5200837" y="4751282"/>
            <a:ext cx="0" cy="100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1" name="Titre 1"/>
          <p:cNvSpPr txBox="1">
            <a:spLocks/>
          </p:cNvSpPr>
          <p:nvPr/>
        </p:nvSpPr>
        <p:spPr>
          <a:xfrm>
            <a:off x="5260812" y="4840409"/>
            <a:ext cx="162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d’injection</a:t>
            </a:r>
            <a:endParaRPr lang="fr-FR" sz="1400" dirty="0"/>
          </a:p>
        </p:txBody>
      </p:sp>
      <p:cxnSp>
        <p:nvCxnSpPr>
          <p:cNvPr id="154" name="Connecteur droit 153"/>
          <p:cNvCxnSpPr/>
          <p:nvPr/>
        </p:nvCxnSpPr>
        <p:spPr>
          <a:xfrm>
            <a:off x="2895027" y="4781613"/>
            <a:ext cx="0" cy="100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5" name="Connecteur droit 154"/>
          <p:cNvCxnSpPr>
            <a:stCxn id="146" idx="3"/>
          </p:cNvCxnSpPr>
          <p:nvPr/>
        </p:nvCxnSpPr>
        <p:spPr>
          <a:xfrm flipH="1" flipV="1">
            <a:off x="1959087" y="5261409"/>
            <a:ext cx="9262942" cy="168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6" name="Connecteur droit 155"/>
          <p:cNvCxnSpPr/>
          <p:nvPr/>
        </p:nvCxnSpPr>
        <p:spPr>
          <a:xfrm>
            <a:off x="9509832" y="4762110"/>
            <a:ext cx="0" cy="100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7" name="Titre 1"/>
          <p:cNvSpPr txBox="1">
            <a:spLocks/>
          </p:cNvSpPr>
          <p:nvPr/>
        </p:nvSpPr>
        <p:spPr>
          <a:xfrm>
            <a:off x="8472614" y="4821296"/>
            <a:ext cx="90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de lot</a:t>
            </a:r>
            <a:endParaRPr lang="fr-FR" sz="1400" dirty="0"/>
          </a:p>
        </p:txBody>
      </p:sp>
      <p:cxnSp>
        <p:nvCxnSpPr>
          <p:cNvPr id="158" name="Connecteur droit 157"/>
          <p:cNvCxnSpPr/>
          <p:nvPr/>
        </p:nvCxnSpPr>
        <p:spPr>
          <a:xfrm>
            <a:off x="3945402" y="4761737"/>
            <a:ext cx="0" cy="100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9" name="Titre 1"/>
          <p:cNvSpPr txBox="1">
            <a:spLocks/>
          </p:cNvSpPr>
          <p:nvPr/>
        </p:nvSpPr>
        <p:spPr>
          <a:xfrm>
            <a:off x="4145730" y="4828610"/>
            <a:ext cx="90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Médecin</a:t>
            </a:r>
            <a:endParaRPr lang="fr-FR" sz="1400" dirty="0"/>
          </a:p>
        </p:txBody>
      </p:sp>
      <p:cxnSp>
        <p:nvCxnSpPr>
          <p:cNvPr id="163" name="Connecteur droit 162"/>
          <p:cNvCxnSpPr/>
          <p:nvPr/>
        </p:nvCxnSpPr>
        <p:spPr>
          <a:xfrm>
            <a:off x="6927086" y="4751282"/>
            <a:ext cx="0" cy="100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64" name="Titre 1"/>
          <p:cNvSpPr txBox="1">
            <a:spLocks/>
          </p:cNvSpPr>
          <p:nvPr/>
        </p:nvSpPr>
        <p:spPr>
          <a:xfrm>
            <a:off x="9520423" y="4828296"/>
            <a:ext cx="1706135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Prochaine injection</a:t>
            </a:r>
            <a:endParaRPr lang="fr-FR" sz="1400" dirty="0"/>
          </a:p>
        </p:txBody>
      </p:sp>
      <p:sp>
        <p:nvSpPr>
          <p:cNvPr id="165" name="Titre 1"/>
          <p:cNvSpPr txBox="1">
            <a:spLocks/>
          </p:cNvSpPr>
          <p:nvPr/>
        </p:nvSpPr>
        <p:spPr>
          <a:xfrm>
            <a:off x="7106802" y="4808611"/>
            <a:ext cx="90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Produit</a:t>
            </a:r>
            <a:endParaRPr lang="fr-FR" sz="1400" dirty="0"/>
          </a:p>
        </p:txBody>
      </p:sp>
      <p:cxnSp>
        <p:nvCxnSpPr>
          <p:cNvPr id="166" name="Connecteur droit 165"/>
          <p:cNvCxnSpPr/>
          <p:nvPr/>
        </p:nvCxnSpPr>
        <p:spPr>
          <a:xfrm>
            <a:off x="8248446" y="4757533"/>
            <a:ext cx="0" cy="100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84" name="Titre 1"/>
          <p:cNvSpPr txBox="1">
            <a:spLocks/>
          </p:cNvSpPr>
          <p:nvPr/>
        </p:nvSpPr>
        <p:spPr>
          <a:xfrm>
            <a:off x="2079002" y="5271775"/>
            <a:ext cx="670716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</a:t>
            </a:r>
            <a:endParaRPr lang="fr-FR" sz="1800" b="1" dirty="0"/>
          </a:p>
        </p:txBody>
      </p:sp>
      <p:sp>
        <p:nvSpPr>
          <p:cNvPr id="187" name="Titre 1"/>
          <p:cNvSpPr txBox="1">
            <a:spLocks/>
          </p:cNvSpPr>
          <p:nvPr/>
        </p:nvSpPr>
        <p:spPr>
          <a:xfrm>
            <a:off x="8282858" y="5257667"/>
            <a:ext cx="119974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90" name="Titre 1"/>
          <p:cNvSpPr txBox="1">
            <a:spLocks/>
          </p:cNvSpPr>
          <p:nvPr/>
        </p:nvSpPr>
        <p:spPr>
          <a:xfrm>
            <a:off x="3995860" y="5265148"/>
            <a:ext cx="119974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93" name="Titre 1"/>
          <p:cNvSpPr txBox="1">
            <a:spLocks/>
          </p:cNvSpPr>
          <p:nvPr/>
        </p:nvSpPr>
        <p:spPr>
          <a:xfrm>
            <a:off x="5461205" y="5278403"/>
            <a:ext cx="119974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96" name="Titre 1"/>
          <p:cNvSpPr txBox="1">
            <a:spLocks/>
          </p:cNvSpPr>
          <p:nvPr/>
        </p:nvSpPr>
        <p:spPr>
          <a:xfrm>
            <a:off x="6979902" y="5265148"/>
            <a:ext cx="119974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99" name="Titre 1"/>
          <p:cNvSpPr txBox="1">
            <a:spLocks/>
          </p:cNvSpPr>
          <p:nvPr/>
        </p:nvSpPr>
        <p:spPr>
          <a:xfrm>
            <a:off x="3081403" y="5269627"/>
            <a:ext cx="670716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</a:t>
            </a:r>
            <a:endParaRPr lang="fr-FR" sz="1800" b="1" dirty="0"/>
          </a:p>
        </p:txBody>
      </p:sp>
      <p:sp>
        <p:nvSpPr>
          <p:cNvPr id="200" name="Titre 1"/>
          <p:cNvSpPr txBox="1">
            <a:spLocks/>
          </p:cNvSpPr>
          <p:nvPr/>
        </p:nvSpPr>
        <p:spPr>
          <a:xfrm>
            <a:off x="9748903" y="5255519"/>
            <a:ext cx="119974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201" name="Titre 1"/>
          <p:cNvSpPr txBox="1">
            <a:spLocks/>
          </p:cNvSpPr>
          <p:nvPr/>
        </p:nvSpPr>
        <p:spPr>
          <a:xfrm>
            <a:off x="2372057" y="3351877"/>
            <a:ext cx="144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Nom commercial</a:t>
            </a:r>
            <a:endParaRPr lang="fr-FR" sz="1400" dirty="0"/>
          </a:p>
        </p:txBody>
      </p:sp>
      <p:sp>
        <p:nvSpPr>
          <p:cNvPr id="202" name="Rectangle 201"/>
          <p:cNvSpPr/>
          <p:nvPr/>
        </p:nvSpPr>
        <p:spPr>
          <a:xfrm>
            <a:off x="3891937" y="3399246"/>
            <a:ext cx="16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3" name="Rectangle 202"/>
          <p:cNvSpPr/>
          <p:nvPr/>
        </p:nvSpPr>
        <p:spPr>
          <a:xfrm>
            <a:off x="6725036" y="3392880"/>
            <a:ext cx="1692000" cy="286059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4" name="Titre 1"/>
          <p:cNvSpPr txBox="1">
            <a:spLocks/>
          </p:cNvSpPr>
          <p:nvPr/>
        </p:nvSpPr>
        <p:spPr>
          <a:xfrm>
            <a:off x="5762424" y="3379992"/>
            <a:ext cx="996943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de lot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18146755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3573326" y="103211"/>
            <a:ext cx="4620714" cy="40380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13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Patient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– Archive hors application</a:t>
            </a:r>
            <a:endParaRPr lang="fr-FR" alt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91992" y="612638"/>
            <a:ext cx="11758269" cy="528588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1920696" y="1953941"/>
            <a:ext cx="6852243" cy="2293341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7" name="Titre 1"/>
          <p:cNvSpPr txBox="1">
            <a:spLocks/>
          </p:cNvSpPr>
          <p:nvPr/>
        </p:nvSpPr>
        <p:spPr>
          <a:xfrm>
            <a:off x="1964661" y="1029302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78" name="Titre 1"/>
          <p:cNvSpPr txBox="1">
            <a:spLocks/>
          </p:cNvSpPr>
          <p:nvPr/>
        </p:nvSpPr>
        <p:spPr>
          <a:xfrm>
            <a:off x="4355023" y="1016197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80" name="Titre 1"/>
          <p:cNvSpPr txBox="1">
            <a:spLocks/>
          </p:cNvSpPr>
          <p:nvPr/>
        </p:nvSpPr>
        <p:spPr>
          <a:xfrm>
            <a:off x="3345444" y="1073576"/>
            <a:ext cx="670716" cy="28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81" name="Titre 1"/>
          <p:cNvSpPr txBox="1">
            <a:spLocks/>
          </p:cNvSpPr>
          <p:nvPr/>
        </p:nvSpPr>
        <p:spPr>
          <a:xfrm>
            <a:off x="7182390" y="1035709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82" name="Rectangle 81"/>
          <p:cNvSpPr/>
          <p:nvPr/>
        </p:nvSpPr>
        <p:spPr>
          <a:xfrm>
            <a:off x="5450982" y="1108511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6145778" y="1114551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7779361" y="1095276"/>
            <a:ext cx="684000" cy="28904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3152059" y="1074328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7" name="Rectangle 86"/>
          <p:cNvSpPr/>
          <p:nvPr/>
        </p:nvSpPr>
        <p:spPr>
          <a:xfrm>
            <a:off x="5345295" y="1054452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8" name="Rectangle 87"/>
          <p:cNvSpPr/>
          <p:nvPr/>
        </p:nvSpPr>
        <p:spPr>
          <a:xfrm>
            <a:off x="7717438" y="1080956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2" name="Rectangle 91"/>
          <p:cNvSpPr/>
          <p:nvPr/>
        </p:nvSpPr>
        <p:spPr>
          <a:xfrm>
            <a:off x="1914072" y="959960"/>
            <a:ext cx="6858867" cy="53385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3" name="Titre 1"/>
          <p:cNvSpPr txBox="1">
            <a:spLocks/>
          </p:cNvSpPr>
          <p:nvPr/>
        </p:nvSpPr>
        <p:spPr>
          <a:xfrm>
            <a:off x="1849487" y="611727"/>
            <a:ext cx="972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Affichage</a:t>
            </a:r>
            <a:endParaRPr lang="fr-FR" sz="1600" b="1" u="sng" dirty="0"/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1686923" y="1444407"/>
            <a:ext cx="2340000" cy="5014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Archive hors application </a:t>
            </a:r>
            <a:endParaRPr lang="fr-FR" sz="1600" b="1" u="sng" dirty="0"/>
          </a:p>
        </p:txBody>
      </p:sp>
      <p:sp>
        <p:nvSpPr>
          <p:cNvPr id="102" name="Titre 1"/>
          <p:cNvSpPr txBox="1">
            <a:spLocks/>
          </p:cNvSpPr>
          <p:nvPr/>
        </p:nvSpPr>
        <p:spPr>
          <a:xfrm>
            <a:off x="2358470" y="2805616"/>
            <a:ext cx="144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Commentaire</a:t>
            </a:r>
            <a:endParaRPr lang="fr-FR" sz="1400" dirty="0"/>
          </a:p>
        </p:txBody>
      </p:sp>
      <p:sp>
        <p:nvSpPr>
          <p:cNvPr id="111" name="Titre 1"/>
          <p:cNvSpPr txBox="1">
            <a:spLocks/>
          </p:cNvSpPr>
          <p:nvPr/>
        </p:nvSpPr>
        <p:spPr>
          <a:xfrm>
            <a:off x="2749718" y="2297634"/>
            <a:ext cx="1037797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Document</a:t>
            </a:r>
            <a:endParaRPr lang="fr-FR" sz="1400" dirty="0"/>
          </a:p>
        </p:txBody>
      </p:sp>
      <p:sp>
        <p:nvSpPr>
          <p:cNvPr id="70" name="Rectangle 69"/>
          <p:cNvSpPr/>
          <p:nvPr/>
        </p:nvSpPr>
        <p:spPr>
          <a:xfrm>
            <a:off x="3903344" y="2859802"/>
            <a:ext cx="4606093" cy="72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6" name="Titre 1"/>
          <p:cNvSpPr txBox="1">
            <a:spLocks/>
          </p:cNvSpPr>
          <p:nvPr/>
        </p:nvSpPr>
        <p:spPr>
          <a:xfrm>
            <a:off x="174627" y="6089970"/>
            <a:ext cx="9090992" cy="5834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un tableau dynamique s’affiche quand on jointer un fichier.</a:t>
            </a:r>
            <a:endParaRPr lang="fr-FR" sz="1400" dirty="0"/>
          </a:p>
        </p:txBody>
      </p:sp>
      <p:sp>
        <p:nvSpPr>
          <p:cNvPr id="145" name="Titre 1"/>
          <p:cNvSpPr txBox="1">
            <a:spLocks/>
          </p:cNvSpPr>
          <p:nvPr/>
        </p:nvSpPr>
        <p:spPr>
          <a:xfrm>
            <a:off x="4016160" y="4808714"/>
            <a:ext cx="144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de joint</a:t>
            </a:r>
            <a:endParaRPr lang="fr-FR" sz="1400" dirty="0"/>
          </a:p>
        </p:txBody>
      </p:sp>
      <p:sp>
        <p:nvSpPr>
          <p:cNvPr id="146" name="Rectangle 145"/>
          <p:cNvSpPr/>
          <p:nvPr/>
        </p:nvSpPr>
        <p:spPr>
          <a:xfrm>
            <a:off x="1921596" y="4757577"/>
            <a:ext cx="6840000" cy="1008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9" name="Titre 1"/>
          <p:cNvSpPr txBox="1">
            <a:spLocks/>
          </p:cNvSpPr>
          <p:nvPr/>
        </p:nvSpPr>
        <p:spPr>
          <a:xfrm>
            <a:off x="2039000" y="4802254"/>
            <a:ext cx="144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Nom de fichier</a:t>
            </a:r>
            <a:endParaRPr lang="fr-FR" sz="1400" dirty="0"/>
          </a:p>
        </p:txBody>
      </p:sp>
      <p:cxnSp>
        <p:nvCxnSpPr>
          <p:cNvPr id="155" name="Connecteur droit 154"/>
          <p:cNvCxnSpPr>
            <a:stCxn id="146" idx="3"/>
          </p:cNvCxnSpPr>
          <p:nvPr/>
        </p:nvCxnSpPr>
        <p:spPr>
          <a:xfrm flipH="1" flipV="1">
            <a:off x="1959086" y="5261409"/>
            <a:ext cx="6840000" cy="168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8" name="Connecteur droit 157"/>
          <p:cNvCxnSpPr/>
          <p:nvPr/>
        </p:nvCxnSpPr>
        <p:spPr>
          <a:xfrm>
            <a:off x="3945402" y="4761737"/>
            <a:ext cx="0" cy="100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9" name="Titre 1"/>
          <p:cNvSpPr txBox="1">
            <a:spLocks/>
          </p:cNvSpPr>
          <p:nvPr/>
        </p:nvSpPr>
        <p:spPr>
          <a:xfrm>
            <a:off x="6391063" y="4802253"/>
            <a:ext cx="144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Commentaire</a:t>
            </a:r>
            <a:endParaRPr lang="fr-FR" sz="1400" dirty="0"/>
          </a:p>
        </p:txBody>
      </p:sp>
      <p:cxnSp>
        <p:nvCxnSpPr>
          <p:cNvPr id="163" name="Connecteur droit 162"/>
          <p:cNvCxnSpPr/>
          <p:nvPr/>
        </p:nvCxnSpPr>
        <p:spPr>
          <a:xfrm>
            <a:off x="5618940" y="4753667"/>
            <a:ext cx="0" cy="100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87" name="Titre 1"/>
          <p:cNvSpPr txBox="1">
            <a:spLocks/>
          </p:cNvSpPr>
          <p:nvPr/>
        </p:nvSpPr>
        <p:spPr>
          <a:xfrm>
            <a:off x="6197195" y="5206211"/>
            <a:ext cx="2266166" cy="5676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…………………………...............................................</a:t>
            </a:r>
            <a:endParaRPr lang="fr-FR" sz="1800" b="1" dirty="0"/>
          </a:p>
        </p:txBody>
      </p:sp>
      <p:sp>
        <p:nvSpPr>
          <p:cNvPr id="193" name="Titre 1"/>
          <p:cNvSpPr txBox="1">
            <a:spLocks/>
          </p:cNvSpPr>
          <p:nvPr/>
        </p:nvSpPr>
        <p:spPr>
          <a:xfrm>
            <a:off x="4074192" y="5265751"/>
            <a:ext cx="1332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…………………</a:t>
            </a:r>
            <a:endParaRPr lang="fr-FR" sz="1800" b="1" dirty="0"/>
          </a:p>
        </p:txBody>
      </p:sp>
      <p:sp>
        <p:nvSpPr>
          <p:cNvPr id="200" name="Titre 1"/>
          <p:cNvSpPr txBox="1">
            <a:spLocks/>
          </p:cNvSpPr>
          <p:nvPr/>
        </p:nvSpPr>
        <p:spPr>
          <a:xfrm>
            <a:off x="2070780" y="5244428"/>
            <a:ext cx="1502546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…………………..</a:t>
            </a:r>
            <a:endParaRPr lang="fr-FR" sz="1800" b="1" dirty="0"/>
          </a:p>
        </p:txBody>
      </p:sp>
      <p:sp>
        <p:nvSpPr>
          <p:cNvPr id="86" name="Rectangle 85"/>
          <p:cNvSpPr/>
          <p:nvPr/>
        </p:nvSpPr>
        <p:spPr>
          <a:xfrm>
            <a:off x="3903344" y="2289778"/>
            <a:ext cx="1704465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Choisissez un fichier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429437" y="3755161"/>
            <a:ext cx="10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Joindre</a:t>
            </a:r>
          </a:p>
        </p:txBody>
      </p:sp>
    </p:spTree>
    <p:extLst>
      <p:ext uri="{BB962C8B-B14F-4D97-AF65-F5344CB8AC3E}">
        <p14:creationId xmlns:p14="http://schemas.microsoft.com/office/powerpoint/2010/main" val="11711145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3479000" y="103211"/>
            <a:ext cx="4715040" cy="59569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14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Patient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– Gestion des mouvements/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Liste des mouvements</a:t>
            </a:r>
            <a:endParaRPr lang="fr-FR" alt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91992" y="658368"/>
            <a:ext cx="11758269" cy="52401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77" name="Titre 1"/>
          <p:cNvSpPr txBox="1">
            <a:spLocks/>
          </p:cNvSpPr>
          <p:nvPr/>
        </p:nvSpPr>
        <p:spPr>
          <a:xfrm>
            <a:off x="1964661" y="1029302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78" name="Titre 1"/>
          <p:cNvSpPr txBox="1">
            <a:spLocks/>
          </p:cNvSpPr>
          <p:nvPr/>
        </p:nvSpPr>
        <p:spPr>
          <a:xfrm>
            <a:off x="4355023" y="1016197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80" name="Titre 1"/>
          <p:cNvSpPr txBox="1">
            <a:spLocks/>
          </p:cNvSpPr>
          <p:nvPr/>
        </p:nvSpPr>
        <p:spPr>
          <a:xfrm>
            <a:off x="3345444" y="1073576"/>
            <a:ext cx="670716" cy="28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81" name="Titre 1"/>
          <p:cNvSpPr txBox="1">
            <a:spLocks/>
          </p:cNvSpPr>
          <p:nvPr/>
        </p:nvSpPr>
        <p:spPr>
          <a:xfrm>
            <a:off x="7182390" y="1035709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82" name="Rectangle 81"/>
          <p:cNvSpPr/>
          <p:nvPr/>
        </p:nvSpPr>
        <p:spPr>
          <a:xfrm>
            <a:off x="5450982" y="1108511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6145778" y="1114551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7779361" y="1095276"/>
            <a:ext cx="684000" cy="28904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3152059" y="1074328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7" name="Rectangle 86"/>
          <p:cNvSpPr/>
          <p:nvPr/>
        </p:nvSpPr>
        <p:spPr>
          <a:xfrm>
            <a:off x="5345295" y="1054452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8" name="Rectangle 87"/>
          <p:cNvSpPr/>
          <p:nvPr/>
        </p:nvSpPr>
        <p:spPr>
          <a:xfrm>
            <a:off x="7717438" y="1080956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2" name="Rectangle 91"/>
          <p:cNvSpPr/>
          <p:nvPr/>
        </p:nvSpPr>
        <p:spPr>
          <a:xfrm>
            <a:off x="1914072" y="959960"/>
            <a:ext cx="6858867" cy="53385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3" name="Titre 1"/>
          <p:cNvSpPr txBox="1">
            <a:spLocks/>
          </p:cNvSpPr>
          <p:nvPr/>
        </p:nvSpPr>
        <p:spPr>
          <a:xfrm>
            <a:off x="1849487" y="611727"/>
            <a:ext cx="972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Affichage</a:t>
            </a:r>
            <a:endParaRPr lang="fr-FR" sz="1600" b="1" u="sng" dirty="0"/>
          </a:p>
        </p:txBody>
      </p:sp>
      <p:sp>
        <p:nvSpPr>
          <p:cNvPr id="159" name="Titre 1"/>
          <p:cNvSpPr txBox="1">
            <a:spLocks/>
          </p:cNvSpPr>
          <p:nvPr/>
        </p:nvSpPr>
        <p:spPr>
          <a:xfrm>
            <a:off x="9960807" y="2034707"/>
            <a:ext cx="180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Commentaire</a:t>
            </a:r>
            <a:endParaRPr lang="fr-FR" sz="1400" dirty="0"/>
          </a:p>
        </p:txBody>
      </p:sp>
      <p:cxnSp>
        <p:nvCxnSpPr>
          <p:cNvPr id="163" name="Connecteur droit 162"/>
          <p:cNvCxnSpPr/>
          <p:nvPr/>
        </p:nvCxnSpPr>
        <p:spPr>
          <a:xfrm>
            <a:off x="10030111" y="1975595"/>
            <a:ext cx="0" cy="3024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87" name="Titre 1"/>
          <p:cNvSpPr txBox="1">
            <a:spLocks/>
          </p:cNvSpPr>
          <p:nvPr/>
        </p:nvSpPr>
        <p:spPr>
          <a:xfrm>
            <a:off x="9944020" y="2280619"/>
            <a:ext cx="1800000" cy="7459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…………..……………</a:t>
            </a:r>
          </a:p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...........................</a:t>
            </a:r>
            <a:endParaRPr lang="fr-FR" sz="1800" b="1" dirty="0"/>
          </a:p>
        </p:txBody>
      </p:sp>
      <p:sp>
        <p:nvSpPr>
          <p:cNvPr id="38" name="Titre 1"/>
          <p:cNvSpPr txBox="1">
            <a:spLocks/>
          </p:cNvSpPr>
          <p:nvPr/>
        </p:nvSpPr>
        <p:spPr>
          <a:xfrm>
            <a:off x="1832196" y="2029528"/>
            <a:ext cx="108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39" name="Rectangle 38"/>
          <p:cNvSpPr/>
          <p:nvPr/>
        </p:nvSpPr>
        <p:spPr>
          <a:xfrm>
            <a:off x="519014" y="1975794"/>
            <a:ext cx="11160000" cy="3024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0" name="Titre 1"/>
          <p:cNvSpPr txBox="1">
            <a:spLocks/>
          </p:cNvSpPr>
          <p:nvPr/>
        </p:nvSpPr>
        <p:spPr>
          <a:xfrm>
            <a:off x="249621" y="2032830"/>
            <a:ext cx="180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Évènement</a:t>
            </a:r>
            <a:endParaRPr lang="fr-FR" sz="1400" dirty="0"/>
          </a:p>
        </p:txBody>
      </p:sp>
      <p:cxnSp>
        <p:nvCxnSpPr>
          <p:cNvPr id="41" name="Connecteur droit 40"/>
          <p:cNvCxnSpPr/>
          <p:nvPr/>
        </p:nvCxnSpPr>
        <p:spPr>
          <a:xfrm>
            <a:off x="4425244" y="1966807"/>
            <a:ext cx="0" cy="3024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2" name="Titre 1"/>
          <p:cNvSpPr txBox="1">
            <a:spLocks/>
          </p:cNvSpPr>
          <p:nvPr/>
        </p:nvSpPr>
        <p:spPr>
          <a:xfrm>
            <a:off x="4217625" y="2058571"/>
            <a:ext cx="180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Établissement</a:t>
            </a:r>
            <a:endParaRPr lang="fr-FR" sz="1400" dirty="0"/>
          </a:p>
        </p:txBody>
      </p:sp>
      <p:cxnSp>
        <p:nvCxnSpPr>
          <p:cNvPr id="43" name="Connecteur droit 42"/>
          <p:cNvCxnSpPr/>
          <p:nvPr/>
        </p:nvCxnSpPr>
        <p:spPr>
          <a:xfrm>
            <a:off x="1769494" y="1969444"/>
            <a:ext cx="0" cy="3024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4" name="Connecteur droit 43"/>
          <p:cNvCxnSpPr/>
          <p:nvPr/>
        </p:nvCxnSpPr>
        <p:spPr>
          <a:xfrm flipH="1" flipV="1">
            <a:off x="517867" y="2466747"/>
            <a:ext cx="11160000" cy="168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5" name="Connecteur droit 44"/>
          <p:cNvCxnSpPr/>
          <p:nvPr/>
        </p:nvCxnSpPr>
        <p:spPr>
          <a:xfrm>
            <a:off x="8808747" y="1952204"/>
            <a:ext cx="0" cy="3024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6" name="Titre 1"/>
          <p:cNvSpPr txBox="1">
            <a:spLocks/>
          </p:cNvSpPr>
          <p:nvPr/>
        </p:nvSpPr>
        <p:spPr>
          <a:xfrm>
            <a:off x="7133210" y="2039458"/>
            <a:ext cx="180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Heure de sortie</a:t>
            </a:r>
            <a:endParaRPr lang="fr-FR" sz="1400" dirty="0"/>
          </a:p>
        </p:txBody>
      </p:sp>
      <p:cxnSp>
        <p:nvCxnSpPr>
          <p:cNvPr id="47" name="Connecteur droit 46"/>
          <p:cNvCxnSpPr/>
          <p:nvPr/>
        </p:nvCxnSpPr>
        <p:spPr>
          <a:xfrm>
            <a:off x="2980502" y="1979686"/>
            <a:ext cx="0" cy="3024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8" name="Titre 1"/>
          <p:cNvSpPr txBox="1">
            <a:spLocks/>
          </p:cNvSpPr>
          <p:nvPr/>
        </p:nvSpPr>
        <p:spPr>
          <a:xfrm>
            <a:off x="2806326" y="2046772"/>
            <a:ext cx="180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Service accueil</a:t>
            </a:r>
            <a:endParaRPr lang="fr-FR" sz="1400" dirty="0"/>
          </a:p>
        </p:txBody>
      </p:sp>
      <p:cxnSp>
        <p:nvCxnSpPr>
          <p:cNvPr id="49" name="Connecteur droit 48"/>
          <p:cNvCxnSpPr/>
          <p:nvPr/>
        </p:nvCxnSpPr>
        <p:spPr>
          <a:xfrm>
            <a:off x="5819505" y="1969444"/>
            <a:ext cx="0" cy="3024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0" name="Titre 1"/>
          <p:cNvSpPr txBox="1">
            <a:spLocks/>
          </p:cNvSpPr>
          <p:nvPr/>
        </p:nvSpPr>
        <p:spPr>
          <a:xfrm>
            <a:off x="8876815" y="2021487"/>
            <a:ext cx="108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Médecin</a:t>
            </a:r>
            <a:endParaRPr lang="fr-FR" sz="1400" dirty="0"/>
          </a:p>
        </p:txBody>
      </p:sp>
      <p:sp>
        <p:nvSpPr>
          <p:cNvPr id="51" name="Titre 1"/>
          <p:cNvSpPr txBox="1">
            <a:spLocks/>
          </p:cNvSpPr>
          <p:nvPr/>
        </p:nvSpPr>
        <p:spPr>
          <a:xfrm>
            <a:off x="5649796" y="2026269"/>
            <a:ext cx="180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de sortie</a:t>
            </a:r>
            <a:endParaRPr lang="fr-FR" sz="1400" dirty="0"/>
          </a:p>
        </p:txBody>
      </p:sp>
      <p:cxnSp>
        <p:nvCxnSpPr>
          <p:cNvPr id="52" name="Connecteur droit 51"/>
          <p:cNvCxnSpPr/>
          <p:nvPr/>
        </p:nvCxnSpPr>
        <p:spPr>
          <a:xfrm>
            <a:off x="7269822" y="1973058"/>
            <a:ext cx="0" cy="3024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3" name="Titre 1"/>
          <p:cNvSpPr txBox="1">
            <a:spLocks/>
          </p:cNvSpPr>
          <p:nvPr/>
        </p:nvSpPr>
        <p:spPr>
          <a:xfrm>
            <a:off x="546417" y="2489937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54" name="Titre 1"/>
          <p:cNvSpPr txBox="1">
            <a:spLocks/>
          </p:cNvSpPr>
          <p:nvPr/>
        </p:nvSpPr>
        <p:spPr>
          <a:xfrm>
            <a:off x="7471577" y="2502361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55" name="Titre 1"/>
          <p:cNvSpPr txBox="1">
            <a:spLocks/>
          </p:cNvSpPr>
          <p:nvPr/>
        </p:nvSpPr>
        <p:spPr>
          <a:xfrm>
            <a:off x="3133196" y="2483096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56" name="Titre 1"/>
          <p:cNvSpPr txBox="1">
            <a:spLocks/>
          </p:cNvSpPr>
          <p:nvPr/>
        </p:nvSpPr>
        <p:spPr>
          <a:xfrm>
            <a:off x="4519871" y="2496564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57" name="Titre 1"/>
          <p:cNvSpPr txBox="1">
            <a:spLocks/>
          </p:cNvSpPr>
          <p:nvPr/>
        </p:nvSpPr>
        <p:spPr>
          <a:xfrm>
            <a:off x="5910655" y="2496564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58" name="Titre 1"/>
          <p:cNvSpPr txBox="1">
            <a:spLocks/>
          </p:cNvSpPr>
          <p:nvPr/>
        </p:nvSpPr>
        <p:spPr>
          <a:xfrm>
            <a:off x="1767761" y="2487789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sp>
        <p:nvSpPr>
          <p:cNvPr id="59" name="Titre 1"/>
          <p:cNvSpPr txBox="1">
            <a:spLocks/>
          </p:cNvSpPr>
          <p:nvPr/>
        </p:nvSpPr>
        <p:spPr>
          <a:xfrm>
            <a:off x="8830589" y="2500019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62" name="Titre 1"/>
          <p:cNvSpPr txBox="1">
            <a:spLocks/>
          </p:cNvSpPr>
          <p:nvPr/>
        </p:nvSpPr>
        <p:spPr>
          <a:xfrm>
            <a:off x="544269" y="3080222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63" name="Titre 1"/>
          <p:cNvSpPr txBox="1">
            <a:spLocks/>
          </p:cNvSpPr>
          <p:nvPr/>
        </p:nvSpPr>
        <p:spPr>
          <a:xfrm>
            <a:off x="7469429" y="3092646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3131048" y="3073381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65" name="Titre 1"/>
          <p:cNvSpPr txBox="1">
            <a:spLocks/>
          </p:cNvSpPr>
          <p:nvPr/>
        </p:nvSpPr>
        <p:spPr>
          <a:xfrm>
            <a:off x="4517723" y="3086849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66" name="Titre 1"/>
          <p:cNvSpPr txBox="1">
            <a:spLocks/>
          </p:cNvSpPr>
          <p:nvPr/>
        </p:nvSpPr>
        <p:spPr>
          <a:xfrm>
            <a:off x="5908507" y="3086849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67" name="Titre 1"/>
          <p:cNvSpPr txBox="1">
            <a:spLocks/>
          </p:cNvSpPr>
          <p:nvPr/>
        </p:nvSpPr>
        <p:spPr>
          <a:xfrm>
            <a:off x="1765613" y="3078074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sp>
        <p:nvSpPr>
          <p:cNvPr id="68" name="Titre 1"/>
          <p:cNvSpPr txBox="1">
            <a:spLocks/>
          </p:cNvSpPr>
          <p:nvPr/>
        </p:nvSpPr>
        <p:spPr>
          <a:xfrm>
            <a:off x="8828441" y="3090304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69" name="Titre 1"/>
          <p:cNvSpPr txBox="1">
            <a:spLocks/>
          </p:cNvSpPr>
          <p:nvPr/>
        </p:nvSpPr>
        <p:spPr>
          <a:xfrm>
            <a:off x="9980509" y="2832262"/>
            <a:ext cx="1800000" cy="7459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…………..……………</a:t>
            </a:r>
          </a:p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...........................</a:t>
            </a:r>
            <a:endParaRPr lang="fr-FR" sz="1800" b="1" dirty="0"/>
          </a:p>
        </p:txBody>
      </p:sp>
      <p:cxnSp>
        <p:nvCxnSpPr>
          <p:cNvPr id="71" name="Connecteur droit 70"/>
          <p:cNvCxnSpPr/>
          <p:nvPr/>
        </p:nvCxnSpPr>
        <p:spPr>
          <a:xfrm flipH="1" flipV="1">
            <a:off x="541477" y="3636583"/>
            <a:ext cx="11160000" cy="168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2" name="Titre 1"/>
          <p:cNvSpPr txBox="1">
            <a:spLocks/>
          </p:cNvSpPr>
          <p:nvPr/>
        </p:nvSpPr>
        <p:spPr>
          <a:xfrm>
            <a:off x="567879" y="3773535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73" name="Titre 1"/>
          <p:cNvSpPr txBox="1">
            <a:spLocks/>
          </p:cNvSpPr>
          <p:nvPr/>
        </p:nvSpPr>
        <p:spPr>
          <a:xfrm>
            <a:off x="7493039" y="3785959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74" name="Titre 1"/>
          <p:cNvSpPr txBox="1">
            <a:spLocks/>
          </p:cNvSpPr>
          <p:nvPr/>
        </p:nvSpPr>
        <p:spPr>
          <a:xfrm>
            <a:off x="3154658" y="3766694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75" name="Titre 1"/>
          <p:cNvSpPr txBox="1">
            <a:spLocks/>
          </p:cNvSpPr>
          <p:nvPr/>
        </p:nvSpPr>
        <p:spPr>
          <a:xfrm>
            <a:off x="4541333" y="3780162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79" name="Titre 1"/>
          <p:cNvSpPr txBox="1">
            <a:spLocks/>
          </p:cNvSpPr>
          <p:nvPr/>
        </p:nvSpPr>
        <p:spPr>
          <a:xfrm>
            <a:off x="5932117" y="3780162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1789223" y="3771387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8852051" y="3783617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97" name="Titre 1"/>
          <p:cNvSpPr txBox="1">
            <a:spLocks/>
          </p:cNvSpPr>
          <p:nvPr/>
        </p:nvSpPr>
        <p:spPr>
          <a:xfrm>
            <a:off x="10004119" y="3525575"/>
            <a:ext cx="1800000" cy="7459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…………..……………</a:t>
            </a:r>
          </a:p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...........................</a:t>
            </a:r>
            <a:endParaRPr lang="fr-FR" sz="1800" b="1" dirty="0"/>
          </a:p>
        </p:txBody>
      </p:sp>
      <p:cxnSp>
        <p:nvCxnSpPr>
          <p:cNvPr id="98" name="Connecteur droit 97"/>
          <p:cNvCxnSpPr/>
          <p:nvPr/>
        </p:nvCxnSpPr>
        <p:spPr>
          <a:xfrm flipH="1" flipV="1">
            <a:off x="552208" y="4304137"/>
            <a:ext cx="11160000" cy="168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9" name="Titre 1"/>
          <p:cNvSpPr txBox="1">
            <a:spLocks/>
          </p:cNvSpPr>
          <p:nvPr/>
        </p:nvSpPr>
        <p:spPr>
          <a:xfrm>
            <a:off x="578610" y="4441089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100" name="Titre 1"/>
          <p:cNvSpPr txBox="1">
            <a:spLocks/>
          </p:cNvSpPr>
          <p:nvPr/>
        </p:nvSpPr>
        <p:spPr>
          <a:xfrm>
            <a:off x="7503770" y="4453513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01" name="Titre 1"/>
          <p:cNvSpPr txBox="1">
            <a:spLocks/>
          </p:cNvSpPr>
          <p:nvPr/>
        </p:nvSpPr>
        <p:spPr>
          <a:xfrm>
            <a:off x="3165389" y="4434248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03" name="Titre 1"/>
          <p:cNvSpPr txBox="1">
            <a:spLocks/>
          </p:cNvSpPr>
          <p:nvPr/>
        </p:nvSpPr>
        <p:spPr>
          <a:xfrm>
            <a:off x="4552064" y="4447716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04" name="Titre 1"/>
          <p:cNvSpPr txBox="1">
            <a:spLocks/>
          </p:cNvSpPr>
          <p:nvPr/>
        </p:nvSpPr>
        <p:spPr>
          <a:xfrm>
            <a:off x="5942848" y="4447716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05" name="Titre 1"/>
          <p:cNvSpPr txBox="1">
            <a:spLocks/>
          </p:cNvSpPr>
          <p:nvPr/>
        </p:nvSpPr>
        <p:spPr>
          <a:xfrm>
            <a:off x="1799954" y="4438941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sp>
        <p:nvSpPr>
          <p:cNvPr id="106" name="Titre 1"/>
          <p:cNvSpPr txBox="1">
            <a:spLocks/>
          </p:cNvSpPr>
          <p:nvPr/>
        </p:nvSpPr>
        <p:spPr>
          <a:xfrm>
            <a:off x="8862782" y="4451171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07" name="Titre 1"/>
          <p:cNvSpPr txBox="1">
            <a:spLocks/>
          </p:cNvSpPr>
          <p:nvPr/>
        </p:nvSpPr>
        <p:spPr>
          <a:xfrm>
            <a:off x="10014850" y="4193129"/>
            <a:ext cx="1800000" cy="7459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…………..……………</a:t>
            </a:r>
          </a:p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...........................</a:t>
            </a:r>
            <a:endParaRPr lang="fr-FR" sz="1800" b="1" dirty="0"/>
          </a:p>
        </p:txBody>
      </p:sp>
      <p:cxnSp>
        <p:nvCxnSpPr>
          <p:cNvPr id="108" name="Connecteur droit 107"/>
          <p:cNvCxnSpPr/>
          <p:nvPr/>
        </p:nvCxnSpPr>
        <p:spPr>
          <a:xfrm flipH="1" flipV="1">
            <a:off x="513571" y="3016248"/>
            <a:ext cx="11160000" cy="168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2385870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2772340" y="157193"/>
            <a:ext cx="5510518" cy="72744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15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Patient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Reporting /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Liste des caisses d’assurance (CNAS/CASNOS/CAISSE MILITAIRE)</a:t>
            </a:r>
            <a:endParaRPr lang="fr-FR" alt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91992" y="987671"/>
            <a:ext cx="11758269" cy="49108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1920697" y="1522697"/>
            <a:ext cx="4248284" cy="1722779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7" name="Rectangle 66"/>
          <p:cNvSpPr/>
          <p:nvPr/>
        </p:nvSpPr>
        <p:spPr>
          <a:xfrm>
            <a:off x="3896717" y="1801220"/>
            <a:ext cx="16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8" name="Titre 1"/>
          <p:cNvSpPr txBox="1">
            <a:spLocks/>
          </p:cNvSpPr>
          <p:nvPr/>
        </p:nvSpPr>
        <p:spPr>
          <a:xfrm>
            <a:off x="2223543" y="1768188"/>
            <a:ext cx="1668064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Caisse d’assurance</a:t>
            </a:r>
            <a:endParaRPr lang="fr-FR" sz="1400" dirty="0"/>
          </a:p>
        </p:txBody>
      </p:sp>
      <p:sp>
        <p:nvSpPr>
          <p:cNvPr id="69" name="Triangle isocèle 68"/>
          <p:cNvSpPr/>
          <p:nvPr/>
        </p:nvSpPr>
        <p:spPr>
          <a:xfrm rot="10800000">
            <a:off x="5400865" y="1809065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201521" y="1007486"/>
            <a:ext cx="2891365" cy="5014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600" b="1" u="sng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Liste des </a:t>
            </a:r>
            <a:r>
              <a:rPr lang="fr-FR" altLang="fr-FR" sz="1600" b="1" u="sng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caisses d’assurance</a:t>
            </a:r>
            <a:endParaRPr lang="fr-FR" sz="1600" b="1" u="sng" dirty="0"/>
          </a:p>
        </p:txBody>
      </p:sp>
      <p:sp>
        <p:nvSpPr>
          <p:cNvPr id="217" name="Rectangle 216"/>
          <p:cNvSpPr/>
          <p:nvPr/>
        </p:nvSpPr>
        <p:spPr>
          <a:xfrm>
            <a:off x="4275810" y="2379231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Imprimer</a:t>
            </a:r>
          </a:p>
        </p:txBody>
      </p:sp>
      <p:sp>
        <p:nvSpPr>
          <p:cNvPr id="76" name="Titre 1"/>
          <p:cNvSpPr txBox="1">
            <a:spLocks/>
          </p:cNvSpPr>
          <p:nvPr/>
        </p:nvSpPr>
        <p:spPr>
          <a:xfrm>
            <a:off x="174627" y="6089970"/>
            <a:ext cx="9090992" cy="43961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dirty="0" smtClean="0"/>
              <a:t>Caisse d’assurance :</a:t>
            </a:r>
            <a:r>
              <a:rPr lang="fr-FR" sz="1400" dirty="0" smtClean="0"/>
              <a:t> CNAS / CASNOS / CAISSE MILITAIRE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Cet écran permis de sélectionner les patients selon les établissements d’assurance correspondant 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42629795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2772340" y="42891"/>
            <a:ext cx="5510518" cy="84174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15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Patient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Reporting /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Liste des caisses d’assurance (CNAS/CASNOS/CAISSE MILITAIRE)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- Fichier PDF - </a:t>
            </a:r>
            <a:endParaRPr lang="fr-FR" altLang="fr-FR" sz="1800" b="1" dirty="0">
              <a:solidFill>
                <a:srgbClr val="FF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91992" y="987671"/>
            <a:ext cx="11758269" cy="49108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191992" y="1382114"/>
            <a:ext cx="2891365" cy="5014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600" b="1" u="sng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Liste des </a:t>
            </a:r>
            <a:r>
              <a:rPr lang="fr-FR" altLang="fr-FR" sz="1600" b="1" u="sng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caisses d’assurance</a:t>
            </a:r>
            <a:endParaRPr lang="fr-FR" sz="1600" b="1" u="sng" dirty="0"/>
          </a:p>
        </p:txBody>
      </p:sp>
      <p:sp>
        <p:nvSpPr>
          <p:cNvPr id="15" name="Titre 1"/>
          <p:cNvSpPr txBox="1">
            <a:spLocks/>
          </p:cNvSpPr>
          <p:nvPr/>
        </p:nvSpPr>
        <p:spPr>
          <a:xfrm>
            <a:off x="8538469" y="2006589"/>
            <a:ext cx="144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Validité PEC</a:t>
            </a:r>
          </a:p>
        </p:txBody>
      </p:sp>
      <p:cxnSp>
        <p:nvCxnSpPr>
          <p:cNvPr id="16" name="Connecteur droit 15"/>
          <p:cNvCxnSpPr/>
          <p:nvPr/>
        </p:nvCxnSpPr>
        <p:spPr>
          <a:xfrm>
            <a:off x="8656718" y="1973646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" name="Titre 1"/>
          <p:cNvSpPr txBox="1">
            <a:spLocks/>
          </p:cNvSpPr>
          <p:nvPr/>
        </p:nvSpPr>
        <p:spPr>
          <a:xfrm>
            <a:off x="10177317" y="2500018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</a:t>
            </a:r>
          </a:p>
        </p:txBody>
      </p:sp>
      <p:sp>
        <p:nvSpPr>
          <p:cNvPr id="18" name="Titre 1"/>
          <p:cNvSpPr txBox="1">
            <a:spLocks/>
          </p:cNvSpPr>
          <p:nvPr/>
        </p:nvSpPr>
        <p:spPr>
          <a:xfrm>
            <a:off x="1677251" y="2028938"/>
            <a:ext cx="144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Date </a:t>
            </a:r>
            <a:r>
              <a:rPr lang="fr-FR" sz="1400" dirty="0" smtClean="0"/>
              <a:t>dépôt</a:t>
            </a:r>
            <a:endParaRPr lang="fr-FR" sz="1400" dirty="0"/>
          </a:p>
        </p:txBody>
      </p:sp>
      <p:sp>
        <p:nvSpPr>
          <p:cNvPr id="19" name="Rectangle 18"/>
          <p:cNvSpPr/>
          <p:nvPr/>
        </p:nvSpPr>
        <p:spPr>
          <a:xfrm>
            <a:off x="312950" y="1975794"/>
            <a:ext cx="11160000" cy="2340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" name="Titre 1"/>
          <p:cNvSpPr txBox="1">
            <a:spLocks/>
          </p:cNvSpPr>
          <p:nvPr/>
        </p:nvSpPr>
        <p:spPr>
          <a:xfrm>
            <a:off x="326894" y="2032830"/>
            <a:ext cx="144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N</a:t>
            </a:r>
            <a:r>
              <a:rPr lang="fr-FR" sz="1400" dirty="0" smtClean="0"/>
              <a:t>° d'assurance</a:t>
            </a:r>
            <a:endParaRPr lang="fr-FR" sz="1400" dirty="0"/>
          </a:p>
        </p:txBody>
      </p:sp>
      <p:cxnSp>
        <p:nvCxnSpPr>
          <p:cNvPr id="21" name="Connecteur droit 20"/>
          <p:cNvCxnSpPr/>
          <p:nvPr/>
        </p:nvCxnSpPr>
        <p:spPr>
          <a:xfrm>
            <a:off x="4169052" y="1995264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" name="Titre 1"/>
          <p:cNvSpPr txBox="1">
            <a:spLocks/>
          </p:cNvSpPr>
          <p:nvPr/>
        </p:nvSpPr>
        <p:spPr>
          <a:xfrm>
            <a:off x="3960045" y="2058571"/>
            <a:ext cx="144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1400" dirty="0" smtClean="0"/>
              <a:t>Prénom</a:t>
            </a:r>
            <a:endParaRPr lang="fr-FR" sz="1400" dirty="0"/>
          </a:p>
        </p:txBody>
      </p:sp>
      <p:cxnSp>
        <p:nvCxnSpPr>
          <p:cNvPr id="24" name="Connecteur droit 23"/>
          <p:cNvCxnSpPr/>
          <p:nvPr/>
        </p:nvCxnSpPr>
        <p:spPr>
          <a:xfrm>
            <a:off x="1769767" y="1966807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5" name="Connecteur droit 24"/>
          <p:cNvCxnSpPr/>
          <p:nvPr/>
        </p:nvCxnSpPr>
        <p:spPr>
          <a:xfrm flipH="1" flipV="1">
            <a:off x="267338" y="2484089"/>
            <a:ext cx="11160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6" name="Connecteur droit 25"/>
          <p:cNvCxnSpPr/>
          <p:nvPr/>
        </p:nvCxnSpPr>
        <p:spPr>
          <a:xfrm>
            <a:off x="7476653" y="1989887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" name="Titre 1"/>
          <p:cNvSpPr txBox="1">
            <a:spLocks/>
          </p:cNvSpPr>
          <p:nvPr/>
        </p:nvSpPr>
        <p:spPr>
          <a:xfrm>
            <a:off x="6203926" y="2039098"/>
            <a:ext cx="144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1400" dirty="0"/>
              <a:t>Validité OD</a:t>
            </a:r>
          </a:p>
        </p:txBody>
      </p:sp>
      <p:cxnSp>
        <p:nvCxnSpPr>
          <p:cNvPr id="28" name="Connecteur droit 27"/>
          <p:cNvCxnSpPr/>
          <p:nvPr/>
        </p:nvCxnSpPr>
        <p:spPr>
          <a:xfrm>
            <a:off x="2954741" y="1973646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9" name="Titre 1"/>
          <p:cNvSpPr txBox="1">
            <a:spLocks/>
          </p:cNvSpPr>
          <p:nvPr/>
        </p:nvSpPr>
        <p:spPr>
          <a:xfrm>
            <a:off x="2793818" y="2046811"/>
            <a:ext cx="144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1400" dirty="0" smtClean="0"/>
              <a:t>Nom</a:t>
            </a:r>
            <a:endParaRPr lang="fr-FR" sz="1400" dirty="0"/>
          </a:p>
        </p:txBody>
      </p:sp>
      <p:cxnSp>
        <p:nvCxnSpPr>
          <p:cNvPr id="30" name="Connecteur droit 29"/>
          <p:cNvCxnSpPr/>
          <p:nvPr/>
        </p:nvCxnSpPr>
        <p:spPr>
          <a:xfrm>
            <a:off x="5260813" y="1985373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1" name="Titre 1"/>
          <p:cNvSpPr txBox="1">
            <a:spLocks/>
          </p:cNvSpPr>
          <p:nvPr/>
        </p:nvSpPr>
        <p:spPr>
          <a:xfrm>
            <a:off x="7397247" y="1997493"/>
            <a:ext cx="144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1400" dirty="0"/>
              <a:t>Date PEC</a:t>
            </a:r>
          </a:p>
        </p:txBody>
      </p:sp>
      <p:sp>
        <p:nvSpPr>
          <p:cNvPr id="32" name="Titre 1"/>
          <p:cNvSpPr txBox="1">
            <a:spLocks/>
          </p:cNvSpPr>
          <p:nvPr/>
        </p:nvSpPr>
        <p:spPr>
          <a:xfrm>
            <a:off x="5095935" y="2039099"/>
            <a:ext cx="144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1400" dirty="0" smtClean="0"/>
              <a:t>Date</a:t>
            </a:r>
            <a:endParaRPr lang="fr-FR" sz="1400" dirty="0"/>
          </a:p>
        </p:txBody>
      </p:sp>
      <p:cxnSp>
        <p:nvCxnSpPr>
          <p:cNvPr id="33" name="Connecteur droit 32"/>
          <p:cNvCxnSpPr/>
          <p:nvPr/>
        </p:nvCxnSpPr>
        <p:spPr>
          <a:xfrm>
            <a:off x="6366784" y="1973646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4" name="Titre 1"/>
          <p:cNvSpPr txBox="1">
            <a:spLocks/>
          </p:cNvSpPr>
          <p:nvPr/>
        </p:nvSpPr>
        <p:spPr>
          <a:xfrm>
            <a:off x="494901" y="248993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35" name="Titre 1"/>
          <p:cNvSpPr txBox="1">
            <a:spLocks/>
          </p:cNvSpPr>
          <p:nvPr/>
        </p:nvSpPr>
        <p:spPr>
          <a:xfrm>
            <a:off x="6390673" y="2463589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39" name="Titre 1"/>
          <p:cNvSpPr txBox="1">
            <a:spLocks/>
          </p:cNvSpPr>
          <p:nvPr/>
        </p:nvSpPr>
        <p:spPr>
          <a:xfrm>
            <a:off x="4172139" y="2496563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40" name="Titre 1"/>
          <p:cNvSpPr txBox="1">
            <a:spLocks/>
          </p:cNvSpPr>
          <p:nvPr/>
        </p:nvSpPr>
        <p:spPr>
          <a:xfrm>
            <a:off x="5267261" y="2483420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41" name="Titre 1"/>
          <p:cNvSpPr txBox="1">
            <a:spLocks/>
          </p:cNvSpPr>
          <p:nvPr/>
        </p:nvSpPr>
        <p:spPr>
          <a:xfrm>
            <a:off x="1819276" y="2500667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sp>
        <p:nvSpPr>
          <p:cNvPr id="42" name="Titre 1"/>
          <p:cNvSpPr txBox="1">
            <a:spLocks/>
          </p:cNvSpPr>
          <p:nvPr/>
        </p:nvSpPr>
        <p:spPr>
          <a:xfrm>
            <a:off x="8741353" y="2499778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43" name="Titre 1"/>
          <p:cNvSpPr txBox="1">
            <a:spLocks/>
          </p:cNvSpPr>
          <p:nvPr/>
        </p:nvSpPr>
        <p:spPr>
          <a:xfrm>
            <a:off x="492752" y="2938552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44" name="Titre 1"/>
          <p:cNvSpPr txBox="1">
            <a:spLocks/>
          </p:cNvSpPr>
          <p:nvPr/>
        </p:nvSpPr>
        <p:spPr>
          <a:xfrm>
            <a:off x="6387561" y="2937391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45" name="Titre 1"/>
          <p:cNvSpPr txBox="1">
            <a:spLocks/>
          </p:cNvSpPr>
          <p:nvPr/>
        </p:nvSpPr>
        <p:spPr>
          <a:xfrm>
            <a:off x="3027359" y="2945179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</a:t>
            </a:r>
            <a:endParaRPr lang="fr-FR" sz="1800" b="1" dirty="0"/>
          </a:p>
        </p:txBody>
      </p:sp>
      <p:sp>
        <p:nvSpPr>
          <p:cNvPr id="46" name="Titre 1"/>
          <p:cNvSpPr txBox="1">
            <a:spLocks/>
          </p:cNvSpPr>
          <p:nvPr/>
        </p:nvSpPr>
        <p:spPr>
          <a:xfrm>
            <a:off x="4169990" y="2945179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47" name="Titre 1"/>
          <p:cNvSpPr txBox="1">
            <a:spLocks/>
          </p:cNvSpPr>
          <p:nvPr/>
        </p:nvSpPr>
        <p:spPr>
          <a:xfrm>
            <a:off x="5276590" y="2956954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48" name="Titre 1"/>
          <p:cNvSpPr txBox="1">
            <a:spLocks/>
          </p:cNvSpPr>
          <p:nvPr/>
        </p:nvSpPr>
        <p:spPr>
          <a:xfrm>
            <a:off x="1817127" y="2949283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sp>
        <p:nvSpPr>
          <p:cNvPr id="49" name="Titre 1"/>
          <p:cNvSpPr txBox="1">
            <a:spLocks/>
          </p:cNvSpPr>
          <p:nvPr/>
        </p:nvSpPr>
        <p:spPr>
          <a:xfrm>
            <a:off x="8725619" y="2948875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50" name="Titre 1"/>
          <p:cNvSpPr txBox="1">
            <a:spLocks/>
          </p:cNvSpPr>
          <p:nvPr/>
        </p:nvSpPr>
        <p:spPr>
          <a:xfrm>
            <a:off x="10185767" y="2948875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</a:t>
            </a:r>
          </a:p>
        </p:txBody>
      </p:sp>
      <p:cxnSp>
        <p:nvCxnSpPr>
          <p:cNvPr id="51" name="Connecteur droit 50"/>
          <p:cNvCxnSpPr/>
          <p:nvPr/>
        </p:nvCxnSpPr>
        <p:spPr>
          <a:xfrm flipH="1" flipV="1">
            <a:off x="309655" y="3404761"/>
            <a:ext cx="11160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2" name="Titre 1"/>
          <p:cNvSpPr txBox="1">
            <a:spLocks/>
          </p:cNvSpPr>
          <p:nvPr/>
        </p:nvSpPr>
        <p:spPr>
          <a:xfrm>
            <a:off x="464847" y="3374285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53" name="Titre 1"/>
          <p:cNvSpPr txBox="1">
            <a:spLocks/>
          </p:cNvSpPr>
          <p:nvPr/>
        </p:nvSpPr>
        <p:spPr>
          <a:xfrm>
            <a:off x="6383612" y="3348343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55" name="Titre 1"/>
          <p:cNvSpPr txBox="1">
            <a:spLocks/>
          </p:cNvSpPr>
          <p:nvPr/>
        </p:nvSpPr>
        <p:spPr>
          <a:xfrm>
            <a:off x="4142085" y="3380912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56" name="Titre 1"/>
          <p:cNvSpPr txBox="1">
            <a:spLocks/>
          </p:cNvSpPr>
          <p:nvPr/>
        </p:nvSpPr>
        <p:spPr>
          <a:xfrm>
            <a:off x="5275288" y="3380912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57" name="Titre 1"/>
          <p:cNvSpPr txBox="1">
            <a:spLocks/>
          </p:cNvSpPr>
          <p:nvPr/>
        </p:nvSpPr>
        <p:spPr>
          <a:xfrm>
            <a:off x="1789222" y="338501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sp>
        <p:nvSpPr>
          <p:cNvPr id="58" name="Titre 1"/>
          <p:cNvSpPr txBox="1">
            <a:spLocks/>
          </p:cNvSpPr>
          <p:nvPr/>
        </p:nvSpPr>
        <p:spPr>
          <a:xfrm>
            <a:off x="8749019" y="3384367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59" name="Titre 1"/>
          <p:cNvSpPr txBox="1">
            <a:spLocks/>
          </p:cNvSpPr>
          <p:nvPr/>
        </p:nvSpPr>
        <p:spPr>
          <a:xfrm>
            <a:off x="10183117" y="3393481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</a:t>
            </a:r>
          </a:p>
        </p:txBody>
      </p:sp>
      <p:cxnSp>
        <p:nvCxnSpPr>
          <p:cNvPr id="60" name="Connecteur droit 59"/>
          <p:cNvCxnSpPr/>
          <p:nvPr/>
        </p:nvCxnSpPr>
        <p:spPr>
          <a:xfrm flipH="1" flipV="1">
            <a:off x="320386" y="3827618"/>
            <a:ext cx="11160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2" name="Connecteur droit 71"/>
          <p:cNvCxnSpPr/>
          <p:nvPr/>
        </p:nvCxnSpPr>
        <p:spPr>
          <a:xfrm flipH="1" flipV="1">
            <a:off x="307507" y="2964732"/>
            <a:ext cx="11160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" name="Rectangle 2"/>
          <p:cNvSpPr/>
          <p:nvPr/>
        </p:nvSpPr>
        <p:spPr>
          <a:xfrm>
            <a:off x="9981008" y="2079184"/>
            <a:ext cx="1440000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Actes</a:t>
            </a:r>
          </a:p>
        </p:txBody>
      </p:sp>
      <p:cxnSp>
        <p:nvCxnSpPr>
          <p:cNvPr id="67" name="Connecteur droit 66"/>
          <p:cNvCxnSpPr/>
          <p:nvPr/>
        </p:nvCxnSpPr>
        <p:spPr>
          <a:xfrm>
            <a:off x="9916718" y="1989887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8" name="Titre 1"/>
          <p:cNvSpPr txBox="1">
            <a:spLocks/>
          </p:cNvSpPr>
          <p:nvPr/>
        </p:nvSpPr>
        <p:spPr>
          <a:xfrm>
            <a:off x="3025212" y="2518032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</a:t>
            </a:r>
            <a:endParaRPr lang="fr-FR" sz="1800" b="1" dirty="0"/>
          </a:p>
        </p:txBody>
      </p:sp>
      <p:sp>
        <p:nvSpPr>
          <p:cNvPr id="73" name="Titre 1"/>
          <p:cNvSpPr txBox="1">
            <a:spLocks/>
          </p:cNvSpPr>
          <p:nvPr/>
        </p:nvSpPr>
        <p:spPr>
          <a:xfrm>
            <a:off x="2971548" y="3365893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</a:t>
            </a:r>
            <a:endParaRPr lang="fr-FR" sz="1800" b="1" dirty="0"/>
          </a:p>
        </p:txBody>
      </p:sp>
      <p:sp>
        <p:nvSpPr>
          <p:cNvPr id="74" name="Titre 1"/>
          <p:cNvSpPr txBox="1">
            <a:spLocks/>
          </p:cNvSpPr>
          <p:nvPr/>
        </p:nvSpPr>
        <p:spPr>
          <a:xfrm>
            <a:off x="7519944" y="2955910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</a:t>
            </a:r>
            <a:endParaRPr lang="fr-FR" sz="1800" b="1" dirty="0"/>
          </a:p>
        </p:txBody>
      </p:sp>
      <p:sp>
        <p:nvSpPr>
          <p:cNvPr id="75" name="Titre 1"/>
          <p:cNvSpPr txBox="1">
            <a:spLocks/>
          </p:cNvSpPr>
          <p:nvPr/>
        </p:nvSpPr>
        <p:spPr>
          <a:xfrm>
            <a:off x="7517797" y="2477247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</a:t>
            </a:r>
            <a:endParaRPr lang="fr-FR" sz="1800" b="1" dirty="0"/>
          </a:p>
        </p:txBody>
      </p:sp>
      <p:sp>
        <p:nvSpPr>
          <p:cNvPr id="78" name="Titre 1"/>
          <p:cNvSpPr txBox="1">
            <a:spLocks/>
          </p:cNvSpPr>
          <p:nvPr/>
        </p:nvSpPr>
        <p:spPr>
          <a:xfrm>
            <a:off x="7541407" y="3376624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</a:t>
            </a:r>
            <a:endParaRPr lang="fr-FR" sz="1800" b="1" dirty="0"/>
          </a:p>
        </p:txBody>
      </p:sp>
      <p:sp>
        <p:nvSpPr>
          <p:cNvPr id="79" name="Titre 1"/>
          <p:cNvSpPr txBox="1">
            <a:spLocks/>
          </p:cNvSpPr>
          <p:nvPr/>
        </p:nvSpPr>
        <p:spPr>
          <a:xfrm>
            <a:off x="10175169" y="3837273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</a:t>
            </a:r>
          </a:p>
        </p:txBody>
      </p:sp>
      <p:sp>
        <p:nvSpPr>
          <p:cNvPr id="80" name="Titre 1"/>
          <p:cNvSpPr txBox="1">
            <a:spLocks/>
          </p:cNvSpPr>
          <p:nvPr/>
        </p:nvSpPr>
        <p:spPr>
          <a:xfrm>
            <a:off x="492753" y="3827191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81" name="Titre 1"/>
          <p:cNvSpPr txBox="1">
            <a:spLocks/>
          </p:cNvSpPr>
          <p:nvPr/>
        </p:nvSpPr>
        <p:spPr>
          <a:xfrm>
            <a:off x="6388525" y="3800844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82" name="Titre 1"/>
          <p:cNvSpPr txBox="1">
            <a:spLocks/>
          </p:cNvSpPr>
          <p:nvPr/>
        </p:nvSpPr>
        <p:spPr>
          <a:xfrm>
            <a:off x="4169991" y="3833818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83" name="Titre 1"/>
          <p:cNvSpPr txBox="1">
            <a:spLocks/>
          </p:cNvSpPr>
          <p:nvPr/>
        </p:nvSpPr>
        <p:spPr>
          <a:xfrm>
            <a:off x="5265113" y="3820675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84" name="Titre 1"/>
          <p:cNvSpPr txBox="1">
            <a:spLocks/>
          </p:cNvSpPr>
          <p:nvPr/>
        </p:nvSpPr>
        <p:spPr>
          <a:xfrm>
            <a:off x="1817128" y="3837922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sp>
        <p:nvSpPr>
          <p:cNvPr id="85" name="Titre 1"/>
          <p:cNvSpPr txBox="1">
            <a:spLocks/>
          </p:cNvSpPr>
          <p:nvPr/>
        </p:nvSpPr>
        <p:spPr>
          <a:xfrm>
            <a:off x="8739205" y="3837033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87" name="Titre 1"/>
          <p:cNvSpPr txBox="1">
            <a:spLocks/>
          </p:cNvSpPr>
          <p:nvPr/>
        </p:nvSpPr>
        <p:spPr>
          <a:xfrm>
            <a:off x="3023064" y="3855287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</a:t>
            </a:r>
            <a:endParaRPr lang="fr-FR" sz="1800" b="1" dirty="0"/>
          </a:p>
        </p:txBody>
      </p:sp>
      <p:sp>
        <p:nvSpPr>
          <p:cNvPr id="88" name="Titre 1"/>
          <p:cNvSpPr txBox="1">
            <a:spLocks/>
          </p:cNvSpPr>
          <p:nvPr/>
        </p:nvSpPr>
        <p:spPr>
          <a:xfrm>
            <a:off x="7515649" y="3814502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</a:t>
            </a:r>
            <a:endParaRPr lang="fr-FR" sz="1800" b="1" dirty="0"/>
          </a:p>
        </p:txBody>
      </p:sp>
    </p:spTree>
    <p:extLst>
      <p:ext uri="{BB962C8B-B14F-4D97-AF65-F5344CB8AC3E}">
        <p14:creationId xmlns:p14="http://schemas.microsoft.com/office/powerpoint/2010/main" val="29129441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2820765" y="280671"/>
            <a:ext cx="5510518" cy="48946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16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Patient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Reporting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/ Report d’envoi</a:t>
            </a:r>
            <a:endParaRPr lang="fr-FR" alt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91992" y="830624"/>
            <a:ext cx="11758269" cy="506789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1920697" y="1522697"/>
            <a:ext cx="4248284" cy="1722779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7" name="Rectangle 66"/>
          <p:cNvSpPr/>
          <p:nvPr/>
        </p:nvSpPr>
        <p:spPr>
          <a:xfrm>
            <a:off x="3896717" y="1801220"/>
            <a:ext cx="16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8" name="Titre 1"/>
          <p:cNvSpPr txBox="1">
            <a:spLocks/>
          </p:cNvSpPr>
          <p:nvPr/>
        </p:nvSpPr>
        <p:spPr>
          <a:xfrm>
            <a:off x="2223543" y="1768188"/>
            <a:ext cx="108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Recherche</a:t>
            </a:r>
            <a:endParaRPr lang="fr-FR" sz="1400" dirty="0"/>
          </a:p>
        </p:txBody>
      </p:sp>
      <p:sp>
        <p:nvSpPr>
          <p:cNvPr id="69" name="Triangle isocèle 68"/>
          <p:cNvSpPr/>
          <p:nvPr/>
        </p:nvSpPr>
        <p:spPr>
          <a:xfrm rot="10800000">
            <a:off x="5400865" y="1809065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201521" y="1007486"/>
            <a:ext cx="2022022" cy="5014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600" b="1" u="sng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Bordereau d’envoi</a:t>
            </a:r>
            <a:endParaRPr lang="fr-FR" sz="1600" b="1" u="sng" dirty="0"/>
          </a:p>
        </p:txBody>
      </p:sp>
      <p:sp>
        <p:nvSpPr>
          <p:cNvPr id="217" name="Rectangle 216"/>
          <p:cNvSpPr/>
          <p:nvPr/>
        </p:nvSpPr>
        <p:spPr>
          <a:xfrm>
            <a:off x="4275810" y="2379231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Imprimer</a:t>
            </a:r>
          </a:p>
        </p:txBody>
      </p:sp>
      <p:sp>
        <p:nvSpPr>
          <p:cNvPr id="76" name="Titre 1"/>
          <p:cNvSpPr txBox="1">
            <a:spLocks/>
          </p:cNvSpPr>
          <p:nvPr/>
        </p:nvSpPr>
        <p:spPr>
          <a:xfrm>
            <a:off x="174627" y="6089970"/>
            <a:ext cx="9090992" cy="43961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Cet écran permis de sélectionner et d’imprimer le bordereau d’envoi d’un patient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9848632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191992" y="987671"/>
            <a:ext cx="11758269" cy="49108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221062" y="1382246"/>
            <a:ext cx="2891365" cy="5014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  <a:lvl1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600" b="1" u="sng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+mj-cs"/>
              </a:defRPr>
            </a:lvl1pPr>
          </a:lstStyle>
          <a:p>
            <a:r>
              <a:rPr lang="fr-FR" dirty="0"/>
              <a:t>Liste des patients ayant droits</a:t>
            </a:r>
          </a:p>
        </p:txBody>
      </p:sp>
      <p:sp>
        <p:nvSpPr>
          <p:cNvPr id="15" name="Titre 1"/>
          <p:cNvSpPr txBox="1">
            <a:spLocks/>
          </p:cNvSpPr>
          <p:nvPr/>
        </p:nvSpPr>
        <p:spPr>
          <a:xfrm>
            <a:off x="8641501" y="2006589"/>
            <a:ext cx="144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des accords</a:t>
            </a:r>
            <a:endParaRPr lang="fr-FR" sz="1400" dirty="0"/>
          </a:p>
        </p:txBody>
      </p:sp>
      <p:cxnSp>
        <p:nvCxnSpPr>
          <p:cNvPr id="16" name="Connecteur droit 15"/>
          <p:cNvCxnSpPr/>
          <p:nvPr/>
        </p:nvCxnSpPr>
        <p:spPr>
          <a:xfrm>
            <a:off x="8618081" y="1973646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" name="Titre 1"/>
          <p:cNvSpPr txBox="1">
            <a:spLocks/>
          </p:cNvSpPr>
          <p:nvPr/>
        </p:nvSpPr>
        <p:spPr>
          <a:xfrm>
            <a:off x="10280349" y="2500018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</a:t>
            </a:r>
          </a:p>
        </p:txBody>
      </p:sp>
      <p:sp>
        <p:nvSpPr>
          <p:cNvPr id="18" name="Titre 1"/>
          <p:cNvSpPr txBox="1">
            <a:spLocks/>
          </p:cNvSpPr>
          <p:nvPr/>
        </p:nvSpPr>
        <p:spPr>
          <a:xfrm>
            <a:off x="1586170" y="2014554"/>
            <a:ext cx="118519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sécurité sociale</a:t>
            </a:r>
            <a:endParaRPr lang="fr-FR" sz="1400" dirty="0"/>
          </a:p>
        </p:txBody>
      </p:sp>
      <p:sp>
        <p:nvSpPr>
          <p:cNvPr id="19" name="Rectangle 18"/>
          <p:cNvSpPr/>
          <p:nvPr/>
        </p:nvSpPr>
        <p:spPr>
          <a:xfrm>
            <a:off x="415982" y="1975794"/>
            <a:ext cx="11160000" cy="2340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" name="Titre 1"/>
          <p:cNvSpPr txBox="1">
            <a:spLocks/>
          </p:cNvSpPr>
          <p:nvPr/>
        </p:nvSpPr>
        <p:spPr>
          <a:xfrm>
            <a:off x="597353" y="2032830"/>
            <a:ext cx="72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N</a:t>
            </a:r>
            <a:r>
              <a:rPr lang="fr-FR" sz="1400" dirty="0" smtClean="0"/>
              <a:t>°</a:t>
            </a:r>
            <a:endParaRPr lang="fr-FR" sz="1400" dirty="0"/>
          </a:p>
        </p:txBody>
      </p:sp>
      <p:cxnSp>
        <p:nvCxnSpPr>
          <p:cNvPr id="21" name="Connecteur droit 20"/>
          <p:cNvCxnSpPr/>
          <p:nvPr/>
        </p:nvCxnSpPr>
        <p:spPr>
          <a:xfrm>
            <a:off x="4272084" y="1995264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4" name="Connecteur droit 23"/>
          <p:cNvCxnSpPr/>
          <p:nvPr/>
        </p:nvCxnSpPr>
        <p:spPr>
          <a:xfrm>
            <a:off x="1537945" y="1966807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5" name="Connecteur droit 24"/>
          <p:cNvCxnSpPr/>
          <p:nvPr/>
        </p:nvCxnSpPr>
        <p:spPr>
          <a:xfrm flipH="1" flipV="1">
            <a:off x="370370" y="2484089"/>
            <a:ext cx="11160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" name="Titre 1"/>
          <p:cNvSpPr txBox="1">
            <a:spLocks/>
          </p:cNvSpPr>
          <p:nvPr/>
        </p:nvSpPr>
        <p:spPr>
          <a:xfrm>
            <a:off x="5379677" y="2039098"/>
            <a:ext cx="108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1400" dirty="0" smtClean="0"/>
              <a:t>Bénéficière </a:t>
            </a:r>
            <a:endParaRPr lang="fr-FR" sz="1400" dirty="0"/>
          </a:p>
        </p:txBody>
      </p:sp>
      <p:cxnSp>
        <p:nvCxnSpPr>
          <p:cNvPr id="28" name="Connecteur droit 27"/>
          <p:cNvCxnSpPr/>
          <p:nvPr/>
        </p:nvCxnSpPr>
        <p:spPr>
          <a:xfrm>
            <a:off x="2787314" y="1973646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9" name="Titre 1"/>
          <p:cNvSpPr txBox="1">
            <a:spLocks/>
          </p:cNvSpPr>
          <p:nvPr/>
        </p:nvSpPr>
        <p:spPr>
          <a:xfrm>
            <a:off x="2819576" y="2046811"/>
            <a:ext cx="144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1400" dirty="0" smtClean="0"/>
              <a:t>Nom et prénom</a:t>
            </a:r>
            <a:endParaRPr lang="fr-FR" sz="1400" dirty="0"/>
          </a:p>
        </p:txBody>
      </p:sp>
      <p:cxnSp>
        <p:nvCxnSpPr>
          <p:cNvPr id="30" name="Connecteur droit 29"/>
          <p:cNvCxnSpPr/>
          <p:nvPr/>
        </p:nvCxnSpPr>
        <p:spPr>
          <a:xfrm>
            <a:off x="5363845" y="1985373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1" name="Titre 1"/>
          <p:cNvSpPr txBox="1">
            <a:spLocks/>
          </p:cNvSpPr>
          <p:nvPr/>
        </p:nvSpPr>
        <p:spPr>
          <a:xfrm>
            <a:off x="6779751" y="2021368"/>
            <a:ext cx="144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1400" dirty="0" smtClean="0"/>
              <a:t>Acte prévu</a:t>
            </a:r>
            <a:endParaRPr lang="fr-FR" sz="1400" dirty="0"/>
          </a:p>
        </p:txBody>
      </p:sp>
      <p:sp>
        <p:nvSpPr>
          <p:cNvPr id="32" name="Titre 1"/>
          <p:cNvSpPr txBox="1">
            <a:spLocks/>
          </p:cNvSpPr>
          <p:nvPr/>
        </p:nvSpPr>
        <p:spPr>
          <a:xfrm>
            <a:off x="4490626" y="2039099"/>
            <a:ext cx="72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1400" dirty="0" smtClean="0"/>
              <a:t>AOD</a:t>
            </a:r>
            <a:endParaRPr lang="fr-FR" sz="1400" dirty="0"/>
          </a:p>
        </p:txBody>
      </p:sp>
      <p:cxnSp>
        <p:nvCxnSpPr>
          <p:cNvPr id="33" name="Connecteur droit 32"/>
          <p:cNvCxnSpPr/>
          <p:nvPr/>
        </p:nvCxnSpPr>
        <p:spPr>
          <a:xfrm>
            <a:off x="6469816" y="1973646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4" name="Titre 1"/>
          <p:cNvSpPr txBox="1">
            <a:spLocks/>
          </p:cNvSpPr>
          <p:nvPr/>
        </p:nvSpPr>
        <p:spPr>
          <a:xfrm>
            <a:off x="443385" y="248993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39" name="Titre 1"/>
          <p:cNvSpPr txBox="1">
            <a:spLocks/>
          </p:cNvSpPr>
          <p:nvPr/>
        </p:nvSpPr>
        <p:spPr>
          <a:xfrm>
            <a:off x="4275171" y="2496563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40" name="Titre 1"/>
          <p:cNvSpPr txBox="1">
            <a:spLocks/>
          </p:cNvSpPr>
          <p:nvPr/>
        </p:nvSpPr>
        <p:spPr>
          <a:xfrm>
            <a:off x="5370293" y="2483420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41" name="Titre 1"/>
          <p:cNvSpPr txBox="1">
            <a:spLocks/>
          </p:cNvSpPr>
          <p:nvPr/>
        </p:nvSpPr>
        <p:spPr>
          <a:xfrm>
            <a:off x="1626091" y="2500667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sp>
        <p:nvSpPr>
          <p:cNvPr id="42" name="Titre 1"/>
          <p:cNvSpPr txBox="1">
            <a:spLocks/>
          </p:cNvSpPr>
          <p:nvPr/>
        </p:nvSpPr>
        <p:spPr>
          <a:xfrm>
            <a:off x="8844385" y="2499778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43" name="Titre 1"/>
          <p:cNvSpPr txBox="1">
            <a:spLocks/>
          </p:cNvSpPr>
          <p:nvPr/>
        </p:nvSpPr>
        <p:spPr>
          <a:xfrm>
            <a:off x="441236" y="2938552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45" name="Titre 1"/>
          <p:cNvSpPr txBox="1">
            <a:spLocks/>
          </p:cNvSpPr>
          <p:nvPr/>
        </p:nvSpPr>
        <p:spPr>
          <a:xfrm>
            <a:off x="2975843" y="2945179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</a:t>
            </a:r>
            <a:endParaRPr lang="fr-FR" sz="1800" b="1" dirty="0"/>
          </a:p>
        </p:txBody>
      </p:sp>
      <p:sp>
        <p:nvSpPr>
          <p:cNvPr id="46" name="Titre 1"/>
          <p:cNvSpPr txBox="1">
            <a:spLocks/>
          </p:cNvSpPr>
          <p:nvPr/>
        </p:nvSpPr>
        <p:spPr>
          <a:xfrm>
            <a:off x="4273022" y="2945179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47" name="Titre 1"/>
          <p:cNvSpPr txBox="1">
            <a:spLocks/>
          </p:cNvSpPr>
          <p:nvPr/>
        </p:nvSpPr>
        <p:spPr>
          <a:xfrm>
            <a:off x="5379622" y="2956954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48" name="Titre 1"/>
          <p:cNvSpPr txBox="1">
            <a:spLocks/>
          </p:cNvSpPr>
          <p:nvPr/>
        </p:nvSpPr>
        <p:spPr>
          <a:xfrm>
            <a:off x="1623942" y="2949283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sp>
        <p:nvSpPr>
          <p:cNvPr id="49" name="Titre 1"/>
          <p:cNvSpPr txBox="1">
            <a:spLocks/>
          </p:cNvSpPr>
          <p:nvPr/>
        </p:nvSpPr>
        <p:spPr>
          <a:xfrm>
            <a:off x="8828651" y="2948875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50" name="Titre 1"/>
          <p:cNvSpPr txBox="1">
            <a:spLocks/>
          </p:cNvSpPr>
          <p:nvPr/>
        </p:nvSpPr>
        <p:spPr>
          <a:xfrm>
            <a:off x="10288799" y="2948875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</a:t>
            </a:r>
          </a:p>
        </p:txBody>
      </p:sp>
      <p:cxnSp>
        <p:nvCxnSpPr>
          <p:cNvPr id="51" name="Connecteur droit 50"/>
          <p:cNvCxnSpPr/>
          <p:nvPr/>
        </p:nvCxnSpPr>
        <p:spPr>
          <a:xfrm flipH="1" flipV="1">
            <a:off x="412687" y="3404761"/>
            <a:ext cx="11160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2" name="Titre 1"/>
          <p:cNvSpPr txBox="1">
            <a:spLocks/>
          </p:cNvSpPr>
          <p:nvPr/>
        </p:nvSpPr>
        <p:spPr>
          <a:xfrm>
            <a:off x="439089" y="3374285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55" name="Titre 1"/>
          <p:cNvSpPr txBox="1">
            <a:spLocks/>
          </p:cNvSpPr>
          <p:nvPr/>
        </p:nvSpPr>
        <p:spPr>
          <a:xfrm>
            <a:off x="4245117" y="3380912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56" name="Titre 1"/>
          <p:cNvSpPr txBox="1">
            <a:spLocks/>
          </p:cNvSpPr>
          <p:nvPr/>
        </p:nvSpPr>
        <p:spPr>
          <a:xfrm>
            <a:off x="5378320" y="3380912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57" name="Titre 1"/>
          <p:cNvSpPr txBox="1">
            <a:spLocks/>
          </p:cNvSpPr>
          <p:nvPr/>
        </p:nvSpPr>
        <p:spPr>
          <a:xfrm>
            <a:off x="1634674" y="338501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sp>
        <p:nvSpPr>
          <p:cNvPr id="58" name="Titre 1"/>
          <p:cNvSpPr txBox="1">
            <a:spLocks/>
          </p:cNvSpPr>
          <p:nvPr/>
        </p:nvSpPr>
        <p:spPr>
          <a:xfrm>
            <a:off x="8852051" y="3384367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59" name="Titre 1"/>
          <p:cNvSpPr txBox="1">
            <a:spLocks/>
          </p:cNvSpPr>
          <p:nvPr/>
        </p:nvSpPr>
        <p:spPr>
          <a:xfrm>
            <a:off x="10286149" y="3393481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</a:t>
            </a:r>
          </a:p>
        </p:txBody>
      </p:sp>
      <p:cxnSp>
        <p:nvCxnSpPr>
          <p:cNvPr id="60" name="Connecteur droit 59"/>
          <p:cNvCxnSpPr/>
          <p:nvPr/>
        </p:nvCxnSpPr>
        <p:spPr>
          <a:xfrm flipH="1" flipV="1">
            <a:off x="423418" y="3827618"/>
            <a:ext cx="11160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2" name="Connecteur droit 71"/>
          <p:cNvCxnSpPr/>
          <p:nvPr/>
        </p:nvCxnSpPr>
        <p:spPr>
          <a:xfrm flipH="1" flipV="1">
            <a:off x="410539" y="2964732"/>
            <a:ext cx="11160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" name="Rectangle 2"/>
          <p:cNvSpPr/>
          <p:nvPr/>
        </p:nvSpPr>
        <p:spPr>
          <a:xfrm>
            <a:off x="10084040" y="2079184"/>
            <a:ext cx="1440000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N° du BX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cxnSp>
        <p:nvCxnSpPr>
          <p:cNvPr id="67" name="Connecteur droit 66"/>
          <p:cNvCxnSpPr/>
          <p:nvPr/>
        </p:nvCxnSpPr>
        <p:spPr>
          <a:xfrm>
            <a:off x="10135661" y="1989887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8" name="Titre 1"/>
          <p:cNvSpPr txBox="1">
            <a:spLocks/>
          </p:cNvSpPr>
          <p:nvPr/>
        </p:nvSpPr>
        <p:spPr>
          <a:xfrm>
            <a:off x="2973696" y="2518032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</a:t>
            </a:r>
            <a:endParaRPr lang="fr-FR" sz="1800" b="1" dirty="0"/>
          </a:p>
        </p:txBody>
      </p:sp>
      <p:sp>
        <p:nvSpPr>
          <p:cNvPr id="73" name="Titre 1"/>
          <p:cNvSpPr txBox="1">
            <a:spLocks/>
          </p:cNvSpPr>
          <p:nvPr/>
        </p:nvSpPr>
        <p:spPr>
          <a:xfrm>
            <a:off x="2984427" y="3365893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</a:t>
            </a:r>
            <a:endParaRPr lang="fr-FR" sz="1800" b="1" dirty="0"/>
          </a:p>
        </p:txBody>
      </p:sp>
      <p:sp>
        <p:nvSpPr>
          <p:cNvPr id="75" name="Titre 1"/>
          <p:cNvSpPr txBox="1">
            <a:spLocks/>
          </p:cNvSpPr>
          <p:nvPr/>
        </p:nvSpPr>
        <p:spPr>
          <a:xfrm>
            <a:off x="6513243" y="2477247"/>
            <a:ext cx="2106204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…………......................</a:t>
            </a:r>
            <a:endParaRPr lang="fr-FR" sz="1800" b="1" dirty="0"/>
          </a:p>
        </p:txBody>
      </p:sp>
      <p:sp>
        <p:nvSpPr>
          <p:cNvPr id="79" name="Titre 1"/>
          <p:cNvSpPr txBox="1">
            <a:spLocks/>
          </p:cNvSpPr>
          <p:nvPr/>
        </p:nvSpPr>
        <p:spPr>
          <a:xfrm>
            <a:off x="10278201" y="3837273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</a:t>
            </a:r>
          </a:p>
        </p:txBody>
      </p:sp>
      <p:sp>
        <p:nvSpPr>
          <p:cNvPr id="80" name="Titre 1"/>
          <p:cNvSpPr txBox="1">
            <a:spLocks/>
          </p:cNvSpPr>
          <p:nvPr/>
        </p:nvSpPr>
        <p:spPr>
          <a:xfrm>
            <a:off x="441237" y="3827191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82" name="Titre 1"/>
          <p:cNvSpPr txBox="1">
            <a:spLocks/>
          </p:cNvSpPr>
          <p:nvPr/>
        </p:nvSpPr>
        <p:spPr>
          <a:xfrm>
            <a:off x="4273023" y="3833818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83" name="Titre 1"/>
          <p:cNvSpPr txBox="1">
            <a:spLocks/>
          </p:cNvSpPr>
          <p:nvPr/>
        </p:nvSpPr>
        <p:spPr>
          <a:xfrm>
            <a:off x="5368145" y="3820675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84" name="Titre 1"/>
          <p:cNvSpPr txBox="1">
            <a:spLocks/>
          </p:cNvSpPr>
          <p:nvPr/>
        </p:nvSpPr>
        <p:spPr>
          <a:xfrm>
            <a:off x="1623943" y="3837922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sp>
        <p:nvSpPr>
          <p:cNvPr id="85" name="Titre 1"/>
          <p:cNvSpPr txBox="1">
            <a:spLocks/>
          </p:cNvSpPr>
          <p:nvPr/>
        </p:nvSpPr>
        <p:spPr>
          <a:xfrm>
            <a:off x="8842237" y="3837033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87" name="Titre 1"/>
          <p:cNvSpPr txBox="1">
            <a:spLocks/>
          </p:cNvSpPr>
          <p:nvPr/>
        </p:nvSpPr>
        <p:spPr>
          <a:xfrm>
            <a:off x="2971548" y="3855287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</a:t>
            </a:r>
            <a:endParaRPr lang="fr-FR" sz="1800" b="1" dirty="0"/>
          </a:p>
        </p:txBody>
      </p:sp>
      <p:sp>
        <p:nvSpPr>
          <p:cNvPr id="69" name="Titre 1"/>
          <p:cNvSpPr txBox="1">
            <a:spLocks/>
          </p:cNvSpPr>
          <p:nvPr/>
        </p:nvSpPr>
        <p:spPr>
          <a:xfrm>
            <a:off x="2820764" y="96454"/>
            <a:ext cx="5835953" cy="67367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16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Patient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Reporting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/ Report d’envoi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>
                <a:solidFill>
                  <a:srgbClr val="FF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- Fichier PDF </a:t>
            </a:r>
            <a:r>
              <a:rPr lang="fr-FR" altLang="fr-FR" sz="1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-</a:t>
            </a:r>
            <a:endParaRPr lang="fr-FR" altLang="fr-FR" sz="1800" b="1" dirty="0">
              <a:solidFill>
                <a:srgbClr val="FF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70" name="Titre 1"/>
          <p:cNvSpPr txBox="1">
            <a:spLocks/>
          </p:cNvSpPr>
          <p:nvPr/>
        </p:nvSpPr>
        <p:spPr>
          <a:xfrm>
            <a:off x="6511095" y="2951621"/>
            <a:ext cx="2106204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…………......................</a:t>
            </a:r>
            <a:endParaRPr lang="fr-FR" sz="1800" b="1" dirty="0"/>
          </a:p>
        </p:txBody>
      </p:sp>
      <p:sp>
        <p:nvSpPr>
          <p:cNvPr id="71" name="Titre 1"/>
          <p:cNvSpPr txBox="1">
            <a:spLocks/>
          </p:cNvSpPr>
          <p:nvPr/>
        </p:nvSpPr>
        <p:spPr>
          <a:xfrm>
            <a:off x="6498216" y="3337989"/>
            <a:ext cx="2106204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…………......................</a:t>
            </a:r>
            <a:endParaRPr lang="fr-FR" sz="1800" b="1" dirty="0"/>
          </a:p>
        </p:txBody>
      </p:sp>
      <p:sp>
        <p:nvSpPr>
          <p:cNvPr id="76" name="Titre 1"/>
          <p:cNvSpPr txBox="1">
            <a:spLocks/>
          </p:cNvSpPr>
          <p:nvPr/>
        </p:nvSpPr>
        <p:spPr>
          <a:xfrm>
            <a:off x="6496068" y="3812363"/>
            <a:ext cx="2106204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…………......................</a:t>
            </a:r>
            <a:endParaRPr lang="fr-FR" sz="1800" b="1" dirty="0"/>
          </a:p>
        </p:txBody>
      </p:sp>
    </p:spTree>
    <p:extLst>
      <p:ext uri="{BB962C8B-B14F-4D97-AF65-F5344CB8AC3E}">
        <p14:creationId xmlns:p14="http://schemas.microsoft.com/office/powerpoint/2010/main" val="10894713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3716838" y="59579"/>
            <a:ext cx="5101042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17– Patient -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Reporting /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/>
            </a:r>
            <a:b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</a:br>
            <a:r>
              <a:rPr lang="fr-FR" altLang="fr-FR" sz="1800" b="1" dirty="0" smtClean="0">
                <a:latin typeface="Times New Roman" panose="02020603050405020304" pitchFamily="18" charset="0"/>
              </a:rPr>
              <a:t>Demande prise en charge / nouvelle demande</a:t>
            </a:r>
            <a:endParaRPr lang="fr-FR" sz="1800" dirty="0"/>
          </a:p>
        </p:txBody>
      </p:sp>
      <p:sp>
        <p:nvSpPr>
          <p:cNvPr id="3" name="Rectangle 2"/>
          <p:cNvSpPr/>
          <p:nvPr/>
        </p:nvSpPr>
        <p:spPr>
          <a:xfrm>
            <a:off x="3739345" y="2371937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2153278" y="2328684"/>
            <a:ext cx="162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Nom de l’assuré</a:t>
            </a:r>
            <a:endParaRPr lang="fr-FR" sz="1400" dirty="0"/>
          </a:p>
        </p:txBody>
      </p:sp>
      <p:sp>
        <p:nvSpPr>
          <p:cNvPr id="5" name="Rectangle 4"/>
          <p:cNvSpPr/>
          <p:nvPr/>
        </p:nvSpPr>
        <p:spPr>
          <a:xfrm>
            <a:off x="7521140" y="2378539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Titre 1"/>
          <p:cNvSpPr txBox="1">
            <a:spLocks/>
          </p:cNvSpPr>
          <p:nvPr/>
        </p:nvSpPr>
        <p:spPr>
          <a:xfrm>
            <a:off x="5901883" y="2349434"/>
            <a:ext cx="162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Prénom</a:t>
            </a:r>
            <a:endParaRPr lang="fr-FR" sz="1400" dirty="0"/>
          </a:p>
        </p:txBody>
      </p:sp>
      <p:sp>
        <p:nvSpPr>
          <p:cNvPr id="7" name="Rectangle 6"/>
          <p:cNvSpPr/>
          <p:nvPr/>
        </p:nvSpPr>
        <p:spPr>
          <a:xfrm>
            <a:off x="3739344" y="2768765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Titre 1"/>
          <p:cNvSpPr txBox="1">
            <a:spLocks/>
          </p:cNvSpPr>
          <p:nvPr/>
        </p:nvSpPr>
        <p:spPr>
          <a:xfrm>
            <a:off x="2131732" y="2737831"/>
            <a:ext cx="162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de  naissance</a:t>
            </a:r>
            <a:endParaRPr lang="fr-FR" sz="1400" dirty="0"/>
          </a:p>
        </p:txBody>
      </p:sp>
      <p:sp>
        <p:nvSpPr>
          <p:cNvPr id="9" name="Rectangle 8"/>
          <p:cNvSpPr/>
          <p:nvPr/>
        </p:nvSpPr>
        <p:spPr>
          <a:xfrm>
            <a:off x="7506441" y="2772120"/>
            <a:ext cx="1708252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Titre 1"/>
          <p:cNvSpPr txBox="1">
            <a:spLocks/>
          </p:cNvSpPr>
          <p:nvPr/>
        </p:nvSpPr>
        <p:spPr>
          <a:xfrm>
            <a:off x="5893219" y="2725535"/>
            <a:ext cx="162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Lieu de  naissance</a:t>
            </a:r>
            <a:endParaRPr lang="fr-FR" sz="1400" dirty="0"/>
          </a:p>
        </p:txBody>
      </p:sp>
      <p:sp>
        <p:nvSpPr>
          <p:cNvPr id="23" name="Rectangle 22"/>
          <p:cNvSpPr/>
          <p:nvPr/>
        </p:nvSpPr>
        <p:spPr>
          <a:xfrm>
            <a:off x="311736" y="670584"/>
            <a:ext cx="11758269" cy="598779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45" name="Triangle isocèle 44"/>
          <p:cNvSpPr/>
          <p:nvPr/>
        </p:nvSpPr>
        <p:spPr>
          <a:xfrm rot="10800000">
            <a:off x="9020384" y="2771281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7" name="Titre 1"/>
          <p:cNvSpPr txBox="1">
            <a:spLocks/>
          </p:cNvSpPr>
          <p:nvPr/>
        </p:nvSpPr>
        <p:spPr>
          <a:xfrm>
            <a:off x="5895398" y="3178343"/>
            <a:ext cx="162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Code centre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743975" y="3201202"/>
            <a:ext cx="16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1" name="Titre 1"/>
          <p:cNvSpPr txBox="1">
            <a:spLocks/>
          </p:cNvSpPr>
          <p:nvPr/>
        </p:nvSpPr>
        <p:spPr>
          <a:xfrm>
            <a:off x="2131534" y="3176381"/>
            <a:ext cx="162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Code d’agence</a:t>
            </a:r>
            <a:endParaRPr lang="fr-FR" sz="1400" dirty="0"/>
          </a:p>
        </p:txBody>
      </p:sp>
      <p:sp>
        <p:nvSpPr>
          <p:cNvPr id="72" name="Rectangle 71"/>
          <p:cNvSpPr/>
          <p:nvPr/>
        </p:nvSpPr>
        <p:spPr>
          <a:xfrm>
            <a:off x="7523414" y="3209572"/>
            <a:ext cx="16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8" name="Triangle isocèle 87"/>
          <p:cNvSpPr/>
          <p:nvPr/>
        </p:nvSpPr>
        <p:spPr>
          <a:xfrm rot="10800000">
            <a:off x="5223501" y="3230764"/>
            <a:ext cx="180000" cy="252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2" name="Titre 1"/>
          <p:cNvSpPr txBox="1">
            <a:spLocks/>
          </p:cNvSpPr>
          <p:nvPr/>
        </p:nvSpPr>
        <p:spPr>
          <a:xfrm>
            <a:off x="2139069" y="1912790"/>
            <a:ext cx="162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sécurité sociale</a:t>
            </a:r>
            <a:endParaRPr lang="fr-FR" sz="1400" dirty="0"/>
          </a:p>
        </p:txBody>
      </p:sp>
      <p:sp>
        <p:nvSpPr>
          <p:cNvPr id="93" name="Rectangle 92"/>
          <p:cNvSpPr/>
          <p:nvPr/>
        </p:nvSpPr>
        <p:spPr>
          <a:xfrm>
            <a:off x="3754707" y="1936148"/>
            <a:ext cx="1660572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401889" y="1786507"/>
            <a:ext cx="9360000" cy="185826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Titre 1"/>
          <p:cNvSpPr txBox="1">
            <a:spLocks/>
          </p:cNvSpPr>
          <p:nvPr/>
        </p:nvSpPr>
        <p:spPr>
          <a:xfrm>
            <a:off x="2164008" y="782411"/>
            <a:ext cx="1620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Recherche</a:t>
            </a:r>
            <a:endParaRPr lang="fr-FR" sz="1400" dirty="0"/>
          </a:p>
        </p:txBody>
      </p:sp>
      <p:sp>
        <p:nvSpPr>
          <p:cNvPr id="101" name="Rectangle 100"/>
          <p:cNvSpPr/>
          <p:nvPr/>
        </p:nvSpPr>
        <p:spPr>
          <a:xfrm>
            <a:off x="3788707" y="825819"/>
            <a:ext cx="28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Rectangle 101"/>
          <p:cNvSpPr/>
          <p:nvPr/>
        </p:nvSpPr>
        <p:spPr>
          <a:xfrm>
            <a:off x="367324" y="743688"/>
            <a:ext cx="9360000" cy="904491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3" name="Titre 1"/>
          <p:cNvSpPr txBox="1">
            <a:spLocks/>
          </p:cNvSpPr>
          <p:nvPr/>
        </p:nvSpPr>
        <p:spPr>
          <a:xfrm>
            <a:off x="2148086" y="1202282"/>
            <a:ext cx="1620000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smtClean="0"/>
              <a:t>N° Réf. </a:t>
            </a:r>
            <a:endParaRPr lang="fr-FR" dirty="0"/>
          </a:p>
        </p:txBody>
      </p:sp>
      <p:sp>
        <p:nvSpPr>
          <p:cNvPr id="104" name="Rectangle 103"/>
          <p:cNvSpPr/>
          <p:nvPr/>
        </p:nvSpPr>
        <p:spPr>
          <a:xfrm>
            <a:off x="3769067" y="1220288"/>
            <a:ext cx="16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0" name="Titre 1"/>
          <p:cNvSpPr txBox="1">
            <a:spLocks/>
          </p:cNvSpPr>
          <p:nvPr/>
        </p:nvSpPr>
        <p:spPr>
          <a:xfrm>
            <a:off x="5932217" y="1184405"/>
            <a:ext cx="1620000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smtClean="0"/>
              <a:t>Date de demande</a:t>
            </a:r>
            <a:endParaRPr lang="fr-FR" dirty="0"/>
          </a:p>
        </p:txBody>
      </p:sp>
      <p:sp>
        <p:nvSpPr>
          <p:cNvPr id="111" name="Rectangle 110"/>
          <p:cNvSpPr/>
          <p:nvPr/>
        </p:nvSpPr>
        <p:spPr>
          <a:xfrm>
            <a:off x="7552188" y="1200030"/>
            <a:ext cx="16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0" name="Titre 1"/>
          <p:cNvSpPr txBox="1">
            <a:spLocks/>
          </p:cNvSpPr>
          <p:nvPr/>
        </p:nvSpPr>
        <p:spPr>
          <a:xfrm>
            <a:off x="439450" y="1856249"/>
            <a:ext cx="1008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u="sng" dirty="0" smtClean="0"/>
              <a:t>Assuré (e)</a:t>
            </a:r>
            <a:endParaRPr lang="fr-FR" sz="1400" b="1" u="sng" dirty="0"/>
          </a:p>
        </p:txBody>
      </p:sp>
      <p:sp>
        <p:nvSpPr>
          <p:cNvPr id="124" name="Titre 1"/>
          <p:cNvSpPr txBox="1">
            <a:spLocks/>
          </p:cNvSpPr>
          <p:nvPr/>
        </p:nvSpPr>
        <p:spPr>
          <a:xfrm>
            <a:off x="444761" y="3897437"/>
            <a:ext cx="90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u="sng" dirty="0" smtClean="0"/>
              <a:t>Patient</a:t>
            </a:r>
            <a:endParaRPr lang="fr-FR" sz="1400" b="1" u="sng" dirty="0"/>
          </a:p>
        </p:txBody>
      </p:sp>
      <p:sp>
        <p:nvSpPr>
          <p:cNvPr id="147" name="Rectangle 146"/>
          <p:cNvSpPr/>
          <p:nvPr/>
        </p:nvSpPr>
        <p:spPr>
          <a:xfrm>
            <a:off x="412589" y="3748100"/>
            <a:ext cx="9360000" cy="1442086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1" name="Rectangle 80"/>
          <p:cNvSpPr/>
          <p:nvPr/>
        </p:nvSpPr>
        <p:spPr>
          <a:xfrm>
            <a:off x="3737197" y="3928129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2" name="Titre 1"/>
          <p:cNvSpPr txBox="1">
            <a:spLocks/>
          </p:cNvSpPr>
          <p:nvPr/>
        </p:nvSpPr>
        <p:spPr>
          <a:xfrm>
            <a:off x="2151130" y="3884876"/>
            <a:ext cx="162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Nom de naissance</a:t>
            </a:r>
            <a:endParaRPr lang="fr-FR" sz="1400" dirty="0"/>
          </a:p>
        </p:txBody>
      </p:sp>
      <p:sp>
        <p:nvSpPr>
          <p:cNvPr id="83" name="Rectangle 82"/>
          <p:cNvSpPr/>
          <p:nvPr/>
        </p:nvSpPr>
        <p:spPr>
          <a:xfrm>
            <a:off x="7518992" y="3934731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4" name="Titre 1"/>
          <p:cNvSpPr txBox="1">
            <a:spLocks/>
          </p:cNvSpPr>
          <p:nvPr/>
        </p:nvSpPr>
        <p:spPr>
          <a:xfrm>
            <a:off x="5899734" y="3918505"/>
            <a:ext cx="162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Prénom</a:t>
            </a:r>
            <a:endParaRPr lang="fr-FR" sz="1400" dirty="0"/>
          </a:p>
        </p:txBody>
      </p:sp>
      <p:sp>
        <p:nvSpPr>
          <p:cNvPr id="85" name="Rectangle 84"/>
          <p:cNvSpPr/>
          <p:nvPr/>
        </p:nvSpPr>
        <p:spPr>
          <a:xfrm>
            <a:off x="3737196" y="4324957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7" name="Titre 1"/>
          <p:cNvSpPr txBox="1">
            <a:spLocks/>
          </p:cNvSpPr>
          <p:nvPr/>
        </p:nvSpPr>
        <p:spPr>
          <a:xfrm>
            <a:off x="2129584" y="4294023"/>
            <a:ext cx="162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de  naissance</a:t>
            </a:r>
            <a:endParaRPr lang="fr-FR" sz="1400" dirty="0"/>
          </a:p>
        </p:txBody>
      </p:sp>
      <p:sp>
        <p:nvSpPr>
          <p:cNvPr id="89" name="Rectangle 88"/>
          <p:cNvSpPr/>
          <p:nvPr/>
        </p:nvSpPr>
        <p:spPr>
          <a:xfrm>
            <a:off x="7504293" y="4328312"/>
            <a:ext cx="1708252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5891072" y="4281727"/>
            <a:ext cx="162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Lieu de  naissance</a:t>
            </a:r>
            <a:endParaRPr lang="fr-FR" sz="1400" dirty="0"/>
          </a:p>
        </p:txBody>
      </p:sp>
      <p:sp>
        <p:nvSpPr>
          <p:cNvPr id="97" name="Triangle isocèle 96"/>
          <p:cNvSpPr/>
          <p:nvPr/>
        </p:nvSpPr>
        <p:spPr>
          <a:xfrm rot="10800000">
            <a:off x="9018236" y="4327473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6" name="Titre 1"/>
          <p:cNvSpPr txBox="1">
            <a:spLocks/>
          </p:cNvSpPr>
          <p:nvPr/>
        </p:nvSpPr>
        <p:spPr>
          <a:xfrm>
            <a:off x="5906128" y="4734535"/>
            <a:ext cx="162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smtClean="0"/>
              <a:t>Praticien</a:t>
            </a:r>
            <a:endParaRPr lang="fr-FR" dirty="0"/>
          </a:p>
        </p:txBody>
      </p:sp>
      <p:sp>
        <p:nvSpPr>
          <p:cNvPr id="107" name="Rectangle 106"/>
          <p:cNvSpPr/>
          <p:nvPr/>
        </p:nvSpPr>
        <p:spPr>
          <a:xfrm>
            <a:off x="3741827" y="4757394"/>
            <a:ext cx="16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8" name="Titre 1"/>
          <p:cNvSpPr txBox="1">
            <a:spLocks/>
          </p:cNvSpPr>
          <p:nvPr/>
        </p:nvSpPr>
        <p:spPr>
          <a:xfrm>
            <a:off x="2129386" y="4732573"/>
            <a:ext cx="162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Catégorie</a:t>
            </a:r>
            <a:endParaRPr lang="fr-FR" sz="1400" dirty="0"/>
          </a:p>
        </p:txBody>
      </p:sp>
      <p:sp>
        <p:nvSpPr>
          <p:cNvPr id="109" name="Rectangle 108"/>
          <p:cNvSpPr/>
          <p:nvPr/>
        </p:nvSpPr>
        <p:spPr>
          <a:xfrm>
            <a:off x="7521266" y="4765764"/>
            <a:ext cx="16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8" name="Triangle isocèle 117"/>
          <p:cNvSpPr/>
          <p:nvPr/>
        </p:nvSpPr>
        <p:spPr>
          <a:xfrm rot="10800000">
            <a:off x="5221353" y="4786956"/>
            <a:ext cx="180000" cy="252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0" name="Titre 1"/>
          <p:cNvSpPr txBox="1">
            <a:spLocks/>
          </p:cNvSpPr>
          <p:nvPr/>
        </p:nvSpPr>
        <p:spPr>
          <a:xfrm>
            <a:off x="415245" y="5314369"/>
            <a:ext cx="2017253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u="sng" dirty="0" smtClean="0"/>
              <a:t>Information médicales</a:t>
            </a:r>
            <a:endParaRPr lang="fr-FR" sz="1400" b="1" u="sng" dirty="0"/>
          </a:p>
        </p:txBody>
      </p:sp>
      <p:sp>
        <p:nvSpPr>
          <p:cNvPr id="131" name="Rectangle 130"/>
          <p:cNvSpPr/>
          <p:nvPr/>
        </p:nvSpPr>
        <p:spPr>
          <a:xfrm>
            <a:off x="410441" y="5265662"/>
            <a:ext cx="9360000" cy="580306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2" name="Rectangle 131"/>
          <p:cNvSpPr/>
          <p:nvPr/>
        </p:nvSpPr>
        <p:spPr>
          <a:xfrm>
            <a:off x="3735049" y="5445690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3" name="Titre 1"/>
          <p:cNvSpPr txBox="1">
            <a:spLocks/>
          </p:cNvSpPr>
          <p:nvPr/>
        </p:nvSpPr>
        <p:spPr>
          <a:xfrm>
            <a:off x="2148982" y="5402437"/>
            <a:ext cx="162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Diagnostic</a:t>
            </a:r>
            <a:endParaRPr lang="fr-FR" sz="1400" dirty="0"/>
          </a:p>
        </p:txBody>
      </p:sp>
      <p:sp>
        <p:nvSpPr>
          <p:cNvPr id="153" name="Triangle isocèle 152"/>
          <p:cNvSpPr/>
          <p:nvPr/>
        </p:nvSpPr>
        <p:spPr>
          <a:xfrm rot="10800000">
            <a:off x="5219205" y="5467388"/>
            <a:ext cx="180000" cy="252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5" name="Rectangle 154"/>
          <p:cNvSpPr/>
          <p:nvPr/>
        </p:nvSpPr>
        <p:spPr>
          <a:xfrm>
            <a:off x="10130532" y="6163184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Imprimer</a:t>
            </a:r>
            <a:endParaRPr lang="fr-FR" sz="1400" dirty="0"/>
          </a:p>
        </p:txBody>
      </p:sp>
      <p:sp>
        <p:nvSpPr>
          <p:cNvPr id="156" name="Titre 1"/>
          <p:cNvSpPr txBox="1">
            <a:spLocks/>
          </p:cNvSpPr>
          <p:nvPr/>
        </p:nvSpPr>
        <p:spPr>
          <a:xfrm>
            <a:off x="387339" y="5956171"/>
            <a:ext cx="2017253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u="sng" dirty="0" smtClean="0"/>
              <a:t>Codes actes</a:t>
            </a:r>
            <a:endParaRPr lang="fr-FR" sz="1400" b="1" u="sng" dirty="0"/>
          </a:p>
        </p:txBody>
      </p:sp>
      <p:sp>
        <p:nvSpPr>
          <p:cNvPr id="157" name="Rectangle 156"/>
          <p:cNvSpPr/>
          <p:nvPr/>
        </p:nvSpPr>
        <p:spPr>
          <a:xfrm>
            <a:off x="395414" y="5907464"/>
            <a:ext cx="9360000" cy="580306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8" name="Rectangle 157"/>
          <p:cNvSpPr/>
          <p:nvPr/>
        </p:nvSpPr>
        <p:spPr>
          <a:xfrm>
            <a:off x="3707143" y="6087492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9" name="Titre 1"/>
          <p:cNvSpPr txBox="1">
            <a:spLocks/>
          </p:cNvSpPr>
          <p:nvPr/>
        </p:nvSpPr>
        <p:spPr>
          <a:xfrm>
            <a:off x="2121076" y="6044239"/>
            <a:ext cx="162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Diagnostic</a:t>
            </a:r>
            <a:endParaRPr lang="fr-FR" sz="1400" dirty="0"/>
          </a:p>
        </p:txBody>
      </p:sp>
      <p:sp>
        <p:nvSpPr>
          <p:cNvPr id="160" name="Triangle isocèle 159"/>
          <p:cNvSpPr/>
          <p:nvPr/>
        </p:nvSpPr>
        <p:spPr>
          <a:xfrm rot="10800000">
            <a:off x="5191299" y="6109190"/>
            <a:ext cx="180000" cy="252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62" name="Titre 1"/>
          <p:cNvSpPr txBox="1">
            <a:spLocks/>
          </p:cNvSpPr>
          <p:nvPr/>
        </p:nvSpPr>
        <p:spPr>
          <a:xfrm>
            <a:off x="413097" y="765977"/>
            <a:ext cx="1505855" cy="4891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u="sng" dirty="0" smtClean="0"/>
              <a:t>Demande de prise en charge</a:t>
            </a:r>
            <a:endParaRPr lang="fr-FR" sz="1400" b="1" u="sng" dirty="0"/>
          </a:p>
        </p:txBody>
      </p:sp>
    </p:spTree>
    <p:extLst>
      <p:ext uri="{BB962C8B-B14F-4D97-AF65-F5344CB8AC3E}">
        <p14:creationId xmlns:p14="http://schemas.microsoft.com/office/powerpoint/2010/main" val="13134960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3716838" y="59579"/>
            <a:ext cx="5101042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18 – Patient -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Reporting /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/>
            </a:r>
            <a:b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</a:br>
            <a:r>
              <a:rPr lang="fr-FR" altLang="fr-FR" sz="1800" b="1" dirty="0" smtClean="0">
                <a:latin typeface="Times New Roman" panose="02020603050405020304" pitchFamily="18" charset="0"/>
              </a:rPr>
              <a:t>Demande prise en charge / </a:t>
            </a:r>
            <a:r>
              <a:rPr lang="fr-FR" altLang="fr-FR" sz="1800" b="1" smtClean="0">
                <a:latin typeface="Times New Roman" panose="02020603050405020304" pitchFamily="18" charset="0"/>
              </a:rPr>
              <a:t>sécurité sociale </a:t>
            </a:r>
            <a:r>
              <a:rPr lang="fr-FR" altLang="fr-FR" sz="1800" b="1" dirty="0" smtClean="0">
                <a:latin typeface="Times New Roman" panose="02020603050405020304" pitchFamily="18" charset="0"/>
              </a:rPr>
              <a:t>AS 5</a:t>
            </a:r>
            <a:endParaRPr lang="fr-FR" sz="1800" dirty="0"/>
          </a:p>
        </p:txBody>
      </p:sp>
      <p:sp>
        <p:nvSpPr>
          <p:cNvPr id="23" name="Rectangle 22"/>
          <p:cNvSpPr/>
          <p:nvPr/>
        </p:nvSpPr>
        <p:spPr>
          <a:xfrm>
            <a:off x="311736" y="670584"/>
            <a:ext cx="11758269" cy="598779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100" name="Titre 1"/>
          <p:cNvSpPr txBox="1">
            <a:spLocks/>
          </p:cNvSpPr>
          <p:nvPr/>
        </p:nvSpPr>
        <p:spPr>
          <a:xfrm>
            <a:off x="2164008" y="1555147"/>
            <a:ext cx="1620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</a:t>
            </a:r>
            <a:endParaRPr lang="fr-FR" sz="1400" dirty="0"/>
          </a:p>
        </p:txBody>
      </p:sp>
      <p:sp>
        <p:nvSpPr>
          <p:cNvPr id="101" name="Rectangle 100"/>
          <p:cNvSpPr/>
          <p:nvPr/>
        </p:nvSpPr>
        <p:spPr>
          <a:xfrm>
            <a:off x="3788707" y="1572797"/>
            <a:ext cx="36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Rectangle 101"/>
          <p:cNvSpPr/>
          <p:nvPr/>
        </p:nvSpPr>
        <p:spPr>
          <a:xfrm>
            <a:off x="367324" y="1039904"/>
            <a:ext cx="9360000" cy="2257088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3" name="Titre 1"/>
          <p:cNvSpPr txBox="1">
            <a:spLocks/>
          </p:cNvSpPr>
          <p:nvPr/>
        </p:nvSpPr>
        <p:spPr>
          <a:xfrm>
            <a:off x="2148086" y="2142445"/>
            <a:ext cx="1620000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 smtClean="0"/>
              <a:t>N° Réf. </a:t>
            </a:r>
            <a:endParaRPr lang="fr-FR" dirty="0"/>
          </a:p>
        </p:txBody>
      </p:sp>
      <p:sp>
        <p:nvSpPr>
          <p:cNvPr id="104" name="Rectangle 103"/>
          <p:cNvSpPr/>
          <p:nvPr/>
        </p:nvSpPr>
        <p:spPr>
          <a:xfrm>
            <a:off x="3769067" y="2160451"/>
            <a:ext cx="16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0" name="Titre 1"/>
          <p:cNvSpPr txBox="1">
            <a:spLocks/>
          </p:cNvSpPr>
          <p:nvPr/>
        </p:nvSpPr>
        <p:spPr>
          <a:xfrm>
            <a:off x="2145827" y="2678361"/>
            <a:ext cx="1620000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 smtClean="0"/>
              <a:t>Date de demande</a:t>
            </a:r>
            <a:endParaRPr lang="fr-FR" dirty="0"/>
          </a:p>
        </p:txBody>
      </p:sp>
      <p:sp>
        <p:nvSpPr>
          <p:cNvPr id="111" name="Rectangle 110"/>
          <p:cNvSpPr/>
          <p:nvPr/>
        </p:nvSpPr>
        <p:spPr>
          <a:xfrm>
            <a:off x="4332468" y="2681107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5" name="Rectangle 154"/>
          <p:cNvSpPr/>
          <p:nvPr/>
        </p:nvSpPr>
        <p:spPr>
          <a:xfrm>
            <a:off x="8268343" y="2641293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Recherche</a:t>
            </a:r>
            <a:endParaRPr lang="fr-FR" sz="1400" dirty="0"/>
          </a:p>
        </p:txBody>
      </p:sp>
      <p:sp>
        <p:nvSpPr>
          <p:cNvPr id="162" name="Titre 1"/>
          <p:cNvSpPr txBox="1">
            <a:spLocks/>
          </p:cNvSpPr>
          <p:nvPr/>
        </p:nvSpPr>
        <p:spPr>
          <a:xfrm>
            <a:off x="374460" y="1062193"/>
            <a:ext cx="2381618" cy="4891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u="sng" dirty="0" smtClean="0"/>
              <a:t>Demande de prise en charge</a:t>
            </a:r>
            <a:endParaRPr lang="fr-FR" sz="1400" b="1" u="sng" dirty="0"/>
          </a:p>
        </p:txBody>
      </p:sp>
      <p:sp>
        <p:nvSpPr>
          <p:cNvPr id="61" name="Rectangle 60"/>
          <p:cNvSpPr/>
          <p:nvPr/>
        </p:nvSpPr>
        <p:spPr>
          <a:xfrm>
            <a:off x="5965934" y="2691838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2" name="Titre 1"/>
          <p:cNvSpPr txBox="1">
            <a:spLocks/>
          </p:cNvSpPr>
          <p:nvPr/>
        </p:nvSpPr>
        <p:spPr>
          <a:xfrm>
            <a:off x="3781557" y="2668329"/>
            <a:ext cx="540000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 smtClean="0"/>
              <a:t>de</a:t>
            </a:r>
            <a:endParaRPr lang="fr-FR" dirty="0"/>
          </a:p>
        </p:txBody>
      </p:sp>
      <p:sp>
        <p:nvSpPr>
          <p:cNvPr id="63" name="Titre 1"/>
          <p:cNvSpPr txBox="1">
            <a:spLocks/>
          </p:cNvSpPr>
          <p:nvPr/>
        </p:nvSpPr>
        <p:spPr>
          <a:xfrm>
            <a:off x="5427897" y="2666181"/>
            <a:ext cx="540000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 smtClean="0"/>
              <a:t>au</a:t>
            </a:r>
            <a:endParaRPr lang="fr-FR" dirty="0"/>
          </a:p>
        </p:txBody>
      </p:sp>
      <p:sp>
        <p:nvSpPr>
          <p:cNvPr id="64" name="Rectangle 63"/>
          <p:cNvSpPr/>
          <p:nvPr/>
        </p:nvSpPr>
        <p:spPr>
          <a:xfrm>
            <a:off x="3803835" y="2608983"/>
            <a:ext cx="3600000" cy="432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363208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311736" y="670584"/>
            <a:ext cx="11758269" cy="598779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2" name="Titre 1"/>
          <p:cNvSpPr txBox="1">
            <a:spLocks/>
          </p:cNvSpPr>
          <p:nvPr/>
        </p:nvSpPr>
        <p:spPr>
          <a:xfrm>
            <a:off x="3050970" y="3480685"/>
            <a:ext cx="1080000" cy="432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sécurité sociale</a:t>
            </a:r>
            <a:endParaRPr lang="fr-FR" sz="1400" dirty="0"/>
          </a:p>
        </p:txBody>
      </p:sp>
      <p:sp>
        <p:nvSpPr>
          <p:cNvPr id="100" name="Titre 1"/>
          <p:cNvSpPr txBox="1">
            <a:spLocks/>
          </p:cNvSpPr>
          <p:nvPr/>
        </p:nvSpPr>
        <p:spPr>
          <a:xfrm>
            <a:off x="2254161" y="1207414"/>
            <a:ext cx="1620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</a:t>
            </a:r>
            <a:endParaRPr lang="fr-FR" sz="1400" dirty="0"/>
          </a:p>
        </p:txBody>
      </p:sp>
      <p:sp>
        <p:nvSpPr>
          <p:cNvPr id="101" name="Rectangle 100"/>
          <p:cNvSpPr/>
          <p:nvPr/>
        </p:nvSpPr>
        <p:spPr>
          <a:xfrm>
            <a:off x="3878860" y="1250822"/>
            <a:ext cx="28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Rectangle 101"/>
          <p:cNvSpPr/>
          <p:nvPr/>
        </p:nvSpPr>
        <p:spPr>
          <a:xfrm>
            <a:off x="457477" y="1039901"/>
            <a:ext cx="9360000" cy="2102544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3" name="Titre 1"/>
          <p:cNvSpPr txBox="1">
            <a:spLocks/>
          </p:cNvSpPr>
          <p:nvPr/>
        </p:nvSpPr>
        <p:spPr>
          <a:xfrm>
            <a:off x="2238239" y="1665922"/>
            <a:ext cx="1620000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smtClean="0"/>
              <a:t>N° Réf. </a:t>
            </a:r>
            <a:endParaRPr lang="fr-FR" dirty="0"/>
          </a:p>
        </p:txBody>
      </p:sp>
      <p:sp>
        <p:nvSpPr>
          <p:cNvPr id="104" name="Rectangle 103"/>
          <p:cNvSpPr/>
          <p:nvPr/>
        </p:nvSpPr>
        <p:spPr>
          <a:xfrm>
            <a:off x="3859220" y="1683928"/>
            <a:ext cx="16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2" name="Titre 1"/>
          <p:cNvSpPr txBox="1">
            <a:spLocks/>
          </p:cNvSpPr>
          <p:nvPr/>
        </p:nvSpPr>
        <p:spPr>
          <a:xfrm>
            <a:off x="4330572" y="3477144"/>
            <a:ext cx="1080000" cy="432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Nom de naissance</a:t>
            </a:r>
            <a:endParaRPr lang="fr-FR" sz="1400" dirty="0"/>
          </a:p>
        </p:txBody>
      </p:sp>
      <p:sp>
        <p:nvSpPr>
          <p:cNvPr id="84" name="Titre 1"/>
          <p:cNvSpPr txBox="1">
            <a:spLocks/>
          </p:cNvSpPr>
          <p:nvPr/>
        </p:nvSpPr>
        <p:spPr>
          <a:xfrm>
            <a:off x="5466984" y="349092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Prénom</a:t>
            </a:r>
            <a:endParaRPr lang="fr-FR" sz="1400" dirty="0"/>
          </a:p>
        </p:txBody>
      </p:sp>
      <p:sp>
        <p:nvSpPr>
          <p:cNvPr id="106" name="Titre 1"/>
          <p:cNvSpPr txBox="1">
            <a:spLocks/>
          </p:cNvSpPr>
          <p:nvPr/>
        </p:nvSpPr>
        <p:spPr>
          <a:xfrm>
            <a:off x="7706665" y="349704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 smtClean="0"/>
              <a:t>Praticien</a:t>
            </a:r>
            <a:endParaRPr lang="fr-FR" dirty="0"/>
          </a:p>
        </p:txBody>
      </p:sp>
      <p:sp>
        <p:nvSpPr>
          <p:cNvPr id="108" name="Titre 1"/>
          <p:cNvSpPr txBox="1">
            <a:spLocks/>
          </p:cNvSpPr>
          <p:nvPr/>
        </p:nvSpPr>
        <p:spPr>
          <a:xfrm>
            <a:off x="6563619" y="3493237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Catégorie</a:t>
            </a:r>
            <a:endParaRPr lang="fr-FR" sz="1400" dirty="0"/>
          </a:p>
        </p:txBody>
      </p:sp>
      <p:sp>
        <p:nvSpPr>
          <p:cNvPr id="156" name="Titre 1"/>
          <p:cNvSpPr txBox="1">
            <a:spLocks/>
          </p:cNvSpPr>
          <p:nvPr/>
        </p:nvSpPr>
        <p:spPr>
          <a:xfrm>
            <a:off x="9360662" y="3534675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/>
              <a:t>Codes actes</a:t>
            </a:r>
          </a:p>
        </p:txBody>
      </p:sp>
      <p:sp>
        <p:nvSpPr>
          <p:cNvPr id="162" name="Titre 1"/>
          <p:cNvSpPr txBox="1">
            <a:spLocks/>
          </p:cNvSpPr>
          <p:nvPr/>
        </p:nvSpPr>
        <p:spPr>
          <a:xfrm>
            <a:off x="322943" y="665285"/>
            <a:ext cx="3060000" cy="3838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u="sng" dirty="0" smtClean="0"/>
              <a:t>Consultation demande prise en charge</a:t>
            </a:r>
            <a:endParaRPr lang="fr-FR" sz="1400" b="1" u="sng" dirty="0"/>
          </a:p>
        </p:txBody>
      </p:sp>
      <p:sp>
        <p:nvSpPr>
          <p:cNvPr id="61" name="Titre 1"/>
          <p:cNvSpPr txBox="1">
            <a:spLocks/>
          </p:cNvSpPr>
          <p:nvPr/>
        </p:nvSpPr>
        <p:spPr>
          <a:xfrm>
            <a:off x="3626685" y="85337"/>
            <a:ext cx="5101042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19 – Patient -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Reporting /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/>
            </a:r>
            <a:b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</a:br>
            <a:r>
              <a:rPr lang="fr-FR" altLang="fr-FR" sz="1800" b="1" dirty="0" smtClean="0">
                <a:latin typeface="Times New Roman" panose="02020603050405020304" pitchFamily="18" charset="0"/>
              </a:rPr>
              <a:t>Demande prise en charge / Liste des demandes</a:t>
            </a:r>
            <a:endParaRPr lang="fr-FR" sz="1800" dirty="0"/>
          </a:p>
        </p:txBody>
      </p:sp>
      <p:sp>
        <p:nvSpPr>
          <p:cNvPr id="62" name="Titre 1"/>
          <p:cNvSpPr txBox="1">
            <a:spLocks/>
          </p:cNvSpPr>
          <p:nvPr/>
        </p:nvSpPr>
        <p:spPr>
          <a:xfrm>
            <a:off x="1758103" y="3506443"/>
            <a:ext cx="1080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 smtClean="0"/>
              <a:t>N° Réf. </a:t>
            </a:r>
            <a:endParaRPr lang="fr-FR" dirty="0"/>
          </a:p>
        </p:txBody>
      </p:sp>
      <p:sp>
        <p:nvSpPr>
          <p:cNvPr id="63" name="Titre 1"/>
          <p:cNvSpPr txBox="1">
            <a:spLocks/>
          </p:cNvSpPr>
          <p:nvPr/>
        </p:nvSpPr>
        <p:spPr>
          <a:xfrm>
            <a:off x="494235" y="3401438"/>
            <a:ext cx="1214198" cy="52557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 smtClean="0"/>
              <a:t>Date de demande PEC</a:t>
            </a:r>
            <a:endParaRPr lang="fr-FR" dirty="0"/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2247384" y="2104291"/>
            <a:ext cx="162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smtClean="0"/>
              <a:t>Praticien</a:t>
            </a:r>
            <a:endParaRPr lang="fr-FR" dirty="0"/>
          </a:p>
        </p:txBody>
      </p:sp>
      <p:sp>
        <p:nvSpPr>
          <p:cNvPr id="65" name="Rectangle 64"/>
          <p:cNvSpPr/>
          <p:nvPr/>
        </p:nvSpPr>
        <p:spPr>
          <a:xfrm>
            <a:off x="3869951" y="2119666"/>
            <a:ext cx="16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6" name="Titre 1"/>
          <p:cNvSpPr txBox="1">
            <a:spLocks/>
          </p:cNvSpPr>
          <p:nvPr/>
        </p:nvSpPr>
        <p:spPr>
          <a:xfrm>
            <a:off x="2261738" y="2613966"/>
            <a:ext cx="1620000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smtClean="0"/>
              <a:t>Date de demande</a:t>
            </a:r>
            <a:endParaRPr lang="fr-FR" dirty="0"/>
          </a:p>
        </p:txBody>
      </p:sp>
      <p:sp>
        <p:nvSpPr>
          <p:cNvPr id="68" name="Rectangle 67"/>
          <p:cNvSpPr/>
          <p:nvPr/>
        </p:nvSpPr>
        <p:spPr>
          <a:xfrm>
            <a:off x="4332468" y="2642470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9" name="Rectangle 68"/>
          <p:cNvSpPr/>
          <p:nvPr/>
        </p:nvSpPr>
        <p:spPr>
          <a:xfrm>
            <a:off x="5965934" y="2653201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3" name="Titre 1"/>
          <p:cNvSpPr txBox="1">
            <a:spLocks/>
          </p:cNvSpPr>
          <p:nvPr/>
        </p:nvSpPr>
        <p:spPr>
          <a:xfrm>
            <a:off x="3781557" y="2629692"/>
            <a:ext cx="540000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 smtClean="0"/>
              <a:t>de</a:t>
            </a:r>
            <a:endParaRPr lang="fr-FR" dirty="0"/>
          </a:p>
        </p:txBody>
      </p:sp>
      <p:sp>
        <p:nvSpPr>
          <p:cNvPr id="74" name="Titre 1"/>
          <p:cNvSpPr txBox="1">
            <a:spLocks/>
          </p:cNvSpPr>
          <p:nvPr/>
        </p:nvSpPr>
        <p:spPr>
          <a:xfrm>
            <a:off x="5427897" y="2627544"/>
            <a:ext cx="540000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 smtClean="0"/>
              <a:t>au</a:t>
            </a:r>
            <a:endParaRPr lang="fr-FR" dirty="0"/>
          </a:p>
        </p:txBody>
      </p:sp>
      <p:sp>
        <p:nvSpPr>
          <p:cNvPr id="75" name="Rectangle 74"/>
          <p:cNvSpPr/>
          <p:nvPr/>
        </p:nvSpPr>
        <p:spPr>
          <a:xfrm>
            <a:off x="3881109" y="2570346"/>
            <a:ext cx="3600000" cy="432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6" name="Rectangle 75"/>
          <p:cNvSpPr/>
          <p:nvPr/>
        </p:nvSpPr>
        <p:spPr>
          <a:xfrm>
            <a:off x="8268343" y="2602656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Recherche</a:t>
            </a:r>
            <a:endParaRPr lang="fr-FR" sz="1400" dirty="0"/>
          </a:p>
        </p:txBody>
      </p:sp>
      <p:cxnSp>
        <p:nvCxnSpPr>
          <p:cNvPr id="78" name="Connecteur droit 77"/>
          <p:cNvCxnSpPr/>
          <p:nvPr/>
        </p:nvCxnSpPr>
        <p:spPr>
          <a:xfrm>
            <a:off x="7690800" y="3428959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9" name="Titre 1"/>
          <p:cNvSpPr txBox="1">
            <a:spLocks/>
          </p:cNvSpPr>
          <p:nvPr/>
        </p:nvSpPr>
        <p:spPr>
          <a:xfrm>
            <a:off x="9391707" y="3955331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93256" y="3431107"/>
            <a:ext cx="10044000" cy="2340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95" name="Connecteur droit 94"/>
          <p:cNvCxnSpPr/>
          <p:nvPr/>
        </p:nvCxnSpPr>
        <p:spPr>
          <a:xfrm>
            <a:off x="4272084" y="3450577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9" name="Connecteur droit 98"/>
          <p:cNvCxnSpPr/>
          <p:nvPr/>
        </p:nvCxnSpPr>
        <p:spPr>
          <a:xfrm>
            <a:off x="1718251" y="3422120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5" name="Connecteur droit 104"/>
          <p:cNvCxnSpPr/>
          <p:nvPr/>
        </p:nvCxnSpPr>
        <p:spPr>
          <a:xfrm flipH="1" flipV="1">
            <a:off x="447644" y="3939402"/>
            <a:ext cx="1004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3" name="Connecteur droit 112"/>
          <p:cNvCxnSpPr/>
          <p:nvPr/>
        </p:nvCxnSpPr>
        <p:spPr>
          <a:xfrm>
            <a:off x="2864588" y="3428959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5" name="Connecteur droit 114"/>
          <p:cNvCxnSpPr/>
          <p:nvPr/>
        </p:nvCxnSpPr>
        <p:spPr>
          <a:xfrm>
            <a:off x="5441119" y="3440686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9" name="Connecteur droit 118"/>
          <p:cNvCxnSpPr/>
          <p:nvPr/>
        </p:nvCxnSpPr>
        <p:spPr>
          <a:xfrm>
            <a:off x="6547090" y="3428959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1" name="Titre 1"/>
          <p:cNvSpPr txBox="1">
            <a:spLocks/>
          </p:cNvSpPr>
          <p:nvPr/>
        </p:nvSpPr>
        <p:spPr>
          <a:xfrm>
            <a:off x="520659" y="3945249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122" name="Titre 1"/>
          <p:cNvSpPr txBox="1">
            <a:spLocks/>
          </p:cNvSpPr>
          <p:nvPr/>
        </p:nvSpPr>
        <p:spPr>
          <a:xfrm>
            <a:off x="4352445" y="395187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23" name="Titre 1"/>
          <p:cNvSpPr txBox="1">
            <a:spLocks/>
          </p:cNvSpPr>
          <p:nvPr/>
        </p:nvSpPr>
        <p:spPr>
          <a:xfrm>
            <a:off x="5447567" y="3938733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25" name="Titre 1"/>
          <p:cNvSpPr txBox="1">
            <a:spLocks/>
          </p:cNvSpPr>
          <p:nvPr/>
        </p:nvSpPr>
        <p:spPr>
          <a:xfrm>
            <a:off x="1703365" y="3955980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sp>
        <p:nvSpPr>
          <p:cNvPr id="126" name="Titre 1"/>
          <p:cNvSpPr txBox="1">
            <a:spLocks/>
          </p:cNvSpPr>
          <p:nvPr/>
        </p:nvSpPr>
        <p:spPr>
          <a:xfrm>
            <a:off x="7736803" y="3955091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27" name="Titre 1"/>
          <p:cNvSpPr txBox="1">
            <a:spLocks/>
          </p:cNvSpPr>
          <p:nvPr/>
        </p:nvSpPr>
        <p:spPr>
          <a:xfrm>
            <a:off x="518510" y="4393865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128" name="Titre 1"/>
          <p:cNvSpPr txBox="1">
            <a:spLocks/>
          </p:cNvSpPr>
          <p:nvPr/>
        </p:nvSpPr>
        <p:spPr>
          <a:xfrm>
            <a:off x="3053117" y="4400492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</a:t>
            </a:r>
            <a:endParaRPr lang="fr-FR" sz="1800" b="1" dirty="0"/>
          </a:p>
        </p:txBody>
      </p:sp>
      <p:sp>
        <p:nvSpPr>
          <p:cNvPr id="129" name="Titre 1"/>
          <p:cNvSpPr txBox="1">
            <a:spLocks/>
          </p:cNvSpPr>
          <p:nvPr/>
        </p:nvSpPr>
        <p:spPr>
          <a:xfrm>
            <a:off x="4350296" y="4400492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34" name="Titre 1"/>
          <p:cNvSpPr txBox="1">
            <a:spLocks/>
          </p:cNvSpPr>
          <p:nvPr/>
        </p:nvSpPr>
        <p:spPr>
          <a:xfrm>
            <a:off x="5456896" y="4412267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35" name="Titre 1"/>
          <p:cNvSpPr txBox="1">
            <a:spLocks/>
          </p:cNvSpPr>
          <p:nvPr/>
        </p:nvSpPr>
        <p:spPr>
          <a:xfrm>
            <a:off x="1701216" y="440459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sp>
        <p:nvSpPr>
          <p:cNvPr id="136" name="Titre 1"/>
          <p:cNvSpPr txBox="1">
            <a:spLocks/>
          </p:cNvSpPr>
          <p:nvPr/>
        </p:nvSpPr>
        <p:spPr>
          <a:xfrm>
            <a:off x="7733948" y="4417067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37" name="Titre 1"/>
          <p:cNvSpPr txBox="1">
            <a:spLocks/>
          </p:cNvSpPr>
          <p:nvPr/>
        </p:nvSpPr>
        <p:spPr>
          <a:xfrm>
            <a:off x="9400157" y="4404188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</a:t>
            </a:r>
          </a:p>
        </p:txBody>
      </p:sp>
      <p:cxnSp>
        <p:nvCxnSpPr>
          <p:cNvPr id="138" name="Connecteur droit 137"/>
          <p:cNvCxnSpPr/>
          <p:nvPr/>
        </p:nvCxnSpPr>
        <p:spPr>
          <a:xfrm flipH="1" flipV="1">
            <a:off x="489961" y="4860074"/>
            <a:ext cx="1004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9" name="Titre 1"/>
          <p:cNvSpPr txBox="1">
            <a:spLocks/>
          </p:cNvSpPr>
          <p:nvPr/>
        </p:nvSpPr>
        <p:spPr>
          <a:xfrm>
            <a:off x="516363" y="4829598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140" name="Titre 1"/>
          <p:cNvSpPr txBox="1">
            <a:spLocks/>
          </p:cNvSpPr>
          <p:nvPr/>
        </p:nvSpPr>
        <p:spPr>
          <a:xfrm>
            <a:off x="4322391" y="4836225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41" name="Titre 1"/>
          <p:cNvSpPr txBox="1">
            <a:spLocks/>
          </p:cNvSpPr>
          <p:nvPr/>
        </p:nvSpPr>
        <p:spPr>
          <a:xfrm>
            <a:off x="5455594" y="4836225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42" name="Titre 1"/>
          <p:cNvSpPr txBox="1">
            <a:spLocks/>
          </p:cNvSpPr>
          <p:nvPr/>
        </p:nvSpPr>
        <p:spPr>
          <a:xfrm>
            <a:off x="1711948" y="4840329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sp>
        <p:nvSpPr>
          <p:cNvPr id="143" name="Titre 1"/>
          <p:cNvSpPr txBox="1">
            <a:spLocks/>
          </p:cNvSpPr>
          <p:nvPr/>
        </p:nvSpPr>
        <p:spPr>
          <a:xfrm>
            <a:off x="7744469" y="4839680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44" name="Titre 1"/>
          <p:cNvSpPr txBox="1">
            <a:spLocks/>
          </p:cNvSpPr>
          <p:nvPr/>
        </p:nvSpPr>
        <p:spPr>
          <a:xfrm>
            <a:off x="9397507" y="4848794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</a:t>
            </a:r>
          </a:p>
        </p:txBody>
      </p:sp>
      <p:cxnSp>
        <p:nvCxnSpPr>
          <p:cNvPr id="145" name="Connecteur droit 144"/>
          <p:cNvCxnSpPr/>
          <p:nvPr/>
        </p:nvCxnSpPr>
        <p:spPr>
          <a:xfrm flipH="1" flipV="1">
            <a:off x="500692" y="5282931"/>
            <a:ext cx="1004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6" name="Connecteur droit 145"/>
          <p:cNvCxnSpPr/>
          <p:nvPr/>
        </p:nvCxnSpPr>
        <p:spPr>
          <a:xfrm flipH="1" flipV="1">
            <a:off x="487813" y="4420045"/>
            <a:ext cx="1004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9" name="Connecteur droit 148"/>
          <p:cNvCxnSpPr/>
          <p:nvPr/>
        </p:nvCxnSpPr>
        <p:spPr>
          <a:xfrm>
            <a:off x="9028079" y="3445200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0" name="Titre 1"/>
          <p:cNvSpPr txBox="1">
            <a:spLocks/>
          </p:cNvSpPr>
          <p:nvPr/>
        </p:nvSpPr>
        <p:spPr>
          <a:xfrm>
            <a:off x="3050970" y="3973345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</a:t>
            </a:r>
            <a:endParaRPr lang="fr-FR" sz="1800" b="1" dirty="0"/>
          </a:p>
        </p:txBody>
      </p:sp>
      <p:sp>
        <p:nvSpPr>
          <p:cNvPr id="151" name="Titre 1"/>
          <p:cNvSpPr txBox="1">
            <a:spLocks/>
          </p:cNvSpPr>
          <p:nvPr/>
        </p:nvSpPr>
        <p:spPr>
          <a:xfrm>
            <a:off x="3061701" y="482120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</a:t>
            </a:r>
            <a:endParaRPr lang="fr-FR" sz="1800" b="1" dirty="0"/>
          </a:p>
        </p:txBody>
      </p:sp>
      <p:sp>
        <p:nvSpPr>
          <p:cNvPr id="154" name="Titre 1"/>
          <p:cNvSpPr txBox="1">
            <a:spLocks/>
          </p:cNvSpPr>
          <p:nvPr/>
        </p:nvSpPr>
        <p:spPr>
          <a:xfrm>
            <a:off x="9389559" y="529258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</a:t>
            </a:r>
          </a:p>
        </p:txBody>
      </p:sp>
      <p:sp>
        <p:nvSpPr>
          <p:cNvPr id="161" name="Titre 1"/>
          <p:cNvSpPr txBox="1">
            <a:spLocks/>
          </p:cNvSpPr>
          <p:nvPr/>
        </p:nvSpPr>
        <p:spPr>
          <a:xfrm>
            <a:off x="518511" y="5282504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163" name="Titre 1"/>
          <p:cNvSpPr txBox="1">
            <a:spLocks/>
          </p:cNvSpPr>
          <p:nvPr/>
        </p:nvSpPr>
        <p:spPr>
          <a:xfrm>
            <a:off x="4350297" y="5289131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64" name="Titre 1"/>
          <p:cNvSpPr txBox="1">
            <a:spLocks/>
          </p:cNvSpPr>
          <p:nvPr/>
        </p:nvSpPr>
        <p:spPr>
          <a:xfrm>
            <a:off x="5445419" y="5275988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65" name="Titre 1"/>
          <p:cNvSpPr txBox="1">
            <a:spLocks/>
          </p:cNvSpPr>
          <p:nvPr/>
        </p:nvSpPr>
        <p:spPr>
          <a:xfrm>
            <a:off x="1701217" y="5293235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sp>
        <p:nvSpPr>
          <p:cNvPr id="166" name="Titre 1"/>
          <p:cNvSpPr txBox="1">
            <a:spLocks/>
          </p:cNvSpPr>
          <p:nvPr/>
        </p:nvSpPr>
        <p:spPr>
          <a:xfrm>
            <a:off x="7734655" y="529234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67" name="Titre 1"/>
          <p:cNvSpPr txBox="1">
            <a:spLocks/>
          </p:cNvSpPr>
          <p:nvPr/>
        </p:nvSpPr>
        <p:spPr>
          <a:xfrm>
            <a:off x="3048822" y="5310600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</a:t>
            </a:r>
            <a:endParaRPr lang="fr-FR" sz="1800" b="1" dirty="0"/>
          </a:p>
        </p:txBody>
      </p:sp>
      <p:sp>
        <p:nvSpPr>
          <p:cNvPr id="171" name="Titre 1"/>
          <p:cNvSpPr txBox="1">
            <a:spLocks/>
          </p:cNvSpPr>
          <p:nvPr/>
        </p:nvSpPr>
        <p:spPr>
          <a:xfrm>
            <a:off x="6581967" y="3953183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</a:t>
            </a:r>
          </a:p>
        </p:txBody>
      </p:sp>
      <p:sp>
        <p:nvSpPr>
          <p:cNvPr id="172" name="Titre 1"/>
          <p:cNvSpPr txBox="1">
            <a:spLocks/>
          </p:cNvSpPr>
          <p:nvPr/>
        </p:nvSpPr>
        <p:spPr>
          <a:xfrm>
            <a:off x="6590417" y="4402040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</a:t>
            </a:r>
          </a:p>
        </p:txBody>
      </p:sp>
      <p:sp>
        <p:nvSpPr>
          <p:cNvPr id="173" name="Titre 1"/>
          <p:cNvSpPr txBox="1">
            <a:spLocks/>
          </p:cNvSpPr>
          <p:nvPr/>
        </p:nvSpPr>
        <p:spPr>
          <a:xfrm>
            <a:off x="6587767" y="484664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</a:t>
            </a:r>
          </a:p>
        </p:txBody>
      </p:sp>
      <p:sp>
        <p:nvSpPr>
          <p:cNvPr id="174" name="Titre 1"/>
          <p:cNvSpPr txBox="1">
            <a:spLocks/>
          </p:cNvSpPr>
          <p:nvPr/>
        </p:nvSpPr>
        <p:spPr>
          <a:xfrm>
            <a:off x="6579819" y="5290438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</a:t>
            </a:r>
          </a:p>
        </p:txBody>
      </p:sp>
    </p:spTree>
    <p:extLst>
      <p:ext uri="{BB962C8B-B14F-4D97-AF65-F5344CB8AC3E}">
        <p14:creationId xmlns:p14="http://schemas.microsoft.com/office/powerpoint/2010/main" val="36753984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311736" y="902407"/>
            <a:ext cx="11736000" cy="586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2" name="Titre 1"/>
          <p:cNvSpPr txBox="1">
            <a:spLocks/>
          </p:cNvSpPr>
          <p:nvPr/>
        </p:nvSpPr>
        <p:spPr>
          <a:xfrm>
            <a:off x="629743" y="3982966"/>
            <a:ext cx="1080000" cy="432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sécurité sociale</a:t>
            </a:r>
            <a:endParaRPr lang="fr-FR" sz="1400" dirty="0"/>
          </a:p>
        </p:txBody>
      </p:sp>
      <p:sp>
        <p:nvSpPr>
          <p:cNvPr id="100" name="Titre 1"/>
          <p:cNvSpPr txBox="1">
            <a:spLocks/>
          </p:cNvSpPr>
          <p:nvPr/>
        </p:nvSpPr>
        <p:spPr>
          <a:xfrm>
            <a:off x="3580693" y="1220293"/>
            <a:ext cx="1620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</a:t>
            </a:r>
            <a:endParaRPr lang="fr-FR" sz="1400" dirty="0"/>
          </a:p>
        </p:txBody>
      </p:sp>
      <p:sp>
        <p:nvSpPr>
          <p:cNvPr id="101" name="Rectangle 100"/>
          <p:cNvSpPr/>
          <p:nvPr/>
        </p:nvSpPr>
        <p:spPr>
          <a:xfrm>
            <a:off x="5205392" y="1263701"/>
            <a:ext cx="28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Rectangle 101"/>
          <p:cNvSpPr/>
          <p:nvPr/>
        </p:nvSpPr>
        <p:spPr>
          <a:xfrm>
            <a:off x="552208" y="1123994"/>
            <a:ext cx="9986490" cy="1542033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3" name="Titre 1"/>
          <p:cNvSpPr txBox="1">
            <a:spLocks/>
          </p:cNvSpPr>
          <p:nvPr/>
        </p:nvSpPr>
        <p:spPr>
          <a:xfrm>
            <a:off x="3564771" y="1678801"/>
            <a:ext cx="1620000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smtClean="0"/>
              <a:t>N° Réf. </a:t>
            </a:r>
            <a:endParaRPr lang="fr-FR" dirty="0"/>
          </a:p>
        </p:txBody>
      </p:sp>
      <p:sp>
        <p:nvSpPr>
          <p:cNvPr id="104" name="Rectangle 103"/>
          <p:cNvSpPr/>
          <p:nvPr/>
        </p:nvSpPr>
        <p:spPr>
          <a:xfrm>
            <a:off x="5185752" y="1696807"/>
            <a:ext cx="16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2" name="Titre 1"/>
          <p:cNvSpPr txBox="1">
            <a:spLocks/>
          </p:cNvSpPr>
          <p:nvPr/>
        </p:nvSpPr>
        <p:spPr>
          <a:xfrm>
            <a:off x="1819192" y="3979425"/>
            <a:ext cx="1080000" cy="432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Nom de naissance</a:t>
            </a:r>
            <a:endParaRPr lang="fr-FR" sz="1400" dirty="0"/>
          </a:p>
        </p:txBody>
      </p:sp>
      <p:sp>
        <p:nvSpPr>
          <p:cNvPr id="84" name="Titre 1"/>
          <p:cNvSpPr txBox="1">
            <a:spLocks/>
          </p:cNvSpPr>
          <p:nvPr/>
        </p:nvSpPr>
        <p:spPr>
          <a:xfrm>
            <a:off x="3032875" y="400608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Prénom</a:t>
            </a:r>
            <a:endParaRPr lang="fr-FR" sz="1400" dirty="0"/>
          </a:p>
        </p:txBody>
      </p:sp>
      <p:sp>
        <p:nvSpPr>
          <p:cNvPr id="106" name="Titre 1"/>
          <p:cNvSpPr txBox="1">
            <a:spLocks/>
          </p:cNvSpPr>
          <p:nvPr/>
        </p:nvSpPr>
        <p:spPr>
          <a:xfrm>
            <a:off x="5671805" y="401220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 smtClean="0"/>
              <a:t>Praticien</a:t>
            </a:r>
            <a:endParaRPr lang="fr-FR" dirty="0"/>
          </a:p>
        </p:txBody>
      </p:sp>
      <p:sp>
        <p:nvSpPr>
          <p:cNvPr id="108" name="Titre 1"/>
          <p:cNvSpPr txBox="1">
            <a:spLocks/>
          </p:cNvSpPr>
          <p:nvPr/>
        </p:nvSpPr>
        <p:spPr>
          <a:xfrm>
            <a:off x="4181026" y="4008397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Catégorie</a:t>
            </a:r>
            <a:endParaRPr lang="fr-FR" sz="1400" dirty="0"/>
          </a:p>
        </p:txBody>
      </p:sp>
      <p:sp>
        <p:nvSpPr>
          <p:cNvPr id="156" name="Titre 1"/>
          <p:cNvSpPr txBox="1">
            <a:spLocks/>
          </p:cNvSpPr>
          <p:nvPr/>
        </p:nvSpPr>
        <p:spPr>
          <a:xfrm>
            <a:off x="7003827" y="4024077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/>
              <a:t>Codes actes</a:t>
            </a:r>
          </a:p>
        </p:txBody>
      </p:sp>
      <p:sp>
        <p:nvSpPr>
          <p:cNvPr id="162" name="Titre 1"/>
          <p:cNvSpPr txBox="1">
            <a:spLocks/>
          </p:cNvSpPr>
          <p:nvPr/>
        </p:nvSpPr>
        <p:spPr>
          <a:xfrm>
            <a:off x="387338" y="1128929"/>
            <a:ext cx="3060000" cy="3838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u="sng" dirty="0" smtClean="0"/>
              <a:t>Recherche demande prise en charge</a:t>
            </a:r>
            <a:endParaRPr lang="fr-FR" sz="1400" b="1" u="sng" dirty="0"/>
          </a:p>
        </p:txBody>
      </p:sp>
      <p:sp>
        <p:nvSpPr>
          <p:cNvPr id="61" name="Titre 1"/>
          <p:cNvSpPr txBox="1">
            <a:spLocks/>
          </p:cNvSpPr>
          <p:nvPr/>
        </p:nvSpPr>
        <p:spPr>
          <a:xfrm>
            <a:off x="3626685" y="7493"/>
            <a:ext cx="5101042" cy="87542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20 – Patient -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Reporting /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/>
            </a:r>
            <a:b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</a:br>
            <a:r>
              <a:rPr 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Bordereau</a:t>
            </a:r>
            <a:r>
              <a:rPr lang="fr-FR" sz="1800" dirty="0"/>
              <a:t> </a:t>
            </a:r>
            <a:r>
              <a:rPr 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de demande de prise en charge </a:t>
            </a:r>
            <a:r>
              <a:rPr 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CNAS /</a:t>
            </a:r>
          </a:p>
          <a:p>
            <a:r>
              <a:rPr 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Édition bordereau</a:t>
            </a:r>
          </a:p>
        </p:txBody>
      </p:sp>
      <p:sp>
        <p:nvSpPr>
          <p:cNvPr id="66" name="Titre 1"/>
          <p:cNvSpPr txBox="1">
            <a:spLocks/>
          </p:cNvSpPr>
          <p:nvPr/>
        </p:nvSpPr>
        <p:spPr>
          <a:xfrm>
            <a:off x="3588270" y="2150326"/>
            <a:ext cx="1620000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smtClean="0"/>
              <a:t>Date de demande</a:t>
            </a:r>
            <a:endParaRPr lang="fr-FR" dirty="0"/>
          </a:p>
        </p:txBody>
      </p:sp>
      <p:sp>
        <p:nvSpPr>
          <p:cNvPr id="68" name="Rectangle 67"/>
          <p:cNvSpPr/>
          <p:nvPr/>
        </p:nvSpPr>
        <p:spPr>
          <a:xfrm>
            <a:off x="5659000" y="2178830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9" name="Rectangle 68"/>
          <p:cNvSpPr/>
          <p:nvPr/>
        </p:nvSpPr>
        <p:spPr>
          <a:xfrm>
            <a:off x="7292466" y="2189561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3" name="Titre 1"/>
          <p:cNvSpPr txBox="1">
            <a:spLocks/>
          </p:cNvSpPr>
          <p:nvPr/>
        </p:nvSpPr>
        <p:spPr>
          <a:xfrm>
            <a:off x="5108089" y="2166052"/>
            <a:ext cx="540000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 smtClean="0"/>
              <a:t>de</a:t>
            </a:r>
            <a:endParaRPr lang="fr-FR" dirty="0"/>
          </a:p>
        </p:txBody>
      </p:sp>
      <p:sp>
        <p:nvSpPr>
          <p:cNvPr id="74" name="Titre 1"/>
          <p:cNvSpPr txBox="1">
            <a:spLocks/>
          </p:cNvSpPr>
          <p:nvPr/>
        </p:nvSpPr>
        <p:spPr>
          <a:xfrm>
            <a:off x="6754429" y="2163904"/>
            <a:ext cx="540000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 smtClean="0"/>
              <a:t>au</a:t>
            </a:r>
            <a:endParaRPr lang="fr-FR" dirty="0"/>
          </a:p>
        </p:txBody>
      </p:sp>
      <p:sp>
        <p:nvSpPr>
          <p:cNvPr id="75" name="Rectangle 74"/>
          <p:cNvSpPr/>
          <p:nvPr/>
        </p:nvSpPr>
        <p:spPr>
          <a:xfrm>
            <a:off x="5207641" y="2106706"/>
            <a:ext cx="3600000" cy="432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6" name="Rectangle 75"/>
          <p:cNvSpPr/>
          <p:nvPr/>
        </p:nvSpPr>
        <p:spPr>
          <a:xfrm>
            <a:off x="8989564" y="2139016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Recherche</a:t>
            </a:r>
            <a:endParaRPr lang="fr-FR" sz="1400" dirty="0"/>
          </a:p>
        </p:txBody>
      </p:sp>
      <p:cxnSp>
        <p:nvCxnSpPr>
          <p:cNvPr id="78" name="Connecteur droit 77"/>
          <p:cNvCxnSpPr/>
          <p:nvPr/>
        </p:nvCxnSpPr>
        <p:spPr>
          <a:xfrm>
            <a:off x="8102928" y="3931240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6" name="Rectangle 85"/>
          <p:cNvSpPr/>
          <p:nvPr/>
        </p:nvSpPr>
        <p:spPr>
          <a:xfrm>
            <a:off x="557651" y="3933388"/>
            <a:ext cx="10044000" cy="2340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95" name="Connecteur droit 94"/>
          <p:cNvCxnSpPr/>
          <p:nvPr/>
        </p:nvCxnSpPr>
        <p:spPr>
          <a:xfrm>
            <a:off x="4130415" y="3952858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9" name="Connecteur droit 98"/>
          <p:cNvCxnSpPr/>
          <p:nvPr/>
        </p:nvCxnSpPr>
        <p:spPr>
          <a:xfrm>
            <a:off x="1782646" y="3924401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5" name="Connecteur droit 104"/>
          <p:cNvCxnSpPr/>
          <p:nvPr/>
        </p:nvCxnSpPr>
        <p:spPr>
          <a:xfrm flipH="1" flipV="1">
            <a:off x="512039" y="4441683"/>
            <a:ext cx="1004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3" name="Connecteur droit 112"/>
          <p:cNvCxnSpPr/>
          <p:nvPr/>
        </p:nvCxnSpPr>
        <p:spPr>
          <a:xfrm>
            <a:off x="2928983" y="3931240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5" name="Connecteur droit 114"/>
          <p:cNvCxnSpPr/>
          <p:nvPr/>
        </p:nvCxnSpPr>
        <p:spPr>
          <a:xfrm>
            <a:off x="5376724" y="3942967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9" name="Connecteur droit 118"/>
          <p:cNvCxnSpPr/>
          <p:nvPr/>
        </p:nvCxnSpPr>
        <p:spPr>
          <a:xfrm>
            <a:off x="6959218" y="3931240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1" name="Titre 1"/>
          <p:cNvSpPr txBox="1">
            <a:spLocks/>
          </p:cNvSpPr>
          <p:nvPr/>
        </p:nvSpPr>
        <p:spPr>
          <a:xfrm>
            <a:off x="585054" y="4447530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122" name="Titre 1"/>
          <p:cNvSpPr txBox="1">
            <a:spLocks/>
          </p:cNvSpPr>
          <p:nvPr/>
        </p:nvSpPr>
        <p:spPr>
          <a:xfrm>
            <a:off x="4210776" y="4454157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23" name="Titre 1"/>
          <p:cNvSpPr txBox="1">
            <a:spLocks/>
          </p:cNvSpPr>
          <p:nvPr/>
        </p:nvSpPr>
        <p:spPr>
          <a:xfrm>
            <a:off x="5653631" y="4441014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25" name="Titre 1"/>
          <p:cNvSpPr txBox="1">
            <a:spLocks/>
          </p:cNvSpPr>
          <p:nvPr/>
        </p:nvSpPr>
        <p:spPr>
          <a:xfrm>
            <a:off x="1767760" y="4458261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sp>
        <p:nvSpPr>
          <p:cNvPr id="126" name="Titre 1"/>
          <p:cNvSpPr txBox="1">
            <a:spLocks/>
          </p:cNvSpPr>
          <p:nvPr/>
        </p:nvSpPr>
        <p:spPr>
          <a:xfrm>
            <a:off x="8148931" y="4457372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27" name="Titre 1"/>
          <p:cNvSpPr txBox="1">
            <a:spLocks/>
          </p:cNvSpPr>
          <p:nvPr/>
        </p:nvSpPr>
        <p:spPr>
          <a:xfrm>
            <a:off x="582905" y="489614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128" name="Titre 1"/>
          <p:cNvSpPr txBox="1">
            <a:spLocks/>
          </p:cNvSpPr>
          <p:nvPr/>
        </p:nvSpPr>
        <p:spPr>
          <a:xfrm>
            <a:off x="3014480" y="4902773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</a:t>
            </a:r>
            <a:endParaRPr lang="fr-FR" sz="1800" b="1" dirty="0"/>
          </a:p>
        </p:txBody>
      </p:sp>
      <p:sp>
        <p:nvSpPr>
          <p:cNvPr id="129" name="Titre 1"/>
          <p:cNvSpPr txBox="1">
            <a:spLocks/>
          </p:cNvSpPr>
          <p:nvPr/>
        </p:nvSpPr>
        <p:spPr>
          <a:xfrm>
            <a:off x="4208627" y="4902773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34" name="Titre 1"/>
          <p:cNvSpPr txBox="1">
            <a:spLocks/>
          </p:cNvSpPr>
          <p:nvPr/>
        </p:nvSpPr>
        <p:spPr>
          <a:xfrm>
            <a:off x="5662960" y="4914548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35" name="Titre 1"/>
          <p:cNvSpPr txBox="1">
            <a:spLocks/>
          </p:cNvSpPr>
          <p:nvPr/>
        </p:nvSpPr>
        <p:spPr>
          <a:xfrm>
            <a:off x="1765611" y="4906877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sp>
        <p:nvSpPr>
          <p:cNvPr id="136" name="Titre 1"/>
          <p:cNvSpPr txBox="1">
            <a:spLocks/>
          </p:cNvSpPr>
          <p:nvPr/>
        </p:nvSpPr>
        <p:spPr>
          <a:xfrm>
            <a:off x="8146076" y="4919348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cxnSp>
        <p:nvCxnSpPr>
          <p:cNvPr id="138" name="Connecteur droit 137"/>
          <p:cNvCxnSpPr/>
          <p:nvPr/>
        </p:nvCxnSpPr>
        <p:spPr>
          <a:xfrm flipH="1" flipV="1">
            <a:off x="554356" y="5362355"/>
            <a:ext cx="1004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9" name="Titre 1"/>
          <p:cNvSpPr txBox="1">
            <a:spLocks/>
          </p:cNvSpPr>
          <p:nvPr/>
        </p:nvSpPr>
        <p:spPr>
          <a:xfrm>
            <a:off x="580758" y="5331879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140" name="Titre 1"/>
          <p:cNvSpPr txBox="1">
            <a:spLocks/>
          </p:cNvSpPr>
          <p:nvPr/>
        </p:nvSpPr>
        <p:spPr>
          <a:xfrm>
            <a:off x="4180722" y="533850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41" name="Titre 1"/>
          <p:cNvSpPr txBox="1">
            <a:spLocks/>
          </p:cNvSpPr>
          <p:nvPr/>
        </p:nvSpPr>
        <p:spPr>
          <a:xfrm>
            <a:off x="5661658" y="533850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42" name="Titre 1"/>
          <p:cNvSpPr txBox="1">
            <a:spLocks/>
          </p:cNvSpPr>
          <p:nvPr/>
        </p:nvSpPr>
        <p:spPr>
          <a:xfrm>
            <a:off x="1776343" y="5342610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sp>
        <p:nvSpPr>
          <p:cNvPr id="143" name="Titre 1"/>
          <p:cNvSpPr txBox="1">
            <a:spLocks/>
          </p:cNvSpPr>
          <p:nvPr/>
        </p:nvSpPr>
        <p:spPr>
          <a:xfrm>
            <a:off x="8156597" y="5341961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cxnSp>
        <p:nvCxnSpPr>
          <p:cNvPr id="145" name="Connecteur droit 144"/>
          <p:cNvCxnSpPr/>
          <p:nvPr/>
        </p:nvCxnSpPr>
        <p:spPr>
          <a:xfrm flipH="1" flipV="1">
            <a:off x="565087" y="5785212"/>
            <a:ext cx="1004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6" name="Connecteur droit 145"/>
          <p:cNvCxnSpPr/>
          <p:nvPr/>
        </p:nvCxnSpPr>
        <p:spPr>
          <a:xfrm flipH="1" flipV="1">
            <a:off x="552208" y="4922326"/>
            <a:ext cx="1004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9" name="Connecteur droit 148"/>
          <p:cNvCxnSpPr/>
          <p:nvPr/>
        </p:nvCxnSpPr>
        <p:spPr>
          <a:xfrm>
            <a:off x="9523791" y="3931240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0" name="Titre 1"/>
          <p:cNvSpPr txBox="1">
            <a:spLocks/>
          </p:cNvSpPr>
          <p:nvPr/>
        </p:nvSpPr>
        <p:spPr>
          <a:xfrm>
            <a:off x="3012333" y="447562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</a:t>
            </a:r>
            <a:endParaRPr lang="fr-FR" sz="1800" b="1" dirty="0"/>
          </a:p>
        </p:txBody>
      </p:sp>
      <p:sp>
        <p:nvSpPr>
          <p:cNvPr id="151" name="Titre 1"/>
          <p:cNvSpPr txBox="1">
            <a:spLocks/>
          </p:cNvSpPr>
          <p:nvPr/>
        </p:nvSpPr>
        <p:spPr>
          <a:xfrm>
            <a:off x="3023064" y="5323487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</a:t>
            </a:r>
            <a:endParaRPr lang="fr-FR" sz="1800" b="1" dirty="0"/>
          </a:p>
        </p:txBody>
      </p:sp>
      <p:sp>
        <p:nvSpPr>
          <p:cNvPr id="161" name="Titre 1"/>
          <p:cNvSpPr txBox="1">
            <a:spLocks/>
          </p:cNvSpPr>
          <p:nvPr/>
        </p:nvSpPr>
        <p:spPr>
          <a:xfrm>
            <a:off x="582906" y="5784785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163" name="Titre 1"/>
          <p:cNvSpPr txBox="1">
            <a:spLocks/>
          </p:cNvSpPr>
          <p:nvPr/>
        </p:nvSpPr>
        <p:spPr>
          <a:xfrm>
            <a:off x="4208628" y="5791412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64" name="Titre 1"/>
          <p:cNvSpPr txBox="1">
            <a:spLocks/>
          </p:cNvSpPr>
          <p:nvPr/>
        </p:nvSpPr>
        <p:spPr>
          <a:xfrm>
            <a:off x="5651483" y="5778269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65" name="Titre 1"/>
          <p:cNvSpPr txBox="1">
            <a:spLocks/>
          </p:cNvSpPr>
          <p:nvPr/>
        </p:nvSpPr>
        <p:spPr>
          <a:xfrm>
            <a:off x="1765612" y="579551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sp>
        <p:nvSpPr>
          <p:cNvPr id="166" name="Titre 1"/>
          <p:cNvSpPr txBox="1">
            <a:spLocks/>
          </p:cNvSpPr>
          <p:nvPr/>
        </p:nvSpPr>
        <p:spPr>
          <a:xfrm>
            <a:off x="8146783" y="5794627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67" name="Titre 1"/>
          <p:cNvSpPr txBox="1">
            <a:spLocks/>
          </p:cNvSpPr>
          <p:nvPr/>
        </p:nvSpPr>
        <p:spPr>
          <a:xfrm>
            <a:off x="3010185" y="5812881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</a:t>
            </a:r>
            <a:endParaRPr lang="fr-FR" sz="1800" b="1" dirty="0"/>
          </a:p>
        </p:txBody>
      </p:sp>
      <p:sp>
        <p:nvSpPr>
          <p:cNvPr id="171" name="Titre 1"/>
          <p:cNvSpPr txBox="1">
            <a:spLocks/>
          </p:cNvSpPr>
          <p:nvPr/>
        </p:nvSpPr>
        <p:spPr>
          <a:xfrm>
            <a:off x="6994095" y="4455464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</a:t>
            </a:r>
          </a:p>
        </p:txBody>
      </p:sp>
      <p:sp>
        <p:nvSpPr>
          <p:cNvPr id="172" name="Titre 1"/>
          <p:cNvSpPr txBox="1">
            <a:spLocks/>
          </p:cNvSpPr>
          <p:nvPr/>
        </p:nvSpPr>
        <p:spPr>
          <a:xfrm>
            <a:off x="7002545" y="4904321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</a:t>
            </a:r>
          </a:p>
        </p:txBody>
      </p:sp>
      <p:sp>
        <p:nvSpPr>
          <p:cNvPr id="173" name="Titre 1"/>
          <p:cNvSpPr txBox="1">
            <a:spLocks/>
          </p:cNvSpPr>
          <p:nvPr/>
        </p:nvSpPr>
        <p:spPr>
          <a:xfrm>
            <a:off x="6999895" y="5348927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</a:t>
            </a:r>
          </a:p>
        </p:txBody>
      </p:sp>
      <p:sp>
        <p:nvSpPr>
          <p:cNvPr id="174" name="Titre 1"/>
          <p:cNvSpPr txBox="1">
            <a:spLocks/>
          </p:cNvSpPr>
          <p:nvPr/>
        </p:nvSpPr>
        <p:spPr>
          <a:xfrm>
            <a:off x="6991947" y="5792719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</a:t>
            </a:r>
          </a:p>
        </p:txBody>
      </p:sp>
      <p:sp>
        <p:nvSpPr>
          <p:cNvPr id="77" name="Titre 1"/>
          <p:cNvSpPr txBox="1">
            <a:spLocks/>
          </p:cNvSpPr>
          <p:nvPr/>
        </p:nvSpPr>
        <p:spPr>
          <a:xfrm>
            <a:off x="3591420" y="2879520"/>
            <a:ext cx="1620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bordereau</a:t>
            </a:r>
            <a:endParaRPr lang="fr-FR" sz="1400" dirty="0"/>
          </a:p>
        </p:txBody>
      </p:sp>
      <p:sp>
        <p:nvSpPr>
          <p:cNvPr id="80" name="Rectangle 79"/>
          <p:cNvSpPr/>
          <p:nvPr/>
        </p:nvSpPr>
        <p:spPr>
          <a:xfrm>
            <a:off x="5216119" y="2922928"/>
            <a:ext cx="28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1" name="Rectangle 80"/>
          <p:cNvSpPr/>
          <p:nvPr/>
        </p:nvSpPr>
        <p:spPr>
          <a:xfrm>
            <a:off x="552208" y="2808979"/>
            <a:ext cx="10010100" cy="936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Titre 1"/>
          <p:cNvSpPr txBox="1">
            <a:spLocks/>
          </p:cNvSpPr>
          <p:nvPr/>
        </p:nvSpPr>
        <p:spPr>
          <a:xfrm>
            <a:off x="385190" y="2826791"/>
            <a:ext cx="3062148" cy="51042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u="sng" dirty="0" smtClean="0"/>
              <a:t>Bordereau de demande de prise en charge CNAS</a:t>
            </a:r>
            <a:endParaRPr lang="fr-FR" sz="1400" b="1" u="sng" dirty="0"/>
          </a:p>
        </p:txBody>
      </p:sp>
      <p:sp>
        <p:nvSpPr>
          <p:cNvPr id="107" name="Titre 1"/>
          <p:cNvSpPr txBox="1">
            <a:spLocks/>
          </p:cNvSpPr>
          <p:nvPr/>
        </p:nvSpPr>
        <p:spPr>
          <a:xfrm>
            <a:off x="3589272" y="3302379"/>
            <a:ext cx="1620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de bordereau</a:t>
            </a:r>
            <a:endParaRPr lang="fr-FR" sz="1400" dirty="0"/>
          </a:p>
        </p:txBody>
      </p:sp>
      <p:sp>
        <p:nvSpPr>
          <p:cNvPr id="109" name="Rectangle 108"/>
          <p:cNvSpPr/>
          <p:nvPr/>
        </p:nvSpPr>
        <p:spPr>
          <a:xfrm>
            <a:off x="5213971" y="3345787"/>
            <a:ext cx="144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0" name="Titre 1"/>
          <p:cNvSpPr txBox="1">
            <a:spLocks/>
          </p:cNvSpPr>
          <p:nvPr/>
        </p:nvSpPr>
        <p:spPr>
          <a:xfrm>
            <a:off x="8225174" y="4009050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 smtClean="0"/>
              <a:t>Observation</a:t>
            </a:r>
            <a:endParaRPr lang="fr-FR" dirty="0"/>
          </a:p>
        </p:txBody>
      </p:sp>
      <p:sp>
        <p:nvSpPr>
          <p:cNvPr id="111" name="Titre 1"/>
          <p:cNvSpPr txBox="1">
            <a:spLocks/>
          </p:cNvSpPr>
          <p:nvPr/>
        </p:nvSpPr>
        <p:spPr>
          <a:xfrm>
            <a:off x="9523791" y="4019781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 smtClean="0"/>
              <a:t>Sélection</a:t>
            </a:r>
            <a:endParaRPr lang="fr-FR" dirty="0"/>
          </a:p>
        </p:txBody>
      </p:sp>
      <p:sp>
        <p:nvSpPr>
          <p:cNvPr id="112" name="Ellipse 111"/>
          <p:cNvSpPr/>
          <p:nvPr/>
        </p:nvSpPr>
        <p:spPr>
          <a:xfrm flipV="1">
            <a:off x="9988862" y="4581127"/>
            <a:ext cx="180000" cy="18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4" name="Ellipse 113"/>
          <p:cNvSpPr/>
          <p:nvPr/>
        </p:nvSpPr>
        <p:spPr>
          <a:xfrm flipV="1">
            <a:off x="10010049" y="5051397"/>
            <a:ext cx="180000" cy="18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6" name="Ellipse 115"/>
          <p:cNvSpPr/>
          <p:nvPr/>
        </p:nvSpPr>
        <p:spPr>
          <a:xfrm flipV="1">
            <a:off x="10007901" y="5500011"/>
            <a:ext cx="180000" cy="18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7" name="Ellipse 116"/>
          <p:cNvSpPr/>
          <p:nvPr/>
        </p:nvSpPr>
        <p:spPr>
          <a:xfrm flipV="1">
            <a:off x="10007901" y="5963653"/>
            <a:ext cx="180000" cy="18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9" name="Rectangle 78"/>
          <p:cNvSpPr/>
          <p:nvPr/>
        </p:nvSpPr>
        <p:spPr>
          <a:xfrm>
            <a:off x="9271791" y="6361195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Ajouter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3436072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311736" y="902407"/>
            <a:ext cx="11736000" cy="586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2" name="Titre 1"/>
          <p:cNvSpPr txBox="1">
            <a:spLocks/>
          </p:cNvSpPr>
          <p:nvPr/>
        </p:nvSpPr>
        <p:spPr>
          <a:xfrm>
            <a:off x="1489279" y="3672070"/>
            <a:ext cx="1080000" cy="432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bordereau</a:t>
            </a:r>
            <a:endParaRPr lang="fr-FR" sz="1400" dirty="0"/>
          </a:p>
        </p:txBody>
      </p:sp>
      <p:sp>
        <p:nvSpPr>
          <p:cNvPr id="100" name="Titre 1"/>
          <p:cNvSpPr txBox="1">
            <a:spLocks/>
          </p:cNvSpPr>
          <p:nvPr/>
        </p:nvSpPr>
        <p:spPr>
          <a:xfrm>
            <a:off x="1587301" y="1970101"/>
            <a:ext cx="1620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</a:t>
            </a:r>
            <a:endParaRPr lang="fr-FR" sz="1400" dirty="0"/>
          </a:p>
        </p:txBody>
      </p:sp>
      <p:sp>
        <p:nvSpPr>
          <p:cNvPr id="101" name="Rectangle 100"/>
          <p:cNvSpPr/>
          <p:nvPr/>
        </p:nvSpPr>
        <p:spPr>
          <a:xfrm>
            <a:off x="3212000" y="2013509"/>
            <a:ext cx="28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Rectangle 101"/>
          <p:cNvSpPr/>
          <p:nvPr/>
        </p:nvSpPr>
        <p:spPr>
          <a:xfrm>
            <a:off x="1411744" y="1873802"/>
            <a:ext cx="7212880" cy="1542033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3" name="Titre 1"/>
          <p:cNvSpPr txBox="1">
            <a:spLocks/>
          </p:cNvSpPr>
          <p:nvPr/>
        </p:nvSpPr>
        <p:spPr>
          <a:xfrm>
            <a:off x="1571379" y="2428609"/>
            <a:ext cx="1620000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smtClean="0"/>
              <a:t>N</a:t>
            </a:r>
            <a:r>
              <a:rPr lang="fr-FR" dirty="0"/>
              <a:t>° </a:t>
            </a:r>
            <a:r>
              <a:rPr lang="fr-FR" dirty="0" smtClean="0"/>
              <a:t>bordereau </a:t>
            </a:r>
            <a:endParaRPr lang="fr-FR" dirty="0"/>
          </a:p>
        </p:txBody>
      </p:sp>
      <p:sp>
        <p:nvSpPr>
          <p:cNvPr id="104" name="Rectangle 103"/>
          <p:cNvSpPr/>
          <p:nvPr/>
        </p:nvSpPr>
        <p:spPr>
          <a:xfrm>
            <a:off x="3192360" y="2446615"/>
            <a:ext cx="16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2" name="Titre 1"/>
          <p:cNvSpPr txBox="1">
            <a:spLocks/>
          </p:cNvSpPr>
          <p:nvPr/>
        </p:nvSpPr>
        <p:spPr>
          <a:xfrm>
            <a:off x="2678728" y="3668529"/>
            <a:ext cx="1080000" cy="432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Date </a:t>
            </a:r>
            <a:r>
              <a:rPr lang="fr-FR" sz="1400" dirty="0" smtClean="0"/>
              <a:t>de bordereau</a:t>
            </a:r>
            <a:endParaRPr lang="fr-FR" sz="1400" dirty="0"/>
          </a:p>
        </p:txBody>
      </p:sp>
      <p:sp>
        <p:nvSpPr>
          <p:cNvPr id="84" name="Titre 1"/>
          <p:cNvSpPr txBox="1">
            <a:spLocks/>
          </p:cNvSpPr>
          <p:nvPr/>
        </p:nvSpPr>
        <p:spPr>
          <a:xfrm>
            <a:off x="3782683" y="3695190"/>
            <a:ext cx="1218068" cy="3809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de </a:t>
            </a:r>
            <a:r>
              <a:rPr lang="fr-FR" sz="1400" smtClean="0"/>
              <a:t>sécurité sociale</a:t>
            </a:r>
            <a:endParaRPr lang="fr-FR" sz="1400" dirty="0"/>
          </a:p>
        </p:txBody>
      </p:sp>
      <p:sp>
        <p:nvSpPr>
          <p:cNvPr id="106" name="Titre 1"/>
          <p:cNvSpPr txBox="1">
            <a:spLocks/>
          </p:cNvSpPr>
          <p:nvPr/>
        </p:nvSpPr>
        <p:spPr>
          <a:xfrm>
            <a:off x="5068163" y="370260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 smtClean="0"/>
              <a:t>Nom</a:t>
            </a:r>
            <a:endParaRPr lang="fr-FR" dirty="0"/>
          </a:p>
        </p:txBody>
      </p:sp>
      <p:sp>
        <p:nvSpPr>
          <p:cNvPr id="108" name="Titre 1"/>
          <p:cNvSpPr txBox="1">
            <a:spLocks/>
          </p:cNvSpPr>
          <p:nvPr/>
        </p:nvSpPr>
        <p:spPr>
          <a:xfrm>
            <a:off x="7493199" y="3697389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Catégorie</a:t>
            </a:r>
            <a:endParaRPr lang="fr-FR" sz="1400" dirty="0"/>
          </a:p>
        </p:txBody>
      </p:sp>
      <p:sp>
        <p:nvSpPr>
          <p:cNvPr id="156" name="Titre 1"/>
          <p:cNvSpPr txBox="1">
            <a:spLocks/>
          </p:cNvSpPr>
          <p:nvPr/>
        </p:nvSpPr>
        <p:spPr>
          <a:xfrm>
            <a:off x="6291793" y="3695190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 smtClean="0"/>
              <a:t>Prénom</a:t>
            </a:r>
            <a:endParaRPr lang="fr-FR" dirty="0"/>
          </a:p>
        </p:txBody>
      </p:sp>
      <p:sp>
        <p:nvSpPr>
          <p:cNvPr id="162" name="Titre 1"/>
          <p:cNvSpPr txBox="1">
            <a:spLocks/>
          </p:cNvSpPr>
          <p:nvPr/>
        </p:nvSpPr>
        <p:spPr>
          <a:xfrm>
            <a:off x="350762" y="946048"/>
            <a:ext cx="3892054" cy="66389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u="sng" dirty="0"/>
              <a:t>Consultation bordereau de demande prise en charge</a:t>
            </a:r>
          </a:p>
        </p:txBody>
      </p:sp>
      <p:sp>
        <p:nvSpPr>
          <p:cNvPr id="61" name="Titre 1"/>
          <p:cNvSpPr txBox="1">
            <a:spLocks/>
          </p:cNvSpPr>
          <p:nvPr/>
        </p:nvSpPr>
        <p:spPr>
          <a:xfrm>
            <a:off x="3626685" y="7493"/>
            <a:ext cx="5101042" cy="87542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21 – Patient -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Reporting /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/>
            </a:r>
            <a:b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</a:br>
            <a:r>
              <a:rPr 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Bordereau</a:t>
            </a:r>
            <a:r>
              <a:rPr lang="fr-FR" sz="1800" dirty="0"/>
              <a:t> </a:t>
            </a:r>
            <a:r>
              <a:rPr 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de demande de prise en charge </a:t>
            </a:r>
            <a:r>
              <a:rPr 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CNAS /</a:t>
            </a:r>
          </a:p>
          <a:p>
            <a:r>
              <a:rPr 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Consultation bordereau</a:t>
            </a:r>
            <a:endParaRPr lang="fr-FR" sz="1800" b="1" dirty="0" smtClean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66" name="Titre 1"/>
          <p:cNvSpPr txBox="1">
            <a:spLocks/>
          </p:cNvSpPr>
          <p:nvPr/>
        </p:nvSpPr>
        <p:spPr>
          <a:xfrm>
            <a:off x="1594878" y="2900134"/>
            <a:ext cx="1620000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smtClean="0"/>
              <a:t>Date de bordereau</a:t>
            </a:r>
            <a:endParaRPr lang="fr-FR" dirty="0"/>
          </a:p>
        </p:txBody>
      </p:sp>
      <p:sp>
        <p:nvSpPr>
          <p:cNvPr id="68" name="Rectangle 67"/>
          <p:cNvSpPr/>
          <p:nvPr/>
        </p:nvSpPr>
        <p:spPr>
          <a:xfrm>
            <a:off x="3665608" y="2928638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9" name="Rectangle 68"/>
          <p:cNvSpPr/>
          <p:nvPr/>
        </p:nvSpPr>
        <p:spPr>
          <a:xfrm>
            <a:off x="5299074" y="2939369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3" name="Titre 1"/>
          <p:cNvSpPr txBox="1">
            <a:spLocks/>
          </p:cNvSpPr>
          <p:nvPr/>
        </p:nvSpPr>
        <p:spPr>
          <a:xfrm>
            <a:off x="3114697" y="2915860"/>
            <a:ext cx="540000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 smtClean="0"/>
              <a:t>de</a:t>
            </a:r>
            <a:endParaRPr lang="fr-FR" dirty="0"/>
          </a:p>
        </p:txBody>
      </p:sp>
      <p:sp>
        <p:nvSpPr>
          <p:cNvPr id="74" name="Titre 1"/>
          <p:cNvSpPr txBox="1">
            <a:spLocks/>
          </p:cNvSpPr>
          <p:nvPr/>
        </p:nvSpPr>
        <p:spPr>
          <a:xfrm>
            <a:off x="4761037" y="2913712"/>
            <a:ext cx="540000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 smtClean="0"/>
              <a:t>au</a:t>
            </a:r>
            <a:endParaRPr lang="fr-FR" dirty="0"/>
          </a:p>
        </p:txBody>
      </p:sp>
      <p:sp>
        <p:nvSpPr>
          <p:cNvPr id="75" name="Rectangle 74"/>
          <p:cNvSpPr/>
          <p:nvPr/>
        </p:nvSpPr>
        <p:spPr>
          <a:xfrm>
            <a:off x="3214249" y="2856514"/>
            <a:ext cx="3600000" cy="432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6" name="Rectangle 75"/>
          <p:cNvSpPr/>
          <p:nvPr/>
        </p:nvSpPr>
        <p:spPr>
          <a:xfrm>
            <a:off x="7252204" y="2961976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Recherche</a:t>
            </a:r>
            <a:endParaRPr lang="fr-FR" sz="1400" dirty="0"/>
          </a:p>
        </p:txBody>
      </p:sp>
      <p:sp>
        <p:nvSpPr>
          <p:cNvPr id="86" name="Rectangle 85"/>
          <p:cNvSpPr/>
          <p:nvPr/>
        </p:nvSpPr>
        <p:spPr>
          <a:xfrm>
            <a:off x="1417187" y="3622492"/>
            <a:ext cx="7200000" cy="2340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95" name="Connecteur droit 94"/>
          <p:cNvCxnSpPr/>
          <p:nvPr/>
        </p:nvCxnSpPr>
        <p:spPr>
          <a:xfrm>
            <a:off x="4989951" y="3641962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9" name="Connecteur droit 98"/>
          <p:cNvCxnSpPr/>
          <p:nvPr/>
        </p:nvCxnSpPr>
        <p:spPr>
          <a:xfrm>
            <a:off x="2642182" y="3613505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5" name="Connecteur droit 104"/>
          <p:cNvCxnSpPr/>
          <p:nvPr/>
        </p:nvCxnSpPr>
        <p:spPr>
          <a:xfrm flipH="1" flipV="1">
            <a:off x="1408151" y="4130787"/>
            <a:ext cx="7200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3" name="Connecteur droit 112"/>
          <p:cNvCxnSpPr/>
          <p:nvPr/>
        </p:nvCxnSpPr>
        <p:spPr>
          <a:xfrm>
            <a:off x="3788519" y="3620344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5" name="Connecteur droit 114"/>
          <p:cNvCxnSpPr/>
          <p:nvPr/>
        </p:nvCxnSpPr>
        <p:spPr>
          <a:xfrm>
            <a:off x="6199684" y="3632071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9" name="Connecteur droit 118"/>
          <p:cNvCxnSpPr/>
          <p:nvPr/>
        </p:nvCxnSpPr>
        <p:spPr>
          <a:xfrm>
            <a:off x="7398130" y="3620344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1" name="Titre 1"/>
          <p:cNvSpPr txBox="1">
            <a:spLocks/>
          </p:cNvSpPr>
          <p:nvPr/>
        </p:nvSpPr>
        <p:spPr>
          <a:xfrm>
            <a:off x="1444590" y="4136634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122" name="Titre 1"/>
          <p:cNvSpPr txBox="1">
            <a:spLocks/>
          </p:cNvSpPr>
          <p:nvPr/>
        </p:nvSpPr>
        <p:spPr>
          <a:xfrm>
            <a:off x="5070312" y="4143261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23" name="Titre 1"/>
          <p:cNvSpPr txBox="1">
            <a:spLocks/>
          </p:cNvSpPr>
          <p:nvPr/>
        </p:nvSpPr>
        <p:spPr>
          <a:xfrm>
            <a:off x="6311999" y="4130118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25" name="Titre 1"/>
          <p:cNvSpPr txBox="1">
            <a:spLocks/>
          </p:cNvSpPr>
          <p:nvPr/>
        </p:nvSpPr>
        <p:spPr>
          <a:xfrm>
            <a:off x="2627296" y="4147365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sp>
        <p:nvSpPr>
          <p:cNvPr id="127" name="Titre 1"/>
          <p:cNvSpPr txBox="1">
            <a:spLocks/>
          </p:cNvSpPr>
          <p:nvPr/>
        </p:nvSpPr>
        <p:spPr>
          <a:xfrm>
            <a:off x="1442441" y="4585250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128" name="Titre 1"/>
          <p:cNvSpPr txBox="1">
            <a:spLocks/>
          </p:cNvSpPr>
          <p:nvPr/>
        </p:nvSpPr>
        <p:spPr>
          <a:xfrm>
            <a:off x="3874016" y="4591877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</a:t>
            </a:r>
            <a:endParaRPr lang="fr-FR" sz="1800" b="1" dirty="0"/>
          </a:p>
        </p:txBody>
      </p:sp>
      <p:sp>
        <p:nvSpPr>
          <p:cNvPr id="129" name="Titre 1"/>
          <p:cNvSpPr txBox="1">
            <a:spLocks/>
          </p:cNvSpPr>
          <p:nvPr/>
        </p:nvSpPr>
        <p:spPr>
          <a:xfrm>
            <a:off x="5068163" y="4591877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34" name="Titre 1"/>
          <p:cNvSpPr txBox="1">
            <a:spLocks/>
          </p:cNvSpPr>
          <p:nvPr/>
        </p:nvSpPr>
        <p:spPr>
          <a:xfrm>
            <a:off x="6321328" y="4603652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35" name="Titre 1"/>
          <p:cNvSpPr txBox="1">
            <a:spLocks/>
          </p:cNvSpPr>
          <p:nvPr/>
        </p:nvSpPr>
        <p:spPr>
          <a:xfrm>
            <a:off x="2625147" y="4595981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cxnSp>
        <p:nvCxnSpPr>
          <p:cNvPr id="138" name="Connecteur droit 137"/>
          <p:cNvCxnSpPr/>
          <p:nvPr/>
        </p:nvCxnSpPr>
        <p:spPr>
          <a:xfrm flipH="1" flipV="1">
            <a:off x="1413892" y="5051459"/>
            <a:ext cx="7200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9" name="Titre 1"/>
          <p:cNvSpPr txBox="1">
            <a:spLocks/>
          </p:cNvSpPr>
          <p:nvPr/>
        </p:nvSpPr>
        <p:spPr>
          <a:xfrm>
            <a:off x="1440294" y="5020983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140" name="Titre 1"/>
          <p:cNvSpPr txBox="1">
            <a:spLocks/>
          </p:cNvSpPr>
          <p:nvPr/>
        </p:nvSpPr>
        <p:spPr>
          <a:xfrm>
            <a:off x="5040258" y="5027610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41" name="Titre 1"/>
          <p:cNvSpPr txBox="1">
            <a:spLocks/>
          </p:cNvSpPr>
          <p:nvPr/>
        </p:nvSpPr>
        <p:spPr>
          <a:xfrm>
            <a:off x="6320026" y="5027610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42" name="Titre 1"/>
          <p:cNvSpPr txBox="1">
            <a:spLocks/>
          </p:cNvSpPr>
          <p:nvPr/>
        </p:nvSpPr>
        <p:spPr>
          <a:xfrm>
            <a:off x="2635879" y="5031714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cxnSp>
        <p:nvCxnSpPr>
          <p:cNvPr id="145" name="Connecteur droit 144"/>
          <p:cNvCxnSpPr/>
          <p:nvPr/>
        </p:nvCxnSpPr>
        <p:spPr>
          <a:xfrm flipH="1" flipV="1">
            <a:off x="1424623" y="5474316"/>
            <a:ext cx="7200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6" name="Connecteur droit 145"/>
          <p:cNvCxnSpPr/>
          <p:nvPr/>
        </p:nvCxnSpPr>
        <p:spPr>
          <a:xfrm flipH="1" flipV="1">
            <a:off x="1411744" y="4611430"/>
            <a:ext cx="7200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0" name="Titre 1"/>
          <p:cNvSpPr txBox="1">
            <a:spLocks/>
          </p:cNvSpPr>
          <p:nvPr/>
        </p:nvSpPr>
        <p:spPr>
          <a:xfrm>
            <a:off x="3871869" y="4164730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</a:t>
            </a:r>
            <a:endParaRPr lang="fr-FR" sz="1800" b="1" dirty="0"/>
          </a:p>
        </p:txBody>
      </p:sp>
      <p:sp>
        <p:nvSpPr>
          <p:cNvPr id="151" name="Titre 1"/>
          <p:cNvSpPr txBox="1">
            <a:spLocks/>
          </p:cNvSpPr>
          <p:nvPr/>
        </p:nvSpPr>
        <p:spPr>
          <a:xfrm>
            <a:off x="3882600" y="5012591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</a:t>
            </a:r>
            <a:endParaRPr lang="fr-FR" sz="1800" b="1" dirty="0"/>
          </a:p>
        </p:txBody>
      </p:sp>
      <p:sp>
        <p:nvSpPr>
          <p:cNvPr id="161" name="Titre 1"/>
          <p:cNvSpPr txBox="1">
            <a:spLocks/>
          </p:cNvSpPr>
          <p:nvPr/>
        </p:nvSpPr>
        <p:spPr>
          <a:xfrm>
            <a:off x="1442442" y="5473889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163" name="Titre 1"/>
          <p:cNvSpPr txBox="1">
            <a:spLocks/>
          </p:cNvSpPr>
          <p:nvPr/>
        </p:nvSpPr>
        <p:spPr>
          <a:xfrm>
            <a:off x="5068164" y="548051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64" name="Titre 1"/>
          <p:cNvSpPr txBox="1">
            <a:spLocks/>
          </p:cNvSpPr>
          <p:nvPr/>
        </p:nvSpPr>
        <p:spPr>
          <a:xfrm>
            <a:off x="6309851" y="5467373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65" name="Titre 1"/>
          <p:cNvSpPr txBox="1">
            <a:spLocks/>
          </p:cNvSpPr>
          <p:nvPr/>
        </p:nvSpPr>
        <p:spPr>
          <a:xfrm>
            <a:off x="2625148" y="5484620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sp>
        <p:nvSpPr>
          <p:cNvPr id="167" name="Titre 1"/>
          <p:cNvSpPr txBox="1">
            <a:spLocks/>
          </p:cNvSpPr>
          <p:nvPr/>
        </p:nvSpPr>
        <p:spPr>
          <a:xfrm>
            <a:off x="3869721" y="5501985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</a:t>
            </a:r>
            <a:endParaRPr lang="fr-FR" sz="1800" b="1" dirty="0"/>
          </a:p>
        </p:txBody>
      </p:sp>
      <p:sp>
        <p:nvSpPr>
          <p:cNvPr id="171" name="Titre 1"/>
          <p:cNvSpPr txBox="1">
            <a:spLocks/>
          </p:cNvSpPr>
          <p:nvPr/>
        </p:nvSpPr>
        <p:spPr>
          <a:xfrm>
            <a:off x="7433007" y="4144568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</a:t>
            </a:r>
          </a:p>
        </p:txBody>
      </p:sp>
      <p:sp>
        <p:nvSpPr>
          <p:cNvPr id="172" name="Titre 1"/>
          <p:cNvSpPr txBox="1">
            <a:spLocks/>
          </p:cNvSpPr>
          <p:nvPr/>
        </p:nvSpPr>
        <p:spPr>
          <a:xfrm>
            <a:off x="7441457" y="4593425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</a:t>
            </a:r>
          </a:p>
        </p:txBody>
      </p:sp>
      <p:sp>
        <p:nvSpPr>
          <p:cNvPr id="173" name="Titre 1"/>
          <p:cNvSpPr txBox="1">
            <a:spLocks/>
          </p:cNvSpPr>
          <p:nvPr/>
        </p:nvSpPr>
        <p:spPr>
          <a:xfrm>
            <a:off x="7438807" y="5038031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</a:t>
            </a:r>
          </a:p>
        </p:txBody>
      </p:sp>
      <p:sp>
        <p:nvSpPr>
          <p:cNvPr id="174" name="Titre 1"/>
          <p:cNvSpPr txBox="1">
            <a:spLocks/>
          </p:cNvSpPr>
          <p:nvPr/>
        </p:nvSpPr>
        <p:spPr>
          <a:xfrm>
            <a:off x="7430859" y="5481823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278399" y="6141739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Ajouter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8173850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489617" y="59579"/>
            <a:ext cx="4620714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22 – Observations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Antécédent / physiologique</a:t>
            </a:r>
            <a:endParaRPr lang="fr-FR" sz="1800" dirty="0"/>
          </a:p>
        </p:txBody>
      </p:sp>
      <p:sp>
        <p:nvSpPr>
          <p:cNvPr id="84" name="Rectangle 83"/>
          <p:cNvSpPr/>
          <p:nvPr/>
        </p:nvSpPr>
        <p:spPr>
          <a:xfrm>
            <a:off x="191992" y="689429"/>
            <a:ext cx="11758269" cy="524635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1964661" y="853386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355023" y="840281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182390" y="859793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152059" y="898412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326245" y="853688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7736488" y="905040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1914072" y="784044"/>
            <a:ext cx="9936000" cy="53385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Titre 1"/>
          <p:cNvSpPr txBox="1">
            <a:spLocks/>
          </p:cNvSpPr>
          <p:nvPr/>
        </p:nvSpPr>
        <p:spPr>
          <a:xfrm>
            <a:off x="73859" y="1272449"/>
            <a:ext cx="2137032" cy="54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Suivi des antécédents</a:t>
            </a:r>
            <a:endParaRPr lang="fr-FR" sz="1600" b="1" u="sng" dirty="0"/>
          </a:p>
        </p:txBody>
      </p:sp>
      <p:sp>
        <p:nvSpPr>
          <p:cNvPr id="117" name="Rectangle 116"/>
          <p:cNvSpPr/>
          <p:nvPr/>
        </p:nvSpPr>
        <p:spPr>
          <a:xfrm>
            <a:off x="6572921" y="2768386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8" name="Titre 1"/>
          <p:cNvSpPr txBox="1">
            <a:spLocks/>
          </p:cNvSpPr>
          <p:nvPr/>
        </p:nvSpPr>
        <p:spPr>
          <a:xfrm>
            <a:off x="575759" y="3302925"/>
            <a:ext cx="180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Grossesse</a:t>
            </a:r>
            <a:endParaRPr lang="fr-FR" sz="1400" dirty="0"/>
          </a:p>
        </p:txBody>
      </p:sp>
      <p:sp>
        <p:nvSpPr>
          <p:cNvPr id="119" name="Rectangle 118"/>
          <p:cNvSpPr/>
          <p:nvPr/>
        </p:nvSpPr>
        <p:spPr>
          <a:xfrm>
            <a:off x="6577610" y="3354497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0" name="Titre 1"/>
          <p:cNvSpPr txBox="1">
            <a:spLocks/>
          </p:cNvSpPr>
          <p:nvPr/>
        </p:nvSpPr>
        <p:spPr>
          <a:xfrm>
            <a:off x="4769077" y="2784729"/>
            <a:ext cx="180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Poids de naissance</a:t>
            </a:r>
            <a:endParaRPr lang="fr-FR" sz="1400" dirty="0"/>
          </a:p>
        </p:txBody>
      </p:sp>
      <p:sp>
        <p:nvSpPr>
          <p:cNvPr id="121" name="Rectangle 120"/>
          <p:cNvSpPr/>
          <p:nvPr/>
        </p:nvSpPr>
        <p:spPr>
          <a:xfrm>
            <a:off x="4369331" y="4907611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4" name="Rectangle 123"/>
          <p:cNvSpPr/>
          <p:nvPr/>
        </p:nvSpPr>
        <p:spPr>
          <a:xfrm>
            <a:off x="1964661" y="4888561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5" name="Titre 1"/>
          <p:cNvSpPr txBox="1">
            <a:spLocks/>
          </p:cNvSpPr>
          <p:nvPr/>
        </p:nvSpPr>
        <p:spPr>
          <a:xfrm>
            <a:off x="8423525" y="3354497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Semaine(s)</a:t>
            </a:r>
            <a:endParaRPr lang="fr-FR" sz="1400" dirty="0"/>
          </a:p>
        </p:txBody>
      </p:sp>
      <p:sp>
        <p:nvSpPr>
          <p:cNvPr id="126" name="Rectangle 125"/>
          <p:cNvSpPr/>
          <p:nvPr/>
        </p:nvSpPr>
        <p:spPr>
          <a:xfrm>
            <a:off x="6578442" y="3952702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307590" y="2363536"/>
            <a:ext cx="11556000" cy="3060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0" name="Rectangle 129"/>
          <p:cNvSpPr/>
          <p:nvPr/>
        </p:nvSpPr>
        <p:spPr>
          <a:xfrm>
            <a:off x="10506403" y="5518718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Valider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83953" y="1710477"/>
            <a:ext cx="1260000" cy="54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Physiologique</a:t>
            </a:r>
            <a:endParaRPr lang="fr-FR" sz="1400" dirty="0"/>
          </a:p>
        </p:txBody>
      </p:sp>
      <p:sp>
        <p:nvSpPr>
          <p:cNvPr id="132" name="Rectangle 131"/>
          <p:cNvSpPr/>
          <p:nvPr/>
        </p:nvSpPr>
        <p:spPr>
          <a:xfrm>
            <a:off x="1595032" y="1717105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Vaccination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915874" y="1725891"/>
            <a:ext cx="1692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Facteurs des risques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58736" y="1731760"/>
            <a:ext cx="1872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Antécédents médicaux / chirurgicaux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1976506" y="2811796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6" name="Titre 1"/>
          <p:cNvSpPr txBox="1">
            <a:spLocks/>
          </p:cNvSpPr>
          <p:nvPr/>
        </p:nvSpPr>
        <p:spPr>
          <a:xfrm>
            <a:off x="575759" y="2788058"/>
            <a:ext cx="180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Accouchement</a:t>
            </a:r>
            <a:endParaRPr lang="fr-FR" sz="1400" dirty="0"/>
          </a:p>
        </p:txBody>
      </p:sp>
      <p:sp>
        <p:nvSpPr>
          <p:cNvPr id="137" name="Triangle isocèle 136"/>
          <p:cNvSpPr/>
          <p:nvPr/>
        </p:nvSpPr>
        <p:spPr>
          <a:xfrm rot="10800000">
            <a:off x="3495122" y="2832804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345444" y="924164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434893" y="907746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099371" y="91378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7785158" y="932612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2" name="Rectangle 141"/>
          <p:cNvSpPr/>
          <p:nvPr/>
        </p:nvSpPr>
        <p:spPr>
          <a:xfrm>
            <a:off x="6584266" y="1736155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Antécédents familiaux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7907827" y="1721048"/>
            <a:ext cx="1332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Néphropathies </a:t>
            </a:r>
            <a:r>
              <a:rPr lang="fr-FR" sz="1400" dirty="0" smtClean="0"/>
              <a:t>causales</a:t>
            </a:r>
            <a:endParaRPr lang="fr-FR" sz="1400" dirty="0"/>
          </a:p>
        </p:txBody>
      </p:sp>
      <p:sp>
        <p:nvSpPr>
          <p:cNvPr id="144" name="Rectangle 143"/>
          <p:cNvSpPr/>
          <p:nvPr/>
        </p:nvSpPr>
        <p:spPr>
          <a:xfrm>
            <a:off x="9298301" y="1733118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Allergologie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0615495" y="1738987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Psychiatrique</a:t>
            </a: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35759" y="700949"/>
            <a:ext cx="1080000" cy="54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Patient</a:t>
            </a:r>
            <a:endParaRPr lang="fr-FR" sz="1600" b="1" u="sng" dirty="0"/>
          </a:p>
        </p:txBody>
      </p:sp>
      <p:sp>
        <p:nvSpPr>
          <p:cNvPr id="2" name="Rectangle 1"/>
          <p:cNvSpPr/>
          <p:nvPr/>
        </p:nvSpPr>
        <p:spPr>
          <a:xfrm>
            <a:off x="578128" y="3992221"/>
            <a:ext cx="1931650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Réanimation </a:t>
            </a: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néonatale</a:t>
            </a:r>
            <a:endParaRPr lang="fr-FR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747806" y="3903480"/>
            <a:ext cx="540000" cy="36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Oui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747806" y="4269223"/>
            <a:ext cx="540000" cy="36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Non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97600" y="3991992"/>
            <a:ext cx="1080000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Fratrie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5759" y="4940147"/>
            <a:ext cx="1800000" cy="3600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Age </a:t>
            </a: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ménarchie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060723" y="4925716"/>
            <a:ext cx="360000" cy="32284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276728" y="4932291"/>
            <a:ext cx="360000" cy="32284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745345" y="4958724"/>
            <a:ext cx="1053494" cy="3228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Ménopause</a:t>
            </a:r>
            <a:endParaRPr lang="fr-FR" sz="1400" dirty="0"/>
          </a:p>
        </p:txBody>
      </p:sp>
      <p:sp>
        <p:nvSpPr>
          <p:cNvPr id="73" name="Rectangle 72"/>
          <p:cNvSpPr/>
          <p:nvPr/>
        </p:nvSpPr>
        <p:spPr>
          <a:xfrm>
            <a:off x="1976506" y="3364921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4" name="Triangle isocèle 73"/>
          <p:cNvSpPr/>
          <p:nvPr/>
        </p:nvSpPr>
        <p:spPr>
          <a:xfrm rot="10800000">
            <a:off x="3514172" y="3404304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5" name="Rectangle 74"/>
          <p:cNvSpPr/>
          <p:nvPr/>
        </p:nvSpPr>
        <p:spPr>
          <a:xfrm>
            <a:off x="584791" y="3850473"/>
            <a:ext cx="3229815" cy="802533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Ellipse 9"/>
          <p:cNvSpPr/>
          <p:nvPr/>
        </p:nvSpPr>
        <p:spPr>
          <a:xfrm>
            <a:off x="3307273" y="3963066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7" name="Ellipse 76"/>
          <p:cNvSpPr/>
          <p:nvPr/>
        </p:nvSpPr>
        <p:spPr>
          <a:xfrm>
            <a:off x="3307273" y="4344066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8" name="Titre 1"/>
          <p:cNvSpPr txBox="1">
            <a:spLocks/>
          </p:cNvSpPr>
          <p:nvPr/>
        </p:nvSpPr>
        <p:spPr>
          <a:xfrm>
            <a:off x="8423525" y="2782997"/>
            <a:ext cx="36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Kg</a:t>
            </a:r>
            <a:endParaRPr lang="fr-FR" sz="1400" dirty="0"/>
          </a:p>
        </p:txBody>
      </p:sp>
      <p:sp>
        <p:nvSpPr>
          <p:cNvPr id="79" name="Rectangle 78"/>
          <p:cNvSpPr/>
          <p:nvPr/>
        </p:nvSpPr>
        <p:spPr>
          <a:xfrm>
            <a:off x="6579131" y="4907611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0" name="Rectangle 79"/>
          <p:cNvSpPr/>
          <p:nvPr/>
        </p:nvSpPr>
        <p:spPr>
          <a:xfrm>
            <a:off x="9817631" y="4907611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1" name="Titre 1"/>
          <p:cNvSpPr txBox="1">
            <a:spLocks/>
          </p:cNvSpPr>
          <p:nvPr/>
        </p:nvSpPr>
        <p:spPr>
          <a:xfrm>
            <a:off x="5504046" y="336737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Ça fait</a:t>
            </a:r>
            <a:endParaRPr lang="fr-FR" sz="1400" dirty="0"/>
          </a:p>
        </p:txBody>
      </p:sp>
      <p:sp>
        <p:nvSpPr>
          <p:cNvPr id="82" name="Titre 1"/>
          <p:cNvSpPr txBox="1">
            <a:spLocks/>
          </p:cNvSpPr>
          <p:nvPr/>
        </p:nvSpPr>
        <p:spPr>
          <a:xfrm>
            <a:off x="293341" y="6069139"/>
            <a:ext cx="5929569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dirty="0" smtClean="0"/>
              <a:t>Accouchement 	: </a:t>
            </a:r>
            <a:r>
              <a:rPr lang="fr-FR" sz="1600" dirty="0" smtClean="0"/>
              <a:t>normal, voie basse, dystocique, césarienne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dirty="0" smtClean="0"/>
              <a:t>Grossesse</a:t>
            </a:r>
            <a:r>
              <a:rPr lang="fr-FR" sz="1600" b="1" dirty="0"/>
              <a:t> </a:t>
            </a:r>
            <a:r>
              <a:rPr lang="fr-FR" sz="1600" b="1" dirty="0" smtClean="0"/>
              <a:t>		: </a:t>
            </a:r>
            <a:r>
              <a:rPr lang="fr-FR" sz="1600" dirty="0" smtClean="0"/>
              <a:t>normale, à terme, prématurée </a:t>
            </a:r>
            <a:endParaRPr lang="fr-FR" sz="1600" b="1" dirty="0"/>
          </a:p>
        </p:txBody>
      </p:sp>
      <p:sp>
        <p:nvSpPr>
          <p:cNvPr id="12" name="Rectangle 11"/>
          <p:cNvSpPr/>
          <p:nvPr/>
        </p:nvSpPr>
        <p:spPr>
          <a:xfrm>
            <a:off x="306201" y="2329934"/>
            <a:ext cx="137069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b="1" u="sng" dirty="0"/>
              <a:t>Physiologique</a:t>
            </a:r>
          </a:p>
        </p:txBody>
      </p:sp>
    </p:spTree>
    <p:extLst>
      <p:ext uri="{BB962C8B-B14F-4D97-AF65-F5344CB8AC3E}">
        <p14:creationId xmlns:p14="http://schemas.microsoft.com/office/powerpoint/2010/main" val="38607791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489617" y="59579"/>
            <a:ext cx="4620714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23 – Observations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Antécédent /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Vaccination</a:t>
            </a:r>
            <a:endParaRPr lang="fr-FR" sz="1800" dirty="0"/>
          </a:p>
        </p:txBody>
      </p:sp>
      <p:sp>
        <p:nvSpPr>
          <p:cNvPr id="84" name="Rectangle 83"/>
          <p:cNvSpPr/>
          <p:nvPr/>
        </p:nvSpPr>
        <p:spPr>
          <a:xfrm>
            <a:off x="191992" y="689429"/>
            <a:ext cx="11758269" cy="524635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1964661" y="853386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355023" y="840281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182390" y="859793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152059" y="898412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326245" y="853688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7736488" y="905040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1914072" y="784044"/>
            <a:ext cx="9936000" cy="53385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Titre 1"/>
          <p:cNvSpPr txBox="1">
            <a:spLocks/>
          </p:cNvSpPr>
          <p:nvPr/>
        </p:nvSpPr>
        <p:spPr>
          <a:xfrm>
            <a:off x="73859" y="1272449"/>
            <a:ext cx="2137032" cy="54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Suivi des antécédents</a:t>
            </a:r>
            <a:endParaRPr lang="fr-FR" sz="1600" b="1" u="sng" dirty="0"/>
          </a:p>
        </p:txBody>
      </p:sp>
      <p:sp>
        <p:nvSpPr>
          <p:cNvPr id="117" name="Rectangle 116"/>
          <p:cNvSpPr/>
          <p:nvPr/>
        </p:nvSpPr>
        <p:spPr>
          <a:xfrm>
            <a:off x="6215943" y="4806639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9" name="Rectangle 118"/>
          <p:cNvSpPr/>
          <p:nvPr/>
        </p:nvSpPr>
        <p:spPr>
          <a:xfrm>
            <a:off x="6215943" y="3432120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0" name="Titre 1"/>
          <p:cNvSpPr txBox="1">
            <a:spLocks/>
          </p:cNvSpPr>
          <p:nvPr/>
        </p:nvSpPr>
        <p:spPr>
          <a:xfrm>
            <a:off x="4206783" y="280348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</a:t>
            </a:r>
            <a:endParaRPr lang="fr-FR" sz="1400" dirty="0"/>
          </a:p>
        </p:txBody>
      </p:sp>
      <p:sp>
        <p:nvSpPr>
          <p:cNvPr id="121" name="Rectangle 120"/>
          <p:cNvSpPr/>
          <p:nvPr/>
        </p:nvSpPr>
        <p:spPr>
          <a:xfrm>
            <a:off x="3837149" y="4142829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4" name="Rectangle 123"/>
          <p:cNvSpPr/>
          <p:nvPr/>
        </p:nvSpPr>
        <p:spPr>
          <a:xfrm>
            <a:off x="3837149" y="3404727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6" name="Rectangle 125"/>
          <p:cNvSpPr/>
          <p:nvPr/>
        </p:nvSpPr>
        <p:spPr>
          <a:xfrm>
            <a:off x="6215943" y="4124372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307590" y="2363536"/>
            <a:ext cx="11556000" cy="3060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0" name="Rectangle 129"/>
          <p:cNvSpPr/>
          <p:nvPr/>
        </p:nvSpPr>
        <p:spPr>
          <a:xfrm>
            <a:off x="10450227" y="5011035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Valider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83953" y="1710477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Physiologique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595032" y="1717105"/>
            <a:ext cx="1260000" cy="54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Vaccination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915874" y="1725891"/>
            <a:ext cx="1692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Facteurs des risques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58736" y="1731760"/>
            <a:ext cx="1872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Antécédents médicaux / chirurgicaux</a:t>
            </a:r>
          </a:p>
        </p:txBody>
      </p:sp>
      <p:sp>
        <p:nvSpPr>
          <p:cNvPr id="136" name="Titre 1"/>
          <p:cNvSpPr txBox="1">
            <a:spLocks/>
          </p:cNvSpPr>
          <p:nvPr/>
        </p:nvSpPr>
        <p:spPr>
          <a:xfrm>
            <a:off x="1961206" y="2809392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Vaccin</a:t>
            </a:r>
            <a:endParaRPr lang="fr-FR" sz="1400" dirty="0"/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345444" y="924164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434893" y="907746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099371" y="91378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7785158" y="932612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2" name="Rectangle 141"/>
          <p:cNvSpPr/>
          <p:nvPr/>
        </p:nvSpPr>
        <p:spPr>
          <a:xfrm>
            <a:off x="6584266" y="1736155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Antécédents familiaux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7907827" y="1721048"/>
            <a:ext cx="1332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Néphropathies </a:t>
            </a:r>
            <a:r>
              <a:rPr lang="fr-FR" sz="1400" dirty="0" smtClean="0"/>
              <a:t>causales</a:t>
            </a:r>
            <a:endParaRPr lang="fr-FR" sz="1400" dirty="0"/>
          </a:p>
        </p:txBody>
      </p:sp>
      <p:sp>
        <p:nvSpPr>
          <p:cNvPr id="144" name="Rectangle 143"/>
          <p:cNvSpPr/>
          <p:nvPr/>
        </p:nvSpPr>
        <p:spPr>
          <a:xfrm>
            <a:off x="9298301" y="1733118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Allergologie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0615495" y="1738987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Psychiatrique</a:t>
            </a: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35759" y="700949"/>
            <a:ext cx="1080000" cy="54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Patient</a:t>
            </a:r>
            <a:endParaRPr lang="fr-FR" sz="1600" b="1" u="sng" dirty="0"/>
          </a:p>
        </p:txBody>
      </p:sp>
      <p:sp>
        <p:nvSpPr>
          <p:cNvPr id="5" name="Rectangle 4"/>
          <p:cNvSpPr/>
          <p:nvPr/>
        </p:nvSpPr>
        <p:spPr>
          <a:xfrm>
            <a:off x="8472827" y="2803485"/>
            <a:ext cx="900000" cy="36000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Ajouter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1557406" y="3383971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4" name="Triangle isocèle 73"/>
          <p:cNvSpPr/>
          <p:nvPr/>
        </p:nvSpPr>
        <p:spPr>
          <a:xfrm rot="10800000">
            <a:off x="3095072" y="3423354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5" name="Rectangle 74"/>
          <p:cNvSpPr/>
          <p:nvPr/>
        </p:nvSpPr>
        <p:spPr>
          <a:xfrm>
            <a:off x="1461090" y="2764622"/>
            <a:ext cx="8091818" cy="2520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8" name="Titre 1"/>
          <p:cNvSpPr txBox="1">
            <a:spLocks/>
          </p:cNvSpPr>
          <p:nvPr/>
        </p:nvSpPr>
        <p:spPr>
          <a:xfrm>
            <a:off x="6403734" y="2805908"/>
            <a:ext cx="144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Commentaire </a:t>
            </a:r>
            <a:endParaRPr lang="fr-FR" sz="1400" dirty="0"/>
          </a:p>
        </p:txBody>
      </p:sp>
      <p:sp>
        <p:nvSpPr>
          <p:cNvPr id="79" name="Rectangle 78"/>
          <p:cNvSpPr/>
          <p:nvPr/>
        </p:nvSpPr>
        <p:spPr>
          <a:xfrm>
            <a:off x="3837149" y="4831035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2" name="Titre 1"/>
          <p:cNvSpPr txBox="1">
            <a:spLocks/>
          </p:cNvSpPr>
          <p:nvPr/>
        </p:nvSpPr>
        <p:spPr>
          <a:xfrm>
            <a:off x="293341" y="6069139"/>
            <a:ext cx="9580575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dirty="0" smtClean="0"/>
              <a:t>Vaccin : </a:t>
            </a:r>
            <a:r>
              <a:rPr lang="fr-FR" sz="1600" dirty="0" smtClean="0"/>
              <a:t>BCG, Diphtérie, DT-Coq, Grippe, Hépatite B, Méningo-Coq , Pneumo-Coq, Polio inactivée, Tétanos. </a:t>
            </a:r>
            <a:endParaRPr lang="fr-FR" sz="1600" b="1" dirty="0"/>
          </a:p>
        </p:txBody>
      </p:sp>
      <p:sp>
        <p:nvSpPr>
          <p:cNvPr id="12" name="Rectangle 11"/>
          <p:cNvSpPr/>
          <p:nvPr/>
        </p:nvSpPr>
        <p:spPr>
          <a:xfrm>
            <a:off x="306201" y="2329934"/>
            <a:ext cx="117006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b="1" u="sng" dirty="0"/>
              <a:t>Vaccination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557406" y="4107871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2" name="Triangle isocèle 61"/>
          <p:cNvSpPr/>
          <p:nvPr/>
        </p:nvSpPr>
        <p:spPr>
          <a:xfrm rot="10800000">
            <a:off x="3095072" y="4147254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3" name="Rectangle 62"/>
          <p:cNvSpPr/>
          <p:nvPr/>
        </p:nvSpPr>
        <p:spPr>
          <a:xfrm>
            <a:off x="1576456" y="4793671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5" name="Triangle isocèle 64"/>
          <p:cNvSpPr/>
          <p:nvPr/>
        </p:nvSpPr>
        <p:spPr>
          <a:xfrm rot="10800000">
            <a:off x="3114122" y="4833054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3" name="Connecteur droit 12"/>
          <p:cNvCxnSpPr/>
          <p:nvPr/>
        </p:nvCxnSpPr>
        <p:spPr>
          <a:xfrm>
            <a:off x="3602084" y="2764622"/>
            <a:ext cx="0" cy="252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7" name="Connecteur droit 66"/>
          <p:cNvCxnSpPr/>
          <p:nvPr/>
        </p:nvCxnSpPr>
        <p:spPr>
          <a:xfrm>
            <a:off x="5888084" y="2783672"/>
            <a:ext cx="0" cy="252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8" name="Connecteur droit 67"/>
          <p:cNvCxnSpPr/>
          <p:nvPr/>
        </p:nvCxnSpPr>
        <p:spPr>
          <a:xfrm>
            <a:off x="8383634" y="2783672"/>
            <a:ext cx="0" cy="252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" name="Plus 14"/>
          <p:cNvSpPr/>
          <p:nvPr/>
        </p:nvSpPr>
        <p:spPr>
          <a:xfrm>
            <a:off x="8782050" y="3403021"/>
            <a:ext cx="360000" cy="360000"/>
          </a:xfrm>
          <a:prstGeom prst="mathPlu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1" name="Plus 70"/>
          <p:cNvSpPr/>
          <p:nvPr/>
        </p:nvSpPr>
        <p:spPr>
          <a:xfrm>
            <a:off x="8782050" y="4069771"/>
            <a:ext cx="360000" cy="360000"/>
          </a:xfrm>
          <a:prstGeom prst="mathPlu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2" name="Plus 71"/>
          <p:cNvSpPr/>
          <p:nvPr/>
        </p:nvSpPr>
        <p:spPr>
          <a:xfrm>
            <a:off x="8782050" y="4717471"/>
            <a:ext cx="360000" cy="360000"/>
          </a:xfrm>
          <a:prstGeom prst="mathPlu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76" name="Connecteur droit 75"/>
          <p:cNvCxnSpPr/>
          <p:nvPr/>
        </p:nvCxnSpPr>
        <p:spPr>
          <a:xfrm>
            <a:off x="1462155" y="3277786"/>
            <a:ext cx="806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9" name="Connecteur droit 88"/>
          <p:cNvCxnSpPr/>
          <p:nvPr/>
        </p:nvCxnSpPr>
        <p:spPr>
          <a:xfrm>
            <a:off x="1462155" y="3944536"/>
            <a:ext cx="806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0" name="Connecteur droit 89"/>
          <p:cNvCxnSpPr/>
          <p:nvPr/>
        </p:nvCxnSpPr>
        <p:spPr>
          <a:xfrm>
            <a:off x="1462155" y="4611286"/>
            <a:ext cx="806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1258747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489617" y="59579"/>
            <a:ext cx="4620714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24 – Observations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Antécédent / </a:t>
            </a:r>
            <a:r>
              <a:rPr 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Facteurs des risques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91992" y="556080"/>
            <a:ext cx="11758269" cy="57416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2667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602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-11272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-1844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1964661" y="720036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355023" y="706931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182390" y="726443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152059" y="765062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326245" y="720338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7736488" y="771690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1914072" y="650694"/>
            <a:ext cx="9936000" cy="53385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Titre 1"/>
          <p:cNvSpPr txBox="1">
            <a:spLocks/>
          </p:cNvSpPr>
          <p:nvPr/>
        </p:nvSpPr>
        <p:spPr>
          <a:xfrm>
            <a:off x="73859" y="1139099"/>
            <a:ext cx="2137032" cy="54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Suivi des antécédents</a:t>
            </a:r>
            <a:endParaRPr lang="fr-FR" sz="1600" b="1" u="sng" dirty="0"/>
          </a:p>
        </p:txBody>
      </p:sp>
      <p:sp>
        <p:nvSpPr>
          <p:cNvPr id="117" name="Rectangle 116"/>
          <p:cNvSpPr/>
          <p:nvPr/>
        </p:nvSpPr>
        <p:spPr>
          <a:xfrm>
            <a:off x="6233672" y="2731782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8" name="Titre 1"/>
          <p:cNvSpPr txBox="1">
            <a:spLocks/>
          </p:cNvSpPr>
          <p:nvPr/>
        </p:nvSpPr>
        <p:spPr>
          <a:xfrm>
            <a:off x="575759" y="3169575"/>
            <a:ext cx="180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Diabète</a:t>
            </a:r>
            <a:endParaRPr lang="fr-FR" sz="1400" dirty="0"/>
          </a:p>
        </p:txBody>
      </p:sp>
      <p:sp>
        <p:nvSpPr>
          <p:cNvPr id="119" name="Rectangle 118"/>
          <p:cNvSpPr/>
          <p:nvPr/>
        </p:nvSpPr>
        <p:spPr>
          <a:xfrm>
            <a:off x="6233672" y="3201845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0" name="Titre 1"/>
          <p:cNvSpPr txBox="1">
            <a:spLocks/>
          </p:cNvSpPr>
          <p:nvPr/>
        </p:nvSpPr>
        <p:spPr>
          <a:xfrm>
            <a:off x="5703354" y="2697243"/>
            <a:ext cx="511268" cy="4532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</a:t>
            </a:r>
            <a:endParaRPr lang="fr-FR" sz="1400" dirty="0"/>
          </a:p>
        </p:txBody>
      </p:sp>
      <p:sp>
        <p:nvSpPr>
          <p:cNvPr id="121" name="Rectangle 120"/>
          <p:cNvSpPr/>
          <p:nvPr/>
        </p:nvSpPr>
        <p:spPr>
          <a:xfrm>
            <a:off x="1985222" y="5536700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4" name="Rectangle 123"/>
          <p:cNvSpPr/>
          <p:nvPr/>
        </p:nvSpPr>
        <p:spPr>
          <a:xfrm>
            <a:off x="1995556" y="3973678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6" name="Rectangle 125"/>
          <p:cNvSpPr/>
          <p:nvPr/>
        </p:nvSpPr>
        <p:spPr>
          <a:xfrm>
            <a:off x="2007336" y="5020065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307590" y="2230185"/>
            <a:ext cx="11556000" cy="40182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0" name="Rectangle 129"/>
          <p:cNvSpPr/>
          <p:nvPr/>
        </p:nvSpPr>
        <p:spPr>
          <a:xfrm>
            <a:off x="9124170" y="5745431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Valider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83953" y="1577127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Physiologique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595032" y="1583755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Vaccination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915874" y="1592541"/>
            <a:ext cx="1692000" cy="54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Facteurs des risques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58736" y="1598410"/>
            <a:ext cx="1872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Antécédents médicaux / chirurgicaux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1976506" y="2678446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6" name="Titre 1"/>
          <p:cNvSpPr txBox="1">
            <a:spLocks/>
          </p:cNvSpPr>
          <p:nvPr/>
        </p:nvSpPr>
        <p:spPr>
          <a:xfrm>
            <a:off x="575759" y="2654708"/>
            <a:ext cx="180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HTA</a:t>
            </a:r>
            <a:endParaRPr lang="fr-FR" sz="1400" dirty="0"/>
          </a:p>
        </p:txBody>
      </p:sp>
      <p:sp>
        <p:nvSpPr>
          <p:cNvPr id="137" name="Triangle isocèle 136"/>
          <p:cNvSpPr/>
          <p:nvPr/>
        </p:nvSpPr>
        <p:spPr>
          <a:xfrm rot="10800000">
            <a:off x="3495122" y="3994854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345444" y="790814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434893" y="774396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099371" y="78043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7785158" y="799262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2" name="Rectangle 141"/>
          <p:cNvSpPr/>
          <p:nvPr/>
        </p:nvSpPr>
        <p:spPr>
          <a:xfrm>
            <a:off x="6584266" y="1602805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Antécédents familiaux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7907827" y="1587698"/>
            <a:ext cx="1332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Néphropathies </a:t>
            </a:r>
            <a:r>
              <a:rPr lang="fr-FR" sz="1400" dirty="0" smtClean="0"/>
              <a:t>causales</a:t>
            </a:r>
            <a:endParaRPr lang="fr-FR" sz="1400" dirty="0"/>
          </a:p>
        </p:txBody>
      </p:sp>
      <p:sp>
        <p:nvSpPr>
          <p:cNvPr id="144" name="Rectangle 143"/>
          <p:cNvSpPr/>
          <p:nvPr/>
        </p:nvSpPr>
        <p:spPr>
          <a:xfrm>
            <a:off x="9298301" y="1599768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Allergologie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0615495" y="1605637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Psychiatrique</a:t>
            </a: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35759" y="567599"/>
            <a:ext cx="1080000" cy="54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Patient</a:t>
            </a:r>
            <a:endParaRPr lang="fr-FR" sz="1600" b="1" u="sng" dirty="0"/>
          </a:p>
        </p:txBody>
      </p:sp>
      <p:sp>
        <p:nvSpPr>
          <p:cNvPr id="2" name="Rectangle 1"/>
          <p:cNvSpPr/>
          <p:nvPr/>
        </p:nvSpPr>
        <p:spPr>
          <a:xfrm>
            <a:off x="578128" y="3992221"/>
            <a:ext cx="1931650" cy="312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Consanguinité</a:t>
            </a:r>
            <a:endParaRPr lang="fr-FR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62327" y="5042578"/>
            <a:ext cx="1080000" cy="3126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/>
              <a:t>Tabagisme</a:t>
            </a:r>
            <a:endParaRPr lang="fr-FR" sz="1400" dirty="0"/>
          </a:p>
        </p:txBody>
      </p:sp>
      <p:sp>
        <p:nvSpPr>
          <p:cNvPr id="6" name="Rectangle 5"/>
          <p:cNvSpPr/>
          <p:nvPr/>
        </p:nvSpPr>
        <p:spPr>
          <a:xfrm>
            <a:off x="604199" y="4499263"/>
            <a:ext cx="1800000" cy="3126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Mode de vie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0999" y="5556450"/>
            <a:ext cx="1265522" cy="312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Obésité (IMC</a:t>
            </a:r>
            <a:r>
              <a:rPr lang="fr-FR" sz="1400" dirty="0" smtClean="0"/>
              <a:t>)</a:t>
            </a:r>
            <a:endParaRPr lang="fr-FR" sz="1400" dirty="0"/>
          </a:p>
        </p:txBody>
      </p:sp>
      <p:sp>
        <p:nvSpPr>
          <p:cNvPr id="8" name="Rectangle 7"/>
          <p:cNvSpPr/>
          <p:nvPr/>
        </p:nvSpPr>
        <p:spPr>
          <a:xfrm>
            <a:off x="4232059" y="4933923"/>
            <a:ext cx="2251760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Consommation éthylique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109710" y="5612781"/>
            <a:ext cx="1123962" cy="312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Dyslipidémie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976506" y="3231571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4" name="Triangle isocèle 73"/>
          <p:cNvSpPr/>
          <p:nvPr/>
        </p:nvSpPr>
        <p:spPr>
          <a:xfrm rot="10800000">
            <a:off x="3514172" y="4509204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8" name="Titre 1"/>
          <p:cNvSpPr txBox="1">
            <a:spLocks/>
          </p:cNvSpPr>
          <p:nvPr/>
        </p:nvSpPr>
        <p:spPr>
          <a:xfrm>
            <a:off x="8110331" y="2730886"/>
            <a:ext cx="529975" cy="3453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ans</a:t>
            </a:r>
            <a:endParaRPr lang="fr-FR" sz="1400" dirty="0"/>
          </a:p>
        </p:txBody>
      </p:sp>
      <p:sp>
        <p:nvSpPr>
          <p:cNvPr id="79" name="Rectangle 78"/>
          <p:cNvSpPr/>
          <p:nvPr/>
        </p:nvSpPr>
        <p:spPr>
          <a:xfrm>
            <a:off x="6217181" y="4907611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0" name="Rectangle 79"/>
          <p:cNvSpPr/>
          <p:nvPr/>
        </p:nvSpPr>
        <p:spPr>
          <a:xfrm>
            <a:off x="6236287" y="5583350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1" name="Titre 1"/>
          <p:cNvSpPr txBox="1">
            <a:spLocks/>
          </p:cNvSpPr>
          <p:nvPr/>
        </p:nvSpPr>
        <p:spPr>
          <a:xfrm>
            <a:off x="5634839" y="3201547"/>
            <a:ext cx="648297" cy="4509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Sexe</a:t>
            </a:r>
            <a:endParaRPr lang="fr-FR" sz="1400" dirty="0"/>
          </a:p>
        </p:txBody>
      </p:sp>
      <p:sp>
        <p:nvSpPr>
          <p:cNvPr id="82" name="Titre 1"/>
          <p:cNvSpPr txBox="1">
            <a:spLocks/>
          </p:cNvSpPr>
          <p:nvPr/>
        </p:nvSpPr>
        <p:spPr>
          <a:xfrm>
            <a:off x="293341" y="6265066"/>
            <a:ext cx="8946486" cy="58122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dirty="0" smtClean="0"/>
              <a:t>Consanguinité</a:t>
            </a:r>
            <a:r>
              <a:rPr lang="fr-FR" sz="1600" dirty="0" smtClean="0"/>
              <a:t> </a:t>
            </a:r>
            <a:r>
              <a:rPr lang="fr-FR" sz="1600" b="1" dirty="0" smtClean="0"/>
              <a:t>	: </a:t>
            </a:r>
            <a:r>
              <a:rPr lang="fr-FR" sz="1600" dirty="0"/>
              <a:t>1er dégrée, 2ème dégrée, </a:t>
            </a:r>
            <a:r>
              <a:rPr lang="fr-FR" sz="1600" dirty="0" smtClean="0"/>
              <a:t>pas de consanguinité.		</a:t>
            </a:r>
            <a:r>
              <a:rPr lang="fr-FR" sz="1600" b="1" dirty="0" smtClean="0"/>
              <a:t>Dyslipidémie : </a:t>
            </a:r>
            <a:r>
              <a:rPr lang="fr-FR" sz="1600" dirty="0" smtClean="0"/>
              <a:t>HCHL, HTRI, MIXTE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dirty="0" smtClean="0"/>
              <a:t>Mode de vie 	:</a:t>
            </a:r>
            <a:r>
              <a:rPr lang="fr-FR" sz="1600" dirty="0"/>
              <a:t> </a:t>
            </a:r>
            <a:r>
              <a:rPr lang="fr-FR" sz="1600" dirty="0" smtClean="0"/>
              <a:t>Sédentarité, activité physique normale, activité physique minimale.</a:t>
            </a:r>
            <a:endParaRPr lang="fr-FR" sz="1600" b="1" dirty="0" smtClean="0"/>
          </a:p>
        </p:txBody>
      </p:sp>
      <p:sp>
        <p:nvSpPr>
          <p:cNvPr id="12" name="Rectangle 11"/>
          <p:cNvSpPr/>
          <p:nvPr/>
        </p:nvSpPr>
        <p:spPr>
          <a:xfrm>
            <a:off x="449284" y="2234684"/>
            <a:ext cx="189404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b="1" u="sng" dirty="0"/>
              <a:t>Facteurs des </a:t>
            </a:r>
            <a:r>
              <a:rPr lang="fr-FR" sz="1600" b="1" u="sng" dirty="0" smtClean="0"/>
              <a:t>risques</a:t>
            </a:r>
            <a:endParaRPr lang="fr-FR" sz="1600" b="1" u="sng" dirty="0"/>
          </a:p>
        </p:txBody>
      </p:sp>
      <p:sp>
        <p:nvSpPr>
          <p:cNvPr id="61" name="Triangle isocèle 60"/>
          <p:cNvSpPr/>
          <p:nvPr/>
        </p:nvSpPr>
        <p:spPr>
          <a:xfrm rot="10800000">
            <a:off x="7762622" y="3233364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2" name="Rectangle 61"/>
          <p:cNvSpPr/>
          <p:nvPr/>
        </p:nvSpPr>
        <p:spPr>
          <a:xfrm>
            <a:off x="498090" y="2573086"/>
            <a:ext cx="8550660" cy="1164958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3" name="Rectangle 62"/>
          <p:cNvSpPr/>
          <p:nvPr/>
        </p:nvSpPr>
        <p:spPr>
          <a:xfrm>
            <a:off x="1995556" y="4468978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5" name="Rectangle 64"/>
          <p:cNvSpPr/>
          <p:nvPr/>
        </p:nvSpPr>
        <p:spPr>
          <a:xfrm>
            <a:off x="498090" y="3868485"/>
            <a:ext cx="8550660" cy="224656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6" name="Triangle isocèle 65"/>
          <p:cNvSpPr/>
          <p:nvPr/>
        </p:nvSpPr>
        <p:spPr>
          <a:xfrm rot="10800000">
            <a:off x="7781672" y="5614614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677307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25 – Observations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Antécédent / </a:t>
            </a:r>
            <a:r>
              <a:rPr 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Antécédents </a:t>
            </a:r>
            <a:r>
              <a:rPr 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médicaux &amp; </a:t>
            </a:r>
            <a:r>
              <a:rPr 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chirurgicaux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91992" y="689429"/>
            <a:ext cx="11758269" cy="612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1964661" y="853386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355023" y="840281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182390" y="859793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152059" y="898412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326245" y="853688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7736488" y="905040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1914072" y="784044"/>
            <a:ext cx="9936000" cy="53385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Titre 1"/>
          <p:cNvSpPr txBox="1">
            <a:spLocks/>
          </p:cNvSpPr>
          <p:nvPr/>
        </p:nvSpPr>
        <p:spPr>
          <a:xfrm>
            <a:off x="73859" y="1272449"/>
            <a:ext cx="2137032" cy="54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Suivi des antécédents</a:t>
            </a:r>
            <a:endParaRPr lang="fr-FR" sz="1600" b="1" u="sng" dirty="0"/>
          </a:p>
        </p:txBody>
      </p:sp>
      <p:sp>
        <p:nvSpPr>
          <p:cNvPr id="119" name="Rectangle 118"/>
          <p:cNvSpPr/>
          <p:nvPr/>
        </p:nvSpPr>
        <p:spPr>
          <a:xfrm>
            <a:off x="7149393" y="3146370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0" name="Titre 1"/>
          <p:cNvSpPr txBox="1">
            <a:spLocks/>
          </p:cNvSpPr>
          <p:nvPr/>
        </p:nvSpPr>
        <p:spPr>
          <a:xfrm>
            <a:off x="5140233" y="251773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</a:t>
            </a:r>
            <a:endParaRPr lang="fr-FR" sz="1400" dirty="0"/>
          </a:p>
        </p:txBody>
      </p:sp>
      <p:sp>
        <p:nvSpPr>
          <p:cNvPr id="121" name="Rectangle 120"/>
          <p:cNvSpPr/>
          <p:nvPr/>
        </p:nvSpPr>
        <p:spPr>
          <a:xfrm>
            <a:off x="4770599" y="3857079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4" name="Rectangle 123"/>
          <p:cNvSpPr/>
          <p:nvPr/>
        </p:nvSpPr>
        <p:spPr>
          <a:xfrm>
            <a:off x="4770599" y="3118977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6" name="Rectangle 125"/>
          <p:cNvSpPr/>
          <p:nvPr/>
        </p:nvSpPr>
        <p:spPr>
          <a:xfrm>
            <a:off x="7149393" y="3838622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307590" y="2363536"/>
            <a:ext cx="11556000" cy="4356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0" name="Rectangle 129"/>
          <p:cNvSpPr/>
          <p:nvPr/>
        </p:nvSpPr>
        <p:spPr>
          <a:xfrm>
            <a:off x="10674546" y="6219437"/>
            <a:ext cx="10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Valider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83953" y="1710477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Physiologique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595032" y="1717105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Vaccination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915874" y="1725891"/>
            <a:ext cx="1692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Facteurs des risques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58736" y="1731760"/>
            <a:ext cx="1872000" cy="54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Antécédents médicaux &amp; chirurgicaux</a:t>
            </a:r>
          </a:p>
        </p:txBody>
      </p:sp>
      <p:sp>
        <p:nvSpPr>
          <p:cNvPr id="136" name="Titre 1"/>
          <p:cNvSpPr txBox="1">
            <a:spLocks/>
          </p:cNvSpPr>
          <p:nvPr/>
        </p:nvSpPr>
        <p:spPr>
          <a:xfrm>
            <a:off x="2894656" y="2523642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Pathologie</a:t>
            </a:r>
            <a:endParaRPr lang="fr-FR" sz="1400" dirty="0"/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345444" y="924164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434893" y="907746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099371" y="91378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7785158" y="932612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2" name="Rectangle 141"/>
          <p:cNvSpPr/>
          <p:nvPr/>
        </p:nvSpPr>
        <p:spPr>
          <a:xfrm>
            <a:off x="6584266" y="1736155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Antécédents familiaux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7907827" y="1721048"/>
            <a:ext cx="1332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Néphropathies </a:t>
            </a:r>
            <a:r>
              <a:rPr lang="fr-FR" sz="1400" dirty="0" smtClean="0"/>
              <a:t>causales</a:t>
            </a:r>
            <a:endParaRPr lang="fr-FR" sz="1400" dirty="0"/>
          </a:p>
        </p:txBody>
      </p:sp>
      <p:sp>
        <p:nvSpPr>
          <p:cNvPr id="144" name="Rectangle 143"/>
          <p:cNvSpPr/>
          <p:nvPr/>
        </p:nvSpPr>
        <p:spPr>
          <a:xfrm>
            <a:off x="9298301" y="1733118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Allergologie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0615495" y="1738987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Psychiatrique</a:t>
            </a: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35759" y="700949"/>
            <a:ext cx="1080000" cy="54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Patient</a:t>
            </a:r>
            <a:endParaRPr lang="fr-FR" sz="1600" b="1" u="sng" dirty="0"/>
          </a:p>
        </p:txBody>
      </p:sp>
      <p:sp>
        <p:nvSpPr>
          <p:cNvPr id="5" name="Rectangle 4"/>
          <p:cNvSpPr/>
          <p:nvPr/>
        </p:nvSpPr>
        <p:spPr>
          <a:xfrm>
            <a:off x="9406277" y="2517735"/>
            <a:ext cx="900000" cy="36000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Ajouter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2490856" y="3098221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4" name="Triangle isocèle 73"/>
          <p:cNvSpPr/>
          <p:nvPr/>
        </p:nvSpPr>
        <p:spPr>
          <a:xfrm rot="10800000">
            <a:off x="4028522" y="3137604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5" name="Rectangle 74"/>
          <p:cNvSpPr/>
          <p:nvPr/>
        </p:nvSpPr>
        <p:spPr>
          <a:xfrm>
            <a:off x="2394540" y="2478872"/>
            <a:ext cx="8091818" cy="1991252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8" name="Titre 1"/>
          <p:cNvSpPr txBox="1">
            <a:spLocks/>
          </p:cNvSpPr>
          <p:nvPr/>
        </p:nvSpPr>
        <p:spPr>
          <a:xfrm>
            <a:off x="7337184" y="2520158"/>
            <a:ext cx="144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Commentaire </a:t>
            </a:r>
            <a:endParaRPr lang="fr-FR" sz="1400" dirty="0"/>
          </a:p>
        </p:txBody>
      </p:sp>
      <p:sp>
        <p:nvSpPr>
          <p:cNvPr id="12" name="Rectangle 11"/>
          <p:cNvSpPr/>
          <p:nvPr/>
        </p:nvSpPr>
        <p:spPr>
          <a:xfrm>
            <a:off x="317784" y="2329934"/>
            <a:ext cx="18976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b="1" u="sng" dirty="0" smtClean="0"/>
              <a:t>Personnel médicaux</a:t>
            </a:r>
            <a:endParaRPr lang="fr-FR" sz="1600" b="1" u="sng" dirty="0"/>
          </a:p>
        </p:txBody>
      </p:sp>
      <p:sp>
        <p:nvSpPr>
          <p:cNvPr id="61" name="Rectangle 60"/>
          <p:cNvSpPr/>
          <p:nvPr/>
        </p:nvSpPr>
        <p:spPr>
          <a:xfrm>
            <a:off x="2490856" y="3822121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2" name="Triangle isocèle 61"/>
          <p:cNvSpPr/>
          <p:nvPr/>
        </p:nvSpPr>
        <p:spPr>
          <a:xfrm rot="10800000">
            <a:off x="4028522" y="3861504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3" name="Connecteur droit 12"/>
          <p:cNvCxnSpPr/>
          <p:nvPr/>
        </p:nvCxnSpPr>
        <p:spPr>
          <a:xfrm>
            <a:off x="4535534" y="2478872"/>
            <a:ext cx="0" cy="1991252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7" name="Connecteur droit 66"/>
          <p:cNvCxnSpPr/>
          <p:nvPr/>
        </p:nvCxnSpPr>
        <p:spPr>
          <a:xfrm>
            <a:off x="6821534" y="2497922"/>
            <a:ext cx="0" cy="1991252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8" name="Connecteur droit 67"/>
          <p:cNvCxnSpPr/>
          <p:nvPr/>
        </p:nvCxnSpPr>
        <p:spPr>
          <a:xfrm>
            <a:off x="9317084" y="2497922"/>
            <a:ext cx="0" cy="1991252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" name="Plus 14"/>
          <p:cNvSpPr/>
          <p:nvPr/>
        </p:nvSpPr>
        <p:spPr>
          <a:xfrm>
            <a:off x="9715500" y="3117271"/>
            <a:ext cx="360000" cy="360000"/>
          </a:xfrm>
          <a:prstGeom prst="mathPlu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1" name="Plus 70"/>
          <p:cNvSpPr/>
          <p:nvPr/>
        </p:nvSpPr>
        <p:spPr>
          <a:xfrm>
            <a:off x="9715500" y="3784021"/>
            <a:ext cx="360000" cy="360000"/>
          </a:xfrm>
          <a:prstGeom prst="mathPlu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76" name="Connecteur droit 75"/>
          <p:cNvCxnSpPr/>
          <p:nvPr/>
        </p:nvCxnSpPr>
        <p:spPr>
          <a:xfrm>
            <a:off x="2395605" y="2992036"/>
            <a:ext cx="806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9" name="Connecteur droit 88"/>
          <p:cNvCxnSpPr/>
          <p:nvPr/>
        </p:nvCxnSpPr>
        <p:spPr>
          <a:xfrm>
            <a:off x="2395605" y="3658786"/>
            <a:ext cx="806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9" name="Rectangle 58"/>
          <p:cNvSpPr/>
          <p:nvPr/>
        </p:nvSpPr>
        <p:spPr>
          <a:xfrm>
            <a:off x="279684" y="4542894"/>
            <a:ext cx="211801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b="1" u="sng" dirty="0" smtClean="0"/>
              <a:t>Personnel chirurgicaux</a:t>
            </a:r>
            <a:endParaRPr lang="fr-FR" sz="1600" b="1" u="sng" dirty="0"/>
          </a:p>
        </p:txBody>
      </p:sp>
      <p:sp>
        <p:nvSpPr>
          <p:cNvPr id="66" name="Rectangle 65"/>
          <p:cNvSpPr/>
          <p:nvPr/>
        </p:nvSpPr>
        <p:spPr>
          <a:xfrm>
            <a:off x="7149393" y="5279970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9" name="Titre 1"/>
          <p:cNvSpPr txBox="1">
            <a:spLocks/>
          </p:cNvSpPr>
          <p:nvPr/>
        </p:nvSpPr>
        <p:spPr>
          <a:xfrm>
            <a:off x="5140233" y="465133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</a:t>
            </a:r>
            <a:endParaRPr lang="fr-FR" sz="1400" dirty="0"/>
          </a:p>
        </p:txBody>
      </p:sp>
      <p:sp>
        <p:nvSpPr>
          <p:cNvPr id="70" name="Rectangle 69"/>
          <p:cNvSpPr/>
          <p:nvPr/>
        </p:nvSpPr>
        <p:spPr>
          <a:xfrm>
            <a:off x="4770599" y="5990679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7" name="Rectangle 76"/>
          <p:cNvSpPr/>
          <p:nvPr/>
        </p:nvSpPr>
        <p:spPr>
          <a:xfrm>
            <a:off x="4770599" y="5252577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0" name="Rectangle 79"/>
          <p:cNvSpPr/>
          <p:nvPr/>
        </p:nvSpPr>
        <p:spPr>
          <a:xfrm>
            <a:off x="7149393" y="5972222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1" name="Titre 1"/>
          <p:cNvSpPr txBox="1">
            <a:spLocks/>
          </p:cNvSpPr>
          <p:nvPr/>
        </p:nvSpPr>
        <p:spPr>
          <a:xfrm>
            <a:off x="2894656" y="4657242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Appareil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406277" y="4651335"/>
            <a:ext cx="900000" cy="36000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Ajouter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2490856" y="5231821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3" name="Triangle isocèle 92"/>
          <p:cNvSpPr/>
          <p:nvPr/>
        </p:nvSpPr>
        <p:spPr>
          <a:xfrm rot="10800000">
            <a:off x="4028522" y="5271204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1" name="Rectangle 100"/>
          <p:cNvSpPr/>
          <p:nvPr/>
        </p:nvSpPr>
        <p:spPr>
          <a:xfrm>
            <a:off x="2394540" y="4612472"/>
            <a:ext cx="8091818" cy="1978828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3" name="Titre 1"/>
          <p:cNvSpPr txBox="1">
            <a:spLocks/>
          </p:cNvSpPr>
          <p:nvPr/>
        </p:nvSpPr>
        <p:spPr>
          <a:xfrm>
            <a:off x="7337184" y="4653758"/>
            <a:ext cx="144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Commentaire </a:t>
            </a:r>
            <a:endParaRPr lang="fr-FR" sz="1400" dirty="0"/>
          </a:p>
        </p:txBody>
      </p:sp>
      <p:sp>
        <p:nvSpPr>
          <p:cNvPr id="105" name="Rectangle 104"/>
          <p:cNvSpPr/>
          <p:nvPr/>
        </p:nvSpPr>
        <p:spPr>
          <a:xfrm>
            <a:off x="2490856" y="5955721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6" name="Triangle isocèle 105"/>
          <p:cNvSpPr/>
          <p:nvPr/>
        </p:nvSpPr>
        <p:spPr>
          <a:xfrm rot="10800000">
            <a:off x="4028522" y="5995104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09" name="Connecteur droit 108"/>
          <p:cNvCxnSpPr/>
          <p:nvPr/>
        </p:nvCxnSpPr>
        <p:spPr>
          <a:xfrm>
            <a:off x="4535534" y="4612472"/>
            <a:ext cx="0" cy="1978828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0" name="Connecteur droit 109"/>
          <p:cNvCxnSpPr/>
          <p:nvPr/>
        </p:nvCxnSpPr>
        <p:spPr>
          <a:xfrm>
            <a:off x="6821534" y="4631522"/>
            <a:ext cx="0" cy="1978828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1" name="Connecteur droit 110"/>
          <p:cNvCxnSpPr/>
          <p:nvPr/>
        </p:nvCxnSpPr>
        <p:spPr>
          <a:xfrm>
            <a:off x="9317084" y="4631522"/>
            <a:ext cx="0" cy="1978828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2" name="Plus 111"/>
          <p:cNvSpPr/>
          <p:nvPr/>
        </p:nvSpPr>
        <p:spPr>
          <a:xfrm>
            <a:off x="9715500" y="5250871"/>
            <a:ext cx="360000" cy="360000"/>
          </a:xfrm>
          <a:prstGeom prst="mathPlu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3" name="Plus 112"/>
          <p:cNvSpPr/>
          <p:nvPr/>
        </p:nvSpPr>
        <p:spPr>
          <a:xfrm>
            <a:off x="9715500" y="5917621"/>
            <a:ext cx="360000" cy="360000"/>
          </a:xfrm>
          <a:prstGeom prst="mathPlu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15" name="Connecteur droit 114"/>
          <p:cNvCxnSpPr/>
          <p:nvPr/>
        </p:nvCxnSpPr>
        <p:spPr>
          <a:xfrm>
            <a:off x="2395605" y="5125636"/>
            <a:ext cx="806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Connecteur droit 115"/>
          <p:cNvCxnSpPr/>
          <p:nvPr/>
        </p:nvCxnSpPr>
        <p:spPr>
          <a:xfrm>
            <a:off x="2395605" y="5792386"/>
            <a:ext cx="806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10402598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489617" y="59579"/>
            <a:ext cx="4620714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26 – Observations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Antécédent / </a:t>
            </a:r>
            <a:r>
              <a:rPr 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Antécédents</a:t>
            </a:r>
            <a:r>
              <a:rPr lang="fr-FR" sz="1800" b="1" dirty="0"/>
              <a:t> </a:t>
            </a:r>
            <a:r>
              <a:rPr 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familiaux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91992" y="556080"/>
            <a:ext cx="11758269" cy="57416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2667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602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-11272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-1844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1964661" y="720036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355023" y="706931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182390" y="726443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152059" y="765062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326245" y="720338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7736488" y="771690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1914072" y="650694"/>
            <a:ext cx="9936000" cy="53385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Titre 1"/>
          <p:cNvSpPr txBox="1">
            <a:spLocks/>
          </p:cNvSpPr>
          <p:nvPr/>
        </p:nvSpPr>
        <p:spPr>
          <a:xfrm>
            <a:off x="73859" y="1139099"/>
            <a:ext cx="2137032" cy="54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Suivi des antécédents</a:t>
            </a:r>
            <a:endParaRPr lang="fr-FR" sz="1600" b="1" u="sng" dirty="0"/>
          </a:p>
        </p:txBody>
      </p:sp>
      <p:sp>
        <p:nvSpPr>
          <p:cNvPr id="127" name="Rectangle 126"/>
          <p:cNvSpPr/>
          <p:nvPr/>
        </p:nvSpPr>
        <p:spPr>
          <a:xfrm>
            <a:off x="307590" y="2230185"/>
            <a:ext cx="11556000" cy="40182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0" name="Rectangle 129"/>
          <p:cNvSpPr/>
          <p:nvPr/>
        </p:nvSpPr>
        <p:spPr>
          <a:xfrm>
            <a:off x="7716750" y="4123935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Valider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83953" y="1577127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Physiologique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595032" y="1583755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Vaccination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915874" y="1592541"/>
            <a:ext cx="1692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Facteurs des risques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58736" y="1598410"/>
            <a:ext cx="1872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Antécédents médicaux / chirurgicaux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615518" y="2907588"/>
            <a:ext cx="8299881" cy="845261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345444" y="790814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434893" y="774396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099371" y="78043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7785158" y="799262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2" name="Rectangle 141"/>
          <p:cNvSpPr/>
          <p:nvPr/>
        </p:nvSpPr>
        <p:spPr>
          <a:xfrm>
            <a:off x="6584266" y="1602805"/>
            <a:ext cx="1260000" cy="54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Antécédents familiaux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7907827" y="1587698"/>
            <a:ext cx="1332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Néphropathies </a:t>
            </a:r>
            <a:r>
              <a:rPr lang="fr-FR" sz="1400" dirty="0" smtClean="0"/>
              <a:t>causales</a:t>
            </a:r>
            <a:endParaRPr lang="fr-FR" sz="1400" dirty="0"/>
          </a:p>
        </p:txBody>
      </p:sp>
      <p:sp>
        <p:nvSpPr>
          <p:cNvPr id="144" name="Rectangle 143"/>
          <p:cNvSpPr/>
          <p:nvPr/>
        </p:nvSpPr>
        <p:spPr>
          <a:xfrm>
            <a:off x="9298301" y="1599768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Allergologie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0615495" y="1605637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Psychiatrique</a:t>
            </a: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35759" y="567599"/>
            <a:ext cx="1080000" cy="54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Patient</a:t>
            </a:r>
            <a:endParaRPr lang="fr-FR" sz="1600" b="1" u="sng" dirty="0"/>
          </a:p>
        </p:txBody>
      </p:sp>
      <p:sp>
        <p:nvSpPr>
          <p:cNvPr id="12" name="Rectangle 11"/>
          <p:cNvSpPr/>
          <p:nvPr/>
        </p:nvSpPr>
        <p:spPr>
          <a:xfrm>
            <a:off x="354227" y="2234684"/>
            <a:ext cx="208416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1600" b="1" u="sng" dirty="0"/>
              <a:t>Antécédents familiaux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98090" y="2744536"/>
            <a:ext cx="8550660" cy="1164958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431280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489617" y="59579"/>
            <a:ext cx="4620714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27 – Observations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Antécédent / </a:t>
            </a:r>
            <a:r>
              <a:rPr 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Néphropathies</a:t>
            </a:r>
            <a:r>
              <a:rPr lang="fr-FR" sz="1800" dirty="0"/>
              <a:t> </a:t>
            </a:r>
            <a:r>
              <a:rPr 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causales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91992" y="689429"/>
            <a:ext cx="11758269" cy="524635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1964661" y="853386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355023" y="840281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182390" y="859793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152059" y="898412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326245" y="853688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7736488" y="905040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1914072" y="784044"/>
            <a:ext cx="9936000" cy="53385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Titre 1"/>
          <p:cNvSpPr txBox="1">
            <a:spLocks/>
          </p:cNvSpPr>
          <p:nvPr/>
        </p:nvSpPr>
        <p:spPr>
          <a:xfrm>
            <a:off x="73859" y="1272449"/>
            <a:ext cx="2137032" cy="54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Suivi des antécédents</a:t>
            </a:r>
            <a:endParaRPr lang="fr-FR" sz="1600" b="1" u="sng" dirty="0"/>
          </a:p>
        </p:txBody>
      </p:sp>
      <p:sp>
        <p:nvSpPr>
          <p:cNvPr id="117" name="Rectangle 116"/>
          <p:cNvSpPr/>
          <p:nvPr/>
        </p:nvSpPr>
        <p:spPr>
          <a:xfrm>
            <a:off x="6215943" y="4863789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9" name="Rectangle 118"/>
          <p:cNvSpPr/>
          <p:nvPr/>
        </p:nvSpPr>
        <p:spPr>
          <a:xfrm>
            <a:off x="6215943" y="3489270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0" name="Titre 1"/>
          <p:cNvSpPr txBox="1">
            <a:spLocks/>
          </p:cNvSpPr>
          <p:nvPr/>
        </p:nvSpPr>
        <p:spPr>
          <a:xfrm>
            <a:off x="4206783" y="286063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</a:t>
            </a:r>
            <a:endParaRPr lang="fr-FR" sz="1400" dirty="0"/>
          </a:p>
        </p:txBody>
      </p:sp>
      <p:sp>
        <p:nvSpPr>
          <p:cNvPr id="121" name="Rectangle 120"/>
          <p:cNvSpPr/>
          <p:nvPr/>
        </p:nvSpPr>
        <p:spPr>
          <a:xfrm>
            <a:off x="3837149" y="4199979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4" name="Rectangle 123"/>
          <p:cNvSpPr/>
          <p:nvPr/>
        </p:nvSpPr>
        <p:spPr>
          <a:xfrm>
            <a:off x="3837149" y="3461877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6" name="Rectangle 125"/>
          <p:cNvSpPr/>
          <p:nvPr/>
        </p:nvSpPr>
        <p:spPr>
          <a:xfrm>
            <a:off x="6215943" y="4181522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307590" y="2363536"/>
            <a:ext cx="11556000" cy="3060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0" name="Rectangle 129"/>
          <p:cNvSpPr/>
          <p:nvPr/>
        </p:nvSpPr>
        <p:spPr>
          <a:xfrm>
            <a:off x="10450227" y="5011035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Valider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83953" y="1710477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Physiologique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595032" y="1717105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Vaccination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915874" y="1725891"/>
            <a:ext cx="1692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Facteurs des risques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58736" y="1731760"/>
            <a:ext cx="1872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Antécédents médicaux / chirurgicaux</a:t>
            </a:r>
          </a:p>
        </p:txBody>
      </p:sp>
      <p:sp>
        <p:nvSpPr>
          <p:cNvPr id="136" name="Titre 1"/>
          <p:cNvSpPr txBox="1">
            <a:spLocks/>
          </p:cNvSpPr>
          <p:nvPr/>
        </p:nvSpPr>
        <p:spPr>
          <a:xfrm>
            <a:off x="1961205" y="2866542"/>
            <a:ext cx="1242463" cy="3740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Néphropathies</a:t>
            </a:r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345444" y="924164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434893" y="907746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099371" y="91378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7785158" y="932612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2" name="Rectangle 141"/>
          <p:cNvSpPr/>
          <p:nvPr/>
        </p:nvSpPr>
        <p:spPr>
          <a:xfrm>
            <a:off x="6584266" y="1736155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Antécédents familiaux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7907827" y="1721048"/>
            <a:ext cx="1332000" cy="54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Néphropathies causales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9298301" y="1733118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Allergologie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0615495" y="1738987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Psychiatrique</a:t>
            </a: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35759" y="700949"/>
            <a:ext cx="1080000" cy="54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Patient</a:t>
            </a:r>
            <a:endParaRPr lang="fr-FR" sz="1600" b="1" u="sng" dirty="0"/>
          </a:p>
        </p:txBody>
      </p:sp>
      <p:sp>
        <p:nvSpPr>
          <p:cNvPr id="5" name="Rectangle 4"/>
          <p:cNvSpPr/>
          <p:nvPr/>
        </p:nvSpPr>
        <p:spPr>
          <a:xfrm>
            <a:off x="8472827" y="2860635"/>
            <a:ext cx="900000" cy="36000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Ajouter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1557406" y="3441121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4" name="Triangle isocèle 73"/>
          <p:cNvSpPr/>
          <p:nvPr/>
        </p:nvSpPr>
        <p:spPr>
          <a:xfrm rot="10800000">
            <a:off x="3095072" y="3480504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5" name="Rectangle 74"/>
          <p:cNvSpPr/>
          <p:nvPr/>
        </p:nvSpPr>
        <p:spPr>
          <a:xfrm>
            <a:off x="1461090" y="2821772"/>
            <a:ext cx="8091818" cy="2520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8" name="Titre 1"/>
          <p:cNvSpPr txBox="1">
            <a:spLocks/>
          </p:cNvSpPr>
          <p:nvPr/>
        </p:nvSpPr>
        <p:spPr>
          <a:xfrm>
            <a:off x="6403734" y="2863058"/>
            <a:ext cx="144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Commentaire </a:t>
            </a:r>
            <a:endParaRPr lang="fr-FR" sz="1400" dirty="0"/>
          </a:p>
        </p:txBody>
      </p:sp>
      <p:sp>
        <p:nvSpPr>
          <p:cNvPr id="79" name="Rectangle 78"/>
          <p:cNvSpPr/>
          <p:nvPr/>
        </p:nvSpPr>
        <p:spPr>
          <a:xfrm>
            <a:off x="3837149" y="4888185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" name="Rectangle 11"/>
          <p:cNvSpPr/>
          <p:nvPr/>
        </p:nvSpPr>
        <p:spPr>
          <a:xfrm>
            <a:off x="329129" y="2425184"/>
            <a:ext cx="221002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b="1" u="sng" dirty="0"/>
              <a:t>Néphropathies </a:t>
            </a:r>
            <a:r>
              <a:rPr lang="fr-FR" sz="1600" b="1" u="sng" dirty="0" smtClean="0"/>
              <a:t>causales</a:t>
            </a:r>
            <a:endParaRPr lang="fr-FR" sz="1600" b="1" u="sng" dirty="0"/>
          </a:p>
        </p:txBody>
      </p:sp>
      <p:sp>
        <p:nvSpPr>
          <p:cNvPr id="61" name="Rectangle 60"/>
          <p:cNvSpPr/>
          <p:nvPr/>
        </p:nvSpPr>
        <p:spPr>
          <a:xfrm>
            <a:off x="1557406" y="4165021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2" name="Triangle isocèle 61"/>
          <p:cNvSpPr/>
          <p:nvPr/>
        </p:nvSpPr>
        <p:spPr>
          <a:xfrm rot="10800000">
            <a:off x="3095072" y="4204404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3" name="Rectangle 62"/>
          <p:cNvSpPr/>
          <p:nvPr/>
        </p:nvSpPr>
        <p:spPr>
          <a:xfrm>
            <a:off x="1576456" y="4850821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5" name="Triangle isocèle 64"/>
          <p:cNvSpPr/>
          <p:nvPr/>
        </p:nvSpPr>
        <p:spPr>
          <a:xfrm rot="10800000">
            <a:off x="3114122" y="4890204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3" name="Connecteur droit 12"/>
          <p:cNvCxnSpPr/>
          <p:nvPr/>
        </p:nvCxnSpPr>
        <p:spPr>
          <a:xfrm>
            <a:off x="3602084" y="2821772"/>
            <a:ext cx="0" cy="252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7" name="Connecteur droit 66"/>
          <p:cNvCxnSpPr/>
          <p:nvPr/>
        </p:nvCxnSpPr>
        <p:spPr>
          <a:xfrm>
            <a:off x="5888084" y="2840822"/>
            <a:ext cx="0" cy="252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8" name="Connecteur droit 67"/>
          <p:cNvCxnSpPr/>
          <p:nvPr/>
        </p:nvCxnSpPr>
        <p:spPr>
          <a:xfrm>
            <a:off x="8383634" y="2840822"/>
            <a:ext cx="0" cy="252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" name="Plus 14"/>
          <p:cNvSpPr/>
          <p:nvPr/>
        </p:nvSpPr>
        <p:spPr>
          <a:xfrm>
            <a:off x="8782050" y="3460171"/>
            <a:ext cx="360000" cy="360000"/>
          </a:xfrm>
          <a:prstGeom prst="mathPlu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1" name="Plus 70"/>
          <p:cNvSpPr/>
          <p:nvPr/>
        </p:nvSpPr>
        <p:spPr>
          <a:xfrm>
            <a:off x="8782050" y="4126921"/>
            <a:ext cx="360000" cy="360000"/>
          </a:xfrm>
          <a:prstGeom prst="mathPlu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2" name="Plus 71"/>
          <p:cNvSpPr/>
          <p:nvPr/>
        </p:nvSpPr>
        <p:spPr>
          <a:xfrm>
            <a:off x="8782050" y="4774621"/>
            <a:ext cx="360000" cy="360000"/>
          </a:xfrm>
          <a:prstGeom prst="mathPlu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76" name="Connecteur droit 75"/>
          <p:cNvCxnSpPr/>
          <p:nvPr/>
        </p:nvCxnSpPr>
        <p:spPr>
          <a:xfrm>
            <a:off x="1462155" y="3334936"/>
            <a:ext cx="806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9" name="Connecteur droit 88"/>
          <p:cNvCxnSpPr/>
          <p:nvPr/>
        </p:nvCxnSpPr>
        <p:spPr>
          <a:xfrm>
            <a:off x="1462155" y="4001686"/>
            <a:ext cx="806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0" name="Connecteur droit 89"/>
          <p:cNvCxnSpPr/>
          <p:nvPr/>
        </p:nvCxnSpPr>
        <p:spPr>
          <a:xfrm>
            <a:off x="1462155" y="4668436"/>
            <a:ext cx="806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31191043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489617" y="59579"/>
            <a:ext cx="4620714" cy="53537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28 – Observations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Antécédent / </a:t>
            </a:r>
            <a:r>
              <a:rPr 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Allergologie</a:t>
            </a:r>
            <a:endParaRPr 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191992" y="556080"/>
            <a:ext cx="11758269" cy="57416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2667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602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-11272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-1844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1964661" y="720036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355023" y="706931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182390" y="726443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152059" y="765062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326245" y="720338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7736488" y="771690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1914072" y="650694"/>
            <a:ext cx="9936000" cy="53385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Titre 1"/>
          <p:cNvSpPr txBox="1">
            <a:spLocks/>
          </p:cNvSpPr>
          <p:nvPr/>
        </p:nvSpPr>
        <p:spPr>
          <a:xfrm>
            <a:off x="73859" y="1139099"/>
            <a:ext cx="2137032" cy="54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Suivi des antécédents</a:t>
            </a:r>
            <a:endParaRPr lang="fr-FR" sz="1600" b="1" u="sng" dirty="0"/>
          </a:p>
        </p:txBody>
      </p:sp>
      <p:sp>
        <p:nvSpPr>
          <p:cNvPr id="127" name="Rectangle 126"/>
          <p:cNvSpPr/>
          <p:nvPr/>
        </p:nvSpPr>
        <p:spPr>
          <a:xfrm>
            <a:off x="307590" y="2230185"/>
            <a:ext cx="11556000" cy="40182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0" name="Rectangle 129"/>
          <p:cNvSpPr/>
          <p:nvPr/>
        </p:nvSpPr>
        <p:spPr>
          <a:xfrm>
            <a:off x="7716750" y="4123935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Valider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83953" y="1577127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Physiologique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595032" y="1583755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Vaccination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915874" y="1592541"/>
            <a:ext cx="1692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Facteurs des risques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58736" y="1598410"/>
            <a:ext cx="1872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Antécédents médicaux / chirurgicaux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615518" y="2907588"/>
            <a:ext cx="8299881" cy="845261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345444" y="790814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434893" y="774396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099371" y="78043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7785158" y="799262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2" name="Rectangle 141"/>
          <p:cNvSpPr/>
          <p:nvPr/>
        </p:nvSpPr>
        <p:spPr>
          <a:xfrm>
            <a:off x="6584266" y="1602805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Antécédents familiaux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7907827" y="1587698"/>
            <a:ext cx="1332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Néphropathies </a:t>
            </a:r>
            <a:r>
              <a:rPr lang="fr-FR" sz="1400" dirty="0" smtClean="0"/>
              <a:t>causales</a:t>
            </a:r>
            <a:endParaRPr lang="fr-FR" sz="1400" dirty="0"/>
          </a:p>
        </p:txBody>
      </p:sp>
      <p:sp>
        <p:nvSpPr>
          <p:cNvPr id="144" name="Rectangle 143"/>
          <p:cNvSpPr/>
          <p:nvPr/>
        </p:nvSpPr>
        <p:spPr>
          <a:xfrm>
            <a:off x="9298301" y="1599768"/>
            <a:ext cx="1260000" cy="54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Allergologie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0615495" y="1605637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Psychiatrique</a:t>
            </a: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35759" y="567599"/>
            <a:ext cx="1080000" cy="54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Patient</a:t>
            </a:r>
            <a:endParaRPr lang="fr-FR" sz="1600" b="1" u="sng" dirty="0"/>
          </a:p>
        </p:txBody>
      </p:sp>
      <p:sp>
        <p:nvSpPr>
          <p:cNvPr id="12" name="Rectangle 11"/>
          <p:cNvSpPr/>
          <p:nvPr/>
        </p:nvSpPr>
        <p:spPr>
          <a:xfrm>
            <a:off x="415432" y="2272784"/>
            <a:ext cx="119975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1600" b="1" u="sng" dirty="0"/>
              <a:t>Allergologie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98090" y="2744536"/>
            <a:ext cx="8550660" cy="1164958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787146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489617" y="59579"/>
            <a:ext cx="4620714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29 – Observations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Antécédent / </a:t>
            </a:r>
            <a:r>
              <a:rPr 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Psychiatrique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91992" y="556080"/>
            <a:ext cx="11758269" cy="57416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2667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602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-11272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-1844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1964661" y="720036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355023" y="706931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182390" y="726443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152059" y="765062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326245" y="720338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7736488" y="771690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1914072" y="650694"/>
            <a:ext cx="9936000" cy="53385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Titre 1"/>
          <p:cNvSpPr txBox="1">
            <a:spLocks/>
          </p:cNvSpPr>
          <p:nvPr/>
        </p:nvSpPr>
        <p:spPr>
          <a:xfrm>
            <a:off x="73859" y="1139099"/>
            <a:ext cx="2137032" cy="54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Suivi des antécédents</a:t>
            </a:r>
            <a:endParaRPr lang="fr-FR" sz="1600" b="1" u="sng" dirty="0"/>
          </a:p>
        </p:txBody>
      </p:sp>
      <p:sp>
        <p:nvSpPr>
          <p:cNvPr id="127" name="Rectangle 126"/>
          <p:cNvSpPr/>
          <p:nvPr/>
        </p:nvSpPr>
        <p:spPr>
          <a:xfrm>
            <a:off x="307590" y="2230185"/>
            <a:ext cx="11556000" cy="40182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0" name="Rectangle 129"/>
          <p:cNvSpPr/>
          <p:nvPr/>
        </p:nvSpPr>
        <p:spPr>
          <a:xfrm>
            <a:off x="7716750" y="4123935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Valider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83953" y="1577127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Physiologique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595032" y="1583755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Vaccination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915874" y="1592541"/>
            <a:ext cx="1692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Facteurs des risques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58736" y="1598410"/>
            <a:ext cx="1872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Antécédents médicaux / chirurgicaux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615518" y="2907588"/>
            <a:ext cx="8299881" cy="845261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345444" y="790814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434893" y="774396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099371" y="78043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7785158" y="799262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2" name="Rectangle 141"/>
          <p:cNvSpPr/>
          <p:nvPr/>
        </p:nvSpPr>
        <p:spPr>
          <a:xfrm>
            <a:off x="6584266" y="1602805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Antécédents familiaux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7907827" y="1587698"/>
            <a:ext cx="1332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Néphropathies </a:t>
            </a:r>
            <a:r>
              <a:rPr lang="fr-FR" sz="1400" dirty="0" smtClean="0"/>
              <a:t>causales</a:t>
            </a:r>
            <a:endParaRPr lang="fr-FR" sz="1400" dirty="0"/>
          </a:p>
        </p:txBody>
      </p:sp>
      <p:sp>
        <p:nvSpPr>
          <p:cNvPr id="144" name="Rectangle 143"/>
          <p:cNvSpPr/>
          <p:nvPr/>
        </p:nvSpPr>
        <p:spPr>
          <a:xfrm>
            <a:off x="9298301" y="1599768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Allergologie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0615495" y="1605637"/>
            <a:ext cx="1260000" cy="54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Psychiatrique</a:t>
            </a: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35759" y="567599"/>
            <a:ext cx="1080000" cy="54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Patient</a:t>
            </a:r>
            <a:endParaRPr lang="fr-FR" sz="1600" b="1" u="sng" dirty="0"/>
          </a:p>
        </p:txBody>
      </p:sp>
      <p:sp>
        <p:nvSpPr>
          <p:cNvPr id="12" name="Rectangle 11"/>
          <p:cNvSpPr/>
          <p:nvPr/>
        </p:nvSpPr>
        <p:spPr>
          <a:xfrm>
            <a:off x="426999" y="2291834"/>
            <a:ext cx="132901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1600" b="1" u="sng" dirty="0"/>
              <a:t>Psychiatrique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98090" y="2744536"/>
            <a:ext cx="8550660" cy="1164958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975631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30 – Observations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Traitement habituel</a:t>
            </a:r>
            <a:endParaRPr 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191992" y="689429"/>
            <a:ext cx="11758269" cy="612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1964661" y="853386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355023" y="840281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182390" y="859793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152059" y="898412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326245" y="853688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7736488" y="905040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1914072" y="784044"/>
            <a:ext cx="9936000" cy="53385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307590" y="1613727"/>
            <a:ext cx="11556000" cy="5006529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0" name="Rectangle 129"/>
          <p:cNvSpPr/>
          <p:nvPr/>
        </p:nvSpPr>
        <p:spPr>
          <a:xfrm>
            <a:off x="9570950" y="6203476"/>
            <a:ext cx="10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Modifier</a:t>
            </a:r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345444" y="924164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434893" y="907746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099371" y="91378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7785158" y="932612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273503" y="700949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1557" y="1292904"/>
            <a:ext cx="121065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b="1" u="sng" dirty="0"/>
              <a:t>Prescription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313985" y="4804482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9" name="Titre 1"/>
          <p:cNvSpPr txBox="1">
            <a:spLocks/>
          </p:cNvSpPr>
          <p:nvPr/>
        </p:nvSpPr>
        <p:spPr>
          <a:xfrm>
            <a:off x="5304825" y="4175848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Dose</a:t>
            </a:r>
            <a:endParaRPr lang="fr-FR" sz="1400" dirty="0"/>
          </a:p>
        </p:txBody>
      </p:sp>
      <p:sp>
        <p:nvSpPr>
          <p:cNvPr id="70" name="Rectangle 69"/>
          <p:cNvSpPr/>
          <p:nvPr/>
        </p:nvSpPr>
        <p:spPr>
          <a:xfrm>
            <a:off x="4935191" y="5515191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7" name="Rectangle 76"/>
          <p:cNvSpPr/>
          <p:nvPr/>
        </p:nvSpPr>
        <p:spPr>
          <a:xfrm>
            <a:off x="4935191" y="4777089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0" name="Rectangle 79"/>
          <p:cNvSpPr/>
          <p:nvPr/>
        </p:nvSpPr>
        <p:spPr>
          <a:xfrm>
            <a:off x="7313985" y="5496734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1" name="Titre 1"/>
          <p:cNvSpPr txBox="1">
            <a:spLocks/>
          </p:cNvSpPr>
          <p:nvPr/>
        </p:nvSpPr>
        <p:spPr>
          <a:xfrm>
            <a:off x="3059247" y="4181754"/>
            <a:ext cx="1242463" cy="3947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Médicament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570869" y="4175847"/>
            <a:ext cx="900000" cy="36000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Ajouter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2655448" y="4756333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3" name="Triangle isocèle 92"/>
          <p:cNvSpPr/>
          <p:nvPr/>
        </p:nvSpPr>
        <p:spPr>
          <a:xfrm rot="10800000">
            <a:off x="4192025" y="4782425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1" name="Rectangle 100"/>
          <p:cNvSpPr/>
          <p:nvPr/>
        </p:nvSpPr>
        <p:spPr>
          <a:xfrm>
            <a:off x="2559132" y="4136984"/>
            <a:ext cx="8091818" cy="1978828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3" name="Titre 1"/>
          <p:cNvSpPr txBox="1">
            <a:spLocks/>
          </p:cNvSpPr>
          <p:nvPr/>
        </p:nvSpPr>
        <p:spPr>
          <a:xfrm>
            <a:off x="7501776" y="4178270"/>
            <a:ext cx="144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Période</a:t>
            </a:r>
            <a:endParaRPr lang="fr-FR" sz="1400" dirty="0"/>
          </a:p>
        </p:txBody>
      </p:sp>
      <p:sp>
        <p:nvSpPr>
          <p:cNvPr id="105" name="Rectangle 104"/>
          <p:cNvSpPr/>
          <p:nvPr/>
        </p:nvSpPr>
        <p:spPr>
          <a:xfrm>
            <a:off x="2655448" y="5480233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6" name="Triangle isocèle 105"/>
          <p:cNvSpPr/>
          <p:nvPr/>
        </p:nvSpPr>
        <p:spPr>
          <a:xfrm rot="10800000">
            <a:off x="4193114" y="5519616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09" name="Connecteur droit 108"/>
          <p:cNvCxnSpPr/>
          <p:nvPr/>
        </p:nvCxnSpPr>
        <p:spPr>
          <a:xfrm>
            <a:off x="4700126" y="4136984"/>
            <a:ext cx="0" cy="1978828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0" name="Connecteur droit 109"/>
          <p:cNvCxnSpPr/>
          <p:nvPr/>
        </p:nvCxnSpPr>
        <p:spPr>
          <a:xfrm>
            <a:off x="6986126" y="4156034"/>
            <a:ext cx="0" cy="1978828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1" name="Connecteur droit 110"/>
          <p:cNvCxnSpPr/>
          <p:nvPr/>
        </p:nvCxnSpPr>
        <p:spPr>
          <a:xfrm>
            <a:off x="9481676" y="4156034"/>
            <a:ext cx="0" cy="1978828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2" name="Plus 111"/>
          <p:cNvSpPr/>
          <p:nvPr/>
        </p:nvSpPr>
        <p:spPr>
          <a:xfrm>
            <a:off x="9880092" y="4775383"/>
            <a:ext cx="360000" cy="360000"/>
          </a:xfrm>
          <a:prstGeom prst="mathPlu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3" name="Plus 112"/>
          <p:cNvSpPr/>
          <p:nvPr/>
        </p:nvSpPr>
        <p:spPr>
          <a:xfrm>
            <a:off x="9880092" y="5442133"/>
            <a:ext cx="360000" cy="360000"/>
          </a:xfrm>
          <a:prstGeom prst="mathPlu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15" name="Connecteur droit 114"/>
          <p:cNvCxnSpPr/>
          <p:nvPr/>
        </p:nvCxnSpPr>
        <p:spPr>
          <a:xfrm>
            <a:off x="2560197" y="4650148"/>
            <a:ext cx="806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Connecteur droit 115"/>
          <p:cNvCxnSpPr/>
          <p:nvPr/>
        </p:nvCxnSpPr>
        <p:spPr>
          <a:xfrm>
            <a:off x="2560197" y="5316898"/>
            <a:ext cx="806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2" name="Titre 1"/>
          <p:cNvSpPr txBox="1">
            <a:spLocks/>
          </p:cNvSpPr>
          <p:nvPr/>
        </p:nvSpPr>
        <p:spPr>
          <a:xfrm>
            <a:off x="630623" y="2278797"/>
            <a:ext cx="180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Classe </a:t>
            </a:r>
            <a:r>
              <a:rPr lang="fr-FR" sz="1400" dirty="0" smtClean="0"/>
              <a:t>thérapeutique</a:t>
            </a:r>
            <a:endParaRPr lang="fr-FR" sz="1400" dirty="0"/>
          </a:p>
        </p:txBody>
      </p:sp>
      <p:sp>
        <p:nvSpPr>
          <p:cNvPr id="114" name="Rectangle 113"/>
          <p:cNvSpPr/>
          <p:nvPr/>
        </p:nvSpPr>
        <p:spPr>
          <a:xfrm>
            <a:off x="2543434" y="2299732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7" name="Titre 1"/>
          <p:cNvSpPr txBox="1">
            <a:spLocks/>
          </p:cNvSpPr>
          <p:nvPr/>
        </p:nvSpPr>
        <p:spPr>
          <a:xfrm>
            <a:off x="1759110" y="1798651"/>
            <a:ext cx="671513" cy="3837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</a:t>
            </a:r>
            <a:endParaRPr lang="fr-FR" sz="1400" dirty="0"/>
          </a:p>
        </p:txBody>
      </p:sp>
      <p:sp>
        <p:nvSpPr>
          <p:cNvPr id="118" name="Triangle isocèle 117"/>
          <p:cNvSpPr/>
          <p:nvPr/>
        </p:nvSpPr>
        <p:spPr>
          <a:xfrm rot="10800000">
            <a:off x="4062050" y="2320740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2" name="Rectangle 121"/>
          <p:cNvSpPr/>
          <p:nvPr/>
        </p:nvSpPr>
        <p:spPr>
          <a:xfrm>
            <a:off x="504976" y="2858365"/>
            <a:ext cx="1931650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07000"/>
              </a:lnSpc>
              <a:spcAft>
                <a:spcPts val="800"/>
              </a:spcAft>
            </a:pPr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S/Classe </a:t>
            </a: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thérapeutique</a:t>
            </a:r>
            <a:endParaRPr lang="fr-FR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8" name="Rectangle 127"/>
          <p:cNvSpPr/>
          <p:nvPr/>
        </p:nvSpPr>
        <p:spPr>
          <a:xfrm>
            <a:off x="2543434" y="2852857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9" name="Triangle isocèle 128"/>
          <p:cNvSpPr/>
          <p:nvPr/>
        </p:nvSpPr>
        <p:spPr>
          <a:xfrm rot="10800000">
            <a:off x="4081100" y="2892240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8" name="Rectangle 147"/>
          <p:cNvSpPr/>
          <p:nvPr/>
        </p:nvSpPr>
        <p:spPr>
          <a:xfrm>
            <a:off x="2567818" y="1812052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" name="Rectangle 1"/>
          <p:cNvSpPr/>
          <p:nvPr/>
        </p:nvSpPr>
        <p:spPr>
          <a:xfrm>
            <a:off x="1994285" y="3464738"/>
            <a:ext cx="43633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DCI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2567818" y="3444169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0" name="Triangle isocèle 149"/>
          <p:cNvSpPr/>
          <p:nvPr/>
        </p:nvSpPr>
        <p:spPr>
          <a:xfrm rot="10800000">
            <a:off x="4105484" y="3483552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548960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31 – Observations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Examens cliniques / Histoire de la maladie (HDM)</a:t>
            </a:r>
            <a:endParaRPr 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191992" y="689428"/>
            <a:ext cx="11758269" cy="604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9333916" y="5432962"/>
            <a:ext cx="10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Valider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16283" y="3189282"/>
            <a:ext cx="10309385" cy="2799393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8" name="Rectangle 67"/>
          <p:cNvSpPr/>
          <p:nvPr/>
        </p:nvSpPr>
        <p:spPr>
          <a:xfrm>
            <a:off x="476253" y="3372583"/>
            <a:ext cx="9937663" cy="1864665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6" name="Titre 1"/>
          <p:cNvSpPr txBox="1">
            <a:spLocks/>
          </p:cNvSpPr>
          <p:nvPr/>
        </p:nvSpPr>
        <p:spPr>
          <a:xfrm>
            <a:off x="1964661" y="853386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47" name="Titre 1"/>
          <p:cNvSpPr txBox="1">
            <a:spLocks/>
          </p:cNvSpPr>
          <p:nvPr/>
        </p:nvSpPr>
        <p:spPr>
          <a:xfrm>
            <a:off x="4355023" y="840281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48" name="Titre 1"/>
          <p:cNvSpPr txBox="1">
            <a:spLocks/>
          </p:cNvSpPr>
          <p:nvPr/>
        </p:nvSpPr>
        <p:spPr>
          <a:xfrm>
            <a:off x="7182390" y="859793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49" name="Rectangle 48"/>
          <p:cNvSpPr/>
          <p:nvPr/>
        </p:nvSpPr>
        <p:spPr>
          <a:xfrm>
            <a:off x="3152059" y="898412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0" name="Rectangle 49"/>
          <p:cNvSpPr/>
          <p:nvPr/>
        </p:nvSpPr>
        <p:spPr>
          <a:xfrm>
            <a:off x="5326245" y="853688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1" name="Rectangle 50"/>
          <p:cNvSpPr/>
          <p:nvPr/>
        </p:nvSpPr>
        <p:spPr>
          <a:xfrm>
            <a:off x="7736488" y="905040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2" name="Rectangle 51"/>
          <p:cNvSpPr/>
          <p:nvPr/>
        </p:nvSpPr>
        <p:spPr>
          <a:xfrm>
            <a:off x="1914070" y="794526"/>
            <a:ext cx="9828000" cy="4643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3" name="Rectangle 52"/>
          <p:cNvSpPr/>
          <p:nvPr/>
        </p:nvSpPr>
        <p:spPr>
          <a:xfrm>
            <a:off x="1914071" y="1314023"/>
            <a:ext cx="9828000" cy="1368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6" name="Titre 1"/>
          <p:cNvSpPr txBox="1">
            <a:spLocks/>
          </p:cNvSpPr>
          <p:nvPr/>
        </p:nvSpPr>
        <p:spPr>
          <a:xfrm>
            <a:off x="3345444" y="924164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69" name="Rectangle 68"/>
          <p:cNvSpPr/>
          <p:nvPr/>
        </p:nvSpPr>
        <p:spPr>
          <a:xfrm>
            <a:off x="5434893" y="907746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6099371" y="91378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7785158" y="932612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74" name="Titre 1"/>
          <p:cNvSpPr txBox="1">
            <a:spLocks/>
          </p:cNvSpPr>
          <p:nvPr/>
        </p:nvSpPr>
        <p:spPr>
          <a:xfrm>
            <a:off x="273503" y="700949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82825" y="1306496"/>
            <a:ext cx="157286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b="1" u="sng" dirty="0"/>
              <a:t>Examen clinique</a:t>
            </a:r>
          </a:p>
        </p:txBody>
      </p:sp>
      <p:sp>
        <p:nvSpPr>
          <p:cNvPr id="76" name="Titre 1"/>
          <p:cNvSpPr txBox="1">
            <a:spLocks/>
          </p:cNvSpPr>
          <p:nvPr/>
        </p:nvSpPr>
        <p:spPr>
          <a:xfrm>
            <a:off x="2119421" y="1728984"/>
            <a:ext cx="72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Type</a:t>
            </a:r>
            <a:endParaRPr lang="fr-FR" sz="1400" dirty="0"/>
          </a:p>
        </p:txBody>
      </p:sp>
      <p:sp>
        <p:nvSpPr>
          <p:cNvPr id="77" name="Rectangle 76"/>
          <p:cNvSpPr/>
          <p:nvPr/>
        </p:nvSpPr>
        <p:spPr>
          <a:xfrm>
            <a:off x="2836804" y="1764634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8" name="Titre 1"/>
          <p:cNvSpPr txBox="1">
            <a:spLocks/>
          </p:cNvSpPr>
          <p:nvPr/>
        </p:nvSpPr>
        <p:spPr>
          <a:xfrm>
            <a:off x="2132339" y="1346461"/>
            <a:ext cx="720000" cy="3837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</a:t>
            </a:r>
            <a:endParaRPr lang="fr-FR" sz="1400" dirty="0"/>
          </a:p>
        </p:txBody>
      </p:sp>
      <p:sp>
        <p:nvSpPr>
          <p:cNvPr id="79" name="Triangle isocèle 78"/>
          <p:cNvSpPr/>
          <p:nvPr/>
        </p:nvSpPr>
        <p:spPr>
          <a:xfrm rot="10800000">
            <a:off x="4434128" y="1779112"/>
            <a:ext cx="180000" cy="252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0" name="Rectangle 79"/>
          <p:cNvSpPr/>
          <p:nvPr/>
        </p:nvSpPr>
        <p:spPr>
          <a:xfrm>
            <a:off x="2096032" y="2238748"/>
            <a:ext cx="720000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Motif</a:t>
            </a:r>
            <a:endParaRPr lang="fr-FR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2817753" y="2119477"/>
            <a:ext cx="5710735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9" name="Rectangle 88"/>
          <p:cNvSpPr/>
          <p:nvPr/>
        </p:nvSpPr>
        <p:spPr>
          <a:xfrm>
            <a:off x="2842138" y="1385620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0" name="Titre 1"/>
          <p:cNvSpPr txBox="1">
            <a:spLocks/>
          </p:cNvSpPr>
          <p:nvPr/>
        </p:nvSpPr>
        <p:spPr>
          <a:xfrm>
            <a:off x="5355022" y="1375503"/>
            <a:ext cx="1029803" cy="3626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Médecin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6371722" y="1403908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2" name="Triangle isocèle 91"/>
          <p:cNvSpPr/>
          <p:nvPr/>
        </p:nvSpPr>
        <p:spPr>
          <a:xfrm rot="10800000">
            <a:off x="7988096" y="1418386"/>
            <a:ext cx="180000" cy="252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3" name="Titre 1"/>
          <p:cNvSpPr txBox="1">
            <a:spLocks/>
          </p:cNvSpPr>
          <p:nvPr/>
        </p:nvSpPr>
        <p:spPr>
          <a:xfrm>
            <a:off x="4723622" y="1682183"/>
            <a:ext cx="4023137" cy="4114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dirty="0" smtClean="0"/>
              <a:t>Type : </a:t>
            </a:r>
            <a:r>
              <a:rPr lang="fr-FR" sz="1400" dirty="0" smtClean="0"/>
              <a:t>Consultation, Hospitalisation, Prise en charge </a:t>
            </a:r>
            <a:endParaRPr lang="fr-FR" sz="1400" b="1" dirty="0"/>
          </a:p>
        </p:txBody>
      </p:sp>
      <p:sp>
        <p:nvSpPr>
          <p:cNvPr id="102" name="Rectangle 101"/>
          <p:cNvSpPr/>
          <p:nvPr/>
        </p:nvSpPr>
        <p:spPr>
          <a:xfrm>
            <a:off x="244779" y="2741091"/>
            <a:ext cx="720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HDM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86241" y="2747719"/>
            <a:ext cx="828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Général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026545" y="2737455"/>
            <a:ext cx="16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Cervico-céphalique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758589" y="2743324"/>
            <a:ext cx="7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Thorax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04065" y="2747719"/>
            <a:ext cx="97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Abdomen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698726" y="2738021"/>
            <a:ext cx="79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Pelvien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603581" y="2743920"/>
            <a:ext cx="97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Vasculaire</a:t>
            </a:r>
            <a:endParaRPr lang="fr-FR" sz="1400" dirty="0"/>
          </a:p>
        </p:txBody>
      </p:sp>
      <p:sp>
        <p:nvSpPr>
          <p:cNvPr id="109" name="Rectangle 108"/>
          <p:cNvSpPr/>
          <p:nvPr/>
        </p:nvSpPr>
        <p:spPr>
          <a:xfrm>
            <a:off x="7692637" y="2736910"/>
            <a:ext cx="126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Neurologique</a:t>
            </a:r>
            <a:endParaRPr lang="fr-FR" sz="1400" dirty="0"/>
          </a:p>
        </p:txBody>
      </p:sp>
      <p:sp>
        <p:nvSpPr>
          <p:cNvPr id="110" name="Rectangle 109"/>
          <p:cNvSpPr/>
          <p:nvPr/>
        </p:nvSpPr>
        <p:spPr>
          <a:xfrm>
            <a:off x="9072394" y="2736834"/>
            <a:ext cx="1476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Osteo-articulaire</a:t>
            </a:r>
            <a:endParaRPr lang="fr-FR" sz="1400" dirty="0"/>
          </a:p>
        </p:txBody>
      </p:sp>
      <p:sp>
        <p:nvSpPr>
          <p:cNvPr id="111" name="Rectangle 110"/>
          <p:cNvSpPr/>
          <p:nvPr/>
        </p:nvSpPr>
        <p:spPr>
          <a:xfrm>
            <a:off x="10654081" y="2736910"/>
            <a:ext cx="126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6677264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32 – Observations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Examens cliniques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/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Examen général</a:t>
            </a:r>
            <a:endParaRPr 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191991" y="689428"/>
            <a:ext cx="11880000" cy="612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1964661" y="801870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355023" y="788765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182390" y="808277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152059" y="846896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326245" y="802172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7736488" y="853524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1914070" y="743010"/>
            <a:ext cx="9828000" cy="4643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1914071" y="1262507"/>
            <a:ext cx="9828000" cy="1368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345444" y="872648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434893" y="856230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099371" y="862271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7785158" y="881096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273503" y="649433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2825" y="1254980"/>
            <a:ext cx="157286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b="1" u="sng" dirty="0"/>
              <a:t>Examen clinique</a:t>
            </a:r>
          </a:p>
        </p:txBody>
      </p:sp>
      <p:sp>
        <p:nvSpPr>
          <p:cNvPr id="82" name="Titre 1"/>
          <p:cNvSpPr txBox="1">
            <a:spLocks/>
          </p:cNvSpPr>
          <p:nvPr/>
        </p:nvSpPr>
        <p:spPr>
          <a:xfrm>
            <a:off x="2119421" y="1677468"/>
            <a:ext cx="72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Type</a:t>
            </a:r>
            <a:endParaRPr lang="fr-FR" sz="1400" dirty="0"/>
          </a:p>
        </p:txBody>
      </p:sp>
      <p:sp>
        <p:nvSpPr>
          <p:cNvPr id="114" name="Rectangle 113"/>
          <p:cNvSpPr/>
          <p:nvPr/>
        </p:nvSpPr>
        <p:spPr>
          <a:xfrm>
            <a:off x="2836804" y="1713118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7" name="Titre 1"/>
          <p:cNvSpPr txBox="1">
            <a:spLocks/>
          </p:cNvSpPr>
          <p:nvPr/>
        </p:nvSpPr>
        <p:spPr>
          <a:xfrm>
            <a:off x="2132339" y="1294945"/>
            <a:ext cx="720000" cy="3837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</a:t>
            </a:r>
            <a:endParaRPr lang="fr-FR" sz="1400" dirty="0"/>
          </a:p>
        </p:txBody>
      </p:sp>
      <p:sp>
        <p:nvSpPr>
          <p:cNvPr id="118" name="Triangle isocèle 117"/>
          <p:cNvSpPr/>
          <p:nvPr/>
        </p:nvSpPr>
        <p:spPr>
          <a:xfrm rot="10800000">
            <a:off x="4434128" y="1727596"/>
            <a:ext cx="180000" cy="252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2" name="Rectangle 121"/>
          <p:cNvSpPr/>
          <p:nvPr/>
        </p:nvSpPr>
        <p:spPr>
          <a:xfrm>
            <a:off x="2096032" y="2187232"/>
            <a:ext cx="720000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Motif</a:t>
            </a:r>
            <a:endParaRPr lang="fr-FR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8" name="Rectangle 127"/>
          <p:cNvSpPr/>
          <p:nvPr/>
        </p:nvSpPr>
        <p:spPr>
          <a:xfrm>
            <a:off x="2817753" y="2067961"/>
            <a:ext cx="5710735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8" name="Rectangle 147"/>
          <p:cNvSpPr/>
          <p:nvPr/>
        </p:nvSpPr>
        <p:spPr>
          <a:xfrm>
            <a:off x="2842138" y="1334104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4" name="Titre 1"/>
          <p:cNvSpPr txBox="1">
            <a:spLocks/>
          </p:cNvSpPr>
          <p:nvPr/>
        </p:nvSpPr>
        <p:spPr>
          <a:xfrm>
            <a:off x="5355022" y="1323987"/>
            <a:ext cx="1029803" cy="3626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Médecin</a:t>
            </a:r>
            <a:endParaRPr lang="fr-FR" sz="1400" dirty="0"/>
          </a:p>
        </p:txBody>
      </p:sp>
      <p:sp>
        <p:nvSpPr>
          <p:cNvPr id="55" name="Rectangle 54"/>
          <p:cNvSpPr/>
          <p:nvPr/>
        </p:nvSpPr>
        <p:spPr>
          <a:xfrm>
            <a:off x="6371722" y="1352392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6" name="Triangle isocèle 55"/>
          <p:cNvSpPr/>
          <p:nvPr/>
        </p:nvSpPr>
        <p:spPr>
          <a:xfrm rot="10800000">
            <a:off x="7988096" y="1366870"/>
            <a:ext cx="180000" cy="252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7" name="Titre 1"/>
          <p:cNvSpPr txBox="1">
            <a:spLocks/>
          </p:cNvSpPr>
          <p:nvPr/>
        </p:nvSpPr>
        <p:spPr>
          <a:xfrm>
            <a:off x="4723622" y="1630667"/>
            <a:ext cx="4023137" cy="4114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dirty="0" smtClean="0"/>
              <a:t>Type : </a:t>
            </a:r>
            <a:r>
              <a:rPr lang="fr-FR" sz="1400" dirty="0" smtClean="0"/>
              <a:t>Consultation, Hospitalisation, Prise en charge </a:t>
            </a:r>
            <a:endParaRPr lang="fr-FR" sz="1400" b="1" dirty="0"/>
          </a:p>
        </p:txBody>
      </p:sp>
      <p:sp>
        <p:nvSpPr>
          <p:cNvPr id="58" name="Rectangle 57"/>
          <p:cNvSpPr/>
          <p:nvPr/>
        </p:nvSpPr>
        <p:spPr>
          <a:xfrm>
            <a:off x="283416" y="2689575"/>
            <a:ext cx="7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HDM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137757" y="2696203"/>
            <a:ext cx="828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Général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090940" y="2685939"/>
            <a:ext cx="16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Cervico-céphalique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822984" y="2691808"/>
            <a:ext cx="7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Thorax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81339" y="2696203"/>
            <a:ext cx="97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Abdomen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776000" y="2686505"/>
            <a:ext cx="79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Pelvien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680855" y="2692404"/>
            <a:ext cx="97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Vasculaire</a:t>
            </a:r>
            <a:endParaRPr lang="fr-FR" sz="1400" dirty="0"/>
          </a:p>
        </p:txBody>
      </p:sp>
      <p:sp>
        <p:nvSpPr>
          <p:cNvPr id="67" name="Rectangle 66"/>
          <p:cNvSpPr/>
          <p:nvPr/>
        </p:nvSpPr>
        <p:spPr>
          <a:xfrm>
            <a:off x="7769911" y="2685394"/>
            <a:ext cx="126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Neurologique</a:t>
            </a:r>
            <a:endParaRPr lang="fr-FR" sz="1400" dirty="0"/>
          </a:p>
        </p:txBody>
      </p:sp>
      <p:sp>
        <p:nvSpPr>
          <p:cNvPr id="71" name="Rectangle 70"/>
          <p:cNvSpPr/>
          <p:nvPr/>
        </p:nvSpPr>
        <p:spPr>
          <a:xfrm>
            <a:off x="9149668" y="2685318"/>
            <a:ext cx="1476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Osteo-articulaire</a:t>
            </a:r>
            <a:endParaRPr lang="fr-FR" sz="1400" dirty="0"/>
          </a:p>
        </p:txBody>
      </p:sp>
      <p:sp>
        <p:nvSpPr>
          <p:cNvPr id="72" name="Rectangle 71"/>
          <p:cNvSpPr/>
          <p:nvPr/>
        </p:nvSpPr>
        <p:spPr>
          <a:xfrm>
            <a:off x="10731355" y="2685394"/>
            <a:ext cx="126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Conclusion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34459" y="3232322"/>
            <a:ext cx="128298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fr-FR" sz="1400" b="1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Etat de patient</a:t>
            </a:r>
            <a:endParaRPr lang="fr-FR" sz="1400" b="1" dirty="0"/>
          </a:p>
        </p:txBody>
      </p:sp>
      <p:sp>
        <p:nvSpPr>
          <p:cNvPr id="3" name="Rectangle 2"/>
          <p:cNvSpPr/>
          <p:nvPr/>
        </p:nvSpPr>
        <p:spPr>
          <a:xfrm>
            <a:off x="6695067" y="3190790"/>
            <a:ext cx="560153" cy="3228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Taille</a:t>
            </a:r>
            <a:endParaRPr lang="fr-FR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9327878" y="3187286"/>
            <a:ext cx="479618" cy="3228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IMC</a:t>
            </a:r>
            <a:endParaRPr lang="fr-FR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4117147" y="3197728"/>
            <a:ext cx="612000" cy="3228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Poids</a:t>
            </a:r>
            <a:endParaRPr lang="fr-FR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5844961" y="3211584"/>
            <a:ext cx="362600" cy="3228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</a:t>
            </a: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</a:t>
            </a:r>
            <a:endParaRPr lang="fr-FR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8340639" y="3200166"/>
            <a:ext cx="402674" cy="3228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cm</a:t>
            </a:r>
            <a:endParaRPr lang="fr-FR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10897977" y="3193995"/>
            <a:ext cx="630301" cy="3228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kg/m²</a:t>
            </a:r>
            <a:endParaRPr lang="fr-FR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371562" y="3581474"/>
            <a:ext cx="36000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fr-FR" sz="1400" dirty="0"/>
              <a:t>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8710" y="3576758"/>
            <a:ext cx="70724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mm Hg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625840" y="3257540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69" name="Triangle isocèle 68"/>
          <p:cNvSpPr/>
          <p:nvPr/>
        </p:nvSpPr>
        <p:spPr>
          <a:xfrm rot="10800000">
            <a:off x="3234333" y="3274202"/>
            <a:ext cx="180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70" name="Rectangle 69"/>
          <p:cNvSpPr/>
          <p:nvPr/>
        </p:nvSpPr>
        <p:spPr>
          <a:xfrm>
            <a:off x="4731008" y="3197133"/>
            <a:ext cx="1107733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73" name="Rectangle 72"/>
          <p:cNvSpPr/>
          <p:nvPr/>
        </p:nvSpPr>
        <p:spPr>
          <a:xfrm>
            <a:off x="7263584" y="3199242"/>
            <a:ext cx="1107733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74" name="Rectangle 73"/>
          <p:cNvSpPr/>
          <p:nvPr/>
        </p:nvSpPr>
        <p:spPr>
          <a:xfrm>
            <a:off x="9774104" y="3193995"/>
            <a:ext cx="1107733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75" name="Rectangle 74"/>
          <p:cNvSpPr/>
          <p:nvPr/>
        </p:nvSpPr>
        <p:spPr>
          <a:xfrm>
            <a:off x="4724454" y="3586196"/>
            <a:ext cx="1107733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7" name="Rectangle 6"/>
          <p:cNvSpPr/>
          <p:nvPr/>
        </p:nvSpPr>
        <p:spPr>
          <a:xfrm>
            <a:off x="6768082" y="3568653"/>
            <a:ext cx="3609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FC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263584" y="3578094"/>
            <a:ext cx="1107733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8" name="Rectangle 7"/>
          <p:cNvSpPr/>
          <p:nvPr/>
        </p:nvSpPr>
        <p:spPr>
          <a:xfrm>
            <a:off x="8338234" y="3567619"/>
            <a:ext cx="864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batt</a:t>
            </a:r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/min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774104" y="3579018"/>
            <a:ext cx="1107733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9" name="Rectangle 8"/>
          <p:cNvSpPr/>
          <p:nvPr/>
        </p:nvSpPr>
        <p:spPr>
          <a:xfrm>
            <a:off x="9323219" y="3567886"/>
            <a:ext cx="46800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</a:t>
            </a:r>
            <a:endParaRPr lang="fr-FR" sz="1400" dirty="0"/>
          </a:p>
        </p:txBody>
      </p:sp>
      <p:sp>
        <p:nvSpPr>
          <p:cNvPr id="10" name="Rectangle 9"/>
          <p:cNvSpPr/>
          <p:nvPr/>
        </p:nvSpPr>
        <p:spPr>
          <a:xfrm>
            <a:off x="10882438" y="3571699"/>
            <a:ext cx="964623" cy="3228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cycles/min</a:t>
            </a:r>
            <a:endParaRPr lang="fr-FR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661933" y="3971945"/>
            <a:ext cx="108000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Température</a:t>
            </a:r>
            <a:endParaRPr lang="fr-FR" sz="1400" dirty="0"/>
          </a:p>
        </p:txBody>
      </p:sp>
      <p:sp>
        <p:nvSpPr>
          <p:cNvPr id="78" name="Rectangle 77"/>
          <p:cNvSpPr/>
          <p:nvPr/>
        </p:nvSpPr>
        <p:spPr>
          <a:xfrm>
            <a:off x="4753315" y="3950382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79" name="Rectangle 78"/>
          <p:cNvSpPr/>
          <p:nvPr/>
        </p:nvSpPr>
        <p:spPr>
          <a:xfrm>
            <a:off x="7639339" y="3932036"/>
            <a:ext cx="870024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Apyrexie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0" name="Ellipse 79"/>
          <p:cNvSpPr/>
          <p:nvPr/>
        </p:nvSpPr>
        <p:spPr>
          <a:xfrm>
            <a:off x="7511884" y="4007272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3" name="Rectangle 12"/>
          <p:cNvSpPr/>
          <p:nvPr/>
        </p:nvSpPr>
        <p:spPr>
          <a:xfrm>
            <a:off x="5859956" y="3959066"/>
            <a:ext cx="34176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°C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952639" y="3956420"/>
            <a:ext cx="1247425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Hyperthermie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9" name="Ellipse 88"/>
          <p:cNvSpPr/>
          <p:nvPr/>
        </p:nvSpPr>
        <p:spPr>
          <a:xfrm>
            <a:off x="8806897" y="4013368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90" name="Rectangle 89"/>
          <p:cNvSpPr/>
          <p:nvPr/>
        </p:nvSpPr>
        <p:spPr>
          <a:xfrm>
            <a:off x="10605685" y="3944717"/>
            <a:ext cx="1247425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1" name="Ellipse 90"/>
          <p:cNvSpPr/>
          <p:nvPr/>
        </p:nvSpPr>
        <p:spPr>
          <a:xfrm>
            <a:off x="10425685" y="4001176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4" name="Rectangle 13"/>
          <p:cNvSpPr/>
          <p:nvPr/>
        </p:nvSpPr>
        <p:spPr>
          <a:xfrm>
            <a:off x="405743" y="4367031"/>
            <a:ext cx="226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fr-FR" sz="1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Coloration des </a:t>
            </a:r>
            <a:r>
              <a:rPr lang="fr-FR" sz="1400" b="1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conjonctives</a:t>
            </a:r>
            <a:endParaRPr lang="fr-FR" sz="14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18348" y="5226332"/>
            <a:ext cx="108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Respiration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4367" y="6032464"/>
            <a:ext cx="154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Etat d'hydratation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76305" y="3102035"/>
            <a:ext cx="11700000" cy="3672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1" name="Rectangle 110"/>
          <p:cNvSpPr/>
          <p:nvPr/>
        </p:nvSpPr>
        <p:spPr>
          <a:xfrm>
            <a:off x="405097" y="4351290"/>
            <a:ext cx="11520000" cy="232780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9" name="Connecteur droit 18"/>
          <p:cNvCxnSpPr/>
          <p:nvPr/>
        </p:nvCxnSpPr>
        <p:spPr>
          <a:xfrm flipH="1" flipV="1">
            <a:off x="405097" y="5220521"/>
            <a:ext cx="11520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2" name="Rectangle 141"/>
          <p:cNvSpPr/>
          <p:nvPr/>
        </p:nvSpPr>
        <p:spPr>
          <a:xfrm>
            <a:off x="390070" y="3151407"/>
            <a:ext cx="11520000" cy="1152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43" name="Connecteur droit 142"/>
          <p:cNvCxnSpPr/>
          <p:nvPr/>
        </p:nvCxnSpPr>
        <p:spPr>
          <a:xfrm flipH="1">
            <a:off x="3633403" y="3195287"/>
            <a:ext cx="0" cy="1097873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4" name="Connecteur droit 23"/>
          <p:cNvCxnSpPr/>
          <p:nvPr/>
        </p:nvCxnSpPr>
        <p:spPr>
          <a:xfrm>
            <a:off x="3646281" y="3918959"/>
            <a:ext cx="824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4" name="Connecteur droit 143"/>
          <p:cNvCxnSpPr/>
          <p:nvPr/>
        </p:nvCxnSpPr>
        <p:spPr>
          <a:xfrm>
            <a:off x="3644133" y="3530447"/>
            <a:ext cx="824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9" name="Rectangle 158"/>
          <p:cNvSpPr/>
          <p:nvPr/>
        </p:nvSpPr>
        <p:spPr>
          <a:xfrm>
            <a:off x="3313488" y="4916652"/>
            <a:ext cx="72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Ictère</a:t>
            </a:r>
          </a:p>
        </p:txBody>
      </p:sp>
      <p:sp>
        <p:nvSpPr>
          <p:cNvPr id="160" name="Ellipse 159"/>
          <p:cNvSpPr/>
          <p:nvPr/>
        </p:nvSpPr>
        <p:spPr>
          <a:xfrm>
            <a:off x="3115205" y="4462140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61" name="Rectangle 160"/>
          <p:cNvSpPr/>
          <p:nvPr/>
        </p:nvSpPr>
        <p:spPr>
          <a:xfrm>
            <a:off x="10833242" y="4708768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2" name="Ellipse 161"/>
          <p:cNvSpPr/>
          <p:nvPr/>
        </p:nvSpPr>
        <p:spPr>
          <a:xfrm>
            <a:off x="10634336" y="4781959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63" name="Rectangle 162"/>
          <p:cNvSpPr/>
          <p:nvPr/>
        </p:nvSpPr>
        <p:spPr>
          <a:xfrm>
            <a:off x="3320053" y="4408020"/>
            <a:ext cx="90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Normale</a:t>
            </a:r>
          </a:p>
        </p:txBody>
      </p:sp>
      <p:sp>
        <p:nvSpPr>
          <p:cNvPr id="164" name="Ellipse 163"/>
          <p:cNvSpPr/>
          <p:nvPr/>
        </p:nvSpPr>
        <p:spPr>
          <a:xfrm>
            <a:off x="3125940" y="4962265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65" name="Rectangle 164"/>
          <p:cNvSpPr/>
          <p:nvPr/>
        </p:nvSpPr>
        <p:spPr>
          <a:xfrm>
            <a:off x="4987218" y="4643230"/>
            <a:ext cx="5212846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66" name="Rectangle 165"/>
          <p:cNvSpPr/>
          <p:nvPr/>
        </p:nvSpPr>
        <p:spPr>
          <a:xfrm>
            <a:off x="3311345" y="4669808"/>
            <a:ext cx="72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Pâleur</a:t>
            </a:r>
          </a:p>
        </p:txBody>
      </p:sp>
      <p:sp>
        <p:nvSpPr>
          <p:cNvPr id="167" name="Ellipse 166"/>
          <p:cNvSpPr/>
          <p:nvPr/>
        </p:nvSpPr>
        <p:spPr>
          <a:xfrm>
            <a:off x="3123798" y="4715421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69" name="Rectangle 168"/>
          <p:cNvSpPr/>
          <p:nvPr/>
        </p:nvSpPr>
        <p:spPr>
          <a:xfrm>
            <a:off x="3320115" y="5760031"/>
            <a:ext cx="1692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Patient dyspnétique</a:t>
            </a:r>
          </a:p>
          <a:p>
            <a:endParaRPr lang="fr-FR" sz="1400" dirty="0" smtClean="0"/>
          </a:p>
          <a:p>
            <a:endParaRPr lang="fr-FR" sz="1400" dirty="0"/>
          </a:p>
        </p:txBody>
      </p:sp>
      <p:sp>
        <p:nvSpPr>
          <p:cNvPr id="170" name="Ellipse 169"/>
          <p:cNvSpPr/>
          <p:nvPr/>
        </p:nvSpPr>
        <p:spPr>
          <a:xfrm>
            <a:off x="3121833" y="5279757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71" name="Rectangle 170"/>
          <p:cNvSpPr/>
          <p:nvPr/>
        </p:nvSpPr>
        <p:spPr>
          <a:xfrm>
            <a:off x="10839870" y="5552145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2" name="Ellipse 171"/>
          <p:cNvSpPr/>
          <p:nvPr/>
        </p:nvSpPr>
        <p:spPr>
          <a:xfrm>
            <a:off x="10640964" y="5625336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73" name="Rectangle 172"/>
          <p:cNvSpPr/>
          <p:nvPr/>
        </p:nvSpPr>
        <p:spPr>
          <a:xfrm>
            <a:off x="3326681" y="5225637"/>
            <a:ext cx="90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Normale</a:t>
            </a:r>
          </a:p>
        </p:txBody>
      </p:sp>
      <p:sp>
        <p:nvSpPr>
          <p:cNvPr id="174" name="Ellipse 173"/>
          <p:cNvSpPr/>
          <p:nvPr/>
        </p:nvSpPr>
        <p:spPr>
          <a:xfrm>
            <a:off x="3132567" y="5805644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76" name="Rectangle 175"/>
          <p:cNvSpPr/>
          <p:nvPr/>
        </p:nvSpPr>
        <p:spPr>
          <a:xfrm>
            <a:off x="3317973" y="5487429"/>
            <a:ext cx="162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Patient eupnéique</a:t>
            </a:r>
          </a:p>
          <a:p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7" name="Ellipse 176"/>
          <p:cNvSpPr/>
          <p:nvPr/>
        </p:nvSpPr>
        <p:spPr>
          <a:xfrm>
            <a:off x="3130426" y="5533042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78" name="Rectangle 177"/>
          <p:cNvSpPr/>
          <p:nvPr/>
        </p:nvSpPr>
        <p:spPr>
          <a:xfrm>
            <a:off x="4987218" y="5495263"/>
            <a:ext cx="5212846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cxnSp>
        <p:nvCxnSpPr>
          <p:cNvPr id="179" name="Connecteur droit 178"/>
          <p:cNvCxnSpPr/>
          <p:nvPr/>
        </p:nvCxnSpPr>
        <p:spPr>
          <a:xfrm flipH="1" flipV="1">
            <a:off x="398473" y="6051021"/>
            <a:ext cx="11520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80" name="Rectangle 179"/>
          <p:cNvSpPr/>
          <p:nvPr/>
        </p:nvSpPr>
        <p:spPr>
          <a:xfrm>
            <a:off x="3326742" y="6539013"/>
            <a:ext cx="1692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Oedèmes</a:t>
            </a:r>
            <a:endParaRPr lang="fr-FR" sz="1400" dirty="0" smtClean="0"/>
          </a:p>
        </p:txBody>
      </p:sp>
      <p:sp>
        <p:nvSpPr>
          <p:cNvPr id="181" name="Ellipse 180"/>
          <p:cNvSpPr/>
          <p:nvPr/>
        </p:nvSpPr>
        <p:spPr>
          <a:xfrm>
            <a:off x="3128461" y="6136015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82" name="Rectangle 181"/>
          <p:cNvSpPr/>
          <p:nvPr/>
        </p:nvSpPr>
        <p:spPr>
          <a:xfrm>
            <a:off x="10846498" y="6408403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3" name="Ellipse 182"/>
          <p:cNvSpPr/>
          <p:nvPr/>
        </p:nvSpPr>
        <p:spPr>
          <a:xfrm>
            <a:off x="10647592" y="6481594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84" name="Rectangle 183"/>
          <p:cNvSpPr/>
          <p:nvPr/>
        </p:nvSpPr>
        <p:spPr>
          <a:xfrm>
            <a:off x="3333309" y="6081895"/>
            <a:ext cx="90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Normale</a:t>
            </a:r>
          </a:p>
        </p:txBody>
      </p:sp>
      <p:sp>
        <p:nvSpPr>
          <p:cNvPr id="185" name="Ellipse 184"/>
          <p:cNvSpPr/>
          <p:nvPr/>
        </p:nvSpPr>
        <p:spPr>
          <a:xfrm>
            <a:off x="3139194" y="6584626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87" name="Rectangle 186"/>
          <p:cNvSpPr/>
          <p:nvPr/>
        </p:nvSpPr>
        <p:spPr>
          <a:xfrm>
            <a:off x="3324600" y="6317929"/>
            <a:ext cx="162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Déshydraté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8" name="Ellipse 187"/>
          <p:cNvSpPr/>
          <p:nvPr/>
        </p:nvSpPr>
        <p:spPr>
          <a:xfrm>
            <a:off x="3137053" y="6363542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89" name="Rectangle 188"/>
          <p:cNvSpPr/>
          <p:nvPr/>
        </p:nvSpPr>
        <p:spPr>
          <a:xfrm>
            <a:off x="4981066" y="6274296"/>
            <a:ext cx="5218997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90" name="Rectangle 189"/>
          <p:cNvSpPr/>
          <p:nvPr/>
        </p:nvSpPr>
        <p:spPr>
          <a:xfrm>
            <a:off x="259765" y="6420238"/>
            <a:ext cx="1080000" cy="3262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600" b="1" u="sng" dirty="0">
                <a:solidFill>
                  <a:srgbClr val="FF0000"/>
                </a:solidFill>
              </a:rPr>
              <a:t>À suivre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289173" y="3848361"/>
            <a:ext cx="327083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fr-FR" sz="1400" b="1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Etat de patient : </a:t>
            </a: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conscient, non conscient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19073428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32 – Observations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Examens cliniques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/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Examen général</a:t>
            </a:r>
            <a:endParaRPr 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191991" y="689428"/>
            <a:ext cx="11880000" cy="612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83416" y="1092594"/>
            <a:ext cx="7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HDM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137757" y="1099222"/>
            <a:ext cx="828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Général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090940" y="1088958"/>
            <a:ext cx="16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Cervico-céphalique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822984" y="1094827"/>
            <a:ext cx="7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Thorax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81339" y="1099222"/>
            <a:ext cx="97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Abdomen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776000" y="1089524"/>
            <a:ext cx="79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Pelvien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680855" y="1095423"/>
            <a:ext cx="97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Vasculaire</a:t>
            </a:r>
            <a:endParaRPr lang="fr-FR" sz="1400" dirty="0"/>
          </a:p>
        </p:txBody>
      </p:sp>
      <p:sp>
        <p:nvSpPr>
          <p:cNvPr id="67" name="Rectangle 66"/>
          <p:cNvSpPr/>
          <p:nvPr/>
        </p:nvSpPr>
        <p:spPr>
          <a:xfrm>
            <a:off x="7769911" y="1088413"/>
            <a:ext cx="126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Neurologique</a:t>
            </a:r>
            <a:endParaRPr lang="fr-FR" sz="1400" dirty="0"/>
          </a:p>
        </p:txBody>
      </p:sp>
      <p:sp>
        <p:nvSpPr>
          <p:cNvPr id="71" name="Rectangle 70"/>
          <p:cNvSpPr/>
          <p:nvPr/>
        </p:nvSpPr>
        <p:spPr>
          <a:xfrm>
            <a:off x="9149668" y="1088337"/>
            <a:ext cx="1476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Osteo-articulaire</a:t>
            </a:r>
            <a:endParaRPr lang="fr-FR" sz="1400" dirty="0"/>
          </a:p>
        </p:txBody>
      </p:sp>
      <p:sp>
        <p:nvSpPr>
          <p:cNvPr id="72" name="Rectangle 71"/>
          <p:cNvSpPr/>
          <p:nvPr/>
        </p:nvSpPr>
        <p:spPr>
          <a:xfrm>
            <a:off x="10731355" y="1088413"/>
            <a:ext cx="126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Conclusion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76305" y="1505054"/>
            <a:ext cx="11700000" cy="3672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/>
          <p:cNvSpPr/>
          <p:nvPr/>
        </p:nvSpPr>
        <p:spPr>
          <a:xfrm>
            <a:off x="298413" y="1811886"/>
            <a:ext cx="208518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Examen cutanéomuqueux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394329" y="1739737"/>
            <a:ext cx="6170536" cy="964826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07" name="Titre 1"/>
          <p:cNvSpPr txBox="1">
            <a:spLocks/>
          </p:cNvSpPr>
          <p:nvPr/>
        </p:nvSpPr>
        <p:spPr>
          <a:xfrm>
            <a:off x="2480955" y="3208426"/>
            <a:ext cx="1080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</a:t>
            </a:r>
            <a:endParaRPr lang="fr-FR" sz="1400" dirty="0"/>
          </a:p>
        </p:txBody>
      </p:sp>
      <p:sp>
        <p:nvSpPr>
          <p:cNvPr id="108" name="Titre 1"/>
          <p:cNvSpPr txBox="1">
            <a:spLocks/>
          </p:cNvSpPr>
          <p:nvPr/>
        </p:nvSpPr>
        <p:spPr>
          <a:xfrm>
            <a:off x="3671438" y="3191678"/>
            <a:ext cx="1080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Poids (Kg</a:t>
            </a:r>
            <a:r>
              <a:rPr lang="fr-FR" sz="1400" dirty="0" smtClean="0"/>
              <a:t>)</a:t>
            </a:r>
            <a:endParaRPr lang="fr-FR" sz="1400" dirty="0"/>
          </a:p>
        </p:txBody>
      </p:sp>
      <p:sp>
        <p:nvSpPr>
          <p:cNvPr id="109" name="Titre 1"/>
          <p:cNvSpPr txBox="1">
            <a:spLocks/>
          </p:cNvSpPr>
          <p:nvPr/>
        </p:nvSpPr>
        <p:spPr>
          <a:xfrm>
            <a:off x="4851635" y="3205788"/>
            <a:ext cx="1080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Taille (cm</a:t>
            </a:r>
            <a:r>
              <a:rPr lang="fr-FR" sz="1400" dirty="0" smtClean="0"/>
              <a:t>)</a:t>
            </a:r>
            <a:endParaRPr lang="fr-FR" sz="1400" dirty="0"/>
          </a:p>
        </p:txBody>
      </p:sp>
      <p:sp>
        <p:nvSpPr>
          <p:cNvPr id="110" name="Titre 1"/>
          <p:cNvSpPr txBox="1">
            <a:spLocks/>
          </p:cNvSpPr>
          <p:nvPr/>
        </p:nvSpPr>
        <p:spPr>
          <a:xfrm>
            <a:off x="5995444" y="3200325"/>
            <a:ext cx="1440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/>
              <a:t>Température (°C</a:t>
            </a:r>
            <a:r>
              <a:rPr lang="fr-FR" dirty="0" smtClean="0"/>
              <a:t>)</a:t>
            </a:r>
            <a:endParaRPr lang="fr-FR" dirty="0"/>
          </a:p>
        </p:txBody>
      </p:sp>
      <p:sp>
        <p:nvSpPr>
          <p:cNvPr id="112" name="Titre 1"/>
          <p:cNvSpPr txBox="1">
            <a:spLocks/>
          </p:cNvSpPr>
          <p:nvPr/>
        </p:nvSpPr>
        <p:spPr>
          <a:xfrm>
            <a:off x="7470456" y="3192785"/>
            <a:ext cx="1080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/>
              <a:t>IMC (kg/m²)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2408865" y="3158848"/>
            <a:ext cx="6156000" cy="684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15" name="Connecteur droit 114"/>
          <p:cNvCxnSpPr/>
          <p:nvPr/>
        </p:nvCxnSpPr>
        <p:spPr>
          <a:xfrm>
            <a:off x="5981629" y="3178318"/>
            <a:ext cx="0" cy="684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Connecteur droit 115"/>
          <p:cNvCxnSpPr/>
          <p:nvPr/>
        </p:nvCxnSpPr>
        <p:spPr>
          <a:xfrm>
            <a:off x="3633860" y="3149861"/>
            <a:ext cx="0" cy="684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0" name="Connecteur droit 119"/>
          <p:cNvCxnSpPr/>
          <p:nvPr/>
        </p:nvCxnSpPr>
        <p:spPr>
          <a:xfrm>
            <a:off x="4780197" y="3156700"/>
            <a:ext cx="0" cy="684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1" name="Connecteur droit 120"/>
          <p:cNvCxnSpPr/>
          <p:nvPr/>
        </p:nvCxnSpPr>
        <p:spPr>
          <a:xfrm>
            <a:off x="7445224" y="3154426"/>
            <a:ext cx="0" cy="684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8" name="Connecteur droit 17"/>
          <p:cNvCxnSpPr>
            <a:stCxn id="113" idx="3"/>
            <a:endCxn id="113" idx="1"/>
          </p:cNvCxnSpPr>
          <p:nvPr/>
        </p:nvCxnSpPr>
        <p:spPr>
          <a:xfrm flipH="1">
            <a:off x="2408865" y="3500848"/>
            <a:ext cx="6156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9" name="Rectangle 118"/>
          <p:cNvSpPr/>
          <p:nvPr/>
        </p:nvSpPr>
        <p:spPr>
          <a:xfrm>
            <a:off x="7470456" y="4094356"/>
            <a:ext cx="10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Valider</a:t>
            </a:r>
          </a:p>
        </p:txBody>
      </p:sp>
      <p:sp>
        <p:nvSpPr>
          <p:cNvPr id="145" name="Titre 1"/>
          <p:cNvSpPr txBox="1">
            <a:spLocks/>
          </p:cNvSpPr>
          <p:nvPr/>
        </p:nvSpPr>
        <p:spPr>
          <a:xfrm>
            <a:off x="221986" y="713828"/>
            <a:ext cx="1800000" cy="324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Suite de l’écran 32</a:t>
            </a:r>
            <a:endParaRPr lang="fr-FR" sz="1600" b="1" u="sng" dirty="0">
              <a:solidFill>
                <a:srgbClr val="FF0000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46318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33 – Observations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Examens cliniques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/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Cervico-céphalique</a:t>
            </a:r>
            <a:endParaRPr lang="fr-FR" alt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209108" y="639127"/>
            <a:ext cx="11880000" cy="619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1964661" y="801870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355023" y="788765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182390" y="808277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152059" y="846896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326245" y="802172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7736488" y="853524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1914070" y="743010"/>
            <a:ext cx="9828000" cy="4643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1914071" y="1262507"/>
            <a:ext cx="9828000" cy="1368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345444" y="872648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434893" y="856230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099371" y="862271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7785158" y="881096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273503" y="649433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2825" y="1254980"/>
            <a:ext cx="157286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b="1" u="sng" dirty="0"/>
              <a:t>Examen clinique</a:t>
            </a:r>
          </a:p>
        </p:txBody>
      </p:sp>
      <p:sp>
        <p:nvSpPr>
          <p:cNvPr id="82" name="Titre 1"/>
          <p:cNvSpPr txBox="1">
            <a:spLocks/>
          </p:cNvSpPr>
          <p:nvPr/>
        </p:nvSpPr>
        <p:spPr>
          <a:xfrm>
            <a:off x="2119421" y="1677468"/>
            <a:ext cx="72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Type</a:t>
            </a:r>
            <a:endParaRPr lang="fr-FR" sz="1400" dirty="0"/>
          </a:p>
        </p:txBody>
      </p:sp>
      <p:sp>
        <p:nvSpPr>
          <p:cNvPr id="114" name="Rectangle 113"/>
          <p:cNvSpPr/>
          <p:nvPr/>
        </p:nvSpPr>
        <p:spPr>
          <a:xfrm>
            <a:off x="2836804" y="1713118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7" name="Titre 1"/>
          <p:cNvSpPr txBox="1">
            <a:spLocks/>
          </p:cNvSpPr>
          <p:nvPr/>
        </p:nvSpPr>
        <p:spPr>
          <a:xfrm>
            <a:off x="2132339" y="1294945"/>
            <a:ext cx="720000" cy="3837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</a:t>
            </a:r>
            <a:endParaRPr lang="fr-FR" sz="1400" dirty="0"/>
          </a:p>
        </p:txBody>
      </p:sp>
      <p:sp>
        <p:nvSpPr>
          <p:cNvPr id="118" name="Triangle isocèle 117"/>
          <p:cNvSpPr/>
          <p:nvPr/>
        </p:nvSpPr>
        <p:spPr>
          <a:xfrm rot="10800000">
            <a:off x="4434128" y="1727596"/>
            <a:ext cx="180000" cy="252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2" name="Rectangle 121"/>
          <p:cNvSpPr/>
          <p:nvPr/>
        </p:nvSpPr>
        <p:spPr>
          <a:xfrm>
            <a:off x="2096032" y="2187232"/>
            <a:ext cx="720000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Motif</a:t>
            </a:r>
            <a:endParaRPr lang="fr-FR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8" name="Rectangle 127"/>
          <p:cNvSpPr/>
          <p:nvPr/>
        </p:nvSpPr>
        <p:spPr>
          <a:xfrm>
            <a:off x="2817753" y="2067961"/>
            <a:ext cx="5710735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8" name="Rectangle 147"/>
          <p:cNvSpPr/>
          <p:nvPr/>
        </p:nvSpPr>
        <p:spPr>
          <a:xfrm>
            <a:off x="2842138" y="1334104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4" name="Titre 1"/>
          <p:cNvSpPr txBox="1">
            <a:spLocks/>
          </p:cNvSpPr>
          <p:nvPr/>
        </p:nvSpPr>
        <p:spPr>
          <a:xfrm>
            <a:off x="5355022" y="1323987"/>
            <a:ext cx="1029803" cy="3626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Médecin</a:t>
            </a:r>
            <a:endParaRPr lang="fr-FR" sz="1400" dirty="0"/>
          </a:p>
        </p:txBody>
      </p:sp>
      <p:sp>
        <p:nvSpPr>
          <p:cNvPr id="55" name="Rectangle 54"/>
          <p:cNvSpPr/>
          <p:nvPr/>
        </p:nvSpPr>
        <p:spPr>
          <a:xfrm>
            <a:off x="6371722" y="1352392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6" name="Triangle isocèle 55"/>
          <p:cNvSpPr/>
          <p:nvPr/>
        </p:nvSpPr>
        <p:spPr>
          <a:xfrm rot="10800000">
            <a:off x="7988096" y="1366870"/>
            <a:ext cx="180000" cy="252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7" name="Titre 1"/>
          <p:cNvSpPr txBox="1">
            <a:spLocks/>
          </p:cNvSpPr>
          <p:nvPr/>
        </p:nvSpPr>
        <p:spPr>
          <a:xfrm>
            <a:off x="4723622" y="1630667"/>
            <a:ext cx="4023137" cy="4114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dirty="0" smtClean="0"/>
              <a:t>Type : </a:t>
            </a:r>
            <a:r>
              <a:rPr lang="fr-FR" sz="1400" dirty="0" smtClean="0"/>
              <a:t>Consultation, Hospitalisation, Prise en charge </a:t>
            </a:r>
            <a:endParaRPr lang="fr-FR" sz="1400" b="1" dirty="0"/>
          </a:p>
        </p:txBody>
      </p:sp>
      <p:sp>
        <p:nvSpPr>
          <p:cNvPr id="58" name="Rectangle 57"/>
          <p:cNvSpPr/>
          <p:nvPr/>
        </p:nvSpPr>
        <p:spPr>
          <a:xfrm>
            <a:off x="283416" y="2689575"/>
            <a:ext cx="7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HDM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137757" y="2696203"/>
            <a:ext cx="828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Général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090940" y="2685939"/>
            <a:ext cx="1620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Cervico-céphalique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822984" y="2691808"/>
            <a:ext cx="7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Thorax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81339" y="2696203"/>
            <a:ext cx="97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Abdomen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776000" y="2686505"/>
            <a:ext cx="79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Pelvien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680855" y="2692404"/>
            <a:ext cx="97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Vasculaire</a:t>
            </a:r>
            <a:endParaRPr lang="fr-FR" sz="1400" dirty="0"/>
          </a:p>
        </p:txBody>
      </p:sp>
      <p:sp>
        <p:nvSpPr>
          <p:cNvPr id="67" name="Rectangle 66"/>
          <p:cNvSpPr/>
          <p:nvPr/>
        </p:nvSpPr>
        <p:spPr>
          <a:xfrm>
            <a:off x="7769911" y="2685394"/>
            <a:ext cx="126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Neurologique</a:t>
            </a:r>
            <a:endParaRPr lang="fr-FR" sz="1400" dirty="0"/>
          </a:p>
        </p:txBody>
      </p:sp>
      <p:sp>
        <p:nvSpPr>
          <p:cNvPr id="71" name="Rectangle 70"/>
          <p:cNvSpPr/>
          <p:nvPr/>
        </p:nvSpPr>
        <p:spPr>
          <a:xfrm>
            <a:off x="9149668" y="2685318"/>
            <a:ext cx="1476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Osteo-articulaire</a:t>
            </a:r>
            <a:endParaRPr lang="fr-FR" sz="1400" dirty="0"/>
          </a:p>
        </p:txBody>
      </p:sp>
      <p:sp>
        <p:nvSpPr>
          <p:cNvPr id="72" name="Rectangle 71"/>
          <p:cNvSpPr/>
          <p:nvPr/>
        </p:nvSpPr>
        <p:spPr>
          <a:xfrm>
            <a:off x="10731355" y="2685394"/>
            <a:ext cx="126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Conclusion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96076" y="3232322"/>
            <a:ext cx="163160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b="1" u="sng" dirty="0"/>
              <a:t>Signes </a:t>
            </a:r>
            <a:r>
              <a:rPr lang="fr-FR" sz="1400" b="1" u="sng" dirty="0" smtClean="0"/>
              <a:t>fonctionnels</a:t>
            </a:r>
            <a:endParaRPr lang="fr-FR" sz="1400" b="1" u="sng" dirty="0"/>
          </a:p>
        </p:txBody>
      </p:sp>
      <p:sp>
        <p:nvSpPr>
          <p:cNvPr id="79" name="Rectangle 78"/>
          <p:cNvSpPr/>
          <p:nvPr/>
        </p:nvSpPr>
        <p:spPr>
          <a:xfrm>
            <a:off x="2629449" y="3288090"/>
            <a:ext cx="87002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Absents</a:t>
            </a:r>
          </a:p>
        </p:txBody>
      </p:sp>
      <p:sp>
        <p:nvSpPr>
          <p:cNvPr id="80" name="Ellipse 79"/>
          <p:cNvSpPr/>
          <p:nvPr/>
        </p:nvSpPr>
        <p:spPr>
          <a:xfrm>
            <a:off x="2501994" y="3363326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81" name="Rectangle 80"/>
          <p:cNvSpPr/>
          <p:nvPr/>
        </p:nvSpPr>
        <p:spPr>
          <a:xfrm>
            <a:off x="3839724" y="3222321"/>
            <a:ext cx="1247425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/>
              <a:t>Dysphonie</a:t>
            </a:r>
            <a:endParaRPr lang="fr-FR" sz="1400" dirty="0"/>
          </a:p>
        </p:txBody>
      </p:sp>
      <p:sp>
        <p:nvSpPr>
          <p:cNvPr id="89" name="Ellipse 88"/>
          <p:cNvSpPr/>
          <p:nvPr/>
        </p:nvSpPr>
        <p:spPr>
          <a:xfrm>
            <a:off x="3693982" y="3279269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90" name="Rectangle 89"/>
          <p:cNvSpPr/>
          <p:nvPr/>
        </p:nvSpPr>
        <p:spPr>
          <a:xfrm>
            <a:off x="10541290" y="3249255"/>
            <a:ext cx="1247425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1" name="Ellipse 90"/>
          <p:cNvSpPr/>
          <p:nvPr/>
        </p:nvSpPr>
        <p:spPr>
          <a:xfrm>
            <a:off x="10361290" y="3305714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4" name="Rectangle 13"/>
          <p:cNvSpPr/>
          <p:nvPr/>
        </p:nvSpPr>
        <p:spPr>
          <a:xfrm>
            <a:off x="294384" y="4070390"/>
            <a:ext cx="96212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b="1" u="sng" dirty="0"/>
              <a:t>Inspection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76305" y="3102035"/>
            <a:ext cx="11700000" cy="3672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2" name="Rectangle 141"/>
          <p:cNvSpPr/>
          <p:nvPr/>
        </p:nvSpPr>
        <p:spPr>
          <a:xfrm>
            <a:off x="390070" y="3151407"/>
            <a:ext cx="11520000" cy="93233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5" name="Rectangle 144"/>
          <p:cNvSpPr/>
          <p:nvPr/>
        </p:nvSpPr>
        <p:spPr>
          <a:xfrm>
            <a:off x="3837573" y="3477752"/>
            <a:ext cx="1247425" cy="312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Dysphagie</a:t>
            </a:r>
            <a:endParaRPr lang="fr-FR" sz="1400" dirty="0"/>
          </a:p>
        </p:txBody>
      </p:sp>
      <p:sp>
        <p:nvSpPr>
          <p:cNvPr id="146" name="Ellipse 145"/>
          <p:cNvSpPr/>
          <p:nvPr/>
        </p:nvSpPr>
        <p:spPr>
          <a:xfrm>
            <a:off x="3691831" y="3534700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47" name="Rectangle 146"/>
          <p:cNvSpPr/>
          <p:nvPr/>
        </p:nvSpPr>
        <p:spPr>
          <a:xfrm>
            <a:off x="3848299" y="3758938"/>
            <a:ext cx="1247425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Douleurs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49" name="Ellipse 148"/>
          <p:cNvSpPr/>
          <p:nvPr/>
        </p:nvSpPr>
        <p:spPr>
          <a:xfrm>
            <a:off x="3702557" y="3815886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50" name="Rectangle 149"/>
          <p:cNvSpPr/>
          <p:nvPr/>
        </p:nvSpPr>
        <p:spPr>
          <a:xfrm>
            <a:off x="5127297" y="3279270"/>
            <a:ext cx="4761946" cy="73563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cxnSp>
        <p:nvCxnSpPr>
          <p:cNvPr id="151" name="Connecteur droit 150"/>
          <p:cNvCxnSpPr/>
          <p:nvPr/>
        </p:nvCxnSpPr>
        <p:spPr>
          <a:xfrm flipH="1">
            <a:off x="3504608" y="3169536"/>
            <a:ext cx="0" cy="90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2" name="Connecteur droit 151"/>
          <p:cNvCxnSpPr/>
          <p:nvPr/>
        </p:nvCxnSpPr>
        <p:spPr>
          <a:xfrm flipH="1">
            <a:off x="10096455" y="3180267"/>
            <a:ext cx="0" cy="90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5" name="Rectangle 34"/>
          <p:cNvSpPr/>
          <p:nvPr/>
        </p:nvSpPr>
        <p:spPr>
          <a:xfrm>
            <a:off x="436242" y="4439891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Rectangle 35"/>
          <p:cNvSpPr/>
          <p:nvPr/>
        </p:nvSpPr>
        <p:spPr>
          <a:xfrm>
            <a:off x="636006" y="4414774"/>
            <a:ext cx="136201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Cavité buccale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575768" y="4811228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5" name="Rectangle 154"/>
          <p:cNvSpPr/>
          <p:nvPr/>
        </p:nvSpPr>
        <p:spPr>
          <a:xfrm>
            <a:off x="736896" y="4786111"/>
            <a:ext cx="90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Gencives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6" name="Rectangle 155"/>
          <p:cNvSpPr/>
          <p:nvPr/>
        </p:nvSpPr>
        <p:spPr>
          <a:xfrm>
            <a:off x="560739" y="5478787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7" name="Rectangle 156"/>
          <p:cNvSpPr/>
          <p:nvPr/>
        </p:nvSpPr>
        <p:spPr>
          <a:xfrm>
            <a:off x="721867" y="5453670"/>
            <a:ext cx="90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Langue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8" name="Rectangle 157"/>
          <p:cNvSpPr/>
          <p:nvPr/>
        </p:nvSpPr>
        <p:spPr>
          <a:xfrm>
            <a:off x="560739" y="6161365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9" name="Rectangle 158"/>
          <p:cNvSpPr/>
          <p:nvPr/>
        </p:nvSpPr>
        <p:spPr>
          <a:xfrm>
            <a:off x="721867" y="6136248"/>
            <a:ext cx="90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Dentition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0" name="Rectangle 159"/>
          <p:cNvSpPr/>
          <p:nvPr/>
        </p:nvSpPr>
        <p:spPr>
          <a:xfrm>
            <a:off x="1630180" y="4736222"/>
            <a:ext cx="2340000" cy="576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63" name="Rectangle 162"/>
          <p:cNvSpPr/>
          <p:nvPr/>
        </p:nvSpPr>
        <p:spPr>
          <a:xfrm>
            <a:off x="1628032" y="5403778"/>
            <a:ext cx="2340000" cy="576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64" name="Rectangle 163"/>
          <p:cNvSpPr/>
          <p:nvPr/>
        </p:nvSpPr>
        <p:spPr>
          <a:xfrm>
            <a:off x="1628032" y="6073480"/>
            <a:ext cx="2340000" cy="576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cxnSp>
        <p:nvCxnSpPr>
          <p:cNvPr id="165" name="Connecteur droit 164"/>
          <p:cNvCxnSpPr/>
          <p:nvPr/>
        </p:nvCxnSpPr>
        <p:spPr>
          <a:xfrm>
            <a:off x="4065444" y="4378632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66" name="Rectangle 165"/>
          <p:cNvSpPr/>
          <p:nvPr/>
        </p:nvSpPr>
        <p:spPr>
          <a:xfrm>
            <a:off x="387922" y="4378167"/>
            <a:ext cx="11520000" cy="2344526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67" name="Rectangle 166"/>
          <p:cNvSpPr/>
          <p:nvPr/>
        </p:nvSpPr>
        <p:spPr>
          <a:xfrm>
            <a:off x="4192584" y="4512865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8" name="Rectangle 167"/>
          <p:cNvSpPr/>
          <p:nvPr/>
        </p:nvSpPr>
        <p:spPr>
          <a:xfrm>
            <a:off x="4353712" y="4487748"/>
            <a:ext cx="90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Pharynx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9" name="Rectangle 168"/>
          <p:cNvSpPr/>
          <p:nvPr/>
        </p:nvSpPr>
        <p:spPr>
          <a:xfrm>
            <a:off x="4203313" y="5747095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0" name="Rectangle 169"/>
          <p:cNvSpPr/>
          <p:nvPr/>
        </p:nvSpPr>
        <p:spPr>
          <a:xfrm>
            <a:off x="4364441" y="5721978"/>
            <a:ext cx="90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Lèvres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1" name="Rectangle 170"/>
          <p:cNvSpPr/>
          <p:nvPr/>
        </p:nvSpPr>
        <p:spPr>
          <a:xfrm>
            <a:off x="5246995" y="4656800"/>
            <a:ext cx="2520000" cy="72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72" name="Rectangle 171"/>
          <p:cNvSpPr/>
          <p:nvPr/>
        </p:nvSpPr>
        <p:spPr>
          <a:xfrm>
            <a:off x="5270606" y="5891029"/>
            <a:ext cx="2520000" cy="72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cxnSp>
        <p:nvCxnSpPr>
          <p:cNvPr id="173" name="Connecteur droit 172"/>
          <p:cNvCxnSpPr/>
          <p:nvPr/>
        </p:nvCxnSpPr>
        <p:spPr>
          <a:xfrm flipH="1">
            <a:off x="4079952" y="5550795"/>
            <a:ext cx="7812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4" name="Connecteur droit 173"/>
          <p:cNvCxnSpPr/>
          <p:nvPr/>
        </p:nvCxnSpPr>
        <p:spPr>
          <a:xfrm>
            <a:off x="8133024" y="4389363"/>
            <a:ext cx="0" cy="2304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6" name="Rectangle 175"/>
          <p:cNvSpPr/>
          <p:nvPr/>
        </p:nvSpPr>
        <p:spPr>
          <a:xfrm>
            <a:off x="8234406" y="4510717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7" name="Rectangle 176"/>
          <p:cNvSpPr/>
          <p:nvPr/>
        </p:nvSpPr>
        <p:spPr>
          <a:xfrm>
            <a:off x="8395534" y="4485600"/>
            <a:ext cx="90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Paupières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8" name="Rectangle 177"/>
          <p:cNvSpPr/>
          <p:nvPr/>
        </p:nvSpPr>
        <p:spPr>
          <a:xfrm>
            <a:off x="8245135" y="5744947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9" name="Rectangle 178"/>
          <p:cNvSpPr/>
          <p:nvPr/>
        </p:nvSpPr>
        <p:spPr>
          <a:xfrm>
            <a:off x="8406263" y="5719830"/>
            <a:ext cx="90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Yeux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0" name="Rectangle 179"/>
          <p:cNvSpPr/>
          <p:nvPr/>
        </p:nvSpPr>
        <p:spPr>
          <a:xfrm>
            <a:off x="9288817" y="4654652"/>
            <a:ext cx="2520000" cy="72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81" name="Rectangle 180"/>
          <p:cNvSpPr/>
          <p:nvPr/>
        </p:nvSpPr>
        <p:spPr>
          <a:xfrm>
            <a:off x="9312428" y="5888879"/>
            <a:ext cx="2520000" cy="72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82" name="Rectangle 181"/>
          <p:cNvSpPr/>
          <p:nvPr/>
        </p:nvSpPr>
        <p:spPr>
          <a:xfrm>
            <a:off x="259765" y="6420238"/>
            <a:ext cx="1080000" cy="3262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600" b="1" u="sng" dirty="0">
                <a:solidFill>
                  <a:srgbClr val="FF0000"/>
                </a:solidFill>
              </a:rPr>
              <a:t>À suivre</a:t>
            </a:r>
          </a:p>
        </p:txBody>
      </p:sp>
    </p:spTree>
    <p:extLst>
      <p:ext uri="{BB962C8B-B14F-4D97-AF65-F5344CB8AC3E}">
        <p14:creationId xmlns:p14="http://schemas.microsoft.com/office/powerpoint/2010/main" val="11215580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33 – Observations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Examens cliniques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/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Cervico-céphalique</a:t>
            </a:r>
            <a:endParaRPr lang="fr-FR" alt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191991" y="689428"/>
            <a:ext cx="11880000" cy="6084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273502" y="649433"/>
            <a:ext cx="2066015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Suite de l’écran 33</a:t>
            </a:r>
            <a:endParaRPr lang="fr-FR" sz="1600" b="1" u="sng" dirty="0">
              <a:solidFill>
                <a:srgbClr val="FF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9" name="Rectangle 118"/>
          <p:cNvSpPr/>
          <p:nvPr/>
        </p:nvSpPr>
        <p:spPr>
          <a:xfrm>
            <a:off x="10821355" y="6393442"/>
            <a:ext cx="10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Valider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3197" y="1055790"/>
            <a:ext cx="9328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b="1" u="sng" dirty="0"/>
              <a:t>Palpation 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1990" y="3503892"/>
            <a:ext cx="116551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b="1" u="sng" dirty="0"/>
              <a:t>Auscultation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7191" y="1361908"/>
            <a:ext cx="11520000" cy="2107513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9" name="Rectangle 28"/>
          <p:cNvSpPr/>
          <p:nvPr/>
        </p:nvSpPr>
        <p:spPr>
          <a:xfrm>
            <a:off x="575768" y="4064250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Rectangle 29"/>
          <p:cNvSpPr/>
          <p:nvPr/>
        </p:nvSpPr>
        <p:spPr>
          <a:xfrm>
            <a:off x="775533" y="4013375"/>
            <a:ext cx="90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Thyroïdes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560739" y="4834841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Rectangle 31"/>
          <p:cNvSpPr/>
          <p:nvPr/>
        </p:nvSpPr>
        <p:spPr>
          <a:xfrm>
            <a:off x="760504" y="4783966"/>
            <a:ext cx="1828150" cy="307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Artères carotidiennes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7860" y="5633330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Rectangle 33"/>
          <p:cNvSpPr/>
          <p:nvPr/>
        </p:nvSpPr>
        <p:spPr>
          <a:xfrm>
            <a:off x="747625" y="5582455"/>
            <a:ext cx="280694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Artères sous </a:t>
            </a:r>
            <a:r>
              <a:rPr lang="fr-FR" sz="1400" dirty="0" smtClean="0"/>
              <a:t>Clavière </a:t>
            </a:r>
            <a:r>
              <a:rPr lang="fr-FR" sz="1400" dirty="0"/>
              <a:t>et vertébrales 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3587768" y="3989244"/>
            <a:ext cx="6480000" cy="64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36" name="Rectangle 35"/>
          <p:cNvSpPr/>
          <p:nvPr/>
        </p:nvSpPr>
        <p:spPr>
          <a:xfrm>
            <a:off x="3585620" y="4759832"/>
            <a:ext cx="6480000" cy="64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37" name="Rectangle 36"/>
          <p:cNvSpPr/>
          <p:nvPr/>
        </p:nvSpPr>
        <p:spPr>
          <a:xfrm>
            <a:off x="3572741" y="5545445"/>
            <a:ext cx="6480000" cy="64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39" name="Rectangle 38"/>
          <p:cNvSpPr/>
          <p:nvPr/>
        </p:nvSpPr>
        <p:spPr>
          <a:xfrm>
            <a:off x="387922" y="3875890"/>
            <a:ext cx="11520000" cy="2448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8" name="Rectangle 67"/>
          <p:cNvSpPr/>
          <p:nvPr/>
        </p:nvSpPr>
        <p:spPr>
          <a:xfrm>
            <a:off x="648747" y="1471305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9" name="Rectangle 68"/>
          <p:cNvSpPr/>
          <p:nvPr/>
        </p:nvSpPr>
        <p:spPr>
          <a:xfrm>
            <a:off x="835632" y="1433309"/>
            <a:ext cx="370222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Aires ganglionnaires sus-claviculaires et cervical 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620839" y="2602503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1" name="Rectangle 70"/>
          <p:cNvSpPr/>
          <p:nvPr/>
        </p:nvSpPr>
        <p:spPr>
          <a:xfrm>
            <a:off x="807724" y="2551628"/>
            <a:ext cx="151047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Pouls carotidiens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608450" y="1744030"/>
            <a:ext cx="5400000" cy="54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73" name="Rectangle 72"/>
          <p:cNvSpPr/>
          <p:nvPr/>
        </p:nvSpPr>
        <p:spPr>
          <a:xfrm>
            <a:off x="628049" y="2845096"/>
            <a:ext cx="5400000" cy="54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cxnSp>
        <p:nvCxnSpPr>
          <p:cNvPr id="74" name="Connecteur droit 73"/>
          <p:cNvCxnSpPr/>
          <p:nvPr/>
        </p:nvCxnSpPr>
        <p:spPr>
          <a:xfrm flipH="1">
            <a:off x="381564" y="2444840"/>
            <a:ext cx="11520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5" name="Connecteur droit 74"/>
          <p:cNvCxnSpPr/>
          <p:nvPr/>
        </p:nvCxnSpPr>
        <p:spPr>
          <a:xfrm>
            <a:off x="6160411" y="1360682"/>
            <a:ext cx="0" cy="20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6" name="Rectangle 75"/>
          <p:cNvSpPr/>
          <p:nvPr/>
        </p:nvSpPr>
        <p:spPr>
          <a:xfrm>
            <a:off x="6274670" y="1456278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7" name="Rectangle 76"/>
          <p:cNvSpPr/>
          <p:nvPr/>
        </p:nvSpPr>
        <p:spPr>
          <a:xfrm>
            <a:off x="6461555" y="1405403"/>
            <a:ext cx="305593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Glande </a:t>
            </a:r>
            <a:r>
              <a:rPr lang="fr-FR" sz="1400" dirty="0" smtClean="0"/>
              <a:t>thyroïde </a:t>
            </a:r>
            <a:r>
              <a:rPr lang="fr-FR" sz="1400" dirty="0"/>
              <a:t>(lors de la déglutition</a:t>
            </a:r>
            <a:r>
              <a:rPr lang="fr-FR" sz="1400" dirty="0" smtClean="0"/>
              <a:t>)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6273025" y="1756181"/>
            <a:ext cx="5400000" cy="54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82" name="Rectangle 81"/>
          <p:cNvSpPr/>
          <p:nvPr/>
        </p:nvSpPr>
        <p:spPr>
          <a:xfrm>
            <a:off x="6326187" y="2576750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9" name="Rectangle 88"/>
          <p:cNvSpPr/>
          <p:nvPr/>
        </p:nvSpPr>
        <p:spPr>
          <a:xfrm>
            <a:off x="6513072" y="2538754"/>
            <a:ext cx="144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Pouls temporaux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285890" y="2849475"/>
            <a:ext cx="5400000" cy="54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72853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34 – Observations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Examens cliniques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/ Thorax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09108" y="639127"/>
            <a:ext cx="11880000" cy="619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1964661" y="801870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355023" y="788765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182390" y="808277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152059" y="846896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326245" y="802172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7736488" y="853524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1914070" y="743010"/>
            <a:ext cx="9828000" cy="4643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1914071" y="1275386"/>
            <a:ext cx="9828000" cy="1260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345444" y="872648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434893" y="856230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099371" y="862271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7785158" y="881096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273503" y="649433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2825" y="1254980"/>
            <a:ext cx="157286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b="1" u="sng" dirty="0"/>
              <a:t>Examen clinique</a:t>
            </a:r>
          </a:p>
        </p:txBody>
      </p:sp>
      <p:sp>
        <p:nvSpPr>
          <p:cNvPr id="82" name="Titre 1"/>
          <p:cNvSpPr txBox="1">
            <a:spLocks/>
          </p:cNvSpPr>
          <p:nvPr/>
        </p:nvSpPr>
        <p:spPr>
          <a:xfrm>
            <a:off x="2119421" y="1677468"/>
            <a:ext cx="72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Type</a:t>
            </a:r>
            <a:endParaRPr lang="fr-FR" sz="1400" dirty="0"/>
          </a:p>
        </p:txBody>
      </p:sp>
      <p:sp>
        <p:nvSpPr>
          <p:cNvPr id="114" name="Rectangle 113"/>
          <p:cNvSpPr/>
          <p:nvPr/>
        </p:nvSpPr>
        <p:spPr>
          <a:xfrm>
            <a:off x="2836804" y="1713118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7" name="Titre 1"/>
          <p:cNvSpPr txBox="1">
            <a:spLocks/>
          </p:cNvSpPr>
          <p:nvPr/>
        </p:nvSpPr>
        <p:spPr>
          <a:xfrm>
            <a:off x="2132339" y="1294945"/>
            <a:ext cx="720000" cy="3837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</a:t>
            </a:r>
            <a:endParaRPr lang="fr-FR" sz="1400" dirty="0"/>
          </a:p>
        </p:txBody>
      </p:sp>
      <p:sp>
        <p:nvSpPr>
          <p:cNvPr id="118" name="Triangle isocèle 117"/>
          <p:cNvSpPr/>
          <p:nvPr/>
        </p:nvSpPr>
        <p:spPr>
          <a:xfrm rot="10800000">
            <a:off x="4434128" y="1727596"/>
            <a:ext cx="180000" cy="252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2" name="Rectangle 121"/>
          <p:cNvSpPr/>
          <p:nvPr/>
        </p:nvSpPr>
        <p:spPr>
          <a:xfrm>
            <a:off x="2096032" y="2187232"/>
            <a:ext cx="720000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Motif</a:t>
            </a:r>
            <a:endParaRPr lang="fr-FR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8" name="Rectangle 127"/>
          <p:cNvSpPr/>
          <p:nvPr/>
        </p:nvSpPr>
        <p:spPr>
          <a:xfrm>
            <a:off x="2817752" y="2067961"/>
            <a:ext cx="5724000" cy="432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8" name="Rectangle 147"/>
          <p:cNvSpPr/>
          <p:nvPr/>
        </p:nvSpPr>
        <p:spPr>
          <a:xfrm>
            <a:off x="2842138" y="1334104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4" name="Titre 1"/>
          <p:cNvSpPr txBox="1">
            <a:spLocks/>
          </p:cNvSpPr>
          <p:nvPr/>
        </p:nvSpPr>
        <p:spPr>
          <a:xfrm>
            <a:off x="5355022" y="1323987"/>
            <a:ext cx="1029803" cy="3626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Médecin</a:t>
            </a:r>
            <a:endParaRPr lang="fr-FR" sz="1400" dirty="0"/>
          </a:p>
        </p:txBody>
      </p:sp>
      <p:sp>
        <p:nvSpPr>
          <p:cNvPr id="55" name="Rectangle 54"/>
          <p:cNvSpPr/>
          <p:nvPr/>
        </p:nvSpPr>
        <p:spPr>
          <a:xfrm>
            <a:off x="6371722" y="1352392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6" name="Triangle isocèle 55"/>
          <p:cNvSpPr/>
          <p:nvPr/>
        </p:nvSpPr>
        <p:spPr>
          <a:xfrm rot="10800000">
            <a:off x="7988096" y="1366870"/>
            <a:ext cx="180000" cy="252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7" name="Titre 1"/>
          <p:cNvSpPr txBox="1">
            <a:spLocks/>
          </p:cNvSpPr>
          <p:nvPr/>
        </p:nvSpPr>
        <p:spPr>
          <a:xfrm>
            <a:off x="4723622" y="1630667"/>
            <a:ext cx="4023137" cy="4114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dirty="0" smtClean="0"/>
              <a:t>Type : </a:t>
            </a:r>
            <a:r>
              <a:rPr lang="fr-FR" sz="1400" dirty="0" smtClean="0"/>
              <a:t>Consultation, Hospitalisation, Prise en charge </a:t>
            </a:r>
            <a:endParaRPr lang="fr-FR" sz="1400" b="1" dirty="0"/>
          </a:p>
        </p:txBody>
      </p:sp>
      <p:sp>
        <p:nvSpPr>
          <p:cNvPr id="58" name="Rectangle 57"/>
          <p:cNvSpPr/>
          <p:nvPr/>
        </p:nvSpPr>
        <p:spPr>
          <a:xfrm>
            <a:off x="283416" y="2586543"/>
            <a:ext cx="7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HDM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137757" y="2593171"/>
            <a:ext cx="828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Général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090940" y="2582907"/>
            <a:ext cx="16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Cervico-céphalique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822984" y="2588776"/>
            <a:ext cx="720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Thorax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81339" y="2593171"/>
            <a:ext cx="97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Abdomen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776000" y="2583473"/>
            <a:ext cx="79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Pelvien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680855" y="2589372"/>
            <a:ext cx="97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Vasculaire</a:t>
            </a:r>
            <a:endParaRPr lang="fr-FR" sz="1400" dirty="0"/>
          </a:p>
        </p:txBody>
      </p:sp>
      <p:sp>
        <p:nvSpPr>
          <p:cNvPr id="67" name="Rectangle 66"/>
          <p:cNvSpPr/>
          <p:nvPr/>
        </p:nvSpPr>
        <p:spPr>
          <a:xfrm>
            <a:off x="7769911" y="2582362"/>
            <a:ext cx="126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Neurologique</a:t>
            </a:r>
            <a:endParaRPr lang="fr-FR" sz="1400" dirty="0"/>
          </a:p>
        </p:txBody>
      </p:sp>
      <p:sp>
        <p:nvSpPr>
          <p:cNvPr id="71" name="Rectangle 70"/>
          <p:cNvSpPr/>
          <p:nvPr/>
        </p:nvSpPr>
        <p:spPr>
          <a:xfrm>
            <a:off x="9149668" y="2582286"/>
            <a:ext cx="1476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Osteo-articulaire</a:t>
            </a:r>
            <a:endParaRPr lang="fr-FR" sz="1400" dirty="0"/>
          </a:p>
        </p:txBody>
      </p:sp>
      <p:sp>
        <p:nvSpPr>
          <p:cNvPr id="72" name="Rectangle 71"/>
          <p:cNvSpPr/>
          <p:nvPr/>
        </p:nvSpPr>
        <p:spPr>
          <a:xfrm>
            <a:off x="10731355" y="2582362"/>
            <a:ext cx="126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Conclusion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90202" y="4105990"/>
            <a:ext cx="99899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b="1" u="sng" dirty="0" smtClean="0"/>
              <a:t>Inspection</a:t>
            </a:r>
            <a:endParaRPr lang="fr-FR" sz="1400" b="1" u="sng" dirty="0"/>
          </a:p>
        </p:txBody>
      </p:sp>
      <p:sp>
        <p:nvSpPr>
          <p:cNvPr id="79" name="Rectangle 78"/>
          <p:cNvSpPr/>
          <p:nvPr/>
        </p:nvSpPr>
        <p:spPr>
          <a:xfrm>
            <a:off x="1828765" y="3287939"/>
            <a:ext cx="87002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Absents</a:t>
            </a:r>
          </a:p>
        </p:txBody>
      </p:sp>
      <p:sp>
        <p:nvSpPr>
          <p:cNvPr id="80" name="Ellipse 79"/>
          <p:cNvSpPr/>
          <p:nvPr/>
        </p:nvSpPr>
        <p:spPr>
          <a:xfrm>
            <a:off x="9081726" y="4149099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81" name="Rectangle 80"/>
          <p:cNvSpPr/>
          <p:nvPr/>
        </p:nvSpPr>
        <p:spPr>
          <a:xfrm>
            <a:off x="6528723" y="3095201"/>
            <a:ext cx="912096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/>
              <a:t>Dyspnée</a:t>
            </a:r>
            <a:endParaRPr lang="fr-FR" sz="1400" dirty="0"/>
          </a:p>
        </p:txBody>
      </p:sp>
      <p:sp>
        <p:nvSpPr>
          <p:cNvPr id="90" name="Rectangle 89"/>
          <p:cNvSpPr/>
          <p:nvPr/>
        </p:nvSpPr>
        <p:spPr>
          <a:xfrm>
            <a:off x="10725629" y="4128749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1" name="Ellipse 90"/>
          <p:cNvSpPr/>
          <p:nvPr/>
        </p:nvSpPr>
        <p:spPr>
          <a:xfrm>
            <a:off x="10539602" y="4176182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4" name="Rectangle 13"/>
          <p:cNvSpPr/>
          <p:nvPr/>
        </p:nvSpPr>
        <p:spPr>
          <a:xfrm>
            <a:off x="359845" y="3102977"/>
            <a:ext cx="115395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u="sng" dirty="0"/>
              <a:t>Signes </a:t>
            </a:r>
            <a:r>
              <a:rPr lang="fr-FR" sz="1400" b="1" u="sng" dirty="0" smtClean="0"/>
              <a:t>fonctionnels</a:t>
            </a:r>
            <a:endParaRPr lang="fr-FR" sz="1400" b="1" u="sng" dirty="0"/>
          </a:p>
        </p:txBody>
      </p:sp>
      <p:sp>
        <p:nvSpPr>
          <p:cNvPr id="101" name="Rectangle 100"/>
          <p:cNvSpPr/>
          <p:nvPr/>
        </p:nvSpPr>
        <p:spPr>
          <a:xfrm>
            <a:off x="276305" y="2999003"/>
            <a:ext cx="11700000" cy="3780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6" name="Ellipse 145"/>
          <p:cNvSpPr/>
          <p:nvPr/>
        </p:nvSpPr>
        <p:spPr>
          <a:xfrm>
            <a:off x="4335612" y="4174859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49" name="Ellipse 148"/>
          <p:cNvSpPr/>
          <p:nvPr/>
        </p:nvSpPr>
        <p:spPr>
          <a:xfrm>
            <a:off x="6522754" y="4161980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54" name="Rectangle 153"/>
          <p:cNvSpPr/>
          <p:nvPr/>
        </p:nvSpPr>
        <p:spPr>
          <a:xfrm>
            <a:off x="1631833" y="3343027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6" name="Rectangle 155"/>
          <p:cNvSpPr/>
          <p:nvPr/>
        </p:nvSpPr>
        <p:spPr>
          <a:xfrm>
            <a:off x="3355454" y="3160575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7" name="Rectangle 156"/>
          <p:cNvSpPr/>
          <p:nvPr/>
        </p:nvSpPr>
        <p:spPr>
          <a:xfrm>
            <a:off x="3555219" y="3109700"/>
            <a:ext cx="576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Toux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8" name="Rectangle 157"/>
          <p:cNvSpPr/>
          <p:nvPr/>
        </p:nvSpPr>
        <p:spPr>
          <a:xfrm>
            <a:off x="9369900" y="3186329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9" name="Rectangle 158"/>
          <p:cNvSpPr/>
          <p:nvPr/>
        </p:nvSpPr>
        <p:spPr>
          <a:xfrm>
            <a:off x="9569665" y="3135454"/>
            <a:ext cx="90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Douleurs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0" name="Rectangle 159"/>
          <p:cNvSpPr/>
          <p:nvPr/>
        </p:nvSpPr>
        <p:spPr>
          <a:xfrm>
            <a:off x="3317307" y="3409692"/>
            <a:ext cx="2520000" cy="54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63" name="Rectangle 162"/>
          <p:cNvSpPr/>
          <p:nvPr/>
        </p:nvSpPr>
        <p:spPr>
          <a:xfrm>
            <a:off x="6328829" y="3394662"/>
            <a:ext cx="2520000" cy="54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64" name="Rectangle 163"/>
          <p:cNvSpPr/>
          <p:nvPr/>
        </p:nvSpPr>
        <p:spPr>
          <a:xfrm>
            <a:off x="9355367" y="3407539"/>
            <a:ext cx="2520000" cy="54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66" name="Rectangle 165"/>
          <p:cNvSpPr/>
          <p:nvPr/>
        </p:nvSpPr>
        <p:spPr>
          <a:xfrm>
            <a:off x="1461756" y="3103150"/>
            <a:ext cx="10446166" cy="900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0" name="Rectangle 169"/>
          <p:cNvSpPr/>
          <p:nvPr/>
        </p:nvSpPr>
        <p:spPr>
          <a:xfrm>
            <a:off x="4533559" y="4110634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En carène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74" name="Connecteur droit 173"/>
          <p:cNvCxnSpPr/>
          <p:nvPr/>
        </p:nvCxnSpPr>
        <p:spPr>
          <a:xfrm flipH="1" flipV="1">
            <a:off x="1463904" y="4433181"/>
            <a:ext cx="10440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7" name="Rectangle 176"/>
          <p:cNvSpPr/>
          <p:nvPr/>
        </p:nvSpPr>
        <p:spPr>
          <a:xfrm>
            <a:off x="6709613" y="4110634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En tonneau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302804" y="6364010"/>
            <a:ext cx="1080000" cy="3262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600" b="1" u="sng" dirty="0">
                <a:solidFill>
                  <a:srgbClr val="FF0000"/>
                </a:solidFill>
              </a:rPr>
              <a:t>À suivre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341210" y="3171307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/>
          <p:cNvSpPr/>
          <p:nvPr/>
        </p:nvSpPr>
        <p:spPr>
          <a:xfrm>
            <a:off x="1487497" y="4079429"/>
            <a:ext cx="198214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Déformation thoracique 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272516" y="4097804"/>
            <a:ext cx="82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Absente</a:t>
            </a:r>
          </a:p>
        </p:txBody>
      </p:sp>
      <p:sp>
        <p:nvSpPr>
          <p:cNvPr id="6" name="Rectangle 5"/>
          <p:cNvSpPr/>
          <p:nvPr/>
        </p:nvSpPr>
        <p:spPr>
          <a:xfrm>
            <a:off x="1478139" y="4443689"/>
            <a:ext cx="103239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Respiration</a:t>
            </a:r>
          </a:p>
        </p:txBody>
      </p:sp>
      <p:sp>
        <p:nvSpPr>
          <p:cNvPr id="105" name="Ellipse 104"/>
          <p:cNvSpPr/>
          <p:nvPr/>
        </p:nvSpPr>
        <p:spPr>
          <a:xfrm>
            <a:off x="4314390" y="4559077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06" name="Rectangle 105"/>
          <p:cNvSpPr/>
          <p:nvPr/>
        </p:nvSpPr>
        <p:spPr>
          <a:xfrm>
            <a:off x="10723481" y="4512967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7" name="Ellipse 106"/>
          <p:cNvSpPr/>
          <p:nvPr/>
        </p:nvSpPr>
        <p:spPr>
          <a:xfrm>
            <a:off x="10537454" y="4560400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08" name="Ellipse 107"/>
          <p:cNvSpPr/>
          <p:nvPr/>
        </p:nvSpPr>
        <p:spPr>
          <a:xfrm>
            <a:off x="6535759" y="4559077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10" name="Rectangle 109"/>
          <p:cNvSpPr/>
          <p:nvPr/>
        </p:nvSpPr>
        <p:spPr>
          <a:xfrm>
            <a:off x="6733706" y="4494852"/>
            <a:ext cx="136344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Non symétrique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2" name="Rectangle 111"/>
          <p:cNvSpPr/>
          <p:nvPr/>
        </p:nvSpPr>
        <p:spPr>
          <a:xfrm>
            <a:off x="4505180" y="4507782"/>
            <a:ext cx="108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Symétrique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467597" y="4066910"/>
            <a:ext cx="10440000" cy="2664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" name="Rectangle 6"/>
          <p:cNvSpPr/>
          <p:nvPr/>
        </p:nvSpPr>
        <p:spPr>
          <a:xfrm>
            <a:off x="1485662" y="4877064"/>
            <a:ext cx="1846903" cy="54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Circulation collatérale cave supérieure</a:t>
            </a:r>
          </a:p>
        </p:txBody>
      </p:sp>
      <p:sp>
        <p:nvSpPr>
          <p:cNvPr id="119" name="Ellipse 118"/>
          <p:cNvSpPr/>
          <p:nvPr/>
        </p:nvSpPr>
        <p:spPr>
          <a:xfrm>
            <a:off x="4329838" y="4959653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20" name="Rectangle 119"/>
          <p:cNvSpPr/>
          <p:nvPr/>
        </p:nvSpPr>
        <p:spPr>
          <a:xfrm>
            <a:off x="10734221" y="4948706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1" name="Ellipse 120"/>
          <p:cNvSpPr/>
          <p:nvPr/>
        </p:nvSpPr>
        <p:spPr>
          <a:xfrm>
            <a:off x="10535315" y="4996139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23" name="Rectangle 122"/>
          <p:cNvSpPr/>
          <p:nvPr/>
        </p:nvSpPr>
        <p:spPr>
          <a:xfrm>
            <a:off x="4534687" y="4905533"/>
            <a:ext cx="1152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Positive</a:t>
            </a:r>
          </a:p>
        </p:txBody>
      </p:sp>
      <p:sp>
        <p:nvSpPr>
          <p:cNvPr id="124" name="Ellipse 123"/>
          <p:cNvSpPr/>
          <p:nvPr/>
        </p:nvSpPr>
        <p:spPr>
          <a:xfrm>
            <a:off x="9067116" y="4996143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25" name="Rectangle 124"/>
          <p:cNvSpPr/>
          <p:nvPr/>
        </p:nvSpPr>
        <p:spPr>
          <a:xfrm>
            <a:off x="9271965" y="4954902"/>
            <a:ext cx="828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Absente</a:t>
            </a:r>
            <a:endParaRPr lang="fr-FR" sz="1400" dirty="0"/>
          </a:p>
        </p:txBody>
      </p:sp>
      <p:sp>
        <p:nvSpPr>
          <p:cNvPr id="126" name="Rectangle 125"/>
          <p:cNvSpPr/>
          <p:nvPr/>
        </p:nvSpPr>
        <p:spPr>
          <a:xfrm>
            <a:off x="5345277" y="4950059"/>
            <a:ext cx="3240000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cxnSp>
        <p:nvCxnSpPr>
          <p:cNvPr id="129" name="Connecteur droit 128"/>
          <p:cNvCxnSpPr/>
          <p:nvPr/>
        </p:nvCxnSpPr>
        <p:spPr>
          <a:xfrm flipH="1" flipV="1">
            <a:off x="1461756" y="4868919"/>
            <a:ext cx="10440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0" name="Connecteur droit 129"/>
          <p:cNvCxnSpPr/>
          <p:nvPr/>
        </p:nvCxnSpPr>
        <p:spPr>
          <a:xfrm flipH="1" flipV="1">
            <a:off x="1485366" y="5510720"/>
            <a:ext cx="1040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" name="Rectangle 3"/>
          <p:cNvSpPr/>
          <p:nvPr/>
        </p:nvSpPr>
        <p:spPr>
          <a:xfrm>
            <a:off x="1498511" y="5535897"/>
            <a:ext cx="63882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Tirage</a:t>
            </a:r>
          </a:p>
        </p:txBody>
      </p:sp>
      <p:sp>
        <p:nvSpPr>
          <p:cNvPr id="89" name="Ellipse 88"/>
          <p:cNvSpPr/>
          <p:nvPr/>
        </p:nvSpPr>
        <p:spPr>
          <a:xfrm>
            <a:off x="4340569" y="5601454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02" name="Rectangle 101"/>
          <p:cNvSpPr/>
          <p:nvPr/>
        </p:nvSpPr>
        <p:spPr>
          <a:xfrm>
            <a:off x="10744952" y="5590507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3" name="Ellipse 102"/>
          <p:cNvSpPr/>
          <p:nvPr/>
        </p:nvSpPr>
        <p:spPr>
          <a:xfrm>
            <a:off x="10546046" y="5637940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04" name="Rectangle 103"/>
          <p:cNvSpPr/>
          <p:nvPr/>
        </p:nvSpPr>
        <p:spPr>
          <a:xfrm>
            <a:off x="4545418" y="5547334"/>
            <a:ext cx="1152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Positif</a:t>
            </a:r>
            <a:endParaRPr lang="fr-FR" sz="1400" dirty="0"/>
          </a:p>
        </p:txBody>
      </p:sp>
      <p:sp>
        <p:nvSpPr>
          <p:cNvPr id="109" name="Ellipse 108"/>
          <p:cNvSpPr/>
          <p:nvPr/>
        </p:nvSpPr>
        <p:spPr>
          <a:xfrm>
            <a:off x="9077847" y="5637944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11" name="Rectangle 110"/>
          <p:cNvSpPr/>
          <p:nvPr/>
        </p:nvSpPr>
        <p:spPr>
          <a:xfrm>
            <a:off x="9282696" y="5596703"/>
            <a:ext cx="82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Absent</a:t>
            </a:r>
            <a:endParaRPr lang="fr-FR" sz="1400" dirty="0"/>
          </a:p>
        </p:txBody>
      </p:sp>
      <p:sp>
        <p:nvSpPr>
          <p:cNvPr id="113" name="Rectangle 112"/>
          <p:cNvSpPr/>
          <p:nvPr/>
        </p:nvSpPr>
        <p:spPr>
          <a:xfrm>
            <a:off x="5356008" y="5578981"/>
            <a:ext cx="3240000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cxnSp>
        <p:nvCxnSpPr>
          <p:cNvPr id="116" name="Connecteur droit 115"/>
          <p:cNvCxnSpPr/>
          <p:nvPr/>
        </p:nvCxnSpPr>
        <p:spPr>
          <a:xfrm flipH="1" flipV="1">
            <a:off x="1496097" y="6126764"/>
            <a:ext cx="1040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" name="Rectangle 4"/>
          <p:cNvSpPr/>
          <p:nvPr/>
        </p:nvSpPr>
        <p:spPr>
          <a:xfrm>
            <a:off x="1479382" y="6143869"/>
            <a:ext cx="185736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Ampliation thoracique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4542984" y="6154901"/>
            <a:ext cx="936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Diminuée  </a:t>
            </a:r>
            <a:endParaRPr lang="fr-FR" sz="1400" b="1" dirty="0"/>
          </a:p>
        </p:txBody>
      </p:sp>
      <p:sp>
        <p:nvSpPr>
          <p:cNvPr id="8" name="Rectangle 7"/>
          <p:cNvSpPr/>
          <p:nvPr/>
        </p:nvSpPr>
        <p:spPr>
          <a:xfrm>
            <a:off x="9282696" y="6154599"/>
            <a:ext cx="72808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Normal</a:t>
            </a:r>
          </a:p>
        </p:txBody>
      </p:sp>
      <p:sp>
        <p:nvSpPr>
          <p:cNvPr id="142" name="Ellipse 141"/>
          <p:cNvSpPr/>
          <p:nvPr/>
        </p:nvSpPr>
        <p:spPr>
          <a:xfrm>
            <a:off x="4338421" y="6217491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43" name="Rectangle 142"/>
          <p:cNvSpPr/>
          <p:nvPr/>
        </p:nvSpPr>
        <p:spPr>
          <a:xfrm>
            <a:off x="5379618" y="6169266"/>
            <a:ext cx="3240000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44" name="Ellipse 143"/>
          <p:cNvSpPr/>
          <p:nvPr/>
        </p:nvSpPr>
        <p:spPr>
          <a:xfrm>
            <a:off x="9075699" y="6202472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45" name="Rectangle 144"/>
          <p:cNvSpPr/>
          <p:nvPr/>
        </p:nvSpPr>
        <p:spPr>
          <a:xfrm>
            <a:off x="10742804" y="6167911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7" name="Ellipse 146"/>
          <p:cNvSpPr/>
          <p:nvPr/>
        </p:nvSpPr>
        <p:spPr>
          <a:xfrm>
            <a:off x="10543898" y="6215344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</p:spTree>
    <p:extLst>
      <p:ext uri="{BB962C8B-B14F-4D97-AF65-F5344CB8AC3E}">
        <p14:creationId xmlns:p14="http://schemas.microsoft.com/office/powerpoint/2010/main" val="255924519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34 – Observations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Examens cliniques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/ Thorax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70471" y="561853"/>
            <a:ext cx="11952000" cy="619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-373722" y="643898"/>
            <a:ext cx="1728000" cy="3262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600" b="1" u="sng" dirty="0">
                <a:solidFill>
                  <a:srgbClr val="FF0000"/>
                </a:solidFill>
              </a:rPr>
              <a:t>Suite de l’écran </a:t>
            </a:r>
            <a:r>
              <a:rPr lang="fr-FR" sz="1600" b="1" u="sng" dirty="0" smtClean="0">
                <a:solidFill>
                  <a:srgbClr val="FF0000"/>
                </a:solidFill>
              </a:rPr>
              <a:t>34</a:t>
            </a:r>
            <a:endParaRPr lang="fr-FR" sz="1600" b="1" u="sng" dirty="0">
              <a:solidFill>
                <a:srgbClr val="FF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35654" y="937783"/>
            <a:ext cx="89280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b="1" u="sng" dirty="0"/>
              <a:t>Palpation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44153" y="2153664"/>
            <a:ext cx="70174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Matité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222896" y="950219"/>
            <a:ext cx="10800000" cy="648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9" name="Rectangle 28"/>
          <p:cNvSpPr/>
          <p:nvPr/>
        </p:nvSpPr>
        <p:spPr>
          <a:xfrm>
            <a:off x="1240961" y="961881"/>
            <a:ext cx="90008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Palpation</a:t>
            </a:r>
          </a:p>
        </p:txBody>
      </p:sp>
      <p:sp>
        <p:nvSpPr>
          <p:cNvPr id="30" name="Ellipse 29"/>
          <p:cNvSpPr/>
          <p:nvPr/>
        </p:nvSpPr>
        <p:spPr>
          <a:xfrm>
            <a:off x="2217696" y="1186139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31" name="Rectangle 30"/>
          <p:cNvSpPr/>
          <p:nvPr/>
        </p:nvSpPr>
        <p:spPr>
          <a:xfrm>
            <a:off x="11056195" y="1123673"/>
            <a:ext cx="936000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/>
              <a:t>Néant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2" name="Ellipse 31"/>
          <p:cNvSpPr/>
          <p:nvPr/>
        </p:nvSpPr>
        <p:spPr>
          <a:xfrm>
            <a:off x="10870168" y="1196864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33" name="Rectangle 32"/>
          <p:cNvSpPr/>
          <p:nvPr/>
        </p:nvSpPr>
        <p:spPr>
          <a:xfrm>
            <a:off x="2422545" y="1132019"/>
            <a:ext cx="130560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Choc de pointe</a:t>
            </a:r>
            <a:endParaRPr lang="fr-FR" sz="1400" dirty="0"/>
          </a:p>
        </p:txBody>
      </p:sp>
      <p:sp>
        <p:nvSpPr>
          <p:cNvPr id="34" name="Ellipse 33"/>
          <p:cNvSpPr/>
          <p:nvPr/>
        </p:nvSpPr>
        <p:spPr>
          <a:xfrm>
            <a:off x="4585257" y="1145355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35" name="Rectangle 34"/>
          <p:cNvSpPr/>
          <p:nvPr/>
        </p:nvSpPr>
        <p:spPr>
          <a:xfrm>
            <a:off x="4764347" y="1091235"/>
            <a:ext cx="15173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Vibrations vocales</a:t>
            </a:r>
            <a:endParaRPr lang="fr-FR" sz="1400" dirty="0"/>
          </a:p>
        </p:txBody>
      </p:sp>
      <p:sp>
        <p:nvSpPr>
          <p:cNvPr id="36" name="Rectangle 35"/>
          <p:cNvSpPr/>
          <p:nvPr/>
        </p:nvSpPr>
        <p:spPr>
          <a:xfrm>
            <a:off x="6341363" y="1043402"/>
            <a:ext cx="4182550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40" name="Ellipse 39"/>
          <p:cNvSpPr/>
          <p:nvPr/>
        </p:nvSpPr>
        <p:spPr>
          <a:xfrm>
            <a:off x="3078441" y="3965823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41" name="Rectangle 40"/>
          <p:cNvSpPr/>
          <p:nvPr/>
        </p:nvSpPr>
        <p:spPr>
          <a:xfrm>
            <a:off x="10951065" y="3353627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3283290" y="3898824"/>
            <a:ext cx="82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Tubaire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251396" y="1638699"/>
            <a:ext cx="108351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Percussion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85307" y="4203684"/>
            <a:ext cx="108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Pleurétique</a:t>
            </a:r>
            <a:endParaRPr lang="fr-FR" sz="1400" b="1" dirty="0"/>
          </a:p>
        </p:txBody>
      </p:sp>
      <p:sp>
        <p:nvSpPr>
          <p:cNvPr id="51" name="Ellipse 50"/>
          <p:cNvSpPr/>
          <p:nvPr/>
        </p:nvSpPr>
        <p:spPr>
          <a:xfrm>
            <a:off x="3080744" y="4266274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52" name="Rectangle 51"/>
          <p:cNvSpPr/>
          <p:nvPr/>
        </p:nvSpPr>
        <p:spPr>
          <a:xfrm>
            <a:off x="4834619" y="3930369"/>
            <a:ext cx="5689294" cy="523217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54" name="Rectangle 53"/>
          <p:cNvSpPr/>
          <p:nvPr/>
        </p:nvSpPr>
        <p:spPr>
          <a:xfrm>
            <a:off x="10951675" y="4030276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5" name="Ellipse 54"/>
          <p:cNvSpPr/>
          <p:nvPr/>
        </p:nvSpPr>
        <p:spPr>
          <a:xfrm>
            <a:off x="10830043" y="4077709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56" name="Rectangle 55"/>
          <p:cNvSpPr/>
          <p:nvPr/>
        </p:nvSpPr>
        <p:spPr>
          <a:xfrm>
            <a:off x="226328" y="1680709"/>
            <a:ext cx="98232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b="1" u="sng" dirty="0"/>
              <a:t>Percussion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220748" y="1656409"/>
            <a:ext cx="10800000" cy="975167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8" name="Ellipse 57"/>
          <p:cNvSpPr/>
          <p:nvPr/>
        </p:nvSpPr>
        <p:spPr>
          <a:xfrm>
            <a:off x="2215548" y="2149913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59" name="Rectangle 58"/>
          <p:cNvSpPr/>
          <p:nvPr/>
        </p:nvSpPr>
        <p:spPr>
          <a:xfrm>
            <a:off x="11054047" y="2113205"/>
            <a:ext cx="936000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/>
              <a:t>Néant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0" name="Ellipse 59"/>
          <p:cNvSpPr/>
          <p:nvPr/>
        </p:nvSpPr>
        <p:spPr>
          <a:xfrm>
            <a:off x="10868020" y="2173517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61" name="Rectangle 60"/>
          <p:cNvSpPr/>
          <p:nvPr/>
        </p:nvSpPr>
        <p:spPr>
          <a:xfrm>
            <a:off x="2420396" y="2095793"/>
            <a:ext cx="241422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Sonorité pulmonaire normale</a:t>
            </a:r>
            <a:endParaRPr lang="fr-FR" sz="1400" dirty="0"/>
          </a:p>
        </p:txBody>
      </p:sp>
      <p:sp>
        <p:nvSpPr>
          <p:cNvPr id="62" name="Ellipse 61"/>
          <p:cNvSpPr/>
          <p:nvPr/>
        </p:nvSpPr>
        <p:spPr>
          <a:xfrm>
            <a:off x="4956605" y="2199277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64" name="Rectangle 63"/>
          <p:cNvSpPr/>
          <p:nvPr/>
        </p:nvSpPr>
        <p:spPr>
          <a:xfrm>
            <a:off x="6341362" y="1775528"/>
            <a:ext cx="4182551" cy="775801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47" name="Rectangle 46"/>
          <p:cNvSpPr/>
          <p:nvPr/>
        </p:nvSpPr>
        <p:spPr>
          <a:xfrm>
            <a:off x="5129129" y="1752272"/>
            <a:ext cx="121223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Tympanisme</a:t>
            </a:r>
            <a:endParaRPr lang="fr-FR" sz="1400" dirty="0"/>
          </a:p>
        </p:txBody>
      </p:sp>
      <p:sp>
        <p:nvSpPr>
          <p:cNvPr id="65" name="Ellipse 64"/>
          <p:cNvSpPr/>
          <p:nvPr/>
        </p:nvSpPr>
        <p:spPr>
          <a:xfrm>
            <a:off x="4941582" y="1797885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67" name="Rectangle 66"/>
          <p:cNvSpPr/>
          <p:nvPr/>
        </p:nvSpPr>
        <p:spPr>
          <a:xfrm>
            <a:off x="177616" y="2679396"/>
            <a:ext cx="104400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b="1" u="sng" dirty="0" smtClean="0"/>
              <a:t>Auscultation</a:t>
            </a:r>
            <a:endParaRPr lang="fr-FR" sz="1400" b="1" u="sng" dirty="0"/>
          </a:p>
        </p:txBody>
      </p:sp>
      <p:sp>
        <p:nvSpPr>
          <p:cNvPr id="2" name="Rectangle 1"/>
          <p:cNvSpPr/>
          <p:nvPr/>
        </p:nvSpPr>
        <p:spPr>
          <a:xfrm>
            <a:off x="1246827" y="2685602"/>
            <a:ext cx="108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 smtClean="0"/>
              <a:t>Pulmonaire </a:t>
            </a:r>
            <a:endParaRPr lang="fr-FR" sz="1400" b="1" dirty="0"/>
          </a:p>
        </p:txBody>
      </p:sp>
      <p:sp>
        <p:nvSpPr>
          <p:cNvPr id="3" name="Rectangle 2"/>
          <p:cNvSpPr/>
          <p:nvPr/>
        </p:nvSpPr>
        <p:spPr>
          <a:xfrm>
            <a:off x="1246976" y="3354402"/>
            <a:ext cx="1764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Murmure Vésiculaire 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231479" y="2697454"/>
            <a:ext cx="10800000" cy="3996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8" name="Rectangle 67"/>
          <p:cNvSpPr/>
          <p:nvPr/>
        </p:nvSpPr>
        <p:spPr>
          <a:xfrm>
            <a:off x="3287447" y="3542442"/>
            <a:ext cx="72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Aboli</a:t>
            </a:r>
          </a:p>
        </p:txBody>
      </p:sp>
      <p:sp>
        <p:nvSpPr>
          <p:cNvPr id="69" name="Ellipse 68"/>
          <p:cNvSpPr/>
          <p:nvPr/>
        </p:nvSpPr>
        <p:spPr>
          <a:xfrm>
            <a:off x="3102048" y="2984893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71" name="Ellipse 70"/>
          <p:cNvSpPr/>
          <p:nvPr/>
        </p:nvSpPr>
        <p:spPr>
          <a:xfrm>
            <a:off x="10827236" y="3407746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72" name="Rectangle 71"/>
          <p:cNvSpPr/>
          <p:nvPr/>
        </p:nvSpPr>
        <p:spPr>
          <a:xfrm>
            <a:off x="3306896" y="2930773"/>
            <a:ext cx="90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Présent</a:t>
            </a:r>
          </a:p>
        </p:txBody>
      </p:sp>
      <p:sp>
        <p:nvSpPr>
          <p:cNvPr id="73" name="Ellipse 72"/>
          <p:cNvSpPr/>
          <p:nvPr/>
        </p:nvSpPr>
        <p:spPr>
          <a:xfrm>
            <a:off x="3099899" y="3588055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75" name="Rectangle 74"/>
          <p:cNvSpPr/>
          <p:nvPr/>
        </p:nvSpPr>
        <p:spPr>
          <a:xfrm>
            <a:off x="3285307" y="3256960"/>
            <a:ext cx="90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Diminué</a:t>
            </a:r>
          </a:p>
        </p:txBody>
      </p:sp>
      <p:sp>
        <p:nvSpPr>
          <p:cNvPr id="76" name="Ellipse 75"/>
          <p:cNvSpPr/>
          <p:nvPr/>
        </p:nvSpPr>
        <p:spPr>
          <a:xfrm>
            <a:off x="3097760" y="3302573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77" name="Rectangle 76"/>
          <p:cNvSpPr/>
          <p:nvPr/>
        </p:nvSpPr>
        <p:spPr>
          <a:xfrm>
            <a:off x="4834619" y="3048284"/>
            <a:ext cx="5689294" cy="72051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4" name="Rectangle 3"/>
          <p:cNvSpPr/>
          <p:nvPr/>
        </p:nvSpPr>
        <p:spPr>
          <a:xfrm>
            <a:off x="1245615" y="4012954"/>
            <a:ext cx="74892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Souffle 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250105" y="4563248"/>
            <a:ext cx="612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Râles 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746194" y="4733473"/>
            <a:ext cx="1256291" cy="3150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Pulmonaires</a:t>
            </a:r>
            <a:endParaRPr lang="fr-FR" sz="1400" dirty="0"/>
          </a:p>
        </p:txBody>
      </p:sp>
      <p:sp>
        <p:nvSpPr>
          <p:cNvPr id="94" name="Rectangle 93"/>
          <p:cNvSpPr/>
          <p:nvPr/>
        </p:nvSpPr>
        <p:spPr>
          <a:xfrm>
            <a:off x="3287283" y="4711256"/>
            <a:ext cx="121223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Crépitants</a:t>
            </a:r>
            <a:endParaRPr lang="fr-FR" sz="1400" dirty="0"/>
          </a:p>
        </p:txBody>
      </p:sp>
      <p:sp>
        <p:nvSpPr>
          <p:cNvPr id="96" name="Rectangle 95"/>
          <p:cNvSpPr/>
          <p:nvPr/>
        </p:nvSpPr>
        <p:spPr>
          <a:xfrm>
            <a:off x="4811512" y="4591857"/>
            <a:ext cx="5697841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cxnSp>
        <p:nvCxnSpPr>
          <p:cNvPr id="6" name="Connecteur droit 5"/>
          <p:cNvCxnSpPr/>
          <p:nvPr/>
        </p:nvCxnSpPr>
        <p:spPr>
          <a:xfrm>
            <a:off x="1220748" y="3846068"/>
            <a:ext cx="10810731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7" name="Connecteur droit 96"/>
          <p:cNvCxnSpPr/>
          <p:nvPr/>
        </p:nvCxnSpPr>
        <p:spPr>
          <a:xfrm>
            <a:off x="1218600" y="4552255"/>
            <a:ext cx="10810731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8" name="Connecteur droit 97"/>
          <p:cNvCxnSpPr/>
          <p:nvPr/>
        </p:nvCxnSpPr>
        <p:spPr>
          <a:xfrm>
            <a:off x="1229331" y="5194055"/>
            <a:ext cx="10810731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9" name="Rectangle 98"/>
          <p:cNvSpPr/>
          <p:nvPr/>
        </p:nvSpPr>
        <p:spPr>
          <a:xfrm>
            <a:off x="1247957" y="5230803"/>
            <a:ext cx="612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Râles 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744046" y="5529818"/>
            <a:ext cx="1260000" cy="3150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Bronchiques</a:t>
            </a:r>
            <a:endParaRPr lang="fr-FR" sz="1400" dirty="0"/>
          </a:p>
        </p:txBody>
      </p:sp>
      <p:sp>
        <p:nvSpPr>
          <p:cNvPr id="106" name="Rectangle 105"/>
          <p:cNvSpPr/>
          <p:nvPr/>
        </p:nvSpPr>
        <p:spPr>
          <a:xfrm>
            <a:off x="10947379" y="5429775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7" name="Ellipse 106"/>
          <p:cNvSpPr/>
          <p:nvPr/>
        </p:nvSpPr>
        <p:spPr>
          <a:xfrm>
            <a:off x="10812868" y="5502966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08" name="Ellipse 107"/>
          <p:cNvSpPr/>
          <p:nvPr/>
        </p:nvSpPr>
        <p:spPr>
          <a:xfrm>
            <a:off x="3140688" y="5277318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09" name="Rectangle 108"/>
          <p:cNvSpPr/>
          <p:nvPr/>
        </p:nvSpPr>
        <p:spPr>
          <a:xfrm>
            <a:off x="3345537" y="5223197"/>
            <a:ext cx="90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Ronchus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347550" y="5618206"/>
            <a:ext cx="120150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Sibilants</a:t>
            </a:r>
            <a:endParaRPr lang="fr-FR" sz="1400" b="1" dirty="0"/>
          </a:p>
        </p:txBody>
      </p:sp>
      <p:sp>
        <p:nvSpPr>
          <p:cNvPr id="112" name="Ellipse 111"/>
          <p:cNvSpPr/>
          <p:nvPr/>
        </p:nvSpPr>
        <p:spPr>
          <a:xfrm>
            <a:off x="3142987" y="5693676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13" name="Rectangle 112"/>
          <p:cNvSpPr/>
          <p:nvPr/>
        </p:nvSpPr>
        <p:spPr>
          <a:xfrm>
            <a:off x="4819559" y="5348623"/>
            <a:ext cx="5689794" cy="618009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7" name="Rectangle 6"/>
          <p:cNvSpPr/>
          <p:nvPr/>
        </p:nvSpPr>
        <p:spPr>
          <a:xfrm>
            <a:off x="3103798" y="4780867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14" name="Connecteur droit 113"/>
          <p:cNvCxnSpPr/>
          <p:nvPr/>
        </p:nvCxnSpPr>
        <p:spPr>
          <a:xfrm>
            <a:off x="1227183" y="6080550"/>
            <a:ext cx="10810731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6" name="Rectangle 115"/>
          <p:cNvSpPr/>
          <p:nvPr/>
        </p:nvSpPr>
        <p:spPr>
          <a:xfrm>
            <a:off x="1245809" y="6258966"/>
            <a:ext cx="162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Frottement pleural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0945231" y="6226116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9" name="Ellipse 118"/>
          <p:cNvSpPr/>
          <p:nvPr/>
        </p:nvSpPr>
        <p:spPr>
          <a:xfrm>
            <a:off x="10823599" y="6286428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20" name="Ellipse 119"/>
          <p:cNvSpPr/>
          <p:nvPr/>
        </p:nvSpPr>
        <p:spPr>
          <a:xfrm>
            <a:off x="3190061" y="6318359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21" name="Rectangle 120"/>
          <p:cNvSpPr/>
          <p:nvPr/>
        </p:nvSpPr>
        <p:spPr>
          <a:xfrm>
            <a:off x="3394910" y="6264238"/>
            <a:ext cx="82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Présent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4811512" y="6141291"/>
            <a:ext cx="3479412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23" name="Rectangle 122"/>
          <p:cNvSpPr/>
          <p:nvPr/>
        </p:nvSpPr>
        <p:spPr>
          <a:xfrm>
            <a:off x="8739222" y="6258306"/>
            <a:ext cx="72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Absent</a:t>
            </a:r>
            <a:endParaRPr lang="fr-FR" sz="1400" b="1" dirty="0"/>
          </a:p>
        </p:txBody>
      </p:sp>
      <p:sp>
        <p:nvSpPr>
          <p:cNvPr id="124" name="Ellipse 123"/>
          <p:cNvSpPr/>
          <p:nvPr/>
        </p:nvSpPr>
        <p:spPr>
          <a:xfrm>
            <a:off x="8534659" y="6333776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cxnSp>
        <p:nvCxnSpPr>
          <p:cNvPr id="127" name="Connecteur droit 126"/>
          <p:cNvCxnSpPr/>
          <p:nvPr/>
        </p:nvCxnSpPr>
        <p:spPr>
          <a:xfrm>
            <a:off x="1218600" y="2955275"/>
            <a:ext cx="10810731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Rectangle 127"/>
          <p:cNvSpPr/>
          <p:nvPr/>
        </p:nvSpPr>
        <p:spPr>
          <a:xfrm>
            <a:off x="225530" y="6364010"/>
            <a:ext cx="1008000" cy="3262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600" b="1" u="sng" dirty="0">
                <a:solidFill>
                  <a:srgbClr val="FF0000"/>
                </a:solidFill>
              </a:rPr>
              <a:t>À suivre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352373" y="564556"/>
            <a:ext cx="7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HDM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090803" y="571184"/>
            <a:ext cx="828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Général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928075" y="560920"/>
            <a:ext cx="16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Cervico-céphalique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557087" y="566789"/>
            <a:ext cx="720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Thorax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299531" y="571184"/>
            <a:ext cx="97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Abdomen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278281" y="561486"/>
            <a:ext cx="79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Pelvien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080104" y="567385"/>
            <a:ext cx="97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Vasculaire</a:t>
            </a:r>
            <a:endParaRPr lang="fr-FR" sz="1400" dirty="0"/>
          </a:p>
        </p:txBody>
      </p:sp>
      <p:sp>
        <p:nvSpPr>
          <p:cNvPr id="103" name="Rectangle 102"/>
          <p:cNvSpPr/>
          <p:nvPr/>
        </p:nvSpPr>
        <p:spPr>
          <a:xfrm>
            <a:off x="8066128" y="560375"/>
            <a:ext cx="126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Neurologique</a:t>
            </a:r>
            <a:endParaRPr lang="fr-FR" sz="1400" dirty="0"/>
          </a:p>
        </p:txBody>
      </p:sp>
      <p:sp>
        <p:nvSpPr>
          <p:cNvPr id="104" name="Rectangle 103"/>
          <p:cNvSpPr/>
          <p:nvPr/>
        </p:nvSpPr>
        <p:spPr>
          <a:xfrm>
            <a:off x="9342853" y="560299"/>
            <a:ext cx="1476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Osteo-articulaire</a:t>
            </a:r>
            <a:endParaRPr lang="fr-FR" sz="1400" dirty="0"/>
          </a:p>
        </p:txBody>
      </p:sp>
      <p:sp>
        <p:nvSpPr>
          <p:cNvPr id="105" name="Rectangle 104"/>
          <p:cNvSpPr/>
          <p:nvPr/>
        </p:nvSpPr>
        <p:spPr>
          <a:xfrm>
            <a:off x="10834387" y="560375"/>
            <a:ext cx="126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9738411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34 – Observations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Examens cliniques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/ Thorax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57592" y="639127"/>
            <a:ext cx="11952000" cy="612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64737" y="1146812"/>
            <a:ext cx="104400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b="1" u="sng" dirty="0" smtClean="0"/>
              <a:t>Auscultation</a:t>
            </a:r>
            <a:endParaRPr lang="fr-FR" sz="1400" b="1" u="sng" dirty="0"/>
          </a:p>
        </p:txBody>
      </p:sp>
      <p:sp>
        <p:nvSpPr>
          <p:cNvPr id="2" name="Rectangle 1"/>
          <p:cNvSpPr/>
          <p:nvPr/>
        </p:nvSpPr>
        <p:spPr>
          <a:xfrm>
            <a:off x="1233948" y="1165897"/>
            <a:ext cx="100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 smtClean="0"/>
              <a:t>Cardiaque</a:t>
            </a:r>
            <a:endParaRPr lang="fr-FR" sz="1400" b="1" dirty="0"/>
          </a:p>
        </p:txBody>
      </p:sp>
      <p:sp>
        <p:nvSpPr>
          <p:cNvPr id="3" name="Rectangle 2"/>
          <p:cNvSpPr/>
          <p:nvPr/>
        </p:nvSpPr>
        <p:spPr>
          <a:xfrm>
            <a:off x="1234097" y="1693028"/>
            <a:ext cx="90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 smtClean="0"/>
              <a:t>Rythme</a:t>
            </a:r>
            <a:endParaRPr lang="fr-FR" sz="1400" b="1" dirty="0"/>
          </a:p>
        </p:txBody>
      </p:sp>
      <p:sp>
        <p:nvSpPr>
          <p:cNvPr id="63" name="Rectangle 62"/>
          <p:cNvSpPr/>
          <p:nvPr/>
        </p:nvSpPr>
        <p:spPr>
          <a:xfrm>
            <a:off x="1218600" y="1164870"/>
            <a:ext cx="10800000" cy="42185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" name="Rectangle 3"/>
          <p:cNvSpPr/>
          <p:nvPr/>
        </p:nvSpPr>
        <p:spPr>
          <a:xfrm>
            <a:off x="1245381" y="2261023"/>
            <a:ext cx="259312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Auscultation des quatre foyers</a:t>
            </a:r>
          </a:p>
        </p:txBody>
      </p:sp>
      <p:cxnSp>
        <p:nvCxnSpPr>
          <p:cNvPr id="6" name="Connecteur droit 5"/>
          <p:cNvCxnSpPr/>
          <p:nvPr/>
        </p:nvCxnSpPr>
        <p:spPr>
          <a:xfrm>
            <a:off x="1207869" y="2236210"/>
            <a:ext cx="10810731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0" name="Rectangle 99"/>
          <p:cNvSpPr/>
          <p:nvPr/>
        </p:nvSpPr>
        <p:spPr>
          <a:xfrm>
            <a:off x="1731167" y="2747977"/>
            <a:ext cx="828000" cy="3150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Souffle</a:t>
            </a:r>
            <a:endParaRPr lang="fr-FR" sz="1400" dirty="0"/>
          </a:p>
        </p:txBody>
      </p:sp>
      <p:sp>
        <p:nvSpPr>
          <p:cNvPr id="106" name="Rectangle 105"/>
          <p:cNvSpPr/>
          <p:nvPr/>
        </p:nvSpPr>
        <p:spPr>
          <a:xfrm>
            <a:off x="10934500" y="2789603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7" name="Ellipse 106"/>
          <p:cNvSpPr/>
          <p:nvPr/>
        </p:nvSpPr>
        <p:spPr>
          <a:xfrm>
            <a:off x="10799989" y="2862794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cxnSp>
        <p:nvCxnSpPr>
          <p:cNvPr id="114" name="Connecteur droit 113"/>
          <p:cNvCxnSpPr/>
          <p:nvPr/>
        </p:nvCxnSpPr>
        <p:spPr>
          <a:xfrm>
            <a:off x="1214304" y="4432057"/>
            <a:ext cx="10810731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6" name="Rectangle 115"/>
          <p:cNvSpPr/>
          <p:nvPr/>
        </p:nvSpPr>
        <p:spPr>
          <a:xfrm>
            <a:off x="1232929" y="4443046"/>
            <a:ext cx="20748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Frottement péricardique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0934500" y="4837069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9" name="Ellipse 118"/>
          <p:cNvSpPr/>
          <p:nvPr/>
        </p:nvSpPr>
        <p:spPr>
          <a:xfrm>
            <a:off x="10812868" y="4897381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20" name="Ellipse 119"/>
          <p:cNvSpPr/>
          <p:nvPr/>
        </p:nvSpPr>
        <p:spPr>
          <a:xfrm>
            <a:off x="3087028" y="4888808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21" name="Rectangle 120"/>
          <p:cNvSpPr/>
          <p:nvPr/>
        </p:nvSpPr>
        <p:spPr>
          <a:xfrm>
            <a:off x="3291877" y="4834687"/>
            <a:ext cx="82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Présent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4164401" y="4711870"/>
            <a:ext cx="3129531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23" name="Rectangle 122"/>
          <p:cNvSpPr/>
          <p:nvPr/>
        </p:nvSpPr>
        <p:spPr>
          <a:xfrm>
            <a:off x="8095274" y="4828758"/>
            <a:ext cx="72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Absent</a:t>
            </a:r>
            <a:endParaRPr lang="fr-FR" sz="1400" b="1" dirty="0"/>
          </a:p>
        </p:txBody>
      </p:sp>
      <p:sp>
        <p:nvSpPr>
          <p:cNvPr id="124" name="Ellipse 123"/>
          <p:cNvSpPr/>
          <p:nvPr/>
        </p:nvSpPr>
        <p:spPr>
          <a:xfrm>
            <a:off x="7890711" y="4904228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cxnSp>
        <p:nvCxnSpPr>
          <p:cNvPr id="127" name="Connecteur droit 126"/>
          <p:cNvCxnSpPr/>
          <p:nvPr/>
        </p:nvCxnSpPr>
        <p:spPr>
          <a:xfrm>
            <a:off x="1205721" y="1474207"/>
            <a:ext cx="10810731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9" name="Rectangle 88"/>
          <p:cNvSpPr/>
          <p:nvPr/>
        </p:nvSpPr>
        <p:spPr>
          <a:xfrm>
            <a:off x="10930204" y="1690605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0" name="Ellipse 89"/>
          <p:cNvSpPr/>
          <p:nvPr/>
        </p:nvSpPr>
        <p:spPr>
          <a:xfrm>
            <a:off x="10808572" y="1750917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92" name="Ellipse 91"/>
          <p:cNvSpPr/>
          <p:nvPr/>
        </p:nvSpPr>
        <p:spPr>
          <a:xfrm>
            <a:off x="2994728" y="1757090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93" name="Rectangle 92"/>
          <p:cNvSpPr/>
          <p:nvPr/>
        </p:nvSpPr>
        <p:spPr>
          <a:xfrm>
            <a:off x="3199577" y="1702969"/>
            <a:ext cx="82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Régulier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557890" y="1606167"/>
            <a:ext cx="3479412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01" name="Rectangle 100"/>
          <p:cNvSpPr/>
          <p:nvPr/>
        </p:nvSpPr>
        <p:spPr>
          <a:xfrm>
            <a:off x="5349924" y="1709916"/>
            <a:ext cx="118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Non régulier</a:t>
            </a:r>
          </a:p>
        </p:txBody>
      </p:sp>
      <p:sp>
        <p:nvSpPr>
          <p:cNvPr id="102" name="Ellipse 101"/>
          <p:cNvSpPr/>
          <p:nvPr/>
        </p:nvSpPr>
        <p:spPr>
          <a:xfrm>
            <a:off x="5171119" y="1772507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03" name="Ellipse 102"/>
          <p:cNvSpPr/>
          <p:nvPr/>
        </p:nvSpPr>
        <p:spPr>
          <a:xfrm>
            <a:off x="3072001" y="2813154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04" name="Rectangle 103"/>
          <p:cNvSpPr/>
          <p:nvPr/>
        </p:nvSpPr>
        <p:spPr>
          <a:xfrm>
            <a:off x="3276850" y="2746154"/>
            <a:ext cx="54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Oui</a:t>
            </a:r>
            <a:endParaRPr lang="fr-FR" sz="1400" dirty="0"/>
          </a:p>
        </p:txBody>
      </p:sp>
      <p:sp>
        <p:nvSpPr>
          <p:cNvPr id="105" name="Rectangle 104"/>
          <p:cNvSpPr/>
          <p:nvPr/>
        </p:nvSpPr>
        <p:spPr>
          <a:xfrm>
            <a:off x="4200890" y="2649090"/>
            <a:ext cx="3479412" cy="606729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15" name="Rectangle 114"/>
          <p:cNvSpPr/>
          <p:nvPr/>
        </p:nvSpPr>
        <p:spPr>
          <a:xfrm>
            <a:off x="8080252" y="2727345"/>
            <a:ext cx="54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Non</a:t>
            </a:r>
            <a:endParaRPr lang="fr-FR" sz="1400" b="1" dirty="0"/>
          </a:p>
        </p:txBody>
      </p:sp>
      <p:sp>
        <p:nvSpPr>
          <p:cNvPr id="117" name="Ellipse 116"/>
          <p:cNvSpPr/>
          <p:nvPr/>
        </p:nvSpPr>
        <p:spPr>
          <a:xfrm>
            <a:off x="7888568" y="2777057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25" name="Rectangle 124"/>
          <p:cNvSpPr/>
          <p:nvPr/>
        </p:nvSpPr>
        <p:spPr>
          <a:xfrm>
            <a:off x="10925307" y="3714241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6" name="Rectangle 125"/>
          <p:cNvSpPr/>
          <p:nvPr/>
        </p:nvSpPr>
        <p:spPr>
          <a:xfrm>
            <a:off x="3274570" y="4006088"/>
            <a:ext cx="72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Aboli</a:t>
            </a:r>
          </a:p>
        </p:txBody>
      </p:sp>
      <p:sp>
        <p:nvSpPr>
          <p:cNvPr id="129" name="Ellipse 128"/>
          <p:cNvSpPr/>
          <p:nvPr/>
        </p:nvSpPr>
        <p:spPr>
          <a:xfrm>
            <a:off x="3089174" y="3358386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30" name="Ellipse 129"/>
          <p:cNvSpPr/>
          <p:nvPr/>
        </p:nvSpPr>
        <p:spPr>
          <a:xfrm>
            <a:off x="10801478" y="3768360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31" name="Rectangle 130"/>
          <p:cNvSpPr/>
          <p:nvPr/>
        </p:nvSpPr>
        <p:spPr>
          <a:xfrm>
            <a:off x="3294022" y="3304266"/>
            <a:ext cx="90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Présent</a:t>
            </a:r>
          </a:p>
        </p:txBody>
      </p:sp>
      <p:sp>
        <p:nvSpPr>
          <p:cNvPr id="132" name="Ellipse 131"/>
          <p:cNvSpPr/>
          <p:nvPr/>
        </p:nvSpPr>
        <p:spPr>
          <a:xfrm>
            <a:off x="3087022" y="4051701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34" name="Rectangle 133"/>
          <p:cNvSpPr/>
          <p:nvPr/>
        </p:nvSpPr>
        <p:spPr>
          <a:xfrm>
            <a:off x="3272433" y="3643332"/>
            <a:ext cx="90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Diminué</a:t>
            </a:r>
          </a:p>
        </p:txBody>
      </p:sp>
      <p:sp>
        <p:nvSpPr>
          <p:cNvPr id="135" name="Ellipse 134"/>
          <p:cNvSpPr/>
          <p:nvPr/>
        </p:nvSpPr>
        <p:spPr>
          <a:xfrm>
            <a:off x="3084886" y="3688945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36" name="Rectangle 135"/>
          <p:cNvSpPr/>
          <p:nvPr/>
        </p:nvSpPr>
        <p:spPr>
          <a:xfrm>
            <a:off x="4188007" y="3407193"/>
            <a:ext cx="5793119" cy="830215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38" name="Rectangle 137"/>
          <p:cNvSpPr/>
          <p:nvPr/>
        </p:nvSpPr>
        <p:spPr>
          <a:xfrm>
            <a:off x="10908120" y="5469537"/>
            <a:ext cx="10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Valider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-386601" y="772688"/>
            <a:ext cx="1728000" cy="3262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600" b="1" u="sng" dirty="0">
                <a:solidFill>
                  <a:srgbClr val="FF0000"/>
                </a:solidFill>
              </a:rPr>
              <a:t>Suite de l’écran </a:t>
            </a:r>
            <a:r>
              <a:rPr lang="fr-FR" sz="1600" b="1" u="sng" dirty="0" smtClean="0">
                <a:solidFill>
                  <a:srgbClr val="FF0000"/>
                </a:solidFill>
              </a:rPr>
              <a:t>34</a:t>
            </a:r>
            <a:endParaRPr lang="fr-FR" sz="1600" b="1" u="sng" dirty="0">
              <a:solidFill>
                <a:srgbClr val="FF0000"/>
              </a:solidFill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1339494" y="693346"/>
            <a:ext cx="7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HDM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077924" y="699974"/>
            <a:ext cx="828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Général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915196" y="689710"/>
            <a:ext cx="16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Cervico-céphalique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44208" y="695579"/>
            <a:ext cx="720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Thorax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286652" y="699974"/>
            <a:ext cx="97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Abdomen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65402" y="690276"/>
            <a:ext cx="79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Pelvien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067225" y="696175"/>
            <a:ext cx="97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Vasculaire</a:t>
            </a:r>
            <a:endParaRPr lang="fr-FR" sz="1400" dirty="0"/>
          </a:p>
        </p:txBody>
      </p:sp>
      <p:sp>
        <p:nvSpPr>
          <p:cNvPr id="60" name="Rectangle 59"/>
          <p:cNvSpPr/>
          <p:nvPr/>
        </p:nvSpPr>
        <p:spPr>
          <a:xfrm>
            <a:off x="8053249" y="689165"/>
            <a:ext cx="126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Neurologique</a:t>
            </a:r>
            <a:endParaRPr lang="fr-FR" sz="1400" dirty="0"/>
          </a:p>
        </p:txBody>
      </p:sp>
      <p:sp>
        <p:nvSpPr>
          <p:cNvPr id="61" name="Rectangle 60"/>
          <p:cNvSpPr/>
          <p:nvPr/>
        </p:nvSpPr>
        <p:spPr>
          <a:xfrm>
            <a:off x="9329974" y="689089"/>
            <a:ext cx="1476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Osteo-articulaire</a:t>
            </a:r>
            <a:endParaRPr lang="fr-FR" sz="1400" dirty="0"/>
          </a:p>
        </p:txBody>
      </p:sp>
      <p:sp>
        <p:nvSpPr>
          <p:cNvPr id="62" name="Rectangle 61"/>
          <p:cNvSpPr/>
          <p:nvPr/>
        </p:nvSpPr>
        <p:spPr>
          <a:xfrm>
            <a:off x="10821508" y="689165"/>
            <a:ext cx="126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5275263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35 – Observations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Examens cliniques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/ Abdomen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09108" y="639127"/>
            <a:ext cx="11880000" cy="619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1964661" y="801870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355023" y="788765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182390" y="808277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152059" y="846896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326245" y="802172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7736488" y="853524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1914070" y="743010"/>
            <a:ext cx="9828000" cy="4643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1914071" y="1275386"/>
            <a:ext cx="9828000" cy="1260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345444" y="872648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434893" y="856230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099371" y="862271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7785158" y="881096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273503" y="649433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2825" y="1254980"/>
            <a:ext cx="157286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b="1" u="sng" dirty="0"/>
              <a:t>Examen clinique</a:t>
            </a:r>
          </a:p>
        </p:txBody>
      </p:sp>
      <p:sp>
        <p:nvSpPr>
          <p:cNvPr id="82" name="Titre 1"/>
          <p:cNvSpPr txBox="1">
            <a:spLocks/>
          </p:cNvSpPr>
          <p:nvPr/>
        </p:nvSpPr>
        <p:spPr>
          <a:xfrm>
            <a:off x="2119421" y="1677468"/>
            <a:ext cx="72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Type</a:t>
            </a:r>
            <a:endParaRPr lang="fr-FR" sz="1400" dirty="0"/>
          </a:p>
        </p:txBody>
      </p:sp>
      <p:sp>
        <p:nvSpPr>
          <p:cNvPr id="114" name="Rectangle 113"/>
          <p:cNvSpPr/>
          <p:nvPr/>
        </p:nvSpPr>
        <p:spPr>
          <a:xfrm>
            <a:off x="2836804" y="1713118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7" name="Titre 1"/>
          <p:cNvSpPr txBox="1">
            <a:spLocks/>
          </p:cNvSpPr>
          <p:nvPr/>
        </p:nvSpPr>
        <p:spPr>
          <a:xfrm>
            <a:off x="2132339" y="1294945"/>
            <a:ext cx="720000" cy="3837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</a:t>
            </a:r>
            <a:endParaRPr lang="fr-FR" sz="1400" dirty="0"/>
          </a:p>
        </p:txBody>
      </p:sp>
      <p:sp>
        <p:nvSpPr>
          <p:cNvPr id="118" name="Triangle isocèle 117"/>
          <p:cNvSpPr/>
          <p:nvPr/>
        </p:nvSpPr>
        <p:spPr>
          <a:xfrm rot="10800000">
            <a:off x="4434128" y="1727596"/>
            <a:ext cx="180000" cy="252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2" name="Rectangle 121"/>
          <p:cNvSpPr/>
          <p:nvPr/>
        </p:nvSpPr>
        <p:spPr>
          <a:xfrm>
            <a:off x="2096032" y="2187232"/>
            <a:ext cx="720000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Motif</a:t>
            </a:r>
            <a:endParaRPr lang="fr-FR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8" name="Rectangle 127"/>
          <p:cNvSpPr/>
          <p:nvPr/>
        </p:nvSpPr>
        <p:spPr>
          <a:xfrm>
            <a:off x="2817752" y="2067961"/>
            <a:ext cx="5724000" cy="432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8" name="Rectangle 147"/>
          <p:cNvSpPr/>
          <p:nvPr/>
        </p:nvSpPr>
        <p:spPr>
          <a:xfrm>
            <a:off x="2842138" y="1334104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4" name="Titre 1"/>
          <p:cNvSpPr txBox="1">
            <a:spLocks/>
          </p:cNvSpPr>
          <p:nvPr/>
        </p:nvSpPr>
        <p:spPr>
          <a:xfrm>
            <a:off x="5355022" y="1323987"/>
            <a:ext cx="1029803" cy="3626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Médecin</a:t>
            </a:r>
            <a:endParaRPr lang="fr-FR" sz="1400" dirty="0"/>
          </a:p>
        </p:txBody>
      </p:sp>
      <p:sp>
        <p:nvSpPr>
          <p:cNvPr id="55" name="Rectangle 54"/>
          <p:cNvSpPr/>
          <p:nvPr/>
        </p:nvSpPr>
        <p:spPr>
          <a:xfrm>
            <a:off x="6371722" y="1352392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6" name="Triangle isocèle 55"/>
          <p:cNvSpPr/>
          <p:nvPr/>
        </p:nvSpPr>
        <p:spPr>
          <a:xfrm rot="10800000">
            <a:off x="7988096" y="1366870"/>
            <a:ext cx="180000" cy="252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7" name="Titre 1"/>
          <p:cNvSpPr txBox="1">
            <a:spLocks/>
          </p:cNvSpPr>
          <p:nvPr/>
        </p:nvSpPr>
        <p:spPr>
          <a:xfrm>
            <a:off x="4723622" y="1630667"/>
            <a:ext cx="4023137" cy="4114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dirty="0" smtClean="0"/>
              <a:t>Type : </a:t>
            </a:r>
            <a:r>
              <a:rPr lang="fr-FR" sz="1400" dirty="0" smtClean="0"/>
              <a:t>Consultation, Hospitalisation, Prise en charge </a:t>
            </a:r>
            <a:endParaRPr lang="fr-FR" sz="1400" b="1" dirty="0"/>
          </a:p>
        </p:txBody>
      </p:sp>
      <p:sp>
        <p:nvSpPr>
          <p:cNvPr id="58" name="Rectangle 57"/>
          <p:cNvSpPr/>
          <p:nvPr/>
        </p:nvSpPr>
        <p:spPr>
          <a:xfrm>
            <a:off x="283416" y="2586543"/>
            <a:ext cx="7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HDM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137757" y="2593171"/>
            <a:ext cx="828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Général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090940" y="2582907"/>
            <a:ext cx="16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Cervico-céphalique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822984" y="2588776"/>
            <a:ext cx="7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Thorax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81339" y="2593171"/>
            <a:ext cx="972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Abdomen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776000" y="2583473"/>
            <a:ext cx="79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Pelvien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680855" y="2589372"/>
            <a:ext cx="97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Vasculaire</a:t>
            </a:r>
            <a:endParaRPr lang="fr-FR" sz="1400" dirty="0"/>
          </a:p>
        </p:txBody>
      </p:sp>
      <p:sp>
        <p:nvSpPr>
          <p:cNvPr id="67" name="Rectangle 66"/>
          <p:cNvSpPr/>
          <p:nvPr/>
        </p:nvSpPr>
        <p:spPr>
          <a:xfrm>
            <a:off x="7769911" y="2582362"/>
            <a:ext cx="126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Neurologique</a:t>
            </a:r>
            <a:endParaRPr lang="fr-FR" sz="1400" dirty="0"/>
          </a:p>
        </p:txBody>
      </p:sp>
      <p:sp>
        <p:nvSpPr>
          <p:cNvPr id="71" name="Rectangle 70"/>
          <p:cNvSpPr/>
          <p:nvPr/>
        </p:nvSpPr>
        <p:spPr>
          <a:xfrm>
            <a:off x="9149668" y="2582286"/>
            <a:ext cx="1476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Osteo-articulaire</a:t>
            </a:r>
            <a:endParaRPr lang="fr-FR" sz="1400" dirty="0"/>
          </a:p>
        </p:txBody>
      </p:sp>
      <p:sp>
        <p:nvSpPr>
          <p:cNvPr id="72" name="Rectangle 71"/>
          <p:cNvSpPr/>
          <p:nvPr/>
        </p:nvSpPr>
        <p:spPr>
          <a:xfrm>
            <a:off x="10731355" y="2582362"/>
            <a:ext cx="126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Conclusion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481032" y="4743248"/>
            <a:ext cx="132329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Vomissements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725629" y="3497684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1" name="Ellipse 90"/>
          <p:cNvSpPr/>
          <p:nvPr/>
        </p:nvSpPr>
        <p:spPr>
          <a:xfrm>
            <a:off x="10539602" y="3545117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4" name="Rectangle 13"/>
          <p:cNvSpPr/>
          <p:nvPr/>
        </p:nvSpPr>
        <p:spPr>
          <a:xfrm>
            <a:off x="359845" y="3102977"/>
            <a:ext cx="115395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400" b="1" u="sng" dirty="0"/>
              <a:t>Signes </a:t>
            </a:r>
            <a:r>
              <a:rPr lang="fr-FR" sz="1400" b="1" u="sng" dirty="0" smtClean="0"/>
              <a:t>fonctionnels</a:t>
            </a:r>
            <a:endParaRPr lang="fr-FR" sz="1400" b="1" u="sng" dirty="0"/>
          </a:p>
        </p:txBody>
      </p:sp>
      <p:sp>
        <p:nvSpPr>
          <p:cNvPr id="101" name="Rectangle 100"/>
          <p:cNvSpPr/>
          <p:nvPr/>
        </p:nvSpPr>
        <p:spPr>
          <a:xfrm>
            <a:off x="276305" y="2999003"/>
            <a:ext cx="11700000" cy="3780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66" name="Rectangle 165"/>
          <p:cNvSpPr/>
          <p:nvPr/>
        </p:nvSpPr>
        <p:spPr>
          <a:xfrm>
            <a:off x="1461756" y="3103150"/>
            <a:ext cx="10446166" cy="3117346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2" name="Rectangle 181"/>
          <p:cNvSpPr/>
          <p:nvPr/>
        </p:nvSpPr>
        <p:spPr>
          <a:xfrm>
            <a:off x="222627" y="6364679"/>
            <a:ext cx="1080000" cy="3262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600" b="1" u="sng" dirty="0">
                <a:solidFill>
                  <a:srgbClr val="FF0000"/>
                </a:solidFill>
              </a:rPr>
              <a:t>À suivre</a:t>
            </a:r>
          </a:p>
        </p:txBody>
      </p:sp>
      <p:sp>
        <p:nvSpPr>
          <p:cNvPr id="3" name="Rectangle 2"/>
          <p:cNvSpPr/>
          <p:nvPr/>
        </p:nvSpPr>
        <p:spPr>
          <a:xfrm>
            <a:off x="1487497" y="3113510"/>
            <a:ext cx="198214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Troubles du transit</a:t>
            </a:r>
          </a:p>
        </p:txBody>
      </p:sp>
      <p:sp>
        <p:nvSpPr>
          <p:cNvPr id="7" name="Rectangle 6"/>
          <p:cNvSpPr/>
          <p:nvPr/>
        </p:nvSpPr>
        <p:spPr>
          <a:xfrm>
            <a:off x="1485662" y="4027057"/>
            <a:ext cx="90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Nausées</a:t>
            </a:r>
          </a:p>
        </p:txBody>
      </p:sp>
      <p:cxnSp>
        <p:nvCxnSpPr>
          <p:cNvPr id="129" name="Connecteur droit 128"/>
          <p:cNvCxnSpPr/>
          <p:nvPr/>
        </p:nvCxnSpPr>
        <p:spPr>
          <a:xfrm flipH="1" flipV="1">
            <a:off x="1449366" y="5459326"/>
            <a:ext cx="10440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0" name="Connecteur droit 129"/>
          <p:cNvCxnSpPr/>
          <p:nvPr/>
        </p:nvCxnSpPr>
        <p:spPr>
          <a:xfrm flipH="1" flipV="1">
            <a:off x="1485366" y="4016769"/>
            <a:ext cx="1040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" name="Rectangle 3"/>
          <p:cNvSpPr/>
          <p:nvPr/>
        </p:nvSpPr>
        <p:spPr>
          <a:xfrm>
            <a:off x="1498511" y="5471502"/>
            <a:ext cx="88715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Douleurs</a:t>
            </a:r>
          </a:p>
        </p:txBody>
      </p:sp>
      <p:cxnSp>
        <p:nvCxnSpPr>
          <p:cNvPr id="116" name="Connecteur droit 115"/>
          <p:cNvCxnSpPr/>
          <p:nvPr/>
        </p:nvCxnSpPr>
        <p:spPr>
          <a:xfrm flipH="1" flipV="1">
            <a:off x="1496097" y="4722967"/>
            <a:ext cx="1040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1" name="Ellipse 130"/>
          <p:cNvSpPr/>
          <p:nvPr/>
        </p:nvSpPr>
        <p:spPr>
          <a:xfrm>
            <a:off x="3542079" y="4970378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32" name="Rectangle 131"/>
          <p:cNvSpPr/>
          <p:nvPr/>
        </p:nvSpPr>
        <p:spPr>
          <a:xfrm>
            <a:off x="10719194" y="4933670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3" name="Ellipse 132"/>
          <p:cNvSpPr/>
          <p:nvPr/>
        </p:nvSpPr>
        <p:spPr>
          <a:xfrm>
            <a:off x="10520288" y="4981103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34" name="Rectangle 133"/>
          <p:cNvSpPr/>
          <p:nvPr/>
        </p:nvSpPr>
        <p:spPr>
          <a:xfrm>
            <a:off x="3734049" y="4916258"/>
            <a:ext cx="504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Oui</a:t>
            </a:r>
            <a:endParaRPr lang="fr-FR" sz="1400" dirty="0"/>
          </a:p>
        </p:txBody>
      </p:sp>
      <p:sp>
        <p:nvSpPr>
          <p:cNvPr id="135" name="Ellipse 134"/>
          <p:cNvSpPr/>
          <p:nvPr/>
        </p:nvSpPr>
        <p:spPr>
          <a:xfrm>
            <a:off x="8910416" y="5019749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36" name="Rectangle 135"/>
          <p:cNvSpPr/>
          <p:nvPr/>
        </p:nvSpPr>
        <p:spPr>
          <a:xfrm>
            <a:off x="9115265" y="4978508"/>
            <a:ext cx="82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Non</a:t>
            </a:r>
            <a:endParaRPr lang="fr-FR" sz="1400" dirty="0"/>
          </a:p>
        </p:txBody>
      </p:sp>
      <p:sp>
        <p:nvSpPr>
          <p:cNvPr id="150" name="Rectangle 149"/>
          <p:cNvSpPr/>
          <p:nvPr/>
        </p:nvSpPr>
        <p:spPr>
          <a:xfrm>
            <a:off x="4235536" y="4844877"/>
            <a:ext cx="4276948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51" name="Rectangle 150"/>
          <p:cNvSpPr/>
          <p:nvPr/>
        </p:nvSpPr>
        <p:spPr>
          <a:xfrm>
            <a:off x="5182788" y="3583222"/>
            <a:ext cx="70174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Matité</a:t>
            </a:r>
          </a:p>
        </p:txBody>
      </p:sp>
      <p:sp>
        <p:nvSpPr>
          <p:cNvPr id="152" name="Ellipse 151"/>
          <p:cNvSpPr/>
          <p:nvPr/>
        </p:nvSpPr>
        <p:spPr>
          <a:xfrm>
            <a:off x="3529192" y="3515072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53" name="Rectangle 152"/>
          <p:cNvSpPr/>
          <p:nvPr/>
        </p:nvSpPr>
        <p:spPr>
          <a:xfrm>
            <a:off x="3734040" y="3460952"/>
            <a:ext cx="72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Absent</a:t>
            </a:r>
          </a:p>
        </p:txBody>
      </p:sp>
      <p:sp>
        <p:nvSpPr>
          <p:cNvPr id="155" name="Ellipse 154"/>
          <p:cNvSpPr/>
          <p:nvPr/>
        </p:nvSpPr>
        <p:spPr>
          <a:xfrm>
            <a:off x="4995240" y="3628835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61" name="Rectangle 160"/>
          <p:cNvSpPr/>
          <p:nvPr/>
        </p:nvSpPr>
        <p:spPr>
          <a:xfrm>
            <a:off x="6223493" y="3197826"/>
            <a:ext cx="4184509" cy="718662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62" name="Rectangle 161"/>
          <p:cNvSpPr/>
          <p:nvPr/>
        </p:nvSpPr>
        <p:spPr>
          <a:xfrm>
            <a:off x="5129129" y="3117431"/>
            <a:ext cx="121223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Tympanisme</a:t>
            </a:r>
            <a:endParaRPr lang="fr-FR" sz="1400" dirty="0"/>
          </a:p>
        </p:txBody>
      </p:sp>
      <p:sp>
        <p:nvSpPr>
          <p:cNvPr id="165" name="Ellipse 164"/>
          <p:cNvSpPr/>
          <p:nvPr/>
        </p:nvSpPr>
        <p:spPr>
          <a:xfrm>
            <a:off x="4941582" y="3163044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68" name="Ellipse 167"/>
          <p:cNvSpPr/>
          <p:nvPr/>
        </p:nvSpPr>
        <p:spPr>
          <a:xfrm>
            <a:off x="3527059" y="4247019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69" name="Rectangle 168"/>
          <p:cNvSpPr/>
          <p:nvPr/>
        </p:nvSpPr>
        <p:spPr>
          <a:xfrm>
            <a:off x="10729932" y="4210318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1" name="Ellipse 170"/>
          <p:cNvSpPr/>
          <p:nvPr/>
        </p:nvSpPr>
        <p:spPr>
          <a:xfrm>
            <a:off x="10531026" y="4257751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72" name="Rectangle 171"/>
          <p:cNvSpPr/>
          <p:nvPr/>
        </p:nvSpPr>
        <p:spPr>
          <a:xfrm>
            <a:off x="3719029" y="4192899"/>
            <a:ext cx="504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Oui</a:t>
            </a:r>
            <a:endParaRPr lang="fr-FR" sz="1400" dirty="0"/>
          </a:p>
        </p:txBody>
      </p:sp>
      <p:sp>
        <p:nvSpPr>
          <p:cNvPr id="173" name="Ellipse 172"/>
          <p:cNvSpPr/>
          <p:nvPr/>
        </p:nvSpPr>
        <p:spPr>
          <a:xfrm>
            <a:off x="8895396" y="4296390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75" name="Rectangle 174"/>
          <p:cNvSpPr/>
          <p:nvPr/>
        </p:nvSpPr>
        <p:spPr>
          <a:xfrm>
            <a:off x="9100245" y="4255149"/>
            <a:ext cx="82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Non</a:t>
            </a:r>
            <a:endParaRPr lang="fr-FR" sz="1400" dirty="0"/>
          </a:p>
        </p:txBody>
      </p:sp>
      <p:sp>
        <p:nvSpPr>
          <p:cNvPr id="176" name="Rectangle 175"/>
          <p:cNvSpPr/>
          <p:nvPr/>
        </p:nvSpPr>
        <p:spPr>
          <a:xfrm>
            <a:off x="4220516" y="4121518"/>
            <a:ext cx="4276948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79" name="Ellipse 178"/>
          <p:cNvSpPr/>
          <p:nvPr/>
        </p:nvSpPr>
        <p:spPr>
          <a:xfrm>
            <a:off x="3524911" y="5713069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80" name="Rectangle 179"/>
          <p:cNvSpPr/>
          <p:nvPr/>
        </p:nvSpPr>
        <p:spPr>
          <a:xfrm>
            <a:off x="10727784" y="5676368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1" name="Ellipse 180"/>
          <p:cNvSpPr/>
          <p:nvPr/>
        </p:nvSpPr>
        <p:spPr>
          <a:xfrm>
            <a:off x="10528878" y="5723801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83" name="Rectangle 182"/>
          <p:cNvSpPr/>
          <p:nvPr/>
        </p:nvSpPr>
        <p:spPr>
          <a:xfrm>
            <a:off x="3716881" y="5658949"/>
            <a:ext cx="504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Oui</a:t>
            </a:r>
            <a:endParaRPr lang="fr-FR" sz="1400" dirty="0"/>
          </a:p>
        </p:txBody>
      </p:sp>
      <p:sp>
        <p:nvSpPr>
          <p:cNvPr id="184" name="Ellipse 183"/>
          <p:cNvSpPr/>
          <p:nvPr/>
        </p:nvSpPr>
        <p:spPr>
          <a:xfrm>
            <a:off x="8893248" y="5762440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85" name="Rectangle 184"/>
          <p:cNvSpPr/>
          <p:nvPr/>
        </p:nvSpPr>
        <p:spPr>
          <a:xfrm>
            <a:off x="9098097" y="5721199"/>
            <a:ext cx="82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Non</a:t>
            </a:r>
            <a:endParaRPr lang="fr-FR" sz="1400" dirty="0"/>
          </a:p>
        </p:txBody>
      </p:sp>
      <p:sp>
        <p:nvSpPr>
          <p:cNvPr id="186" name="Rectangle 185"/>
          <p:cNvSpPr/>
          <p:nvPr/>
        </p:nvSpPr>
        <p:spPr>
          <a:xfrm>
            <a:off x="4218368" y="5587568"/>
            <a:ext cx="4276948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290099201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35 – Observations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Examens cliniques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/ Abdomen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70471" y="561853"/>
            <a:ext cx="11952000" cy="619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-373722" y="643898"/>
            <a:ext cx="1728000" cy="3262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600" b="1" u="sng" dirty="0">
                <a:solidFill>
                  <a:srgbClr val="FF0000"/>
                </a:solidFill>
              </a:rPr>
              <a:t>Suite de l’écran </a:t>
            </a:r>
            <a:r>
              <a:rPr lang="fr-FR" sz="1600" b="1" u="sng" dirty="0" smtClean="0">
                <a:solidFill>
                  <a:srgbClr val="FF0000"/>
                </a:solidFill>
              </a:rPr>
              <a:t>35</a:t>
            </a:r>
            <a:endParaRPr lang="fr-FR" sz="1600" b="1" u="sng" dirty="0">
              <a:solidFill>
                <a:srgbClr val="FF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35654" y="937783"/>
            <a:ext cx="99899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b="1" u="sng" dirty="0" smtClean="0"/>
              <a:t>Inspection</a:t>
            </a:r>
            <a:endParaRPr lang="fr-FR" sz="1400" b="1" u="sng" dirty="0"/>
          </a:p>
        </p:txBody>
      </p:sp>
      <p:sp>
        <p:nvSpPr>
          <p:cNvPr id="18" name="Rectangle 17"/>
          <p:cNvSpPr/>
          <p:nvPr/>
        </p:nvSpPr>
        <p:spPr>
          <a:xfrm>
            <a:off x="5144154" y="1406690"/>
            <a:ext cx="114285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Eventration</a:t>
            </a:r>
            <a:endParaRPr lang="fr-FR" sz="1400" dirty="0"/>
          </a:p>
        </p:txBody>
      </p:sp>
      <p:sp>
        <p:nvSpPr>
          <p:cNvPr id="28" name="Rectangle 27"/>
          <p:cNvSpPr/>
          <p:nvPr/>
        </p:nvSpPr>
        <p:spPr>
          <a:xfrm>
            <a:off x="1222896" y="870706"/>
            <a:ext cx="10800000" cy="2664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9" name="Rectangle 28"/>
          <p:cNvSpPr/>
          <p:nvPr/>
        </p:nvSpPr>
        <p:spPr>
          <a:xfrm>
            <a:off x="1240961" y="961881"/>
            <a:ext cx="90008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 smtClean="0"/>
              <a:t>Forme</a:t>
            </a:r>
            <a:endParaRPr lang="fr-FR" sz="1400" b="1" dirty="0"/>
          </a:p>
        </p:txBody>
      </p:sp>
      <p:sp>
        <p:nvSpPr>
          <p:cNvPr id="40" name="Ellipse 39"/>
          <p:cNvSpPr/>
          <p:nvPr/>
        </p:nvSpPr>
        <p:spPr>
          <a:xfrm>
            <a:off x="8337697" y="3890801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41" name="Rectangle 40"/>
          <p:cNvSpPr/>
          <p:nvPr/>
        </p:nvSpPr>
        <p:spPr>
          <a:xfrm>
            <a:off x="10936235" y="1278756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8542546" y="3823802"/>
            <a:ext cx="82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Tubaire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396748" y="3796215"/>
            <a:ext cx="1224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49" name="Rectangle 48"/>
          <p:cNvSpPr/>
          <p:nvPr/>
        </p:nvSpPr>
        <p:spPr>
          <a:xfrm>
            <a:off x="9556771" y="3832445"/>
            <a:ext cx="108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Pleurétique</a:t>
            </a:r>
            <a:endParaRPr lang="fr-FR" sz="1400" b="1" dirty="0"/>
          </a:p>
        </p:txBody>
      </p:sp>
      <p:sp>
        <p:nvSpPr>
          <p:cNvPr id="51" name="Ellipse 50"/>
          <p:cNvSpPr/>
          <p:nvPr/>
        </p:nvSpPr>
        <p:spPr>
          <a:xfrm>
            <a:off x="9418468" y="3895035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54" name="Rectangle 53"/>
          <p:cNvSpPr/>
          <p:nvPr/>
        </p:nvSpPr>
        <p:spPr>
          <a:xfrm>
            <a:off x="10828307" y="3839343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5" name="Ellipse 54"/>
          <p:cNvSpPr/>
          <p:nvPr/>
        </p:nvSpPr>
        <p:spPr>
          <a:xfrm>
            <a:off x="10680171" y="3900028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58" name="Ellipse 57"/>
          <p:cNvSpPr/>
          <p:nvPr/>
        </p:nvSpPr>
        <p:spPr>
          <a:xfrm>
            <a:off x="3014036" y="1350678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60" name="Ellipse 59"/>
          <p:cNvSpPr/>
          <p:nvPr/>
        </p:nvSpPr>
        <p:spPr>
          <a:xfrm>
            <a:off x="10726351" y="1335645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61" name="Rectangle 60"/>
          <p:cNvSpPr/>
          <p:nvPr/>
        </p:nvSpPr>
        <p:spPr>
          <a:xfrm>
            <a:off x="3218884" y="1296558"/>
            <a:ext cx="72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Plat</a:t>
            </a:r>
            <a:endParaRPr lang="fr-FR" sz="1400" dirty="0"/>
          </a:p>
        </p:txBody>
      </p:sp>
      <p:sp>
        <p:nvSpPr>
          <p:cNvPr id="62" name="Ellipse 61"/>
          <p:cNvSpPr/>
          <p:nvPr/>
        </p:nvSpPr>
        <p:spPr>
          <a:xfrm>
            <a:off x="4956606" y="1452303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64" name="Rectangle 63"/>
          <p:cNvSpPr/>
          <p:nvPr/>
        </p:nvSpPr>
        <p:spPr>
          <a:xfrm>
            <a:off x="6371246" y="1033684"/>
            <a:ext cx="4152667" cy="71841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47" name="Rectangle 46"/>
          <p:cNvSpPr/>
          <p:nvPr/>
        </p:nvSpPr>
        <p:spPr>
          <a:xfrm>
            <a:off x="5129129" y="979541"/>
            <a:ext cx="121223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Ballonnement</a:t>
            </a:r>
            <a:endParaRPr lang="fr-FR" sz="1400" dirty="0"/>
          </a:p>
        </p:txBody>
      </p:sp>
      <p:sp>
        <p:nvSpPr>
          <p:cNvPr id="65" name="Ellipse 64"/>
          <p:cNvSpPr/>
          <p:nvPr/>
        </p:nvSpPr>
        <p:spPr>
          <a:xfrm>
            <a:off x="4941582" y="1025154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2" name="Rectangle 1"/>
          <p:cNvSpPr/>
          <p:nvPr/>
        </p:nvSpPr>
        <p:spPr>
          <a:xfrm>
            <a:off x="1246827" y="1847721"/>
            <a:ext cx="108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Cicatrices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234097" y="3635502"/>
            <a:ext cx="72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u="sng" dirty="0" smtClean="0"/>
              <a:t>Foie</a:t>
            </a:r>
            <a:endParaRPr lang="fr-FR" sz="1400" b="1" u="sng" dirty="0"/>
          </a:p>
        </p:txBody>
      </p:sp>
      <p:sp>
        <p:nvSpPr>
          <p:cNvPr id="72" name="Rectangle 71"/>
          <p:cNvSpPr/>
          <p:nvPr/>
        </p:nvSpPr>
        <p:spPr>
          <a:xfrm>
            <a:off x="1709914" y="3841074"/>
            <a:ext cx="3773208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Taille en cm sur la ligne médio-claviculaire droite	</a:t>
            </a:r>
          </a:p>
        </p:txBody>
      </p:sp>
      <p:sp>
        <p:nvSpPr>
          <p:cNvPr id="4" name="Rectangle 3"/>
          <p:cNvSpPr/>
          <p:nvPr/>
        </p:nvSpPr>
        <p:spPr>
          <a:xfrm>
            <a:off x="1232582" y="2492979"/>
            <a:ext cx="82675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Ombilic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736493" y="3802195"/>
            <a:ext cx="1599343" cy="324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Débord </a:t>
            </a:r>
            <a:r>
              <a:rPr lang="fr-FR" sz="1400" b="1" dirty="0" smtClean="0"/>
              <a:t>xiphoïdien</a:t>
            </a:r>
            <a:endParaRPr lang="fr-FR" sz="1400" b="1" dirty="0"/>
          </a:p>
        </p:txBody>
      </p:sp>
      <p:cxnSp>
        <p:nvCxnSpPr>
          <p:cNvPr id="6" name="Connecteur droit 5"/>
          <p:cNvCxnSpPr/>
          <p:nvPr/>
        </p:nvCxnSpPr>
        <p:spPr>
          <a:xfrm>
            <a:off x="1220748" y="3008203"/>
            <a:ext cx="10810731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Rectangle 112"/>
          <p:cNvSpPr/>
          <p:nvPr/>
        </p:nvSpPr>
        <p:spPr>
          <a:xfrm>
            <a:off x="3744211" y="4870997"/>
            <a:ext cx="4824000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cxnSp>
        <p:nvCxnSpPr>
          <p:cNvPr id="114" name="Connecteur droit 113"/>
          <p:cNvCxnSpPr/>
          <p:nvPr/>
        </p:nvCxnSpPr>
        <p:spPr>
          <a:xfrm>
            <a:off x="1227183" y="1842645"/>
            <a:ext cx="10810731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8" name="Rectangle 117"/>
          <p:cNvSpPr/>
          <p:nvPr/>
        </p:nvSpPr>
        <p:spPr>
          <a:xfrm>
            <a:off x="10893715" y="1988211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9" name="Ellipse 118"/>
          <p:cNvSpPr/>
          <p:nvPr/>
        </p:nvSpPr>
        <p:spPr>
          <a:xfrm>
            <a:off x="10772083" y="2048523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20" name="Ellipse 119"/>
          <p:cNvSpPr/>
          <p:nvPr/>
        </p:nvSpPr>
        <p:spPr>
          <a:xfrm>
            <a:off x="3009755" y="2080454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21" name="Rectangle 120"/>
          <p:cNvSpPr/>
          <p:nvPr/>
        </p:nvSpPr>
        <p:spPr>
          <a:xfrm>
            <a:off x="3214604" y="2026333"/>
            <a:ext cx="82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Oui</a:t>
            </a:r>
            <a:endParaRPr lang="fr-FR" sz="1400" dirty="0"/>
          </a:p>
        </p:txBody>
      </p:sp>
      <p:sp>
        <p:nvSpPr>
          <p:cNvPr id="122" name="Rectangle 121"/>
          <p:cNvSpPr/>
          <p:nvPr/>
        </p:nvSpPr>
        <p:spPr>
          <a:xfrm>
            <a:off x="4048492" y="1903516"/>
            <a:ext cx="3479412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23" name="Rectangle 122"/>
          <p:cNvSpPr/>
          <p:nvPr/>
        </p:nvSpPr>
        <p:spPr>
          <a:xfrm>
            <a:off x="8146793" y="2020401"/>
            <a:ext cx="72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Non</a:t>
            </a:r>
            <a:endParaRPr lang="fr-FR" sz="1400" b="1" dirty="0"/>
          </a:p>
        </p:txBody>
      </p:sp>
      <p:sp>
        <p:nvSpPr>
          <p:cNvPr id="124" name="Ellipse 123"/>
          <p:cNvSpPr/>
          <p:nvPr/>
        </p:nvSpPr>
        <p:spPr>
          <a:xfrm>
            <a:off x="7942230" y="2095871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cxnSp>
        <p:nvCxnSpPr>
          <p:cNvPr id="127" name="Connecteur droit 126"/>
          <p:cNvCxnSpPr/>
          <p:nvPr/>
        </p:nvCxnSpPr>
        <p:spPr>
          <a:xfrm>
            <a:off x="1218600" y="2490885"/>
            <a:ext cx="10810731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Rectangle 127"/>
          <p:cNvSpPr/>
          <p:nvPr/>
        </p:nvSpPr>
        <p:spPr>
          <a:xfrm>
            <a:off x="225530" y="6364010"/>
            <a:ext cx="1008000" cy="3262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600" b="1" u="sng" dirty="0">
                <a:solidFill>
                  <a:srgbClr val="FF0000"/>
                </a:solidFill>
              </a:rPr>
              <a:t>À suivre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352373" y="564556"/>
            <a:ext cx="7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HDM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090803" y="571184"/>
            <a:ext cx="828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Général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928075" y="574172"/>
            <a:ext cx="16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Cervico-céphalique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557087" y="566789"/>
            <a:ext cx="7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Thorax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299531" y="571184"/>
            <a:ext cx="972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Abdomen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278281" y="574738"/>
            <a:ext cx="79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Pelvien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080104" y="567385"/>
            <a:ext cx="97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Vasculaire</a:t>
            </a:r>
            <a:endParaRPr lang="fr-FR" sz="1400" dirty="0"/>
          </a:p>
        </p:txBody>
      </p:sp>
      <p:sp>
        <p:nvSpPr>
          <p:cNvPr id="103" name="Rectangle 102"/>
          <p:cNvSpPr/>
          <p:nvPr/>
        </p:nvSpPr>
        <p:spPr>
          <a:xfrm>
            <a:off x="8066128" y="573627"/>
            <a:ext cx="126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Neurologique</a:t>
            </a:r>
            <a:endParaRPr lang="fr-FR" sz="1400" dirty="0"/>
          </a:p>
        </p:txBody>
      </p:sp>
      <p:sp>
        <p:nvSpPr>
          <p:cNvPr id="104" name="Rectangle 103"/>
          <p:cNvSpPr/>
          <p:nvPr/>
        </p:nvSpPr>
        <p:spPr>
          <a:xfrm>
            <a:off x="9342853" y="573551"/>
            <a:ext cx="1476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Osteo-articulaire</a:t>
            </a:r>
            <a:endParaRPr lang="fr-FR" sz="1400" dirty="0"/>
          </a:p>
        </p:txBody>
      </p:sp>
      <p:sp>
        <p:nvSpPr>
          <p:cNvPr id="105" name="Rectangle 104"/>
          <p:cNvSpPr/>
          <p:nvPr/>
        </p:nvSpPr>
        <p:spPr>
          <a:xfrm>
            <a:off x="10834387" y="573627"/>
            <a:ext cx="126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235475" y="3153442"/>
            <a:ext cx="342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Périmètre abdominal au niveau de l'ombilic	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4825755" y="3109507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17" name="Ellipse 116"/>
          <p:cNvSpPr/>
          <p:nvPr/>
        </p:nvSpPr>
        <p:spPr>
          <a:xfrm>
            <a:off x="9326427" y="2641521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25" name="Rectangle 124"/>
          <p:cNvSpPr/>
          <p:nvPr/>
        </p:nvSpPr>
        <p:spPr>
          <a:xfrm>
            <a:off x="10918814" y="2595413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6" name="Ellipse 125"/>
          <p:cNvSpPr/>
          <p:nvPr/>
        </p:nvSpPr>
        <p:spPr>
          <a:xfrm>
            <a:off x="10784303" y="2668604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29" name="Ellipse 128"/>
          <p:cNvSpPr/>
          <p:nvPr/>
        </p:nvSpPr>
        <p:spPr>
          <a:xfrm>
            <a:off x="4580313" y="2667281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30" name="Ellipse 129"/>
          <p:cNvSpPr/>
          <p:nvPr/>
        </p:nvSpPr>
        <p:spPr>
          <a:xfrm>
            <a:off x="6767455" y="2654402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31" name="Rectangle 130"/>
          <p:cNvSpPr/>
          <p:nvPr/>
        </p:nvSpPr>
        <p:spPr>
          <a:xfrm>
            <a:off x="4778260" y="2603056"/>
            <a:ext cx="108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Normal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2" name="Rectangle 131"/>
          <p:cNvSpPr/>
          <p:nvPr/>
        </p:nvSpPr>
        <p:spPr>
          <a:xfrm>
            <a:off x="6954314" y="2603056"/>
            <a:ext cx="108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Déplissé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9517217" y="2590226"/>
            <a:ext cx="82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Hernie</a:t>
            </a:r>
            <a:endParaRPr lang="fr-FR" sz="1400" dirty="0"/>
          </a:p>
        </p:txBody>
      </p:sp>
      <p:sp>
        <p:nvSpPr>
          <p:cNvPr id="10" name="Rectangle 9"/>
          <p:cNvSpPr/>
          <p:nvPr/>
        </p:nvSpPr>
        <p:spPr>
          <a:xfrm>
            <a:off x="321476" y="3641509"/>
            <a:ext cx="89280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b="1" u="sng" dirty="0"/>
              <a:t>Palpation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1220748" y="3611761"/>
            <a:ext cx="10800000" cy="3078491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5" name="Rectangle 134"/>
          <p:cNvSpPr/>
          <p:nvPr/>
        </p:nvSpPr>
        <p:spPr>
          <a:xfrm>
            <a:off x="6713785" y="3790668"/>
            <a:ext cx="5220000" cy="432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" name="Rectangle 10"/>
          <p:cNvSpPr/>
          <p:nvPr/>
        </p:nvSpPr>
        <p:spPr>
          <a:xfrm>
            <a:off x="1735823" y="4303823"/>
            <a:ext cx="1334468" cy="324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Face antérieure</a:t>
            </a:r>
          </a:p>
        </p:txBody>
      </p:sp>
      <p:sp>
        <p:nvSpPr>
          <p:cNvPr id="136" name="Ellipse 135"/>
          <p:cNvSpPr/>
          <p:nvPr/>
        </p:nvSpPr>
        <p:spPr>
          <a:xfrm>
            <a:off x="3175968" y="4440764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37" name="Rectangle 136"/>
          <p:cNvSpPr/>
          <p:nvPr/>
        </p:nvSpPr>
        <p:spPr>
          <a:xfrm>
            <a:off x="3407320" y="4373765"/>
            <a:ext cx="101422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Irrégulière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4673334" y="4382408"/>
            <a:ext cx="72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Lisse</a:t>
            </a:r>
            <a:endParaRPr lang="fr-FR" sz="1400" b="1" dirty="0"/>
          </a:p>
        </p:txBody>
      </p:sp>
      <p:sp>
        <p:nvSpPr>
          <p:cNvPr id="139" name="Ellipse 138"/>
          <p:cNvSpPr/>
          <p:nvPr/>
        </p:nvSpPr>
        <p:spPr>
          <a:xfrm>
            <a:off x="4442267" y="4444998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40" name="Rectangle 139"/>
          <p:cNvSpPr/>
          <p:nvPr/>
        </p:nvSpPr>
        <p:spPr>
          <a:xfrm>
            <a:off x="5560562" y="4349550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1" name="Ellipse 140"/>
          <p:cNvSpPr/>
          <p:nvPr/>
        </p:nvSpPr>
        <p:spPr>
          <a:xfrm>
            <a:off x="5425678" y="4436739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4" name="Rectangle 13"/>
          <p:cNvSpPr/>
          <p:nvPr/>
        </p:nvSpPr>
        <p:spPr>
          <a:xfrm>
            <a:off x="6750105" y="4331013"/>
            <a:ext cx="1221938" cy="324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Bord inférieur</a:t>
            </a:r>
          </a:p>
        </p:txBody>
      </p:sp>
      <p:sp>
        <p:nvSpPr>
          <p:cNvPr id="143" name="Ellipse 142"/>
          <p:cNvSpPr/>
          <p:nvPr/>
        </p:nvSpPr>
        <p:spPr>
          <a:xfrm>
            <a:off x="8350944" y="4434141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44" name="Rectangle 143"/>
          <p:cNvSpPr/>
          <p:nvPr/>
        </p:nvSpPr>
        <p:spPr>
          <a:xfrm>
            <a:off x="8502784" y="4353890"/>
            <a:ext cx="101422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Tranchant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9623024" y="4362533"/>
            <a:ext cx="85153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Mousse</a:t>
            </a:r>
            <a:endParaRPr lang="fr-FR" sz="1400" b="1" dirty="0"/>
          </a:p>
        </p:txBody>
      </p:sp>
      <p:sp>
        <p:nvSpPr>
          <p:cNvPr id="146" name="Ellipse 145"/>
          <p:cNvSpPr/>
          <p:nvPr/>
        </p:nvSpPr>
        <p:spPr>
          <a:xfrm>
            <a:off x="9497974" y="4425123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47" name="Rectangle 146"/>
          <p:cNvSpPr/>
          <p:nvPr/>
        </p:nvSpPr>
        <p:spPr>
          <a:xfrm>
            <a:off x="10788546" y="4369431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8" name="Ellipse 147"/>
          <p:cNvSpPr/>
          <p:nvPr/>
        </p:nvSpPr>
        <p:spPr>
          <a:xfrm>
            <a:off x="10666914" y="4416864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49" name="Rectangle 148"/>
          <p:cNvSpPr/>
          <p:nvPr/>
        </p:nvSpPr>
        <p:spPr>
          <a:xfrm>
            <a:off x="6733657" y="4314128"/>
            <a:ext cx="5220000" cy="432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0" name="Rectangle 149"/>
          <p:cNvSpPr/>
          <p:nvPr/>
        </p:nvSpPr>
        <p:spPr>
          <a:xfrm>
            <a:off x="1724333" y="4287624"/>
            <a:ext cx="4896000" cy="432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6" name="Rectangle 15"/>
          <p:cNvSpPr/>
          <p:nvPr/>
        </p:nvSpPr>
        <p:spPr>
          <a:xfrm>
            <a:off x="1761377" y="5523723"/>
            <a:ext cx="953531" cy="324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Sensibilité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1744210" y="5513449"/>
            <a:ext cx="4896000" cy="432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2" name="Ellipse 151"/>
          <p:cNvSpPr/>
          <p:nvPr/>
        </p:nvSpPr>
        <p:spPr>
          <a:xfrm>
            <a:off x="3222349" y="5626839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53" name="Rectangle 152"/>
          <p:cNvSpPr/>
          <p:nvPr/>
        </p:nvSpPr>
        <p:spPr>
          <a:xfrm>
            <a:off x="3427197" y="5559840"/>
            <a:ext cx="101422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Oui</a:t>
            </a:r>
            <a:endParaRPr lang="fr-FR" sz="1400" dirty="0"/>
          </a:p>
        </p:txBody>
      </p:sp>
      <p:sp>
        <p:nvSpPr>
          <p:cNvPr id="154" name="Rectangle 153"/>
          <p:cNvSpPr/>
          <p:nvPr/>
        </p:nvSpPr>
        <p:spPr>
          <a:xfrm>
            <a:off x="4693211" y="5541979"/>
            <a:ext cx="72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Non</a:t>
            </a:r>
            <a:endParaRPr lang="fr-FR" sz="1400" b="1" dirty="0"/>
          </a:p>
        </p:txBody>
      </p:sp>
      <p:sp>
        <p:nvSpPr>
          <p:cNvPr id="155" name="Ellipse 154"/>
          <p:cNvSpPr/>
          <p:nvPr/>
        </p:nvSpPr>
        <p:spPr>
          <a:xfrm>
            <a:off x="4488648" y="5631073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56" name="Rectangle 155"/>
          <p:cNvSpPr/>
          <p:nvPr/>
        </p:nvSpPr>
        <p:spPr>
          <a:xfrm>
            <a:off x="5580439" y="5548877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7" name="Ellipse 156"/>
          <p:cNvSpPr/>
          <p:nvPr/>
        </p:nvSpPr>
        <p:spPr>
          <a:xfrm>
            <a:off x="5445555" y="5622814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7" name="Rectangle 16"/>
          <p:cNvSpPr/>
          <p:nvPr/>
        </p:nvSpPr>
        <p:spPr>
          <a:xfrm>
            <a:off x="1756200" y="4808091"/>
            <a:ext cx="192418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Reflux hépato-jugulaire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1744209" y="4797830"/>
            <a:ext cx="6912000" cy="648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9" name="Rectangle 158"/>
          <p:cNvSpPr/>
          <p:nvPr/>
        </p:nvSpPr>
        <p:spPr>
          <a:xfrm>
            <a:off x="3744211" y="6083574"/>
            <a:ext cx="4836782" cy="46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60" name="Rectangle 159"/>
          <p:cNvSpPr/>
          <p:nvPr/>
        </p:nvSpPr>
        <p:spPr>
          <a:xfrm>
            <a:off x="1762827" y="6020668"/>
            <a:ext cx="192418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Vésicule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1750836" y="6010407"/>
            <a:ext cx="6912000" cy="612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6441888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35 – Observations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Examens cliniques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/ Abdomen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70471" y="561853"/>
            <a:ext cx="11952000" cy="619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-373722" y="643898"/>
            <a:ext cx="1728000" cy="3262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600" b="1" u="sng" dirty="0">
                <a:solidFill>
                  <a:srgbClr val="FF0000"/>
                </a:solidFill>
              </a:rPr>
              <a:t>Suite de l’écran </a:t>
            </a:r>
            <a:r>
              <a:rPr lang="fr-FR" sz="1600" b="1" u="sng" dirty="0" smtClean="0">
                <a:solidFill>
                  <a:srgbClr val="FF0000"/>
                </a:solidFill>
              </a:rPr>
              <a:t>35</a:t>
            </a:r>
            <a:endParaRPr lang="fr-FR" sz="1600" b="1" u="sng" dirty="0">
              <a:solidFill>
                <a:srgbClr val="FF0000"/>
              </a:solidFill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1352373" y="564556"/>
            <a:ext cx="7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HDM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090803" y="571184"/>
            <a:ext cx="828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Général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928075" y="574172"/>
            <a:ext cx="16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Cervico-céphalique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557087" y="566789"/>
            <a:ext cx="7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Thorax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299531" y="571184"/>
            <a:ext cx="972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Abdomen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278281" y="574738"/>
            <a:ext cx="79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Pelvien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080104" y="567385"/>
            <a:ext cx="97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Vasculaire</a:t>
            </a:r>
            <a:endParaRPr lang="fr-FR" sz="1400" dirty="0"/>
          </a:p>
        </p:txBody>
      </p:sp>
      <p:sp>
        <p:nvSpPr>
          <p:cNvPr id="103" name="Rectangle 102"/>
          <p:cNvSpPr/>
          <p:nvPr/>
        </p:nvSpPr>
        <p:spPr>
          <a:xfrm>
            <a:off x="8066128" y="573627"/>
            <a:ext cx="126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Neurologique</a:t>
            </a:r>
            <a:endParaRPr lang="fr-FR" sz="1400" dirty="0"/>
          </a:p>
        </p:txBody>
      </p:sp>
      <p:sp>
        <p:nvSpPr>
          <p:cNvPr id="104" name="Rectangle 103"/>
          <p:cNvSpPr/>
          <p:nvPr/>
        </p:nvSpPr>
        <p:spPr>
          <a:xfrm>
            <a:off x="9342853" y="573551"/>
            <a:ext cx="1476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Osteo-articulaire</a:t>
            </a:r>
            <a:endParaRPr lang="fr-FR" sz="1400" dirty="0"/>
          </a:p>
        </p:txBody>
      </p:sp>
      <p:sp>
        <p:nvSpPr>
          <p:cNvPr id="105" name="Rectangle 104"/>
          <p:cNvSpPr/>
          <p:nvPr/>
        </p:nvSpPr>
        <p:spPr>
          <a:xfrm>
            <a:off x="10834387" y="573627"/>
            <a:ext cx="126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Conclusion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5144151" y="1020317"/>
            <a:ext cx="179337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Matité abdominale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239207" y="998122"/>
            <a:ext cx="98232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b="1" u="sng" dirty="0"/>
              <a:t>Percussion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1220748" y="3948838"/>
            <a:ext cx="9432000" cy="2700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1" name="Ellipse 200"/>
          <p:cNvSpPr/>
          <p:nvPr/>
        </p:nvSpPr>
        <p:spPr>
          <a:xfrm>
            <a:off x="10739230" y="1452293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202" name="Rectangle 201"/>
          <p:cNvSpPr/>
          <p:nvPr/>
        </p:nvSpPr>
        <p:spPr>
          <a:xfrm>
            <a:off x="1235513" y="975240"/>
            <a:ext cx="180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Sonorité abdominale</a:t>
            </a:r>
          </a:p>
        </p:txBody>
      </p:sp>
      <p:sp>
        <p:nvSpPr>
          <p:cNvPr id="203" name="Ellipse 202"/>
          <p:cNvSpPr/>
          <p:nvPr/>
        </p:nvSpPr>
        <p:spPr>
          <a:xfrm>
            <a:off x="4956605" y="1516693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204" name="Rectangle 203"/>
          <p:cNvSpPr/>
          <p:nvPr/>
        </p:nvSpPr>
        <p:spPr>
          <a:xfrm>
            <a:off x="6748530" y="1096760"/>
            <a:ext cx="3775383" cy="720466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205" name="Rectangle 204"/>
          <p:cNvSpPr/>
          <p:nvPr/>
        </p:nvSpPr>
        <p:spPr>
          <a:xfrm>
            <a:off x="5167764" y="1456049"/>
            <a:ext cx="121223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Tympanisme</a:t>
            </a:r>
            <a:endParaRPr lang="fr-FR" sz="1400" dirty="0"/>
          </a:p>
        </p:txBody>
      </p:sp>
      <p:sp>
        <p:nvSpPr>
          <p:cNvPr id="206" name="Ellipse 205"/>
          <p:cNvSpPr/>
          <p:nvPr/>
        </p:nvSpPr>
        <p:spPr>
          <a:xfrm>
            <a:off x="4941582" y="1076661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208" name="Rectangle 207"/>
          <p:cNvSpPr/>
          <p:nvPr/>
        </p:nvSpPr>
        <p:spPr>
          <a:xfrm>
            <a:off x="177616" y="3980154"/>
            <a:ext cx="104400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b="1" u="sng" dirty="0" smtClean="0"/>
              <a:t>Auscultation</a:t>
            </a:r>
            <a:endParaRPr lang="fr-FR" sz="1400" b="1" u="sng" dirty="0"/>
          </a:p>
        </p:txBody>
      </p:sp>
      <p:sp>
        <p:nvSpPr>
          <p:cNvPr id="209" name="Rectangle 208"/>
          <p:cNvSpPr/>
          <p:nvPr/>
        </p:nvSpPr>
        <p:spPr>
          <a:xfrm>
            <a:off x="1246827" y="1899983"/>
            <a:ext cx="162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Matité </a:t>
            </a:r>
            <a:r>
              <a:rPr lang="fr-FR" sz="1400" b="1" dirty="0" smtClean="0"/>
              <a:t>hépatique</a:t>
            </a:r>
            <a:endParaRPr lang="fr-FR" sz="1400" b="1" dirty="0"/>
          </a:p>
        </p:txBody>
      </p:sp>
      <p:sp>
        <p:nvSpPr>
          <p:cNvPr id="210" name="Rectangle 209"/>
          <p:cNvSpPr/>
          <p:nvPr/>
        </p:nvSpPr>
        <p:spPr>
          <a:xfrm>
            <a:off x="1246976" y="2581662"/>
            <a:ext cx="162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Matité </a:t>
            </a:r>
            <a:r>
              <a:rPr lang="fr-FR" sz="1400" b="1" dirty="0" smtClean="0"/>
              <a:t>splénique</a:t>
            </a:r>
            <a:endParaRPr lang="fr-FR" sz="1400" b="1" dirty="0"/>
          </a:p>
        </p:txBody>
      </p:sp>
      <p:sp>
        <p:nvSpPr>
          <p:cNvPr id="211" name="Rectangle 210"/>
          <p:cNvSpPr/>
          <p:nvPr/>
        </p:nvSpPr>
        <p:spPr>
          <a:xfrm>
            <a:off x="1231479" y="1010317"/>
            <a:ext cx="10800000" cy="2880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20" name="Rectangle 219"/>
          <p:cNvSpPr/>
          <p:nvPr/>
        </p:nvSpPr>
        <p:spPr>
          <a:xfrm>
            <a:off x="3151507" y="2633723"/>
            <a:ext cx="4392000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221" name="Rectangle 220"/>
          <p:cNvSpPr/>
          <p:nvPr/>
        </p:nvSpPr>
        <p:spPr>
          <a:xfrm>
            <a:off x="3136483" y="2000511"/>
            <a:ext cx="4392000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222" name="Rectangle 221"/>
          <p:cNvSpPr/>
          <p:nvPr/>
        </p:nvSpPr>
        <p:spPr>
          <a:xfrm>
            <a:off x="1245615" y="3214456"/>
            <a:ext cx="174227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Région </a:t>
            </a:r>
            <a:r>
              <a:rPr lang="fr-FR" sz="1400" b="1" dirty="0" smtClean="0"/>
              <a:t>sus-pubienne</a:t>
            </a:r>
            <a:endParaRPr lang="fr-FR" sz="1400" b="1" dirty="0"/>
          </a:p>
        </p:txBody>
      </p:sp>
      <p:sp>
        <p:nvSpPr>
          <p:cNvPr id="223" name="Rectangle 222"/>
          <p:cNvSpPr/>
          <p:nvPr/>
        </p:nvSpPr>
        <p:spPr>
          <a:xfrm>
            <a:off x="2203147" y="3494291"/>
            <a:ext cx="193965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Matité du globe vésical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4148217" y="3290529"/>
            <a:ext cx="3384000" cy="54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cxnSp>
        <p:nvCxnSpPr>
          <p:cNvPr id="228" name="Connecteur droit 227"/>
          <p:cNvCxnSpPr/>
          <p:nvPr/>
        </p:nvCxnSpPr>
        <p:spPr>
          <a:xfrm>
            <a:off x="1218600" y="2568904"/>
            <a:ext cx="10810731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29" name="Connecteur droit 228"/>
          <p:cNvCxnSpPr/>
          <p:nvPr/>
        </p:nvCxnSpPr>
        <p:spPr>
          <a:xfrm>
            <a:off x="1229331" y="3210697"/>
            <a:ext cx="10810731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30" name="Rectangle 229"/>
          <p:cNvSpPr/>
          <p:nvPr/>
        </p:nvSpPr>
        <p:spPr>
          <a:xfrm>
            <a:off x="1235077" y="3968663"/>
            <a:ext cx="180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Bruits </a:t>
            </a:r>
            <a:r>
              <a:rPr lang="fr-FR" sz="1400" b="1" dirty="0" smtClean="0"/>
              <a:t>hydro-aériques</a:t>
            </a:r>
            <a:endParaRPr lang="fr-FR" sz="1400" b="1" dirty="0"/>
          </a:p>
        </p:txBody>
      </p:sp>
      <p:sp>
        <p:nvSpPr>
          <p:cNvPr id="232" name="Rectangle 231"/>
          <p:cNvSpPr/>
          <p:nvPr/>
        </p:nvSpPr>
        <p:spPr>
          <a:xfrm>
            <a:off x="9569342" y="4141875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3" name="Ellipse 232"/>
          <p:cNvSpPr/>
          <p:nvPr/>
        </p:nvSpPr>
        <p:spPr>
          <a:xfrm>
            <a:off x="9357557" y="4215066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234" name="Ellipse 233"/>
          <p:cNvSpPr/>
          <p:nvPr/>
        </p:nvSpPr>
        <p:spPr>
          <a:xfrm>
            <a:off x="3359631" y="4208361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235" name="Rectangle 234"/>
          <p:cNvSpPr/>
          <p:nvPr/>
        </p:nvSpPr>
        <p:spPr>
          <a:xfrm>
            <a:off x="3564480" y="4154240"/>
            <a:ext cx="54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Oui</a:t>
            </a:r>
            <a:endParaRPr lang="fr-FR" sz="1400" dirty="0"/>
          </a:p>
        </p:txBody>
      </p:sp>
      <p:sp>
        <p:nvSpPr>
          <p:cNvPr id="237" name="Rectangle 236"/>
          <p:cNvSpPr/>
          <p:nvPr/>
        </p:nvSpPr>
        <p:spPr>
          <a:xfrm>
            <a:off x="8112729" y="4150002"/>
            <a:ext cx="54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Non</a:t>
            </a:r>
            <a:endParaRPr lang="fr-FR" sz="1400" b="1" dirty="0"/>
          </a:p>
        </p:txBody>
      </p:sp>
      <p:sp>
        <p:nvSpPr>
          <p:cNvPr id="238" name="Ellipse 237"/>
          <p:cNvSpPr/>
          <p:nvPr/>
        </p:nvSpPr>
        <p:spPr>
          <a:xfrm>
            <a:off x="7908166" y="4225472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247" name="Rectangle 246"/>
          <p:cNvSpPr/>
          <p:nvPr/>
        </p:nvSpPr>
        <p:spPr>
          <a:xfrm>
            <a:off x="4122460" y="4054986"/>
            <a:ext cx="3528000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252" name="Ellipse 251"/>
          <p:cNvSpPr/>
          <p:nvPr/>
        </p:nvSpPr>
        <p:spPr>
          <a:xfrm>
            <a:off x="3097760" y="1460864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253" name="Rectangle 252"/>
          <p:cNvSpPr/>
          <p:nvPr/>
        </p:nvSpPr>
        <p:spPr>
          <a:xfrm>
            <a:off x="3302609" y="1406743"/>
            <a:ext cx="82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Normale</a:t>
            </a:r>
            <a:endParaRPr lang="fr-FR" sz="1400" dirty="0"/>
          </a:p>
        </p:txBody>
      </p:sp>
      <p:sp>
        <p:nvSpPr>
          <p:cNvPr id="254" name="Rectangle 253"/>
          <p:cNvSpPr/>
          <p:nvPr/>
        </p:nvSpPr>
        <p:spPr>
          <a:xfrm>
            <a:off x="10936038" y="1393882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5" name="Rectangle 254"/>
          <p:cNvSpPr/>
          <p:nvPr/>
        </p:nvSpPr>
        <p:spPr>
          <a:xfrm>
            <a:off x="1400016" y="4811218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6" name="Rectangle 255"/>
          <p:cNvSpPr/>
          <p:nvPr/>
        </p:nvSpPr>
        <p:spPr>
          <a:xfrm>
            <a:off x="1599781" y="4760343"/>
            <a:ext cx="253082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Souffle systolique </a:t>
            </a:r>
            <a:r>
              <a:rPr lang="fr-FR" sz="1400" dirty="0" smtClean="0"/>
              <a:t>épigastrique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7" name="Rectangle 256"/>
          <p:cNvSpPr/>
          <p:nvPr/>
        </p:nvSpPr>
        <p:spPr>
          <a:xfrm>
            <a:off x="1384987" y="5581809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8" name="Rectangle 257"/>
          <p:cNvSpPr/>
          <p:nvPr/>
        </p:nvSpPr>
        <p:spPr>
          <a:xfrm>
            <a:off x="1584752" y="5530934"/>
            <a:ext cx="1828150" cy="307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Hépatique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1372108" y="6380298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0" name="Rectangle 259"/>
          <p:cNvSpPr/>
          <p:nvPr/>
        </p:nvSpPr>
        <p:spPr>
          <a:xfrm>
            <a:off x="1571873" y="6329423"/>
            <a:ext cx="280694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Fosses lombaires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1" name="Rectangle 260"/>
          <p:cNvSpPr/>
          <p:nvPr/>
        </p:nvSpPr>
        <p:spPr>
          <a:xfrm>
            <a:off x="4102920" y="4736212"/>
            <a:ext cx="6120000" cy="54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262" name="Rectangle 261"/>
          <p:cNvSpPr/>
          <p:nvPr/>
        </p:nvSpPr>
        <p:spPr>
          <a:xfrm>
            <a:off x="4100772" y="5365131"/>
            <a:ext cx="6120000" cy="54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263" name="Rectangle 262"/>
          <p:cNvSpPr/>
          <p:nvPr/>
        </p:nvSpPr>
        <p:spPr>
          <a:xfrm>
            <a:off x="4087893" y="5996197"/>
            <a:ext cx="6120000" cy="54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cxnSp>
        <p:nvCxnSpPr>
          <p:cNvPr id="265" name="Connecteur droit 264"/>
          <p:cNvCxnSpPr/>
          <p:nvPr/>
        </p:nvCxnSpPr>
        <p:spPr>
          <a:xfrm>
            <a:off x="1229331" y="1897058"/>
            <a:ext cx="10810731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66" name="Rectangle 265"/>
          <p:cNvSpPr/>
          <p:nvPr/>
        </p:nvSpPr>
        <p:spPr>
          <a:xfrm>
            <a:off x="10988782" y="6341926"/>
            <a:ext cx="10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Valider</a:t>
            </a:r>
          </a:p>
        </p:txBody>
      </p:sp>
      <p:cxnSp>
        <p:nvCxnSpPr>
          <p:cNvPr id="267" name="Connecteur droit 266"/>
          <p:cNvCxnSpPr/>
          <p:nvPr/>
        </p:nvCxnSpPr>
        <p:spPr>
          <a:xfrm>
            <a:off x="1227183" y="4638105"/>
            <a:ext cx="9432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115980003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36 – Observations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Examens cliniques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/ Pelvien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09108" y="639127"/>
            <a:ext cx="11880000" cy="619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1964661" y="801870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355023" y="788765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182390" y="808277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152059" y="846896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326245" y="802172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7736488" y="853524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1914070" y="743010"/>
            <a:ext cx="9828000" cy="4643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1914071" y="1275386"/>
            <a:ext cx="9828000" cy="1260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345444" y="872648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434893" y="856230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099371" y="862271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7785158" y="881096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273503" y="649433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2825" y="1254980"/>
            <a:ext cx="157286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b="1" u="sng" dirty="0"/>
              <a:t>Examen clinique</a:t>
            </a:r>
          </a:p>
        </p:txBody>
      </p:sp>
      <p:sp>
        <p:nvSpPr>
          <p:cNvPr id="82" name="Titre 1"/>
          <p:cNvSpPr txBox="1">
            <a:spLocks/>
          </p:cNvSpPr>
          <p:nvPr/>
        </p:nvSpPr>
        <p:spPr>
          <a:xfrm>
            <a:off x="2119421" y="1677468"/>
            <a:ext cx="72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Type</a:t>
            </a:r>
            <a:endParaRPr lang="fr-FR" sz="1400" dirty="0"/>
          </a:p>
        </p:txBody>
      </p:sp>
      <p:sp>
        <p:nvSpPr>
          <p:cNvPr id="114" name="Rectangle 113"/>
          <p:cNvSpPr/>
          <p:nvPr/>
        </p:nvSpPr>
        <p:spPr>
          <a:xfrm>
            <a:off x="2836804" y="1713118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7" name="Titre 1"/>
          <p:cNvSpPr txBox="1">
            <a:spLocks/>
          </p:cNvSpPr>
          <p:nvPr/>
        </p:nvSpPr>
        <p:spPr>
          <a:xfrm>
            <a:off x="2132339" y="1294945"/>
            <a:ext cx="720000" cy="3837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</a:t>
            </a:r>
            <a:endParaRPr lang="fr-FR" sz="1400" dirty="0"/>
          </a:p>
        </p:txBody>
      </p:sp>
      <p:sp>
        <p:nvSpPr>
          <p:cNvPr id="118" name="Triangle isocèle 117"/>
          <p:cNvSpPr/>
          <p:nvPr/>
        </p:nvSpPr>
        <p:spPr>
          <a:xfrm rot="10800000">
            <a:off x="4434128" y="1727596"/>
            <a:ext cx="180000" cy="252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2" name="Rectangle 121"/>
          <p:cNvSpPr/>
          <p:nvPr/>
        </p:nvSpPr>
        <p:spPr>
          <a:xfrm>
            <a:off x="2096032" y="2187232"/>
            <a:ext cx="720000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Motif</a:t>
            </a:r>
            <a:endParaRPr lang="fr-FR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8" name="Rectangle 127"/>
          <p:cNvSpPr/>
          <p:nvPr/>
        </p:nvSpPr>
        <p:spPr>
          <a:xfrm>
            <a:off x="2817752" y="2055082"/>
            <a:ext cx="5724000" cy="432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8" name="Rectangle 147"/>
          <p:cNvSpPr/>
          <p:nvPr/>
        </p:nvSpPr>
        <p:spPr>
          <a:xfrm>
            <a:off x="2842138" y="1334104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4" name="Titre 1"/>
          <p:cNvSpPr txBox="1">
            <a:spLocks/>
          </p:cNvSpPr>
          <p:nvPr/>
        </p:nvSpPr>
        <p:spPr>
          <a:xfrm>
            <a:off x="5355022" y="1323987"/>
            <a:ext cx="1029803" cy="3626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Médecin</a:t>
            </a:r>
            <a:endParaRPr lang="fr-FR" sz="1400" dirty="0"/>
          </a:p>
        </p:txBody>
      </p:sp>
      <p:sp>
        <p:nvSpPr>
          <p:cNvPr id="55" name="Rectangle 54"/>
          <p:cNvSpPr/>
          <p:nvPr/>
        </p:nvSpPr>
        <p:spPr>
          <a:xfrm>
            <a:off x="6371722" y="1352392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6" name="Triangle isocèle 55"/>
          <p:cNvSpPr/>
          <p:nvPr/>
        </p:nvSpPr>
        <p:spPr>
          <a:xfrm rot="10800000">
            <a:off x="7988096" y="1366870"/>
            <a:ext cx="180000" cy="252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7" name="Titre 1"/>
          <p:cNvSpPr txBox="1">
            <a:spLocks/>
          </p:cNvSpPr>
          <p:nvPr/>
        </p:nvSpPr>
        <p:spPr>
          <a:xfrm>
            <a:off x="4723622" y="1630667"/>
            <a:ext cx="4023137" cy="4114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dirty="0" smtClean="0"/>
              <a:t>Type : </a:t>
            </a:r>
            <a:r>
              <a:rPr lang="fr-FR" sz="1400" dirty="0" smtClean="0"/>
              <a:t>Consultation, Hospitalisation, Prise en charge </a:t>
            </a:r>
            <a:endParaRPr lang="fr-FR" sz="1400" b="1" dirty="0"/>
          </a:p>
        </p:txBody>
      </p:sp>
      <p:sp>
        <p:nvSpPr>
          <p:cNvPr id="58" name="Rectangle 57"/>
          <p:cNvSpPr/>
          <p:nvPr/>
        </p:nvSpPr>
        <p:spPr>
          <a:xfrm>
            <a:off x="283416" y="2586543"/>
            <a:ext cx="7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HDM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137757" y="2593171"/>
            <a:ext cx="828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Général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090940" y="2582907"/>
            <a:ext cx="16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Cervico-céphalique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822984" y="2588776"/>
            <a:ext cx="7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Thorax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81339" y="2593171"/>
            <a:ext cx="97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Abdomen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776000" y="2583473"/>
            <a:ext cx="792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Pelvien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680855" y="2589372"/>
            <a:ext cx="97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Vasculaire</a:t>
            </a:r>
            <a:endParaRPr lang="fr-FR" sz="1400" dirty="0"/>
          </a:p>
        </p:txBody>
      </p:sp>
      <p:sp>
        <p:nvSpPr>
          <p:cNvPr id="67" name="Rectangle 66"/>
          <p:cNvSpPr/>
          <p:nvPr/>
        </p:nvSpPr>
        <p:spPr>
          <a:xfrm>
            <a:off x="7769911" y="2582362"/>
            <a:ext cx="126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Neurologique</a:t>
            </a:r>
            <a:endParaRPr lang="fr-FR" sz="1400" dirty="0"/>
          </a:p>
        </p:txBody>
      </p:sp>
      <p:sp>
        <p:nvSpPr>
          <p:cNvPr id="71" name="Rectangle 70"/>
          <p:cNvSpPr/>
          <p:nvPr/>
        </p:nvSpPr>
        <p:spPr>
          <a:xfrm>
            <a:off x="9149668" y="2582286"/>
            <a:ext cx="1476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Osteo-articulaire</a:t>
            </a:r>
            <a:endParaRPr lang="fr-FR" sz="1400" dirty="0"/>
          </a:p>
        </p:txBody>
      </p:sp>
      <p:sp>
        <p:nvSpPr>
          <p:cNvPr id="72" name="Rectangle 71"/>
          <p:cNvSpPr/>
          <p:nvPr/>
        </p:nvSpPr>
        <p:spPr>
          <a:xfrm>
            <a:off x="10731355" y="2582362"/>
            <a:ext cx="126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Conclusion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751491" y="3133391"/>
            <a:ext cx="195431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Brulures </a:t>
            </a:r>
            <a:r>
              <a:rPr lang="fr-FR" sz="1400" b="1" dirty="0" smtClean="0"/>
              <a:t>mictionnelles</a:t>
            </a:r>
            <a:endParaRPr lang="fr-FR" sz="1400" b="1" dirty="0"/>
          </a:p>
        </p:txBody>
      </p:sp>
      <p:sp>
        <p:nvSpPr>
          <p:cNvPr id="14" name="Rectangle 13"/>
          <p:cNvSpPr/>
          <p:nvPr/>
        </p:nvSpPr>
        <p:spPr>
          <a:xfrm>
            <a:off x="359845" y="3102977"/>
            <a:ext cx="1153957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400" b="1" u="sng" dirty="0"/>
              <a:t>Signes </a:t>
            </a:r>
            <a:r>
              <a:rPr lang="fr-FR" sz="1400" b="1" u="sng" dirty="0" smtClean="0"/>
              <a:t>fonctionnels</a:t>
            </a:r>
          </a:p>
          <a:p>
            <a:pPr algn="ctr"/>
            <a:r>
              <a:rPr lang="fr-FR" sz="1400" b="1" u="sng" dirty="0" smtClean="0">
                <a:solidFill>
                  <a:srgbClr val="FF0000"/>
                </a:solidFill>
              </a:rPr>
              <a:t>((si Femme))</a:t>
            </a:r>
            <a:endParaRPr lang="fr-FR" sz="1400" b="1" u="sng" dirty="0">
              <a:solidFill>
                <a:srgbClr val="FF0000"/>
              </a:solidFill>
            </a:endParaRPr>
          </a:p>
        </p:txBody>
      </p:sp>
      <p:sp>
        <p:nvSpPr>
          <p:cNvPr id="101" name="Rectangle 100"/>
          <p:cNvSpPr/>
          <p:nvPr/>
        </p:nvSpPr>
        <p:spPr>
          <a:xfrm>
            <a:off x="276305" y="2999003"/>
            <a:ext cx="11700000" cy="3780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4" name="Rectangle 153"/>
          <p:cNvSpPr/>
          <p:nvPr/>
        </p:nvSpPr>
        <p:spPr>
          <a:xfrm>
            <a:off x="1606075" y="3188479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6" name="Rectangle 165"/>
          <p:cNvSpPr/>
          <p:nvPr/>
        </p:nvSpPr>
        <p:spPr>
          <a:xfrm>
            <a:off x="1461756" y="3103149"/>
            <a:ext cx="10440000" cy="3420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2" name="Rectangle 181"/>
          <p:cNvSpPr/>
          <p:nvPr/>
        </p:nvSpPr>
        <p:spPr>
          <a:xfrm>
            <a:off x="302804" y="6364010"/>
            <a:ext cx="1080000" cy="3262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600" b="1" u="sng" dirty="0">
                <a:solidFill>
                  <a:srgbClr val="FF0000"/>
                </a:solidFill>
              </a:rPr>
              <a:t>À suivre</a:t>
            </a:r>
          </a:p>
        </p:txBody>
      </p:sp>
      <p:sp>
        <p:nvSpPr>
          <p:cNvPr id="131" name="Ellipse 130"/>
          <p:cNvSpPr/>
          <p:nvPr/>
        </p:nvSpPr>
        <p:spPr>
          <a:xfrm>
            <a:off x="3516321" y="3424910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32" name="Rectangle 131"/>
          <p:cNvSpPr/>
          <p:nvPr/>
        </p:nvSpPr>
        <p:spPr>
          <a:xfrm>
            <a:off x="3656774" y="3370790"/>
            <a:ext cx="89806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Présentes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4551710" y="3273874"/>
            <a:ext cx="2520000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34" name="Rectangle 133"/>
          <p:cNvSpPr/>
          <p:nvPr/>
        </p:nvSpPr>
        <p:spPr>
          <a:xfrm>
            <a:off x="8076250" y="3366554"/>
            <a:ext cx="90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Absentes</a:t>
            </a:r>
            <a:endParaRPr lang="fr-FR" sz="1400" b="1" dirty="0"/>
          </a:p>
        </p:txBody>
      </p:sp>
      <p:sp>
        <p:nvSpPr>
          <p:cNvPr id="135" name="Ellipse 134"/>
          <p:cNvSpPr/>
          <p:nvPr/>
        </p:nvSpPr>
        <p:spPr>
          <a:xfrm>
            <a:off x="7871687" y="3429144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50" name="Rectangle 149"/>
          <p:cNvSpPr/>
          <p:nvPr/>
        </p:nvSpPr>
        <p:spPr>
          <a:xfrm>
            <a:off x="10359242" y="3373452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1" name="Ellipse 150"/>
          <p:cNvSpPr/>
          <p:nvPr/>
        </p:nvSpPr>
        <p:spPr>
          <a:xfrm>
            <a:off x="10237610" y="3420885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52" name="Rectangle 151"/>
          <p:cNvSpPr/>
          <p:nvPr/>
        </p:nvSpPr>
        <p:spPr>
          <a:xfrm>
            <a:off x="1749343" y="3878224"/>
            <a:ext cx="82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 smtClean="0"/>
              <a:t>Dysurie</a:t>
            </a:r>
            <a:endParaRPr lang="fr-FR" sz="1400" b="1" dirty="0"/>
          </a:p>
        </p:txBody>
      </p:sp>
      <p:sp>
        <p:nvSpPr>
          <p:cNvPr id="153" name="Rectangle 152"/>
          <p:cNvSpPr/>
          <p:nvPr/>
        </p:nvSpPr>
        <p:spPr>
          <a:xfrm>
            <a:off x="1603927" y="3933312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5" name="Ellipse 154"/>
          <p:cNvSpPr/>
          <p:nvPr/>
        </p:nvSpPr>
        <p:spPr>
          <a:xfrm>
            <a:off x="3501294" y="4105348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61" name="Rectangle 160"/>
          <p:cNvSpPr/>
          <p:nvPr/>
        </p:nvSpPr>
        <p:spPr>
          <a:xfrm>
            <a:off x="3654627" y="4051228"/>
            <a:ext cx="82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Présente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4536683" y="3954312"/>
            <a:ext cx="2520000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65" name="Rectangle 164"/>
          <p:cNvSpPr/>
          <p:nvPr/>
        </p:nvSpPr>
        <p:spPr>
          <a:xfrm>
            <a:off x="8074102" y="4021235"/>
            <a:ext cx="82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Absente</a:t>
            </a:r>
            <a:endParaRPr lang="fr-FR" sz="1400" b="1" dirty="0"/>
          </a:p>
        </p:txBody>
      </p:sp>
      <p:sp>
        <p:nvSpPr>
          <p:cNvPr id="167" name="Ellipse 166"/>
          <p:cNvSpPr/>
          <p:nvPr/>
        </p:nvSpPr>
        <p:spPr>
          <a:xfrm>
            <a:off x="7869539" y="4083825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69" name="Rectangle 168"/>
          <p:cNvSpPr/>
          <p:nvPr/>
        </p:nvSpPr>
        <p:spPr>
          <a:xfrm>
            <a:off x="10357094" y="4028132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1" name="Ellipse 170"/>
          <p:cNvSpPr/>
          <p:nvPr/>
        </p:nvSpPr>
        <p:spPr>
          <a:xfrm>
            <a:off x="10235462" y="4075565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72" name="Rectangle 171"/>
          <p:cNvSpPr/>
          <p:nvPr/>
        </p:nvSpPr>
        <p:spPr>
          <a:xfrm>
            <a:off x="1747195" y="4571539"/>
            <a:ext cx="108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Pollakiurie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1601779" y="4626627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5" name="Ellipse 174"/>
          <p:cNvSpPr/>
          <p:nvPr/>
        </p:nvSpPr>
        <p:spPr>
          <a:xfrm>
            <a:off x="3499146" y="4811542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76" name="Rectangle 175"/>
          <p:cNvSpPr/>
          <p:nvPr/>
        </p:nvSpPr>
        <p:spPr>
          <a:xfrm>
            <a:off x="3652479" y="4757422"/>
            <a:ext cx="82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Présente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4534535" y="4660506"/>
            <a:ext cx="2520000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79" name="Rectangle 178"/>
          <p:cNvSpPr/>
          <p:nvPr/>
        </p:nvSpPr>
        <p:spPr>
          <a:xfrm>
            <a:off x="8071954" y="4727429"/>
            <a:ext cx="82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Absente</a:t>
            </a:r>
            <a:endParaRPr lang="fr-FR" sz="1400" b="1" dirty="0"/>
          </a:p>
        </p:txBody>
      </p:sp>
      <p:sp>
        <p:nvSpPr>
          <p:cNvPr id="180" name="Ellipse 179"/>
          <p:cNvSpPr/>
          <p:nvPr/>
        </p:nvSpPr>
        <p:spPr>
          <a:xfrm>
            <a:off x="7867391" y="4790019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83" name="Rectangle 182"/>
          <p:cNvSpPr/>
          <p:nvPr/>
        </p:nvSpPr>
        <p:spPr>
          <a:xfrm>
            <a:off x="10354946" y="4734326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4" name="Ellipse 183"/>
          <p:cNvSpPr/>
          <p:nvPr/>
        </p:nvSpPr>
        <p:spPr>
          <a:xfrm>
            <a:off x="10233314" y="4781759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85" name="Rectangle 184"/>
          <p:cNvSpPr/>
          <p:nvPr/>
        </p:nvSpPr>
        <p:spPr>
          <a:xfrm>
            <a:off x="1478884" y="5333530"/>
            <a:ext cx="1512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Toucher pelvien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1476736" y="5975331"/>
            <a:ext cx="1476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 smtClean="0"/>
              <a:t>Vessie</a:t>
            </a:r>
            <a:endParaRPr lang="fr-FR" sz="1400" b="1" dirty="0"/>
          </a:p>
        </p:txBody>
      </p:sp>
      <p:sp>
        <p:nvSpPr>
          <p:cNvPr id="193" name="Rectangle 192"/>
          <p:cNvSpPr/>
          <p:nvPr/>
        </p:nvSpPr>
        <p:spPr>
          <a:xfrm>
            <a:off x="2988349" y="5314506"/>
            <a:ext cx="3312000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94" name="Rectangle 193"/>
          <p:cNvSpPr/>
          <p:nvPr/>
        </p:nvSpPr>
        <p:spPr>
          <a:xfrm>
            <a:off x="6400337" y="5403114"/>
            <a:ext cx="154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Orifices </a:t>
            </a:r>
            <a:r>
              <a:rPr lang="fr-FR" sz="1400" b="1" dirty="0" smtClean="0"/>
              <a:t>herniaires</a:t>
            </a:r>
            <a:endParaRPr lang="fr-FR" sz="1400" b="1" dirty="0"/>
          </a:p>
        </p:txBody>
      </p:sp>
      <p:sp>
        <p:nvSpPr>
          <p:cNvPr id="198" name="Rectangle 197"/>
          <p:cNvSpPr/>
          <p:nvPr/>
        </p:nvSpPr>
        <p:spPr>
          <a:xfrm>
            <a:off x="2983990" y="5958387"/>
            <a:ext cx="3312000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99" name="Rectangle 198"/>
          <p:cNvSpPr/>
          <p:nvPr/>
        </p:nvSpPr>
        <p:spPr>
          <a:xfrm>
            <a:off x="6377520" y="6084619"/>
            <a:ext cx="154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Diurèse résiduelle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7944571" y="5311400"/>
            <a:ext cx="2786784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201" name="Rectangle 200"/>
          <p:cNvSpPr/>
          <p:nvPr/>
        </p:nvSpPr>
        <p:spPr>
          <a:xfrm>
            <a:off x="7940214" y="5969118"/>
            <a:ext cx="2791141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202" name="Rectangle 201"/>
          <p:cNvSpPr/>
          <p:nvPr/>
        </p:nvSpPr>
        <p:spPr>
          <a:xfrm>
            <a:off x="10792209" y="6409695"/>
            <a:ext cx="10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Valider</a:t>
            </a:r>
          </a:p>
        </p:txBody>
      </p:sp>
      <p:cxnSp>
        <p:nvCxnSpPr>
          <p:cNvPr id="10" name="Connecteur droit 9"/>
          <p:cNvCxnSpPr/>
          <p:nvPr/>
        </p:nvCxnSpPr>
        <p:spPr>
          <a:xfrm>
            <a:off x="1476736" y="3833115"/>
            <a:ext cx="10421853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3" name="Connecteur droit 202"/>
          <p:cNvCxnSpPr/>
          <p:nvPr/>
        </p:nvCxnSpPr>
        <p:spPr>
          <a:xfrm>
            <a:off x="1474588" y="4552187"/>
            <a:ext cx="10421853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4" name="Connecteur droit 203"/>
          <p:cNvCxnSpPr/>
          <p:nvPr/>
        </p:nvCxnSpPr>
        <p:spPr>
          <a:xfrm>
            <a:off x="1472440" y="5232622"/>
            <a:ext cx="10421853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5" name="Connecteur droit 204"/>
          <p:cNvCxnSpPr/>
          <p:nvPr/>
        </p:nvCxnSpPr>
        <p:spPr>
          <a:xfrm>
            <a:off x="1457413" y="5900175"/>
            <a:ext cx="10421853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" name="Connecteur droit 12"/>
          <p:cNvCxnSpPr/>
          <p:nvPr/>
        </p:nvCxnSpPr>
        <p:spPr>
          <a:xfrm>
            <a:off x="6384825" y="5245501"/>
            <a:ext cx="0" cy="126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373715211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36 – Observations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Examens cliniques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/ Pelvien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09108" y="639127"/>
            <a:ext cx="11880000" cy="619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83416" y="976679"/>
            <a:ext cx="7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HDM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137757" y="983307"/>
            <a:ext cx="828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Général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090940" y="973043"/>
            <a:ext cx="16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Cervico-céphalique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822984" y="978912"/>
            <a:ext cx="7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Thorax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81339" y="983307"/>
            <a:ext cx="97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Abdomen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776000" y="973609"/>
            <a:ext cx="792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Pelvien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680855" y="979508"/>
            <a:ext cx="97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Vasculaire</a:t>
            </a:r>
            <a:endParaRPr lang="fr-FR" sz="1400" dirty="0"/>
          </a:p>
        </p:txBody>
      </p:sp>
      <p:sp>
        <p:nvSpPr>
          <p:cNvPr id="67" name="Rectangle 66"/>
          <p:cNvSpPr/>
          <p:nvPr/>
        </p:nvSpPr>
        <p:spPr>
          <a:xfrm>
            <a:off x="7769911" y="972498"/>
            <a:ext cx="126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Neurologique</a:t>
            </a:r>
            <a:endParaRPr lang="fr-FR" sz="1400" dirty="0"/>
          </a:p>
        </p:txBody>
      </p:sp>
      <p:sp>
        <p:nvSpPr>
          <p:cNvPr id="71" name="Rectangle 70"/>
          <p:cNvSpPr/>
          <p:nvPr/>
        </p:nvSpPr>
        <p:spPr>
          <a:xfrm>
            <a:off x="9149668" y="972422"/>
            <a:ext cx="1476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Osteo-articulaire</a:t>
            </a:r>
            <a:endParaRPr lang="fr-FR" sz="1400" dirty="0"/>
          </a:p>
        </p:txBody>
      </p:sp>
      <p:sp>
        <p:nvSpPr>
          <p:cNvPr id="72" name="Rectangle 71"/>
          <p:cNvSpPr/>
          <p:nvPr/>
        </p:nvSpPr>
        <p:spPr>
          <a:xfrm>
            <a:off x="10731355" y="972498"/>
            <a:ext cx="126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Conclusion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712854" y="1523527"/>
            <a:ext cx="195431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Brulures </a:t>
            </a:r>
            <a:r>
              <a:rPr lang="fr-FR" sz="1400" b="1" dirty="0" smtClean="0"/>
              <a:t>mictionnelles</a:t>
            </a:r>
            <a:endParaRPr lang="fr-FR" sz="1400" b="1" dirty="0"/>
          </a:p>
        </p:txBody>
      </p:sp>
      <p:sp>
        <p:nvSpPr>
          <p:cNvPr id="14" name="Rectangle 13"/>
          <p:cNvSpPr/>
          <p:nvPr/>
        </p:nvSpPr>
        <p:spPr>
          <a:xfrm>
            <a:off x="359845" y="1493113"/>
            <a:ext cx="1153957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400" b="1" u="sng" dirty="0"/>
              <a:t>Signes </a:t>
            </a:r>
            <a:r>
              <a:rPr lang="fr-FR" sz="1400" b="1" u="sng" dirty="0" smtClean="0"/>
              <a:t>fonctionnels</a:t>
            </a:r>
          </a:p>
          <a:p>
            <a:pPr algn="ctr"/>
            <a:r>
              <a:rPr lang="fr-FR" sz="1400" b="1" u="sng" dirty="0" smtClean="0">
                <a:solidFill>
                  <a:srgbClr val="FF0000"/>
                </a:solidFill>
              </a:rPr>
              <a:t>((si Homme))</a:t>
            </a:r>
            <a:endParaRPr lang="fr-FR" sz="1400" b="1" u="sng" dirty="0">
              <a:solidFill>
                <a:srgbClr val="FF0000"/>
              </a:solidFill>
            </a:endParaRPr>
          </a:p>
        </p:txBody>
      </p:sp>
      <p:sp>
        <p:nvSpPr>
          <p:cNvPr id="101" name="Rectangle 100"/>
          <p:cNvSpPr/>
          <p:nvPr/>
        </p:nvSpPr>
        <p:spPr>
          <a:xfrm>
            <a:off x="276305" y="1389139"/>
            <a:ext cx="11700000" cy="5320754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4" name="Rectangle 153"/>
          <p:cNvSpPr/>
          <p:nvPr/>
        </p:nvSpPr>
        <p:spPr>
          <a:xfrm>
            <a:off x="1567438" y="1578615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6" name="Rectangle 165"/>
          <p:cNvSpPr/>
          <p:nvPr/>
        </p:nvSpPr>
        <p:spPr>
          <a:xfrm>
            <a:off x="1461756" y="1493284"/>
            <a:ext cx="10440000" cy="4752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1" name="Ellipse 130"/>
          <p:cNvSpPr/>
          <p:nvPr/>
        </p:nvSpPr>
        <p:spPr>
          <a:xfrm>
            <a:off x="3619352" y="1892320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32" name="Rectangle 131"/>
          <p:cNvSpPr/>
          <p:nvPr/>
        </p:nvSpPr>
        <p:spPr>
          <a:xfrm>
            <a:off x="3759805" y="1838200"/>
            <a:ext cx="89806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Présentes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4654741" y="1741284"/>
            <a:ext cx="2520000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34" name="Rectangle 133"/>
          <p:cNvSpPr/>
          <p:nvPr/>
        </p:nvSpPr>
        <p:spPr>
          <a:xfrm>
            <a:off x="8192157" y="1808206"/>
            <a:ext cx="90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Absentes</a:t>
            </a:r>
            <a:endParaRPr lang="fr-FR" sz="1400" b="1" dirty="0"/>
          </a:p>
        </p:txBody>
      </p:sp>
      <p:sp>
        <p:nvSpPr>
          <p:cNvPr id="135" name="Ellipse 134"/>
          <p:cNvSpPr/>
          <p:nvPr/>
        </p:nvSpPr>
        <p:spPr>
          <a:xfrm>
            <a:off x="7987594" y="1870796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50" name="Rectangle 149"/>
          <p:cNvSpPr/>
          <p:nvPr/>
        </p:nvSpPr>
        <p:spPr>
          <a:xfrm>
            <a:off x="10449398" y="1815104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1" name="Ellipse 150"/>
          <p:cNvSpPr/>
          <p:nvPr/>
        </p:nvSpPr>
        <p:spPr>
          <a:xfrm>
            <a:off x="10327766" y="1862537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52" name="Rectangle 151"/>
          <p:cNvSpPr/>
          <p:nvPr/>
        </p:nvSpPr>
        <p:spPr>
          <a:xfrm>
            <a:off x="1710706" y="2371392"/>
            <a:ext cx="82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 smtClean="0"/>
              <a:t>Dysurie</a:t>
            </a:r>
            <a:endParaRPr lang="fr-FR" sz="1400" b="1" dirty="0"/>
          </a:p>
        </p:txBody>
      </p:sp>
      <p:sp>
        <p:nvSpPr>
          <p:cNvPr id="153" name="Rectangle 152"/>
          <p:cNvSpPr/>
          <p:nvPr/>
        </p:nvSpPr>
        <p:spPr>
          <a:xfrm>
            <a:off x="1565290" y="2426480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5" name="Ellipse 154"/>
          <p:cNvSpPr/>
          <p:nvPr/>
        </p:nvSpPr>
        <p:spPr>
          <a:xfrm>
            <a:off x="3617204" y="2572758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61" name="Rectangle 160"/>
          <p:cNvSpPr/>
          <p:nvPr/>
        </p:nvSpPr>
        <p:spPr>
          <a:xfrm>
            <a:off x="3770537" y="2518638"/>
            <a:ext cx="82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Présente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4652593" y="2421722"/>
            <a:ext cx="2520000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65" name="Rectangle 164"/>
          <p:cNvSpPr/>
          <p:nvPr/>
        </p:nvSpPr>
        <p:spPr>
          <a:xfrm>
            <a:off x="8190009" y="2488645"/>
            <a:ext cx="82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Absente</a:t>
            </a:r>
            <a:endParaRPr lang="fr-FR" sz="1400" b="1" dirty="0"/>
          </a:p>
        </p:txBody>
      </p:sp>
      <p:sp>
        <p:nvSpPr>
          <p:cNvPr id="167" name="Ellipse 166"/>
          <p:cNvSpPr/>
          <p:nvPr/>
        </p:nvSpPr>
        <p:spPr>
          <a:xfrm>
            <a:off x="7985446" y="2551235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69" name="Rectangle 168"/>
          <p:cNvSpPr/>
          <p:nvPr/>
        </p:nvSpPr>
        <p:spPr>
          <a:xfrm>
            <a:off x="10447250" y="2495542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1" name="Ellipse 170"/>
          <p:cNvSpPr/>
          <p:nvPr/>
        </p:nvSpPr>
        <p:spPr>
          <a:xfrm>
            <a:off x="10325618" y="2542975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72" name="Rectangle 171"/>
          <p:cNvSpPr/>
          <p:nvPr/>
        </p:nvSpPr>
        <p:spPr>
          <a:xfrm>
            <a:off x="1708558" y="3038949"/>
            <a:ext cx="108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Pollakiurie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1563142" y="3094037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5" name="Ellipse 174"/>
          <p:cNvSpPr/>
          <p:nvPr/>
        </p:nvSpPr>
        <p:spPr>
          <a:xfrm>
            <a:off x="3615056" y="3253194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76" name="Rectangle 175"/>
          <p:cNvSpPr/>
          <p:nvPr/>
        </p:nvSpPr>
        <p:spPr>
          <a:xfrm>
            <a:off x="3768389" y="3199074"/>
            <a:ext cx="82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Présente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4650445" y="3102158"/>
            <a:ext cx="2520000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79" name="Rectangle 178"/>
          <p:cNvSpPr/>
          <p:nvPr/>
        </p:nvSpPr>
        <p:spPr>
          <a:xfrm>
            <a:off x="8187861" y="3194839"/>
            <a:ext cx="82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Absente</a:t>
            </a:r>
            <a:endParaRPr lang="fr-FR" sz="1400" b="1" dirty="0"/>
          </a:p>
        </p:txBody>
      </p:sp>
      <p:sp>
        <p:nvSpPr>
          <p:cNvPr id="180" name="Ellipse 179"/>
          <p:cNvSpPr/>
          <p:nvPr/>
        </p:nvSpPr>
        <p:spPr>
          <a:xfrm>
            <a:off x="7983298" y="3257429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83" name="Rectangle 182"/>
          <p:cNvSpPr/>
          <p:nvPr/>
        </p:nvSpPr>
        <p:spPr>
          <a:xfrm>
            <a:off x="10445102" y="3201736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4" name="Ellipse 183"/>
          <p:cNvSpPr/>
          <p:nvPr/>
        </p:nvSpPr>
        <p:spPr>
          <a:xfrm>
            <a:off x="10323470" y="3249169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85" name="Rectangle 184"/>
          <p:cNvSpPr/>
          <p:nvPr/>
        </p:nvSpPr>
        <p:spPr>
          <a:xfrm>
            <a:off x="1478884" y="4908520"/>
            <a:ext cx="82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 smtClean="0"/>
              <a:t>Pilosité</a:t>
            </a:r>
            <a:endParaRPr lang="fr-FR" sz="1400" b="1" dirty="0"/>
          </a:p>
        </p:txBody>
      </p:sp>
      <p:sp>
        <p:nvSpPr>
          <p:cNvPr id="189" name="Rectangle 188"/>
          <p:cNvSpPr/>
          <p:nvPr/>
        </p:nvSpPr>
        <p:spPr>
          <a:xfrm>
            <a:off x="1476736" y="5795023"/>
            <a:ext cx="1476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 smtClean="0"/>
              <a:t>Vessie</a:t>
            </a:r>
            <a:endParaRPr lang="fr-FR" sz="1400" b="1" dirty="0"/>
          </a:p>
        </p:txBody>
      </p:sp>
      <p:sp>
        <p:nvSpPr>
          <p:cNvPr id="193" name="Rectangle 192"/>
          <p:cNvSpPr/>
          <p:nvPr/>
        </p:nvSpPr>
        <p:spPr>
          <a:xfrm>
            <a:off x="3284565" y="5044043"/>
            <a:ext cx="3024000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94" name="Rectangle 193"/>
          <p:cNvSpPr/>
          <p:nvPr/>
        </p:nvSpPr>
        <p:spPr>
          <a:xfrm>
            <a:off x="6825338" y="5081137"/>
            <a:ext cx="154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Orifices </a:t>
            </a:r>
            <a:r>
              <a:rPr lang="fr-FR" sz="1400" b="1" dirty="0" smtClean="0"/>
              <a:t>herniaires</a:t>
            </a:r>
            <a:endParaRPr lang="fr-FR" sz="1400" b="1" dirty="0"/>
          </a:p>
        </p:txBody>
      </p:sp>
      <p:sp>
        <p:nvSpPr>
          <p:cNvPr id="198" name="Rectangle 197"/>
          <p:cNvSpPr/>
          <p:nvPr/>
        </p:nvSpPr>
        <p:spPr>
          <a:xfrm>
            <a:off x="3267328" y="5687926"/>
            <a:ext cx="3024000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99" name="Rectangle 198"/>
          <p:cNvSpPr/>
          <p:nvPr/>
        </p:nvSpPr>
        <p:spPr>
          <a:xfrm>
            <a:off x="6815403" y="5801279"/>
            <a:ext cx="154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Diurèse résiduelle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8382451" y="5015181"/>
            <a:ext cx="3240000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201" name="Rectangle 200"/>
          <p:cNvSpPr/>
          <p:nvPr/>
        </p:nvSpPr>
        <p:spPr>
          <a:xfrm>
            <a:off x="8378096" y="5698657"/>
            <a:ext cx="3240000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89" name="Rectangle 88"/>
          <p:cNvSpPr/>
          <p:nvPr/>
        </p:nvSpPr>
        <p:spPr>
          <a:xfrm>
            <a:off x="231585" y="656777"/>
            <a:ext cx="2053350" cy="3262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600" b="1" u="sng" dirty="0">
                <a:solidFill>
                  <a:srgbClr val="FF0000"/>
                </a:solidFill>
              </a:rPr>
              <a:t>Suite de l’écran </a:t>
            </a:r>
            <a:r>
              <a:rPr lang="fr-FR" sz="1600" b="1" u="sng" dirty="0" smtClean="0">
                <a:solidFill>
                  <a:srgbClr val="FF0000"/>
                </a:solidFill>
              </a:rPr>
              <a:t>36</a:t>
            </a:r>
            <a:endParaRPr lang="fr-FR" sz="1600" b="1" u="sng" dirty="0">
              <a:solidFill>
                <a:srgbClr val="FF000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495575" y="5094789"/>
            <a:ext cx="1512000" cy="46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Triangulaire à sommet supérieur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825594" y="6294905"/>
            <a:ext cx="10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Valider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1484564" y="3630619"/>
            <a:ext cx="123623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Toucher rectal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680381" y="3642954"/>
            <a:ext cx="83080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Testicule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295295" y="3779766"/>
            <a:ext cx="2988000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02" name="Rectangle 101"/>
          <p:cNvSpPr/>
          <p:nvPr/>
        </p:nvSpPr>
        <p:spPr>
          <a:xfrm>
            <a:off x="3290937" y="4359254"/>
            <a:ext cx="2988000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03" name="Rectangle 102"/>
          <p:cNvSpPr/>
          <p:nvPr/>
        </p:nvSpPr>
        <p:spPr>
          <a:xfrm>
            <a:off x="2382073" y="3894907"/>
            <a:ext cx="90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Prostate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929542" y="3815295"/>
            <a:ext cx="3672000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07" name="Rectangle 106"/>
          <p:cNvSpPr/>
          <p:nvPr/>
        </p:nvSpPr>
        <p:spPr>
          <a:xfrm>
            <a:off x="7938065" y="4369981"/>
            <a:ext cx="3672000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08" name="Rectangle 107"/>
          <p:cNvSpPr/>
          <p:nvPr/>
        </p:nvSpPr>
        <p:spPr>
          <a:xfrm>
            <a:off x="2209238" y="3946180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9" name="Rectangle 108"/>
          <p:cNvSpPr/>
          <p:nvPr/>
        </p:nvSpPr>
        <p:spPr>
          <a:xfrm>
            <a:off x="2392804" y="4433676"/>
            <a:ext cx="90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Rectum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219969" y="4484949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1" name="Rectangle 110"/>
          <p:cNvSpPr/>
          <p:nvPr/>
        </p:nvSpPr>
        <p:spPr>
          <a:xfrm>
            <a:off x="7029206" y="3905638"/>
            <a:ext cx="100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Epididyme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856371" y="3956911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3" name="Rectangle 112"/>
          <p:cNvSpPr/>
          <p:nvPr/>
        </p:nvSpPr>
        <p:spPr>
          <a:xfrm>
            <a:off x="7027058" y="4444407"/>
            <a:ext cx="90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Cordon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854223" y="4495680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6" name="Connecteur droit 5"/>
          <p:cNvCxnSpPr/>
          <p:nvPr/>
        </p:nvCxnSpPr>
        <p:spPr>
          <a:xfrm>
            <a:off x="1511626" y="2313404"/>
            <a:ext cx="10374084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Connecteur droit 115"/>
          <p:cNvCxnSpPr/>
          <p:nvPr/>
        </p:nvCxnSpPr>
        <p:spPr>
          <a:xfrm>
            <a:off x="1483720" y="3019598"/>
            <a:ext cx="10374084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9" name="Connecteur droit 118"/>
          <p:cNvCxnSpPr/>
          <p:nvPr/>
        </p:nvCxnSpPr>
        <p:spPr>
          <a:xfrm>
            <a:off x="1494451" y="3661395"/>
            <a:ext cx="10374084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0" name="Connecteur droit 119"/>
          <p:cNvCxnSpPr/>
          <p:nvPr/>
        </p:nvCxnSpPr>
        <p:spPr>
          <a:xfrm>
            <a:off x="1505182" y="4921379"/>
            <a:ext cx="10374084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1" name="Connecteur droit 120"/>
          <p:cNvCxnSpPr/>
          <p:nvPr/>
        </p:nvCxnSpPr>
        <p:spPr>
          <a:xfrm>
            <a:off x="1477276" y="5627570"/>
            <a:ext cx="10374084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3" name="Connecteur droit 122"/>
          <p:cNvCxnSpPr/>
          <p:nvPr/>
        </p:nvCxnSpPr>
        <p:spPr>
          <a:xfrm flipV="1">
            <a:off x="6593024" y="3655833"/>
            <a:ext cx="0" cy="2592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370543259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37 – Observations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Examens cliniques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/ Examen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v</a:t>
            </a:r>
            <a:r>
              <a:rPr 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asculaire</a:t>
            </a:r>
            <a:endParaRPr 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191992" y="689428"/>
            <a:ext cx="11758269" cy="604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1964661" y="853386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355023" y="840281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182390" y="859793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152059" y="898412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326245" y="853688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7736488" y="905040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1914072" y="784044"/>
            <a:ext cx="9936000" cy="53385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1914072" y="1613727"/>
            <a:ext cx="9949518" cy="2153601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0" name="Rectangle 129"/>
          <p:cNvSpPr/>
          <p:nvPr/>
        </p:nvSpPr>
        <p:spPr>
          <a:xfrm>
            <a:off x="7533851" y="6074845"/>
            <a:ext cx="10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Valider</a:t>
            </a:r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345444" y="924164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434893" y="907746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099371" y="91378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7785158" y="932612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273503" y="700949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2825" y="1606199"/>
            <a:ext cx="157286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b="1" u="sng" dirty="0"/>
              <a:t>Examen clinique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99621" y="4539504"/>
            <a:ext cx="8162617" cy="1978828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2" name="Titre 1"/>
          <p:cNvSpPr txBox="1">
            <a:spLocks/>
          </p:cNvSpPr>
          <p:nvPr/>
        </p:nvSpPr>
        <p:spPr>
          <a:xfrm>
            <a:off x="2093663" y="2260509"/>
            <a:ext cx="72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Type</a:t>
            </a:r>
            <a:endParaRPr lang="fr-FR" sz="1400" dirty="0"/>
          </a:p>
        </p:txBody>
      </p:sp>
      <p:sp>
        <p:nvSpPr>
          <p:cNvPr id="114" name="Rectangle 113"/>
          <p:cNvSpPr/>
          <p:nvPr/>
        </p:nvSpPr>
        <p:spPr>
          <a:xfrm>
            <a:off x="2817754" y="2263156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7" name="Titre 1"/>
          <p:cNvSpPr txBox="1">
            <a:spLocks/>
          </p:cNvSpPr>
          <p:nvPr/>
        </p:nvSpPr>
        <p:spPr>
          <a:xfrm>
            <a:off x="2106581" y="1762075"/>
            <a:ext cx="720000" cy="3837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</a:t>
            </a:r>
            <a:endParaRPr lang="fr-FR" sz="1400" dirty="0"/>
          </a:p>
        </p:txBody>
      </p:sp>
      <p:sp>
        <p:nvSpPr>
          <p:cNvPr id="118" name="Triangle isocèle 117"/>
          <p:cNvSpPr/>
          <p:nvPr/>
        </p:nvSpPr>
        <p:spPr>
          <a:xfrm rot="10800000">
            <a:off x="4336370" y="2284164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2" name="Rectangle 121"/>
          <p:cNvSpPr/>
          <p:nvPr/>
        </p:nvSpPr>
        <p:spPr>
          <a:xfrm>
            <a:off x="2096032" y="2821789"/>
            <a:ext cx="720000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Motif</a:t>
            </a:r>
            <a:endParaRPr lang="fr-FR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8" name="Rectangle 127"/>
          <p:cNvSpPr/>
          <p:nvPr/>
        </p:nvSpPr>
        <p:spPr>
          <a:xfrm>
            <a:off x="2817753" y="2816281"/>
            <a:ext cx="3567071" cy="829984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8" name="Rectangle 147"/>
          <p:cNvSpPr/>
          <p:nvPr/>
        </p:nvSpPr>
        <p:spPr>
          <a:xfrm>
            <a:off x="2842138" y="1775476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4" name="Titre 1"/>
          <p:cNvSpPr txBox="1">
            <a:spLocks/>
          </p:cNvSpPr>
          <p:nvPr/>
        </p:nvSpPr>
        <p:spPr>
          <a:xfrm>
            <a:off x="5355022" y="1791117"/>
            <a:ext cx="1029803" cy="3626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Médecin</a:t>
            </a:r>
            <a:endParaRPr lang="fr-FR" sz="1400" dirty="0"/>
          </a:p>
        </p:txBody>
      </p:sp>
      <p:sp>
        <p:nvSpPr>
          <p:cNvPr id="55" name="Rectangle 54"/>
          <p:cNvSpPr/>
          <p:nvPr/>
        </p:nvSpPr>
        <p:spPr>
          <a:xfrm>
            <a:off x="6371722" y="1793764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6" name="Triangle isocèle 55"/>
          <p:cNvSpPr/>
          <p:nvPr/>
        </p:nvSpPr>
        <p:spPr>
          <a:xfrm rot="10800000">
            <a:off x="7890338" y="1814772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7" name="Titre 1"/>
          <p:cNvSpPr txBox="1">
            <a:spLocks/>
          </p:cNvSpPr>
          <p:nvPr/>
        </p:nvSpPr>
        <p:spPr>
          <a:xfrm>
            <a:off x="4723622" y="2149312"/>
            <a:ext cx="4023137" cy="5904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dirty="0" smtClean="0"/>
              <a:t>Type : </a:t>
            </a:r>
            <a:r>
              <a:rPr lang="fr-FR" sz="1400" dirty="0" smtClean="0"/>
              <a:t>Consultation, Hospitalisation, Prise en charge </a:t>
            </a:r>
            <a:endParaRPr lang="fr-FR" sz="1400" b="1" dirty="0"/>
          </a:p>
        </p:txBody>
      </p:sp>
      <p:sp>
        <p:nvSpPr>
          <p:cNvPr id="58" name="Rectangle 57"/>
          <p:cNvSpPr/>
          <p:nvPr/>
        </p:nvSpPr>
        <p:spPr>
          <a:xfrm>
            <a:off x="569703" y="3900465"/>
            <a:ext cx="7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HDM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372528" y="3907093"/>
            <a:ext cx="828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Général</a:t>
            </a:r>
            <a:endParaRPr lang="fr-FR" sz="1400" dirty="0"/>
          </a:p>
        </p:txBody>
      </p:sp>
      <p:sp>
        <p:nvSpPr>
          <p:cNvPr id="60" name="Rectangle 59"/>
          <p:cNvSpPr/>
          <p:nvPr/>
        </p:nvSpPr>
        <p:spPr>
          <a:xfrm>
            <a:off x="2261316" y="3896829"/>
            <a:ext cx="16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Cervico-céphalique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967602" y="3902698"/>
            <a:ext cx="7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Thorax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761562" y="3907093"/>
            <a:ext cx="97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Abdomen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04707" y="3910274"/>
            <a:ext cx="79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Pelvien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670925" y="3903294"/>
            <a:ext cx="972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Vasculaire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708465" y="3909163"/>
            <a:ext cx="126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Neurologique</a:t>
            </a:r>
            <a:endParaRPr lang="fr-FR" sz="1400" dirty="0"/>
          </a:p>
        </p:txBody>
      </p:sp>
      <p:sp>
        <p:nvSpPr>
          <p:cNvPr id="68" name="Rectangle 67"/>
          <p:cNvSpPr/>
          <p:nvPr/>
        </p:nvSpPr>
        <p:spPr>
          <a:xfrm>
            <a:off x="759591" y="4722805"/>
            <a:ext cx="7826621" cy="1127052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1" name="Rectangle 70"/>
          <p:cNvSpPr/>
          <p:nvPr/>
        </p:nvSpPr>
        <p:spPr>
          <a:xfrm>
            <a:off x="9049585" y="3896208"/>
            <a:ext cx="1476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Osteo-articulaire</a:t>
            </a:r>
            <a:endParaRPr lang="fr-FR" sz="1400" dirty="0"/>
          </a:p>
        </p:txBody>
      </p:sp>
      <p:sp>
        <p:nvSpPr>
          <p:cNvPr id="72" name="Rectangle 71"/>
          <p:cNvSpPr/>
          <p:nvPr/>
        </p:nvSpPr>
        <p:spPr>
          <a:xfrm>
            <a:off x="10592635" y="3909163"/>
            <a:ext cx="126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Conclusion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396222608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38 – Observations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Examens cliniques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/ Examen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n</a:t>
            </a:r>
            <a:r>
              <a:rPr 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eurologique</a:t>
            </a:r>
            <a:endParaRPr 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191992" y="689428"/>
            <a:ext cx="11758269" cy="604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1964661" y="853386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355023" y="840281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182390" y="859793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152059" y="898412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326245" y="853688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7736488" y="905040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1914072" y="784044"/>
            <a:ext cx="9936000" cy="53385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1914072" y="1613727"/>
            <a:ext cx="9949518" cy="2153601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0" name="Rectangle 129"/>
          <p:cNvSpPr/>
          <p:nvPr/>
        </p:nvSpPr>
        <p:spPr>
          <a:xfrm>
            <a:off x="7533851" y="6074845"/>
            <a:ext cx="10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Valider</a:t>
            </a:r>
            <a:endParaRPr lang="fr-FR" sz="1400" dirty="0" smtClean="0"/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345444" y="924164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434893" y="907746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099371" y="91378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7785158" y="932612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273503" y="700949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2825" y="1606199"/>
            <a:ext cx="157286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b="1" u="sng" dirty="0"/>
              <a:t>Examen clinique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99621" y="4539504"/>
            <a:ext cx="8162617" cy="1978828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2" name="Titre 1"/>
          <p:cNvSpPr txBox="1">
            <a:spLocks/>
          </p:cNvSpPr>
          <p:nvPr/>
        </p:nvSpPr>
        <p:spPr>
          <a:xfrm>
            <a:off x="2093663" y="2260509"/>
            <a:ext cx="72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Type</a:t>
            </a:r>
            <a:endParaRPr lang="fr-FR" sz="1400" dirty="0"/>
          </a:p>
        </p:txBody>
      </p:sp>
      <p:sp>
        <p:nvSpPr>
          <p:cNvPr id="114" name="Rectangle 113"/>
          <p:cNvSpPr/>
          <p:nvPr/>
        </p:nvSpPr>
        <p:spPr>
          <a:xfrm>
            <a:off x="2817754" y="2263156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7" name="Titre 1"/>
          <p:cNvSpPr txBox="1">
            <a:spLocks/>
          </p:cNvSpPr>
          <p:nvPr/>
        </p:nvSpPr>
        <p:spPr>
          <a:xfrm>
            <a:off x="2106581" y="1762075"/>
            <a:ext cx="720000" cy="3837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</a:t>
            </a:r>
            <a:endParaRPr lang="fr-FR" sz="1400" dirty="0"/>
          </a:p>
        </p:txBody>
      </p:sp>
      <p:sp>
        <p:nvSpPr>
          <p:cNvPr id="118" name="Triangle isocèle 117"/>
          <p:cNvSpPr/>
          <p:nvPr/>
        </p:nvSpPr>
        <p:spPr>
          <a:xfrm rot="10800000">
            <a:off x="4336370" y="2284164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2" name="Rectangle 121"/>
          <p:cNvSpPr/>
          <p:nvPr/>
        </p:nvSpPr>
        <p:spPr>
          <a:xfrm>
            <a:off x="2096032" y="2821789"/>
            <a:ext cx="720000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Motif</a:t>
            </a:r>
            <a:endParaRPr lang="fr-FR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8" name="Rectangle 127"/>
          <p:cNvSpPr/>
          <p:nvPr/>
        </p:nvSpPr>
        <p:spPr>
          <a:xfrm>
            <a:off x="2817753" y="2816281"/>
            <a:ext cx="3567071" cy="829984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8" name="Rectangle 147"/>
          <p:cNvSpPr/>
          <p:nvPr/>
        </p:nvSpPr>
        <p:spPr>
          <a:xfrm>
            <a:off x="2842138" y="1775476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4" name="Titre 1"/>
          <p:cNvSpPr txBox="1">
            <a:spLocks/>
          </p:cNvSpPr>
          <p:nvPr/>
        </p:nvSpPr>
        <p:spPr>
          <a:xfrm>
            <a:off x="5355022" y="1791117"/>
            <a:ext cx="1029803" cy="3626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Médecin</a:t>
            </a:r>
            <a:endParaRPr lang="fr-FR" sz="1400" dirty="0"/>
          </a:p>
        </p:txBody>
      </p:sp>
      <p:sp>
        <p:nvSpPr>
          <p:cNvPr id="55" name="Rectangle 54"/>
          <p:cNvSpPr/>
          <p:nvPr/>
        </p:nvSpPr>
        <p:spPr>
          <a:xfrm>
            <a:off x="6371722" y="1793764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6" name="Triangle isocèle 55"/>
          <p:cNvSpPr/>
          <p:nvPr/>
        </p:nvSpPr>
        <p:spPr>
          <a:xfrm rot="10800000">
            <a:off x="7890338" y="1814772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7" name="Titre 1"/>
          <p:cNvSpPr txBox="1">
            <a:spLocks/>
          </p:cNvSpPr>
          <p:nvPr/>
        </p:nvSpPr>
        <p:spPr>
          <a:xfrm>
            <a:off x="4723622" y="2149312"/>
            <a:ext cx="4023137" cy="5904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dirty="0" smtClean="0"/>
              <a:t>Type : </a:t>
            </a:r>
            <a:r>
              <a:rPr lang="fr-FR" sz="1400" dirty="0" smtClean="0"/>
              <a:t>Consultation, Hospitalisation, Prise en charge </a:t>
            </a:r>
            <a:endParaRPr lang="fr-FR" sz="1400" b="1" dirty="0"/>
          </a:p>
        </p:txBody>
      </p:sp>
      <p:sp>
        <p:nvSpPr>
          <p:cNvPr id="58" name="Rectangle 57"/>
          <p:cNvSpPr/>
          <p:nvPr/>
        </p:nvSpPr>
        <p:spPr>
          <a:xfrm>
            <a:off x="569703" y="3900465"/>
            <a:ext cx="7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HDM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372528" y="3907093"/>
            <a:ext cx="828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Général</a:t>
            </a:r>
            <a:endParaRPr lang="fr-FR" sz="1400" dirty="0"/>
          </a:p>
        </p:txBody>
      </p:sp>
      <p:sp>
        <p:nvSpPr>
          <p:cNvPr id="60" name="Rectangle 59"/>
          <p:cNvSpPr/>
          <p:nvPr/>
        </p:nvSpPr>
        <p:spPr>
          <a:xfrm>
            <a:off x="2261316" y="3896829"/>
            <a:ext cx="16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Cervico-céphalique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967602" y="3902698"/>
            <a:ext cx="7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Thorax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761562" y="3907093"/>
            <a:ext cx="97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Abdomen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04707" y="3910274"/>
            <a:ext cx="79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Pelvien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670925" y="3903294"/>
            <a:ext cx="97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Vasculaire</a:t>
            </a:r>
            <a:endParaRPr lang="fr-FR" sz="1400" dirty="0"/>
          </a:p>
        </p:txBody>
      </p:sp>
      <p:sp>
        <p:nvSpPr>
          <p:cNvPr id="67" name="Rectangle 66"/>
          <p:cNvSpPr/>
          <p:nvPr/>
        </p:nvSpPr>
        <p:spPr>
          <a:xfrm>
            <a:off x="7708465" y="3909163"/>
            <a:ext cx="1260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Neurologique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59591" y="4722805"/>
            <a:ext cx="7826621" cy="1127052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1" name="Rectangle 70"/>
          <p:cNvSpPr/>
          <p:nvPr/>
        </p:nvSpPr>
        <p:spPr>
          <a:xfrm>
            <a:off x="9049585" y="3896208"/>
            <a:ext cx="1476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Osteo-articulaire</a:t>
            </a:r>
            <a:endParaRPr lang="fr-FR" sz="1400" dirty="0"/>
          </a:p>
        </p:txBody>
      </p:sp>
      <p:sp>
        <p:nvSpPr>
          <p:cNvPr id="72" name="Rectangle 71"/>
          <p:cNvSpPr/>
          <p:nvPr/>
        </p:nvSpPr>
        <p:spPr>
          <a:xfrm>
            <a:off x="10592635" y="3909163"/>
            <a:ext cx="126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41183528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39 – Observations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Examens cliniques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/ Examen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osteo-articulaire</a:t>
            </a:r>
            <a:endParaRPr lang="fr-FR" alt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191992" y="689428"/>
            <a:ext cx="11758269" cy="604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1964661" y="853386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355023" y="840281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182390" y="859793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152059" y="898412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326245" y="853688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7736488" y="905040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1914072" y="784044"/>
            <a:ext cx="9936000" cy="53385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1914072" y="1613727"/>
            <a:ext cx="9949518" cy="2153601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0" name="Rectangle 129"/>
          <p:cNvSpPr/>
          <p:nvPr/>
        </p:nvSpPr>
        <p:spPr>
          <a:xfrm>
            <a:off x="7533851" y="6074845"/>
            <a:ext cx="10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Valider</a:t>
            </a:r>
            <a:endParaRPr lang="fr-FR" sz="1400" dirty="0" smtClean="0"/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345444" y="924164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434893" y="907746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099371" y="91378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7785158" y="932612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273503" y="700949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2825" y="1606199"/>
            <a:ext cx="157286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b="1" u="sng" dirty="0"/>
              <a:t>Examen clinique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99621" y="4539504"/>
            <a:ext cx="8162617" cy="1978828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2" name="Titre 1"/>
          <p:cNvSpPr txBox="1">
            <a:spLocks/>
          </p:cNvSpPr>
          <p:nvPr/>
        </p:nvSpPr>
        <p:spPr>
          <a:xfrm>
            <a:off x="2093663" y="2260509"/>
            <a:ext cx="72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Type</a:t>
            </a:r>
            <a:endParaRPr lang="fr-FR" sz="1400" dirty="0"/>
          </a:p>
        </p:txBody>
      </p:sp>
      <p:sp>
        <p:nvSpPr>
          <p:cNvPr id="114" name="Rectangle 113"/>
          <p:cNvSpPr/>
          <p:nvPr/>
        </p:nvSpPr>
        <p:spPr>
          <a:xfrm>
            <a:off x="2817754" y="2263156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7" name="Titre 1"/>
          <p:cNvSpPr txBox="1">
            <a:spLocks/>
          </p:cNvSpPr>
          <p:nvPr/>
        </p:nvSpPr>
        <p:spPr>
          <a:xfrm>
            <a:off x="2106581" y="1762075"/>
            <a:ext cx="720000" cy="3837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</a:t>
            </a:r>
            <a:endParaRPr lang="fr-FR" sz="1400" dirty="0"/>
          </a:p>
        </p:txBody>
      </p:sp>
      <p:sp>
        <p:nvSpPr>
          <p:cNvPr id="118" name="Triangle isocèle 117"/>
          <p:cNvSpPr/>
          <p:nvPr/>
        </p:nvSpPr>
        <p:spPr>
          <a:xfrm rot="10800000">
            <a:off x="4336370" y="2284164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2" name="Rectangle 121"/>
          <p:cNvSpPr/>
          <p:nvPr/>
        </p:nvSpPr>
        <p:spPr>
          <a:xfrm>
            <a:off x="2096032" y="2821789"/>
            <a:ext cx="720000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Motif</a:t>
            </a:r>
            <a:endParaRPr lang="fr-FR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8" name="Rectangle 127"/>
          <p:cNvSpPr/>
          <p:nvPr/>
        </p:nvSpPr>
        <p:spPr>
          <a:xfrm>
            <a:off x="2817753" y="2803484"/>
            <a:ext cx="3567072" cy="829984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8" name="Rectangle 147"/>
          <p:cNvSpPr/>
          <p:nvPr/>
        </p:nvSpPr>
        <p:spPr>
          <a:xfrm>
            <a:off x="2842138" y="1775476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4" name="Titre 1"/>
          <p:cNvSpPr txBox="1">
            <a:spLocks/>
          </p:cNvSpPr>
          <p:nvPr/>
        </p:nvSpPr>
        <p:spPr>
          <a:xfrm>
            <a:off x="5355022" y="1791117"/>
            <a:ext cx="1029803" cy="3626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Médecin</a:t>
            </a:r>
            <a:endParaRPr lang="fr-FR" sz="1400" dirty="0"/>
          </a:p>
        </p:txBody>
      </p:sp>
      <p:sp>
        <p:nvSpPr>
          <p:cNvPr id="55" name="Rectangle 54"/>
          <p:cNvSpPr/>
          <p:nvPr/>
        </p:nvSpPr>
        <p:spPr>
          <a:xfrm>
            <a:off x="6371722" y="1793764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6" name="Triangle isocèle 55"/>
          <p:cNvSpPr/>
          <p:nvPr/>
        </p:nvSpPr>
        <p:spPr>
          <a:xfrm rot="10800000">
            <a:off x="7890338" y="1814772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7" name="Titre 1"/>
          <p:cNvSpPr txBox="1">
            <a:spLocks/>
          </p:cNvSpPr>
          <p:nvPr/>
        </p:nvSpPr>
        <p:spPr>
          <a:xfrm>
            <a:off x="4723622" y="2149312"/>
            <a:ext cx="4023137" cy="5904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dirty="0" smtClean="0"/>
              <a:t>Type : </a:t>
            </a:r>
            <a:r>
              <a:rPr lang="fr-FR" sz="1400" dirty="0" smtClean="0"/>
              <a:t>Consultation, Hospitalisation, Prise en charge </a:t>
            </a:r>
            <a:endParaRPr lang="fr-FR" sz="1400" b="1" dirty="0"/>
          </a:p>
        </p:txBody>
      </p:sp>
      <p:sp>
        <p:nvSpPr>
          <p:cNvPr id="58" name="Rectangle 57"/>
          <p:cNvSpPr/>
          <p:nvPr/>
        </p:nvSpPr>
        <p:spPr>
          <a:xfrm>
            <a:off x="569703" y="3900465"/>
            <a:ext cx="7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HDM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372528" y="3907093"/>
            <a:ext cx="828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Général</a:t>
            </a:r>
            <a:endParaRPr lang="fr-FR" sz="1400" dirty="0"/>
          </a:p>
        </p:txBody>
      </p:sp>
      <p:sp>
        <p:nvSpPr>
          <p:cNvPr id="60" name="Rectangle 59"/>
          <p:cNvSpPr/>
          <p:nvPr/>
        </p:nvSpPr>
        <p:spPr>
          <a:xfrm>
            <a:off x="2261316" y="3896829"/>
            <a:ext cx="16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Cervico-céphalique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967602" y="3902698"/>
            <a:ext cx="7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Thorax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761562" y="3907093"/>
            <a:ext cx="97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Abdomen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04707" y="3910274"/>
            <a:ext cx="79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Pelvien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670925" y="3903294"/>
            <a:ext cx="97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Vasculaire</a:t>
            </a:r>
            <a:endParaRPr lang="fr-FR" sz="1400" dirty="0"/>
          </a:p>
        </p:txBody>
      </p:sp>
      <p:sp>
        <p:nvSpPr>
          <p:cNvPr id="67" name="Rectangle 66"/>
          <p:cNvSpPr/>
          <p:nvPr/>
        </p:nvSpPr>
        <p:spPr>
          <a:xfrm>
            <a:off x="7708465" y="3909163"/>
            <a:ext cx="126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Neurologique</a:t>
            </a:r>
            <a:endParaRPr lang="fr-FR" sz="1400" dirty="0"/>
          </a:p>
        </p:txBody>
      </p:sp>
      <p:sp>
        <p:nvSpPr>
          <p:cNvPr id="68" name="Rectangle 67"/>
          <p:cNvSpPr/>
          <p:nvPr/>
        </p:nvSpPr>
        <p:spPr>
          <a:xfrm>
            <a:off x="759591" y="4722805"/>
            <a:ext cx="7826621" cy="1127052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1" name="Rectangle 70"/>
          <p:cNvSpPr/>
          <p:nvPr/>
        </p:nvSpPr>
        <p:spPr>
          <a:xfrm>
            <a:off x="9049585" y="3896208"/>
            <a:ext cx="1476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Osteo-articulaire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592635" y="3909163"/>
            <a:ext cx="126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402922520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40 – Observations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Examens cliniques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/ Conclusion</a:t>
            </a:r>
            <a:endParaRPr 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191992" y="689428"/>
            <a:ext cx="11758269" cy="604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1964661" y="853386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355023" y="840281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182390" y="859793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152059" y="898412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326245" y="853688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7736488" y="905040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1914072" y="784044"/>
            <a:ext cx="9936000" cy="53385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1914072" y="1613727"/>
            <a:ext cx="9949518" cy="2153601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0" name="Rectangle 129"/>
          <p:cNvSpPr/>
          <p:nvPr/>
        </p:nvSpPr>
        <p:spPr>
          <a:xfrm>
            <a:off x="7533851" y="6088561"/>
            <a:ext cx="10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Valider</a:t>
            </a:r>
            <a:endParaRPr lang="fr-FR" sz="1400" dirty="0" smtClean="0"/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345444" y="924164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434893" y="907746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099371" y="91378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7785158" y="932612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273503" y="700949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2825" y="1606199"/>
            <a:ext cx="157286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b="1" u="sng" dirty="0"/>
              <a:t>Examen clinique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99621" y="4553220"/>
            <a:ext cx="8162617" cy="1978828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2" name="Titre 1"/>
          <p:cNvSpPr txBox="1">
            <a:spLocks/>
          </p:cNvSpPr>
          <p:nvPr/>
        </p:nvSpPr>
        <p:spPr>
          <a:xfrm>
            <a:off x="2093663" y="2260509"/>
            <a:ext cx="72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Type</a:t>
            </a:r>
            <a:endParaRPr lang="fr-FR" sz="1400" dirty="0"/>
          </a:p>
        </p:txBody>
      </p:sp>
      <p:sp>
        <p:nvSpPr>
          <p:cNvPr id="114" name="Rectangle 113"/>
          <p:cNvSpPr/>
          <p:nvPr/>
        </p:nvSpPr>
        <p:spPr>
          <a:xfrm>
            <a:off x="2817754" y="2263156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7" name="Titre 1"/>
          <p:cNvSpPr txBox="1">
            <a:spLocks/>
          </p:cNvSpPr>
          <p:nvPr/>
        </p:nvSpPr>
        <p:spPr>
          <a:xfrm>
            <a:off x="2106581" y="1762075"/>
            <a:ext cx="720000" cy="3837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</a:t>
            </a:r>
            <a:endParaRPr lang="fr-FR" sz="1400" dirty="0"/>
          </a:p>
        </p:txBody>
      </p:sp>
      <p:sp>
        <p:nvSpPr>
          <p:cNvPr id="118" name="Triangle isocèle 117"/>
          <p:cNvSpPr/>
          <p:nvPr/>
        </p:nvSpPr>
        <p:spPr>
          <a:xfrm rot="10800000">
            <a:off x="4336370" y="2284164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2" name="Rectangle 121"/>
          <p:cNvSpPr/>
          <p:nvPr/>
        </p:nvSpPr>
        <p:spPr>
          <a:xfrm>
            <a:off x="2096032" y="2821789"/>
            <a:ext cx="720000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Motif</a:t>
            </a:r>
            <a:endParaRPr lang="fr-FR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8" name="Rectangle 127"/>
          <p:cNvSpPr/>
          <p:nvPr/>
        </p:nvSpPr>
        <p:spPr>
          <a:xfrm>
            <a:off x="2817753" y="2816281"/>
            <a:ext cx="3567071" cy="829984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8" name="Rectangle 147"/>
          <p:cNvSpPr/>
          <p:nvPr/>
        </p:nvSpPr>
        <p:spPr>
          <a:xfrm>
            <a:off x="2842138" y="1775476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4" name="Titre 1"/>
          <p:cNvSpPr txBox="1">
            <a:spLocks/>
          </p:cNvSpPr>
          <p:nvPr/>
        </p:nvSpPr>
        <p:spPr>
          <a:xfrm>
            <a:off x="5355022" y="1791117"/>
            <a:ext cx="1029803" cy="3626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Médecin</a:t>
            </a:r>
            <a:endParaRPr lang="fr-FR" sz="1400" dirty="0"/>
          </a:p>
        </p:txBody>
      </p:sp>
      <p:sp>
        <p:nvSpPr>
          <p:cNvPr id="55" name="Rectangle 54"/>
          <p:cNvSpPr/>
          <p:nvPr/>
        </p:nvSpPr>
        <p:spPr>
          <a:xfrm>
            <a:off x="6371722" y="1793764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6" name="Triangle isocèle 55"/>
          <p:cNvSpPr/>
          <p:nvPr/>
        </p:nvSpPr>
        <p:spPr>
          <a:xfrm rot="10800000">
            <a:off x="7890338" y="1814772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7" name="Titre 1"/>
          <p:cNvSpPr txBox="1">
            <a:spLocks/>
          </p:cNvSpPr>
          <p:nvPr/>
        </p:nvSpPr>
        <p:spPr>
          <a:xfrm>
            <a:off x="4723622" y="2149312"/>
            <a:ext cx="4023137" cy="5904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dirty="0" smtClean="0"/>
              <a:t>Type : </a:t>
            </a:r>
            <a:r>
              <a:rPr lang="fr-FR" sz="1400" dirty="0" smtClean="0"/>
              <a:t>Consultation, Hospitalisation, Prise en charge </a:t>
            </a:r>
            <a:endParaRPr lang="fr-FR" sz="1400" b="1" dirty="0"/>
          </a:p>
        </p:txBody>
      </p:sp>
      <p:sp>
        <p:nvSpPr>
          <p:cNvPr id="58" name="Rectangle 57"/>
          <p:cNvSpPr/>
          <p:nvPr/>
        </p:nvSpPr>
        <p:spPr>
          <a:xfrm>
            <a:off x="569703" y="3900465"/>
            <a:ext cx="7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HDM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372528" y="3907093"/>
            <a:ext cx="828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Général</a:t>
            </a:r>
            <a:endParaRPr lang="fr-FR" sz="1400" dirty="0"/>
          </a:p>
        </p:txBody>
      </p:sp>
      <p:sp>
        <p:nvSpPr>
          <p:cNvPr id="60" name="Rectangle 59"/>
          <p:cNvSpPr/>
          <p:nvPr/>
        </p:nvSpPr>
        <p:spPr>
          <a:xfrm>
            <a:off x="2261316" y="3896829"/>
            <a:ext cx="16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Cervico-céphalique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967602" y="3902698"/>
            <a:ext cx="7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Thorax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761562" y="3907093"/>
            <a:ext cx="97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Abdomen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04707" y="3910274"/>
            <a:ext cx="79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Pelvien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670925" y="3903294"/>
            <a:ext cx="97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Vasculaire</a:t>
            </a:r>
            <a:endParaRPr lang="fr-FR" sz="1400" dirty="0"/>
          </a:p>
        </p:txBody>
      </p:sp>
      <p:sp>
        <p:nvSpPr>
          <p:cNvPr id="67" name="Rectangle 66"/>
          <p:cNvSpPr/>
          <p:nvPr/>
        </p:nvSpPr>
        <p:spPr>
          <a:xfrm>
            <a:off x="7708465" y="3909163"/>
            <a:ext cx="126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Neurologique</a:t>
            </a:r>
            <a:endParaRPr lang="fr-FR" sz="1400" dirty="0"/>
          </a:p>
        </p:txBody>
      </p:sp>
      <p:sp>
        <p:nvSpPr>
          <p:cNvPr id="68" name="Rectangle 67"/>
          <p:cNvSpPr/>
          <p:nvPr/>
        </p:nvSpPr>
        <p:spPr>
          <a:xfrm>
            <a:off x="759591" y="4736521"/>
            <a:ext cx="7826621" cy="1127052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1" name="Rectangle 70"/>
          <p:cNvSpPr/>
          <p:nvPr/>
        </p:nvSpPr>
        <p:spPr>
          <a:xfrm>
            <a:off x="9049585" y="3896208"/>
            <a:ext cx="1476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Osteo-articulaire</a:t>
            </a:r>
            <a:endParaRPr lang="fr-FR" sz="1400" dirty="0"/>
          </a:p>
        </p:txBody>
      </p:sp>
      <p:sp>
        <p:nvSpPr>
          <p:cNvPr id="72" name="Rectangle 71"/>
          <p:cNvSpPr/>
          <p:nvPr/>
        </p:nvSpPr>
        <p:spPr>
          <a:xfrm>
            <a:off x="10592635" y="3909163"/>
            <a:ext cx="1260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33705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41 – Observations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Fiche suivi des évolutions</a:t>
            </a:r>
            <a:endParaRPr 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191992" y="689428"/>
            <a:ext cx="11758269" cy="604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1964661" y="853386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355023" y="840281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182390" y="859793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152059" y="898412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326245" y="853688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7736488" y="905040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1914071" y="784044"/>
            <a:ext cx="8092931" cy="53385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1901193" y="2038730"/>
            <a:ext cx="8105810" cy="2153601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0" name="Rectangle 129"/>
          <p:cNvSpPr/>
          <p:nvPr/>
        </p:nvSpPr>
        <p:spPr>
          <a:xfrm>
            <a:off x="7385864" y="5792350"/>
            <a:ext cx="2621138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Imprimer l’état </a:t>
            </a:r>
            <a:r>
              <a:rPr lang="fr-FR" sz="1400" dirty="0" smtClean="0"/>
              <a:t>récapitulatif </a:t>
            </a:r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345444" y="924164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434893" y="907746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099371" y="900908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7785158" y="932612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273503" y="700949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2825" y="1619078"/>
            <a:ext cx="234416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b="1" u="sng" dirty="0"/>
              <a:t>Fiche suivi des évolutions</a:t>
            </a:r>
          </a:p>
        </p:txBody>
      </p:sp>
      <p:sp>
        <p:nvSpPr>
          <p:cNvPr id="82" name="Titre 1"/>
          <p:cNvSpPr txBox="1">
            <a:spLocks/>
          </p:cNvSpPr>
          <p:nvPr/>
        </p:nvSpPr>
        <p:spPr>
          <a:xfrm>
            <a:off x="2080783" y="2247629"/>
            <a:ext cx="1110455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Type du suivi</a:t>
            </a:r>
            <a:endParaRPr lang="fr-FR" sz="1400" dirty="0"/>
          </a:p>
        </p:txBody>
      </p:sp>
      <p:sp>
        <p:nvSpPr>
          <p:cNvPr id="114" name="Rectangle 113"/>
          <p:cNvSpPr/>
          <p:nvPr/>
        </p:nvSpPr>
        <p:spPr>
          <a:xfrm>
            <a:off x="3191240" y="2250276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8" name="Triangle isocèle 117"/>
          <p:cNvSpPr/>
          <p:nvPr/>
        </p:nvSpPr>
        <p:spPr>
          <a:xfrm rot="10800000">
            <a:off x="4709856" y="2271284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2" name="Rectangle 121"/>
          <p:cNvSpPr/>
          <p:nvPr/>
        </p:nvSpPr>
        <p:spPr>
          <a:xfrm>
            <a:off x="2083153" y="3246792"/>
            <a:ext cx="1068906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Observation</a:t>
            </a:r>
            <a:endParaRPr lang="fr-FR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8" name="Rectangle 127"/>
          <p:cNvSpPr/>
          <p:nvPr/>
        </p:nvSpPr>
        <p:spPr>
          <a:xfrm>
            <a:off x="3191239" y="3241284"/>
            <a:ext cx="5463364" cy="829984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7" name="Titre 1"/>
          <p:cNvSpPr txBox="1">
            <a:spLocks/>
          </p:cNvSpPr>
          <p:nvPr/>
        </p:nvSpPr>
        <p:spPr>
          <a:xfrm>
            <a:off x="5097108" y="2136432"/>
            <a:ext cx="4023137" cy="5904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dirty="0" smtClean="0"/>
              <a:t>Type : </a:t>
            </a:r>
            <a:r>
              <a:rPr lang="fr-FR" sz="1400" dirty="0" smtClean="0"/>
              <a:t>évolution, compte rendu opératoire</a:t>
            </a:r>
            <a:endParaRPr lang="fr-FR" sz="1400" b="1" dirty="0"/>
          </a:p>
        </p:txBody>
      </p:sp>
      <p:sp>
        <p:nvSpPr>
          <p:cNvPr id="46" name="Titre 1"/>
          <p:cNvSpPr txBox="1">
            <a:spLocks/>
          </p:cNvSpPr>
          <p:nvPr/>
        </p:nvSpPr>
        <p:spPr>
          <a:xfrm>
            <a:off x="2093702" y="2740875"/>
            <a:ext cx="720000" cy="3837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</a:t>
            </a:r>
            <a:endParaRPr lang="fr-FR" sz="1400" dirty="0"/>
          </a:p>
        </p:txBody>
      </p:sp>
      <p:sp>
        <p:nvSpPr>
          <p:cNvPr id="47" name="Rectangle 46"/>
          <p:cNvSpPr/>
          <p:nvPr/>
        </p:nvSpPr>
        <p:spPr>
          <a:xfrm>
            <a:off x="3215624" y="2754276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8" name="Rectangle 47"/>
          <p:cNvSpPr/>
          <p:nvPr/>
        </p:nvSpPr>
        <p:spPr>
          <a:xfrm>
            <a:off x="8871104" y="3703824"/>
            <a:ext cx="10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Ajouter</a:t>
            </a:r>
          </a:p>
        </p:txBody>
      </p:sp>
      <p:sp>
        <p:nvSpPr>
          <p:cNvPr id="50" name="Titre 1"/>
          <p:cNvSpPr txBox="1">
            <a:spLocks/>
          </p:cNvSpPr>
          <p:nvPr/>
        </p:nvSpPr>
        <p:spPr>
          <a:xfrm>
            <a:off x="5253304" y="4536460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Observation</a:t>
            </a:r>
            <a:endParaRPr lang="fr-FR" sz="1400" dirty="0"/>
          </a:p>
        </p:txBody>
      </p:sp>
      <p:sp>
        <p:nvSpPr>
          <p:cNvPr id="52" name="Rectangle 51"/>
          <p:cNvSpPr/>
          <p:nvPr/>
        </p:nvSpPr>
        <p:spPr>
          <a:xfrm>
            <a:off x="4291244" y="5111943"/>
            <a:ext cx="2891146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6" name="Titre 1"/>
          <p:cNvSpPr txBox="1">
            <a:spLocks/>
          </p:cNvSpPr>
          <p:nvPr/>
        </p:nvSpPr>
        <p:spPr>
          <a:xfrm>
            <a:off x="2363784" y="4516608"/>
            <a:ext cx="1242463" cy="3947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</a:t>
            </a:r>
            <a:endParaRPr lang="fr-FR" sz="1400" dirty="0"/>
          </a:p>
        </p:txBody>
      </p:sp>
      <p:sp>
        <p:nvSpPr>
          <p:cNvPr id="69" name="Rectangle 68"/>
          <p:cNvSpPr/>
          <p:nvPr/>
        </p:nvSpPr>
        <p:spPr>
          <a:xfrm>
            <a:off x="8888284" y="4549338"/>
            <a:ext cx="1080081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Supprimer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2050138" y="5116945"/>
            <a:ext cx="180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4" name="Rectangle 73"/>
          <p:cNvSpPr/>
          <p:nvPr/>
        </p:nvSpPr>
        <p:spPr>
          <a:xfrm>
            <a:off x="1915185" y="4471838"/>
            <a:ext cx="8091818" cy="1188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5" name="Titre 1"/>
          <p:cNvSpPr txBox="1">
            <a:spLocks/>
          </p:cNvSpPr>
          <p:nvPr/>
        </p:nvSpPr>
        <p:spPr>
          <a:xfrm>
            <a:off x="7385864" y="4551761"/>
            <a:ext cx="144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Modifier</a:t>
            </a:r>
            <a:endParaRPr lang="fr-FR" sz="1400" dirty="0"/>
          </a:p>
        </p:txBody>
      </p:sp>
      <p:cxnSp>
        <p:nvCxnSpPr>
          <p:cNvPr id="78" name="Connecteur droit 77"/>
          <p:cNvCxnSpPr/>
          <p:nvPr/>
        </p:nvCxnSpPr>
        <p:spPr>
          <a:xfrm>
            <a:off x="4056179" y="4471838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9" name="Connecteur droit 78"/>
          <p:cNvCxnSpPr/>
          <p:nvPr/>
        </p:nvCxnSpPr>
        <p:spPr>
          <a:xfrm>
            <a:off x="7359607" y="4490888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0" name="Connecteur droit 79"/>
          <p:cNvCxnSpPr/>
          <p:nvPr/>
        </p:nvCxnSpPr>
        <p:spPr>
          <a:xfrm>
            <a:off x="8837729" y="4490888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0" name="Connecteur droit 89"/>
          <p:cNvCxnSpPr/>
          <p:nvPr/>
        </p:nvCxnSpPr>
        <p:spPr>
          <a:xfrm>
            <a:off x="1916250" y="4985002"/>
            <a:ext cx="806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3" name="Imag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4589" y="5121632"/>
            <a:ext cx="355221" cy="360000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1446" y="5107612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746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42 – Observations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Historique des observations cliniques</a:t>
            </a:r>
            <a:endParaRPr 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191992" y="689428"/>
            <a:ext cx="11758269" cy="604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1964661" y="853386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355023" y="840281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182390" y="859793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152059" y="898412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326245" y="853688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7736488" y="905040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1914071" y="784044"/>
            <a:ext cx="8092931" cy="53385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1845294" y="2090351"/>
            <a:ext cx="8105810" cy="1295042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0" name="Rectangle 129"/>
          <p:cNvSpPr/>
          <p:nvPr/>
        </p:nvSpPr>
        <p:spPr>
          <a:xfrm>
            <a:off x="8854056" y="4916585"/>
            <a:ext cx="10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Imprimer</a:t>
            </a:r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345444" y="924164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434893" y="907746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099371" y="900908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7785158" y="932612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273503" y="700949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2825" y="1619078"/>
            <a:ext cx="335335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b="1" u="sng" dirty="0" smtClean="0"/>
              <a:t>Historique des observations cliniques</a:t>
            </a:r>
            <a:endParaRPr lang="fr-FR" sz="1600" b="1" u="sng" dirty="0"/>
          </a:p>
        </p:txBody>
      </p:sp>
      <p:sp>
        <p:nvSpPr>
          <p:cNvPr id="82" name="Titre 1"/>
          <p:cNvSpPr txBox="1">
            <a:spLocks/>
          </p:cNvSpPr>
          <p:nvPr/>
        </p:nvSpPr>
        <p:spPr>
          <a:xfrm>
            <a:off x="1860955" y="2527282"/>
            <a:ext cx="90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Période</a:t>
            </a:r>
            <a:endParaRPr lang="fr-FR" sz="1400" dirty="0"/>
          </a:p>
        </p:txBody>
      </p:sp>
      <p:sp>
        <p:nvSpPr>
          <p:cNvPr id="114" name="Rectangle 113"/>
          <p:cNvSpPr/>
          <p:nvPr/>
        </p:nvSpPr>
        <p:spPr>
          <a:xfrm>
            <a:off x="3209549" y="2494415"/>
            <a:ext cx="144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2" name="Rectangle 121"/>
          <p:cNvSpPr/>
          <p:nvPr/>
        </p:nvSpPr>
        <p:spPr>
          <a:xfrm>
            <a:off x="4633166" y="2512695"/>
            <a:ext cx="540000" cy="36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</a:t>
            </a:r>
            <a:endParaRPr lang="fr-FR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8" name="Rectangle 127"/>
          <p:cNvSpPr/>
          <p:nvPr/>
        </p:nvSpPr>
        <p:spPr>
          <a:xfrm>
            <a:off x="2751289" y="2400862"/>
            <a:ext cx="3960000" cy="576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lt1"/>
              </a:solidFill>
            </a:endParaRPr>
          </a:p>
        </p:txBody>
      </p:sp>
      <p:sp>
        <p:nvSpPr>
          <p:cNvPr id="46" name="Titre 1"/>
          <p:cNvSpPr txBox="1">
            <a:spLocks/>
          </p:cNvSpPr>
          <p:nvPr/>
        </p:nvSpPr>
        <p:spPr>
          <a:xfrm>
            <a:off x="2673246" y="2509060"/>
            <a:ext cx="54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Du</a:t>
            </a:r>
            <a:endParaRPr lang="fr-FR" sz="1400" dirty="0"/>
          </a:p>
        </p:txBody>
      </p:sp>
      <p:sp>
        <p:nvSpPr>
          <p:cNvPr id="47" name="Rectangle 46"/>
          <p:cNvSpPr/>
          <p:nvPr/>
        </p:nvSpPr>
        <p:spPr>
          <a:xfrm>
            <a:off x="5178784" y="2496545"/>
            <a:ext cx="144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8" name="Rectangle 47"/>
          <p:cNvSpPr/>
          <p:nvPr/>
        </p:nvSpPr>
        <p:spPr>
          <a:xfrm>
            <a:off x="7065158" y="2616862"/>
            <a:ext cx="10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Recherche</a:t>
            </a:r>
          </a:p>
        </p:txBody>
      </p:sp>
      <p:sp>
        <p:nvSpPr>
          <p:cNvPr id="50" name="Titre 1"/>
          <p:cNvSpPr txBox="1">
            <a:spLocks/>
          </p:cNvSpPr>
          <p:nvPr/>
        </p:nvSpPr>
        <p:spPr>
          <a:xfrm>
            <a:off x="4068443" y="3673574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Médecin</a:t>
            </a:r>
            <a:endParaRPr lang="fr-FR" sz="1400" dirty="0"/>
          </a:p>
        </p:txBody>
      </p:sp>
      <p:sp>
        <p:nvSpPr>
          <p:cNvPr id="52" name="Rectangle 51"/>
          <p:cNvSpPr/>
          <p:nvPr/>
        </p:nvSpPr>
        <p:spPr>
          <a:xfrm>
            <a:off x="3788965" y="4236178"/>
            <a:ext cx="162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6" name="Titre 1"/>
          <p:cNvSpPr txBox="1">
            <a:spLocks/>
          </p:cNvSpPr>
          <p:nvPr/>
        </p:nvSpPr>
        <p:spPr>
          <a:xfrm>
            <a:off x="2119085" y="3653722"/>
            <a:ext cx="1242463" cy="3947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</a:t>
            </a:r>
            <a:endParaRPr lang="fr-FR" sz="1400" dirty="0"/>
          </a:p>
        </p:txBody>
      </p:sp>
      <p:sp>
        <p:nvSpPr>
          <p:cNvPr id="69" name="Rectangle 68"/>
          <p:cNvSpPr/>
          <p:nvPr/>
        </p:nvSpPr>
        <p:spPr>
          <a:xfrm>
            <a:off x="8823889" y="3673573"/>
            <a:ext cx="1080081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Supprimer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1985743" y="4241180"/>
            <a:ext cx="144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4" name="Rectangle 73"/>
          <p:cNvSpPr/>
          <p:nvPr/>
        </p:nvSpPr>
        <p:spPr>
          <a:xfrm>
            <a:off x="1850790" y="3596073"/>
            <a:ext cx="8091818" cy="1188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5" name="Titre 1"/>
          <p:cNvSpPr txBox="1">
            <a:spLocks/>
          </p:cNvSpPr>
          <p:nvPr/>
        </p:nvSpPr>
        <p:spPr>
          <a:xfrm>
            <a:off x="7321469" y="3675996"/>
            <a:ext cx="144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Modifier</a:t>
            </a:r>
            <a:endParaRPr lang="fr-FR" sz="1400" dirty="0"/>
          </a:p>
        </p:txBody>
      </p:sp>
      <p:cxnSp>
        <p:nvCxnSpPr>
          <p:cNvPr id="78" name="Connecteur droit 77"/>
          <p:cNvCxnSpPr/>
          <p:nvPr/>
        </p:nvCxnSpPr>
        <p:spPr>
          <a:xfrm>
            <a:off x="3618293" y="3596073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9" name="Connecteur droit 78"/>
          <p:cNvCxnSpPr/>
          <p:nvPr/>
        </p:nvCxnSpPr>
        <p:spPr>
          <a:xfrm>
            <a:off x="5595203" y="3602244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0" name="Connecteur droit 79"/>
          <p:cNvCxnSpPr/>
          <p:nvPr/>
        </p:nvCxnSpPr>
        <p:spPr>
          <a:xfrm>
            <a:off x="8773334" y="3602244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0" name="Connecteur droit 89"/>
          <p:cNvCxnSpPr/>
          <p:nvPr/>
        </p:nvCxnSpPr>
        <p:spPr>
          <a:xfrm>
            <a:off x="1851855" y="4109237"/>
            <a:ext cx="806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3" name="Imag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0194" y="4245867"/>
            <a:ext cx="355221" cy="360000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7051" y="4231847"/>
            <a:ext cx="360000" cy="360000"/>
          </a:xfrm>
          <a:prstGeom prst="rect">
            <a:avLst/>
          </a:prstGeom>
        </p:spPr>
      </p:pic>
      <p:cxnSp>
        <p:nvCxnSpPr>
          <p:cNvPr id="45" name="Connecteur droit 44"/>
          <p:cNvCxnSpPr/>
          <p:nvPr/>
        </p:nvCxnSpPr>
        <p:spPr>
          <a:xfrm>
            <a:off x="7318823" y="3587217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9" name="Titre 1"/>
          <p:cNvSpPr txBox="1">
            <a:spLocks/>
          </p:cNvSpPr>
          <p:nvPr/>
        </p:nvSpPr>
        <p:spPr>
          <a:xfrm>
            <a:off x="5985251" y="367142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À dupliquer</a:t>
            </a:r>
            <a:endParaRPr lang="fr-FR" sz="1400" dirty="0"/>
          </a:p>
        </p:txBody>
      </p:sp>
      <p:sp>
        <p:nvSpPr>
          <p:cNvPr id="51" name="Rectangle 50"/>
          <p:cNvSpPr/>
          <p:nvPr/>
        </p:nvSpPr>
        <p:spPr>
          <a:xfrm>
            <a:off x="5744410" y="4246909"/>
            <a:ext cx="144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2074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43 – Observations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Fiche suivi patient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91992" y="689428"/>
            <a:ext cx="11758269" cy="604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1964661" y="853386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355023" y="840281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182390" y="859793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152059" y="898412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326245" y="853688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7736488" y="905040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1914071" y="784044"/>
            <a:ext cx="8092931" cy="53385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2476364" y="2090351"/>
            <a:ext cx="4680000" cy="1295042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345444" y="924164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434893" y="907746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099371" y="900908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7785158" y="932612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273503" y="700949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2825" y="1619078"/>
            <a:ext cx="176939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b="1" u="sng" dirty="0" smtClean="0"/>
              <a:t>Fiche suivi patient</a:t>
            </a:r>
            <a:endParaRPr lang="fr-FR" sz="1600" b="1" u="sng" dirty="0"/>
          </a:p>
        </p:txBody>
      </p:sp>
      <p:sp>
        <p:nvSpPr>
          <p:cNvPr id="82" name="Titre 1"/>
          <p:cNvSpPr txBox="1">
            <a:spLocks/>
          </p:cNvSpPr>
          <p:nvPr/>
        </p:nvSpPr>
        <p:spPr>
          <a:xfrm>
            <a:off x="3123084" y="2359855"/>
            <a:ext cx="90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Mois de </a:t>
            </a:r>
            <a:endParaRPr lang="fr-FR" sz="1400" dirty="0"/>
          </a:p>
        </p:txBody>
      </p:sp>
      <p:sp>
        <p:nvSpPr>
          <p:cNvPr id="114" name="Rectangle 113"/>
          <p:cNvSpPr/>
          <p:nvPr/>
        </p:nvSpPr>
        <p:spPr>
          <a:xfrm>
            <a:off x="3982276" y="2326988"/>
            <a:ext cx="144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8" name="Rectangle 47"/>
          <p:cNvSpPr/>
          <p:nvPr/>
        </p:nvSpPr>
        <p:spPr>
          <a:xfrm>
            <a:off x="4180287" y="2835805"/>
            <a:ext cx="10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Imprimer</a:t>
            </a:r>
          </a:p>
        </p:txBody>
      </p:sp>
    </p:spTree>
    <p:extLst>
      <p:ext uri="{BB962C8B-B14F-4D97-AF65-F5344CB8AC3E}">
        <p14:creationId xmlns:p14="http://schemas.microsoft.com/office/powerpoint/2010/main" val="353973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44 – Spécialités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Consultation / Demandes</a:t>
            </a:r>
            <a:endParaRPr 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191992" y="689428"/>
            <a:ext cx="11758269" cy="604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1964661" y="853386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355023" y="840281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182390" y="859793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152059" y="898412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326245" y="853688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7736488" y="905040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1914071" y="784044"/>
            <a:ext cx="8092931" cy="53385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1952709" y="2077367"/>
            <a:ext cx="8962476" cy="2153601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345444" y="924164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434893" y="907746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099371" y="900908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7785158" y="932612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273503" y="700949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2825" y="2044085"/>
            <a:ext cx="152967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600" b="1" u="sng" dirty="0"/>
              <a:t>Demande de consultation spécialisée</a:t>
            </a:r>
          </a:p>
        </p:txBody>
      </p:sp>
      <p:sp>
        <p:nvSpPr>
          <p:cNvPr id="82" name="Titre 1"/>
          <p:cNvSpPr txBox="1">
            <a:spLocks/>
          </p:cNvSpPr>
          <p:nvPr/>
        </p:nvSpPr>
        <p:spPr>
          <a:xfrm>
            <a:off x="2132299" y="2286266"/>
            <a:ext cx="1110455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Spécialité</a:t>
            </a:r>
            <a:endParaRPr lang="fr-FR" sz="1400" dirty="0"/>
          </a:p>
        </p:txBody>
      </p:sp>
      <p:sp>
        <p:nvSpPr>
          <p:cNvPr id="114" name="Rectangle 113"/>
          <p:cNvSpPr/>
          <p:nvPr/>
        </p:nvSpPr>
        <p:spPr>
          <a:xfrm>
            <a:off x="3242756" y="2288913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8" name="Triangle isocèle 117"/>
          <p:cNvSpPr/>
          <p:nvPr/>
        </p:nvSpPr>
        <p:spPr>
          <a:xfrm rot="10800000">
            <a:off x="4761372" y="2309921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2" name="Rectangle 121"/>
          <p:cNvSpPr/>
          <p:nvPr/>
        </p:nvSpPr>
        <p:spPr>
          <a:xfrm>
            <a:off x="2134669" y="3285429"/>
            <a:ext cx="1068906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Motif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3242755" y="3279921"/>
            <a:ext cx="5463364" cy="829984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6" name="Titre 1"/>
          <p:cNvSpPr txBox="1">
            <a:spLocks/>
          </p:cNvSpPr>
          <p:nvPr/>
        </p:nvSpPr>
        <p:spPr>
          <a:xfrm>
            <a:off x="2145218" y="2779512"/>
            <a:ext cx="720000" cy="3837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</a:t>
            </a:r>
            <a:endParaRPr lang="fr-FR" sz="1400" dirty="0"/>
          </a:p>
        </p:txBody>
      </p:sp>
      <p:sp>
        <p:nvSpPr>
          <p:cNvPr id="47" name="Rectangle 46"/>
          <p:cNvSpPr/>
          <p:nvPr/>
        </p:nvSpPr>
        <p:spPr>
          <a:xfrm>
            <a:off x="3267140" y="2792913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8" name="Rectangle 47"/>
          <p:cNvSpPr/>
          <p:nvPr/>
        </p:nvSpPr>
        <p:spPr>
          <a:xfrm>
            <a:off x="8922620" y="3742461"/>
            <a:ext cx="10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Ajouter</a:t>
            </a:r>
          </a:p>
        </p:txBody>
      </p:sp>
      <p:sp>
        <p:nvSpPr>
          <p:cNvPr id="50" name="Titre 1"/>
          <p:cNvSpPr txBox="1">
            <a:spLocks/>
          </p:cNvSpPr>
          <p:nvPr/>
        </p:nvSpPr>
        <p:spPr>
          <a:xfrm>
            <a:off x="4291154" y="4538121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</a:t>
            </a:r>
            <a:endParaRPr lang="fr-FR" sz="1400" dirty="0"/>
          </a:p>
        </p:txBody>
      </p:sp>
      <p:sp>
        <p:nvSpPr>
          <p:cNvPr id="52" name="Rectangle 51"/>
          <p:cNvSpPr/>
          <p:nvPr/>
        </p:nvSpPr>
        <p:spPr>
          <a:xfrm>
            <a:off x="4291244" y="5111943"/>
            <a:ext cx="108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6" name="Titre 1"/>
          <p:cNvSpPr txBox="1">
            <a:spLocks/>
          </p:cNvSpPr>
          <p:nvPr/>
        </p:nvSpPr>
        <p:spPr>
          <a:xfrm>
            <a:off x="2363784" y="4516608"/>
            <a:ext cx="1242463" cy="3947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Spécialité</a:t>
            </a:r>
            <a:endParaRPr lang="fr-FR" sz="1400" dirty="0"/>
          </a:p>
        </p:txBody>
      </p:sp>
      <p:sp>
        <p:nvSpPr>
          <p:cNvPr id="69" name="Rectangle 68"/>
          <p:cNvSpPr/>
          <p:nvPr/>
        </p:nvSpPr>
        <p:spPr>
          <a:xfrm>
            <a:off x="9944354" y="4562217"/>
            <a:ext cx="972000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Supprimer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2050138" y="5116945"/>
            <a:ext cx="180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4" name="Rectangle 73"/>
          <p:cNvSpPr/>
          <p:nvPr/>
        </p:nvSpPr>
        <p:spPr>
          <a:xfrm>
            <a:off x="1915185" y="4471838"/>
            <a:ext cx="9000000" cy="1188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5" name="Titre 1"/>
          <p:cNvSpPr txBox="1">
            <a:spLocks/>
          </p:cNvSpPr>
          <p:nvPr/>
        </p:nvSpPr>
        <p:spPr>
          <a:xfrm>
            <a:off x="8119959" y="4551761"/>
            <a:ext cx="90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Modifier</a:t>
            </a:r>
            <a:endParaRPr lang="fr-FR" sz="1400" dirty="0"/>
          </a:p>
        </p:txBody>
      </p:sp>
      <p:cxnSp>
        <p:nvCxnSpPr>
          <p:cNvPr id="78" name="Connecteur droit 77"/>
          <p:cNvCxnSpPr/>
          <p:nvPr/>
        </p:nvCxnSpPr>
        <p:spPr>
          <a:xfrm>
            <a:off x="4056179" y="4471838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9" name="Connecteur droit 78"/>
          <p:cNvCxnSpPr/>
          <p:nvPr/>
        </p:nvCxnSpPr>
        <p:spPr>
          <a:xfrm>
            <a:off x="5608083" y="4490888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0" name="Connecteur droit 79"/>
          <p:cNvCxnSpPr/>
          <p:nvPr/>
        </p:nvCxnSpPr>
        <p:spPr>
          <a:xfrm>
            <a:off x="9019896" y="4462983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0" name="Connecteur droit 89"/>
          <p:cNvCxnSpPr/>
          <p:nvPr/>
        </p:nvCxnSpPr>
        <p:spPr>
          <a:xfrm>
            <a:off x="1916250" y="4985002"/>
            <a:ext cx="9000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3" name="Imag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1078" y="5057327"/>
            <a:ext cx="461787" cy="468000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1605" y="5081854"/>
            <a:ext cx="468000" cy="468000"/>
          </a:xfrm>
          <a:prstGeom prst="rect">
            <a:avLst/>
          </a:prstGeom>
        </p:spPr>
      </p:pic>
      <p:sp>
        <p:nvSpPr>
          <p:cNvPr id="45" name="Rectangle 44"/>
          <p:cNvSpPr/>
          <p:nvPr/>
        </p:nvSpPr>
        <p:spPr>
          <a:xfrm>
            <a:off x="6498542" y="4583259"/>
            <a:ext cx="720000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Motif</a:t>
            </a:r>
          </a:p>
        </p:txBody>
      </p:sp>
      <p:cxnSp>
        <p:nvCxnSpPr>
          <p:cNvPr id="49" name="Connecteur droit 48"/>
          <p:cNvCxnSpPr/>
          <p:nvPr/>
        </p:nvCxnSpPr>
        <p:spPr>
          <a:xfrm>
            <a:off x="8094880" y="4462983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1" name="Rectangle 50"/>
          <p:cNvSpPr/>
          <p:nvPr/>
        </p:nvSpPr>
        <p:spPr>
          <a:xfrm>
            <a:off x="5795748" y="5127676"/>
            <a:ext cx="216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53" name="Connecteur droit 52"/>
          <p:cNvCxnSpPr/>
          <p:nvPr/>
        </p:nvCxnSpPr>
        <p:spPr>
          <a:xfrm>
            <a:off x="9932899" y="4462983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4" name="Titre 1"/>
          <p:cNvSpPr txBox="1">
            <a:spLocks/>
          </p:cNvSpPr>
          <p:nvPr/>
        </p:nvSpPr>
        <p:spPr>
          <a:xfrm>
            <a:off x="9032899" y="4553097"/>
            <a:ext cx="900000" cy="3947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Imprimer</a:t>
            </a:r>
            <a:endParaRPr lang="fr-FR" sz="1400" dirty="0"/>
          </a:p>
        </p:txBody>
      </p:sp>
      <p:sp>
        <p:nvSpPr>
          <p:cNvPr id="7" name="Rectangle 6"/>
          <p:cNvSpPr/>
          <p:nvPr/>
        </p:nvSpPr>
        <p:spPr>
          <a:xfrm>
            <a:off x="145418" y="6368096"/>
            <a:ext cx="87256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smtClean="0"/>
              <a:t>Cet tableau est dynamique, il s’affiche a chaque fois on </a:t>
            </a:r>
            <a:r>
              <a:rPr lang="fr-FR" dirty="0"/>
              <a:t>ajoutent </a:t>
            </a:r>
            <a:r>
              <a:rPr lang="fr-FR" dirty="0" smtClean="0"/>
              <a:t>des spécialités médicales.</a:t>
            </a:r>
            <a:endParaRPr lang="fr-FR" dirty="0"/>
          </a:p>
        </p:txBody>
      </p:sp>
      <p:sp>
        <p:nvSpPr>
          <p:cNvPr id="55" name="Rectangle 54"/>
          <p:cNvSpPr/>
          <p:nvPr/>
        </p:nvSpPr>
        <p:spPr>
          <a:xfrm>
            <a:off x="1960621" y="1633784"/>
            <a:ext cx="1030986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Demandes</a:t>
            </a:r>
            <a:endParaRPr lang="fr-FR" sz="1400" dirty="0"/>
          </a:p>
        </p:txBody>
      </p:sp>
      <p:sp>
        <p:nvSpPr>
          <p:cNvPr id="56" name="Rectangle 55"/>
          <p:cNvSpPr/>
          <p:nvPr/>
        </p:nvSpPr>
        <p:spPr>
          <a:xfrm>
            <a:off x="3022137" y="1640378"/>
            <a:ext cx="1332886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Compte rendu</a:t>
            </a:r>
            <a:endParaRPr lang="fr-FR" sz="1400" dirty="0"/>
          </a:p>
        </p:txBody>
      </p:sp>
      <p:pic>
        <p:nvPicPr>
          <p:cNvPr id="57" name="Image 5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1293" y="5046104"/>
            <a:ext cx="54000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81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45 – Spécialités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Consultation / Compte rendu</a:t>
            </a:r>
            <a:endParaRPr 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191992" y="689428"/>
            <a:ext cx="11758269" cy="604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1964661" y="853386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355023" y="840281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182390" y="859793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152059" y="898412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326245" y="853688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7736488" y="905040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1914071" y="784044"/>
            <a:ext cx="8092931" cy="53385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1952709" y="2077367"/>
            <a:ext cx="8028000" cy="2153601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345444" y="924164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434893" y="907746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099371" y="900908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7785158" y="932612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273503" y="700949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2825" y="2044085"/>
            <a:ext cx="152967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600" b="1" u="sng" dirty="0" smtClean="0"/>
              <a:t>Compte rendu</a:t>
            </a:r>
            <a:endParaRPr lang="fr-FR" sz="1600" b="1" u="sng" dirty="0"/>
          </a:p>
        </p:txBody>
      </p:sp>
      <p:sp>
        <p:nvSpPr>
          <p:cNvPr id="82" name="Titre 1"/>
          <p:cNvSpPr txBox="1">
            <a:spLocks/>
          </p:cNvSpPr>
          <p:nvPr/>
        </p:nvSpPr>
        <p:spPr>
          <a:xfrm>
            <a:off x="2093662" y="2286266"/>
            <a:ext cx="1110455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Spécialité</a:t>
            </a:r>
            <a:endParaRPr lang="fr-FR" sz="1400" dirty="0"/>
          </a:p>
        </p:txBody>
      </p:sp>
      <p:sp>
        <p:nvSpPr>
          <p:cNvPr id="114" name="Rectangle 113"/>
          <p:cNvSpPr/>
          <p:nvPr/>
        </p:nvSpPr>
        <p:spPr>
          <a:xfrm>
            <a:off x="3242756" y="2288913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8" name="Triangle isocèle 117"/>
          <p:cNvSpPr/>
          <p:nvPr/>
        </p:nvSpPr>
        <p:spPr>
          <a:xfrm rot="10800000">
            <a:off x="4761372" y="2309921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2" name="Rectangle 121"/>
          <p:cNvSpPr/>
          <p:nvPr/>
        </p:nvSpPr>
        <p:spPr>
          <a:xfrm>
            <a:off x="2057395" y="3285429"/>
            <a:ext cx="1188000" cy="324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Commentaire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28" name="Rectangle 127"/>
          <p:cNvSpPr/>
          <p:nvPr/>
        </p:nvSpPr>
        <p:spPr>
          <a:xfrm>
            <a:off x="3242755" y="3279921"/>
            <a:ext cx="5285733" cy="829984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6" name="Titre 1"/>
          <p:cNvSpPr txBox="1">
            <a:spLocks/>
          </p:cNvSpPr>
          <p:nvPr/>
        </p:nvSpPr>
        <p:spPr>
          <a:xfrm>
            <a:off x="2080823" y="2792391"/>
            <a:ext cx="720000" cy="3837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</a:t>
            </a:r>
            <a:endParaRPr lang="fr-FR" sz="1400" dirty="0"/>
          </a:p>
        </p:txBody>
      </p:sp>
      <p:sp>
        <p:nvSpPr>
          <p:cNvPr id="47" name="Rectangle 46"/>
          <p:cNvSpPr/>
          <p:nvPr/>
        </p:nvSpPr>
        <p:spPr>
          <a:xfrm>
            <a:off x="3267140" y="2792913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8" name="Rectangle 47"/>
          <p:cNvSpPr/>
          <p:nvPr/>
        </p:nvSpPr>
        <p:spPr>
          <a:xfrm>
            <a:off x="8703677" y="3729582"/>
            <a:ext cx="10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Ajouter</a:t>
            </a:r>
          </a:p>
        </p:txBody>
      </p:sp>
      <p:sp>
        <p:nvSpPr>
          <p:cNvPr id="50" name="Titre 1"/>
          <p:cNvSpPr txBox="1">
            <a:spLocks/>
          </p:cNvSpPr>
          <p:nvPr/>
        </p:nvSpPr>
        <p:spPr>
          <a:xfrm>
            <a:off x="4291154" y="4538121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</a:t>
            </a:r>
            <a:endParaRPr lang="fr-FR" sz="1400" dirty="0"/>
          </a:p>
        </p:txBody>
      </p:sp>
      <p:sp>
        <p:nvSpPr>
          <p:cNvPr id="52" name="Rectangle 51"/>
          <p:cNvSpPr/>
          <p:nvPr/>
        </p:nvSpPr>
        <p:spPr>
          <a:xfrm>
            <a:off x="4291244" y="5111943"/>
            <a:ext cx="108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6" name="Titre 1"/>
          <p:cNvSpPr txBox="1">
            <a:spLocks/>
          </p:cNvSpPr>
          <p:nvPr/>
        </p:nvSpPr>
        <p:spPr>
          <a:xfrm>
            <a:off x="2363784" y="4516608"/>
            <a:ext cx="1242463" cy="3947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Spécialité</a:t>
            </a:r>
            <a:endParaRPr lang="fr-FR" sz="1400" dirty="0"/>
          </a:p>
        </p:txBody>
      </p:sp>
      <p:sp>
        <p:nvSpPr>
          <p:cNvPr id="69" name="Rectangle 68"/>
          <p:cNvSpPr/>
          <p:nvPr/>
        </p:nvSpPr>
        <p:spPr>
          <a:xfrm>
            <a:off x="9029953" y="4562217"/>
            <a:ext cx="972000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Supprimer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2050138" y="5116945"/>
            <a:ext cx="180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4" name="Rectangle 73"/>
          <p:cNvSpPr/>
          <p:nvPr/>
        </p:nvSpPr>
        <p:spPr>
          <a:xfrm>
            <a:off x="1915185" y="4471838"/>
            <a:ext cx="8064000" cy="1188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5" name="Titre 1"/>
          <p:cNvSpPr txBox="1">
            <a:spLocks/>
          </p:cNvSpPr>
          <p:nvPr/>
        </p:nvSpPr>
        <p:spPr>
          <a:xfrm>
            <a:off x="8119959" y="4551761"/>
            <a:ext cx="90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Modifier</a:t>
            </a:r>
            <a:endParaRPr lang="fr-FR" sz="1400" dirty="0"/>
          </a:p>
        </p:txBody>
      </p:sp>
      <p:cxnSp>
        <p:nvCxnSpPr>
          <p:cNvPr id="78" name="Connecteur droit 77"/>
          <p:cNvCxnSpPr/>
          <p:nvPr/>
        </p:nvCxnSpPr>
        <p:spPr>
          <a:xfrm>
            <a:off x="4056179" y="4471838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9" name="Connecteur droit 78"/>
          <p:cNvCxnSpPr/>
          <p:nvPr/>
        </p:nvCxnSpPr>
        <p:spPr>
          <a:xfrm>
            <a:off x="5608083" y="4490888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0" name="Connecteur droit 89"/>
          <p:cNvCxnSpPr/>
          <p:nvPr/>
        </p:nvCxnSpPr>
        <p:spPr>
          <a:xfrm>
            <a:off x="1916250" y="4985002"/>
            <a:ext cx="806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3" name="Imag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1078" y="5057327"/>
            <a:ext cx="461787" cy="468000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7204" y="5081854"/>
            <a:ext cx="468000" cy="468000"/>
          </a:xfrm>
          <a:prstGeom prst="rect">
            <a:avLst/>
          </a:prstGeom>
        </p:spPr>
      </p:pic>
      <p:sp>
        <p:nvSpPr>
          <p:cNvPr id="45" name="Rectangle 44"/>
          <p:cNvSpPr/>
          <p:nvPr/>
        </p:nvSpPr>
        <p:spPr>
          <a:xfrm>
            <a:off x="6240962" y="4583259"/>
            <a:ext cx="1260000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Commentaire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cxnSp>
        <p:nvCxnSpPr>
          <p:cNvPr id="49" name="Connecteur droit 48"/>
          <p:cNvCxnSpPr/>
          <p:nvPr/>
        </p:nvCxnSpPr>
        <p:spPr>
          <a:xfrm>
            <a:off x="8094880" y="4462983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1" name="Rectangle 50"/>
          <p:cNvSpPr/>
          <p:nvPr/>
        </p:nvSpPr>
        <p:spPr>
          <a:xfrm>
            <a:off x="5795748" y="5127676"/>
            <a:ext cx="216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" name="Rectangle 6"/>
          <p:cNvSpPr/>
          <p:nvPr/>
        </p:nvSpPr>
        <p:spPr>
          <a:xfrm>
            <a:off x="145418" y="6368096"/>
            <a:ext cx="87256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smtClean="0"/>
              <a:t>Cet tableau est dynamique, il s’affiche a chaque fois on </a:t>
            </a:r>
            <a:r>
              <a:rPr lang="fr-FR" dirty="0"/>
              <a:t>ajoutent </a:t>
            </a:r>
            <a:r>
              <a:rPr lang="fr-FR" dirty="0" smtClean="0"/>
              <a:t>des spécialités médicales.</a:t>
            </a:r>
            <a:endParaRPr lang="fr-FR" dirty="0"/>
          </a:p>
        </p:txBody>
      </p:sp>
      <p:sp>
        <p:nvSpPr>
          <p:cNvPr id="55" name="Rectangle 54"/>
          <p:cNvSpPr/>
          <p:nvPr/>
        </p:nvSpPr>
        <p:spPr>
          <a:xfrm>
            <a:off x="1960621" y="1633784"/>
            <a:ext cx="1030986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Demandes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022137" y="1640378"/>
            <a:ext cx="1332886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Compte rendu</a:t>
            </a:r>
          </a:p>
        </p:txBody>
      </p:sp>
      <p:cxnSp>
        <p:nvCxnSpPr>
          <p:cNvPr id="57" name="Connecteur droit 56"/>
          <p:cNvCxnSpPr/>
          <p:nvPr/>
        </p:nvCxnSpPr>
        <p:spPr>
          <a:xfrm>
            <a:off x="9020011" y="4473714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8" name="Rectangle 57"/>
          <p:cNvSpPr/>
          <p:nvPr/>
        </p:nvSpPr>
        <p:spPr>
          <a:xfrm>
            <a:off x="7785158" y="5775178"/>
            <a:ext cx="2202435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Imprimer état récapitulatif</a:t>
            </a:r>
          </a:p>
        </p:txBody>
      </p:sp>
    </p:spTree>
    <p:extLst>
      <p:ext uri="{BB962C8B-B14F-4D97-AF65-F5344CB8AC3E}">
        <p14:creationId xmlns:p14="http://schemas.microsoft.com/office/powerpoint/2010/main" val="3992958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46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xploration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Biologiques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/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Demandées</a:t>
            </a:r>
            <a:endParaRPr 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191991" y="573517"/>
            <a:ext cx="11880000" cy="622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2479820" y="685959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870182" y="672854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697549" y="692366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667218" y="730985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841404" y="686261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8251647" y="737613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2429229" y="627099"/>
            <a:ext cx="6892827" cy="4643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860603" y="75673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950052" y="740319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614530" y="746360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8300317" y="765185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273503" y="533522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-205984" y="1144109"/>
            <a:ext cx="1080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Demandées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93056" y="1150737"/>
            <a:ext cx="180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400" dirty="0"/>
              <a:t>Historique demandes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09129" y="1153354"/>
            <a:ext cx="1296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400" dirty="0"/>
              <a:t>Saisie résultats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016169" y="1146342"/>
            <a:ext cx="1908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Modifications </a:t>
            </a:r>
            <a:r>
              <a:rPr lang="fr-FR" sz="1400" dirty="0" smtClean="0"/>
              <a:t>résultats</a:t>
            </a:r>
            <a:endParaRPr lang="fr-FR" sz="1400" dirty="0"/>
          </a:p>
        </p:txBody>
      </p:sp>
      <p:sp>
        <p:nvSpPr>
          <p:cNvPr id="62" name="Rectangle 61"/>
          <p:cNvSpPr/>
          <p:nvPr/>
        </p:nvSpPr>
        <p:spPr>
          <a:xfrm>
            <a:off x="5943472" y="1150737"/>
            <a:ext cx="151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Résultats du </a:t>
            </a:r>
            <a:r>
              <a:rPr lang="fr-FR" sz="1400" dirty="0" smtClean="0"/>
              <a:t>Labo</a:t>
            </a:r>
            <a:endParaRPr lang="fr-FR" sz="1400" dirty="0"/>
          </a:p>
        </p:txBody>
      </p:sp>
      <p:sp>
        <p:nvSpPr>
          <p:cNvPr id="63" name="Rectangle 62"/>
          <p:cNvSpPr/>
          <p:nvPr/>
        </p:nvSpPr>
        <p:spPr>
          <a:xfrm>
            <a:off x="7476019" y="1141039"/>
            <a:ext cx="2016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Statistiques des </a:t>
            </a:r>
            <a:r>
              <a:rPr lang="fr-FR" sz="1400" dirty="0" smtClean="0"/>
              <a:t>analyses</a:t>
            </a:r>
            <a:endParaRPr lang="fr-FR" sz="1400" dirty="0"/>
          </a:p>
        </p:txBody>
      </p:sp>
      <p:sp>
        <p:nvSpPr>
          <p:cNvPr id="65" name="Rectangle 64"/>
          <p:cNvSpPr/>
          <p:nvPr/>
        </p:nvSpPr>
        <p:spPr>
          <a:xfrm>
            <a:off x="9501330" y="1146938"/>
            <a:ext cx="1656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Historique </a:t>
            </a:r>
            <a:r>
              <a:rPr lang="fr-FR" sz="1400" dirty="0" smtClean="0"/>
              <a:t>résultats</a:t>
            </a:r>
            <a:endParaRPr lang="fr-FR" sz="1400" dirty="0"/>
          </a:p>
        </p:txBody>
      </p:sp>
      <p:sp>
        <p:nvSpPr>
          <p:cNvPr id="67" name="Rectangle 66"/>
          <p:cNvSpPr/>
          <p:nvPr/>
        </p:nvSpPr>
        <p:spPr>
          <a:xfrm>
            <a:off x="11182818" y="1139928"/>
            <a:ext cx="1224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Microbiologie</a:t>
            </a:r>
            <a:endParaRPr lang="fr-FR" sz="1400" dirty="0"/>
          </a:p>
        </p:txBody>
      </p:sp>
      <p:sp>
        <p:nvSpPr>
          <p:cNvPr id="115" name="Rectangle 114"/>
          <p:cNvSpPr/>
          <p:nvPr/>
        </p:nvSpPr>
        <p:spPr>
          <a:xfrm>
            <a:off x="265576" y="1571597"/>
            <a:ext cx="10617072" cy="3927682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9" name="Titre 1"/>
          <p:cNvSpPr txBox="1">
            <a:spLocks/>
          </p:cNvSpPr>
          <p:nvPr/>
        </p:nvSpPr>
        <p:spPr>
          <a:xfrm>
            <a:off x="470926" y="1986558"/>
            <a:ext cx="72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Famille</a:t>
            </a:r>
            <a:endParaRPr lang="fr-FR" sz="1400" dirty="0"/>
          </a:p>
        </p:txBody>
      </p:sp>
      <p:sp>
        <p:nvSpPr>
          <p:cNvPr id="120" name="Rectangle 119"/>
          <p:cNvSpPr/>
          <p:nvPr/>
        </p:nvSpPr>
        <p:spPr>
          <a:xfrm>
            <a:off x="1536042" y="2022208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1" name="Titre 1"/>
          <p:cNvSpPr txBox="1">
            <a:spLocks/>
          </p:cNvSpPr>
          <p:nvPr/>
        </p:nvSpPr>
        <p:spPr>
          <a:xfrm>
            <a:off x="483844" y="1604035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Demandeur</a:t>
            </a:r>
            <a:endParaRPr lang="fr-FR" sz="1400" dirty="0"/>
          </a:p>
        </p:txBody>
      </p:sp>
      <p:sp>
        <p:nvSpPr>
          <p:cNvPr id="123" name="Triangle isocèle 122"/>
          <p:cNvSpPr/>
          <p:nvPr/>
        </p:nvSpPr>
        <p:spPr>
          <a:xfrm rot="10800000">
            <a:off x="3133366" y="2036686"/>
            <a:ext cx="180000" cy="252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4" name="Rectangle 123"/>
          <p:cNvSpPr/>
          <p:nvPr/>
        </p:nvSpPr>
        <p:spPr>
          <a:xfrm>
            <a:off x="447537" y="2496322"/>
            <a:ext cx="720000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Groupe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1541376" y="1643194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9" name="Titre 1"/>
          <p:cNvSpPr txBox="1">
            <a:spLocks/>
          </p:cNvSpPr>
          <p:nvPr/>
        </p:nvSpPr>
        <p:spPr>
          <a:xfrm>
            <a:off x="770144" y="3230063"/>
            <a:ext cx="126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dirty="0" smtClean="0"/>
              <a:t>Bilan standard</a:t>
            </a:r>
            <a:endParaRPr lang="fr-FR" sz="1400" b="1" dirty="0"/>
          </a:p>
        </p:txBody>
      </p:sp>
      <p:sp>
        <p:nvSpPr>
          <p:cNvPr id="130" name="Rectangle 129"/>
          <p:cNvSpPr/>
          <p:nvPr/>
        </p:nvSpPr>
        <p:spPr>
          <a:xfrm>
            <a:off x="1542144" y="2485731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1" name="Triangle isocèle 130"/>
          <p:cNvSpPr/>
          <p:nvPr/>
        </p:nvSpPr>
        <p:spPr>
          <a:xfrm rot="10800000">
            <a:off x="3145639" y="2500209"/>
            <a:ext cx="180000" cy="252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3" name="Triangle isocèle 132"/>
          <p:cNvSpPr/>
          <p:nvPr/>
        </p:nvSpPr>
        <p:spPr>
          <a:xfrm rot="10800000">
            <a:off x="3131218" y="1661053"/>
            <a:ext cx="180000" cy="252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/>
          <p:cNvSpPr/>
          <p:nvPr/>
        </p:nvSpPr>
        <p:spPr>
          <a:xfrm>
            <a:off x="550216" y="3298818"/>
            <a:ext cx="216000" cy="216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4" name="Rectangle 133"/>
          <p:cNvSpPr/>
          <p:nvPr/>
        </p:nvSpPr>
        <p:spPr>
          <a:xfrm>
            <a:off x="458268" y="2932054"/>
            <a:ext cx="720000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À faire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35" name="Rectangle 134"/>
          <p:cNvSpPr/>
          <p:nvPr/>
        </p:nvSpPr>
        <p:spPr>
          <a:xfrm>
            <a:off x="1552875" y="2921463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6" name="Triangle isocèle 135"/>
          <p:cNvSpPr/>
          <p:nvPr/>
        </p:nvSpPr>
        <p:spPr>
          <a:xfrm rot="10800000">
            <a:off x="3156370" y="2935941"/>
            <a:ext cx="180000" cy="252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7" name="Rectangle 136"/>
          <p:cNvSpPr/>
          <p:nvPr/>
        </p:nvSpPr>
        <p:spPr>
          <a:xfrm>
            <a:off x="483844" y="3576017"/>
            <a:ext cx="9149093" cy="1807618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" name="Rectangle 16"/>
          <p:cNvSpPr/>
          <p:nvPr/>
        </p:nvSpPr>
        <p:spPr>
          <a:xfrm>
            <a:off x="889481" y="3626189"/>
            <a:ext cx="1512273" cy="324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Anticorps anti HBS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6733" y="3943540"/>
            <a:ext cx="1529906" cy="324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Anticorps anti HCV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1733" y="4221995"/>
            <a:ext cx="1895391" cy="324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Anticorps anti HIV (1+2)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1224" y="4505881"/>
            <a:ext cx="925703" cy="324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Créatinine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9612" y="4787746"/>
            <a:ext cx="2044727" cy="324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CRP = C-Réactive Protéine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46645" y="3634104"/>
            <a:ext cx="463588" cy="324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FNS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51107" y="3928848"/>
            <a:ext cx="849335" cy="324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Glycémie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59524" y="4223226"/>
            <a:ext cx="2606739" cy="324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Groupage sanguin ABO /Rhésus 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70577" y="4503597"/>
            <a:ext cx="437940" cy="324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INR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69344" y="4780455"/>
            <a:ext cx="1707199" cy="324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Ionogramme sanguin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2794" y="3603912"/>
            <a:ext cx="839653" cy="324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TCA /TCK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25673" y="3904018"/>
            <a:ext cx="1316899" cy="324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Temps de Quick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25686" y="4199484"/>
            <a:ext cx="362600" cy="324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TP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40365" y="4465835"/>
            <a:ext cx="911083" cy="324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Troponine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24269" y="4753857"/>
            <a:ext cx="1220783" cy="324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Urée sanguine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33012" y="5033876"/>
            <a:ext cx="2299925" cy="324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VS (vitesse de sédimentation)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689737" y="3695919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3" name="Rectangle 152"/>
          <p:cNvSpPr/>
          <p:nvPr/>
        </p:nvSpPr>
        <p:spPr>
          <a:xfrm>
            <a:off x="7127035" y="5097563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4" name="Rectangle 153"/>
          <p:cNvSpPr/>
          <p:nvPr/>
        </p:nvSpPr>
        <p:spPr>
          <a:xfrm>
            <a:off x="698320" y="4000718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5" name="Rectangle 154"/>
          <p:cNvSpPr/>
          <p:nvPr/>
        </p:nvSpPr>
        <p:spPr>
          <a:xfrm>
            <a:off x="696175" y="4294788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6" name="Rectangle 155"/>
          <p:cNvSpPr/>
          <p:nvPr/>
        </p:nvSpPr>
        <p:spPr>
          <a:xfrm>
            <a:off x="694027" y="4575968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7" name="Rectangle 156"/>
          <p:cNvSpPr/>
          <p:nvPr/>
        </p:nvSpPr>
        <p:spPr>
          <a:xfrm>
            <a:off x="691883" y="4844274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8" name="Rectangle 157"/>
          <p:cNvSpPr/>
          <p:nvPr/>
        </p:nvSpPr>
        <p:spPr>
          <a:xfrm>
            <a:off x="3855795" y="3693771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1" name="Rectangle 190"/>
          <p:cNvSpPr/>
          <p:nvPr/>
        </p:nvSpPr>
        <p:spPr>
          <a:xfrm>
            <a:off x="3864378" y="3998570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2" name="Rectangle 191"/>
          <p:cNvSpPr/>
          <p:nvPr/>
        </p:nvSpPr>
        <p:spPr>
          <a:xfrm>
            <a:off x="3862233" y="4292640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3" name="Rectangle 192"/>
          <p:cNvSpPr/>
          <p:nvPr/>
        </p:nvSpPr>
        <p:spPr>
          <a:xfrm>
            <a:off x="3860085" y="4573820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4" name="Rectangle 193"/>
          <p:cNvSpPr/>
          <p:nvPr/>
        </p:nvSpPr>
        <p:spPr>
          <a:xfrm>
            <a:off x="3857941" y="4842126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5" name="Rectangle 194"/>
          <p:cNvSpPr/>
          <p:nvPr/>
        </p:nvSpPr>
        <p:spPr>
          <a:xfrm>
            <a:off x="7124887" y="3665865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6" name="Rectangle 195"/>
          <p:cNvSpPr/>
          <p:nvPr/>
        </p:nvSpPr>
        <p:spPr>
          <a:xfrm>
            <a:off x="7120591" y="3970664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7" name="Rectangle 196"/>
          <p:cNvSpPr/>
          <p:nvPr/>
        </p:nvSpPr>
        <p:spPr>
          <a:xfrm>
            <a:off x="7118446" y="4264734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8" name="Rectangle 197"/>
          <p:cNvSpPr/>
          <p:nvPr/>
        </p:nvSpPr>
        <p:spPr>
          <a:xfrm>
            <a:off x="7116298" y="4545914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9" name="Rectangle 198"/>
          <p:cNvSpPr/>
          <p:nvPr/>
        </p:nvSpPr>
        <p:spPr>
          <a:xfrm>
            <a:off x="7114154" y="4814220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0" name="Titre 1"/>
          <p:cNvSpPr txBox="1">
            <a:spLocks/>
          </p:cNvSpPr>
          <p:nvPr/>
        </p:nvSpPr>
        <p:spPr>
          <a:xfrm>
            <a:off x="3392322" y="1614766"/>
            <a:ext cx="2712263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dirty="0" smtClean="0"/>
              <a:t>Demandeur</a:t>
            </a:r>
            <a:r>
              <a:rPr lang="fr-FR" sz="1400" dirty="0" smtClean="0"/>
              <a:t> : médecin demandeur</a:t>
            </a:r>
            <a:endParaRPr lang="fr-FR" sz="1400" dirty="0"/>
          </a:p>
        </p:txBody>
      </p:sp>
      <p:sp>
        <p:nvSpPr>
          <p:cNvPr id="201" name="Titre 1"/>
          <p:cNvSpPr txBox="1">
            <a:spLocks/>
          </p:cNvSpPr>
          <p:nvPr/>
        </p:nvSpPr>
        <p:spPr>
          <a:xfrm>
            <a:off x="3418043" y="1984410"/>
            <a:ext cx="6608081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dirty="0" smtClean="0"/>
              <a:t>Famille</a:t>
            </a:r>
            <a:r>
              <a:rPr lang="fr-FR" sz="1400" dirty="0" smtClean="0"/>
              <a:t> : famille des analyses biologique, chaque famille ayant des groupes des analyses</a:t>
            </a:r>
            <a:endParaRPr lang="fr-FR" sz="1400" dirty="0"/>
          </a:p>
        </p:txBody>
      </p:sp>
      <p:sp>
        <p:nvSpPr>
          <p:cNvPr id="202" name="Rectangle 201"/>
          <p:cNvSpPr/>
          <p:nvPr/>
        </p:nvSpPr>
        <p:spPr>
          <a:xfrm>
            <a:off x="3446168" y="2435549"/>
            <a:ext cx="3168361" cy="386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b="1" dirty="0" smtClean="0">
                <a:latin typeface="+mj-lt"/>
                <a:ea typeface="+mj-ea"/>
                <a:cs typeface="+mj-cs"/>
              </a:rPr>
              <a:t>Groupe</a:t>
            </a:r>
            <a:r>
              <a:rPr lang="fr-FR" sz="1400" dirty="0" smtClean="0">
                <a:latin typeface="+mj-lt"/>
                <a:ea typeface="+mj-ea"/>
                <a:cs typeface="+mj-cs"/>
              </a:rPr>
              <a:t> : groupe des analyse biologique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203" name="Rectangle 202"/>
          <p:cNvSpPr/>
          <p:nvPr/>
        </p:nvSpPr>
        <p:spPr>
          <a:xfrm>
            <a:off x="3482658" y="2891269"/>
            <a:ext cx="3904821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b="1" dirty="0" smtClean="0">
                <a:latin typeface="+mj-lt"/>
                <a:ea typeface="+mj-ea"/>
                <a:cs typeface="+mj-cs"/>
              </a:rPr>
              <a:t>À faire </a:t>
            </a:r>
            <a:r>
              <a:rPr lang="fr-FR" sz="1400" dirty="0" smtClean="0">
                <a:latin typeface="+mj-lt"/>
                <a:ea typeface="+mj-ea"/>
                <a:cs typeface="+mj-cs"/>
              </a:rPr>
              <a:t>: choix de faire les analyses, interne, externe 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204" name="Rectangle 203"/>
          <p:cNvSpPr/>
          <p:nvPr/>
        </p:nvSpPr>
        <p:spPr>
          <a:xfrm>
            <a:off x="9706522" y="5004481"/>
            <a:ext cx="10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Ajouter</a:t>
            </a:r>
          </a:p>
        </p:txBody>
      </p:sp>
      <p:sp>
        <p:nvSpPr>
          <p:cNvPr id="207" name="Titre 1"/>
          <p:cNvSpPr txBox="1">
            <a:spLocks/>
          </p:cNvSpPr>
          <p:nvPr/>
        </p:nvSpPr>
        <p:spPr>
          <a:xfrm>
            <a:off x="496349" y="5637071"/>
            <a:ext cx="2046077" cy="3947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Exploration </a:t>
            </a:r>
            <a:r>
              <a:rPr lang="fr-FR" sz="1400" dirty="0" smtClean="0"/>
              <a:t>demandées </a:t>
            </a:r>
            <a:endParaRPr lang="fr-FR" sz="1400" dirty="0"/>
          </a:p>
        </p:txBody>
      </p:sp>
      <p:sp>
        <p:nvSpPr>
          <p:cNvPr id="208" name="Rectangle 207"/>
          <p:cNvSpPr/>
          <p:nvPr/>
        </p:nvSpPr>
        <p:spPr>
          <a:xfrm>
            <a:off x="8154186" y="5682680"/>
            <a:ext cx="972000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Supprimer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10" name="Rectangle 209"/>
          <p:cNvSpPr/>
          <p:nvPr/>
        </p:nvSpPr>
        <p:spPr>
          <a:xfrm>
            <a:off x="305329" y="5592301"/>
            <a:ext cx="9324000" cy="977304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214" name="Connecteur droit 213"/>
          <p:cNvCxnSpPr/>
          <p:nvPr/>
        </p:nvCxnSpPr>
        <p:spPr>
          <a:xfrm>
            <a:off x="306388" y="6041070"/>
            <a:ext cx="932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216" name="Image 2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7198" y="6073527"/>
            <a:ext cx="468000" cy="468000"/>
          </a:xfrm>
          <a:prstGeom prst="rect">
            <a:avLst/>
          </a:prstGeom>
        </p:spPr>
      </p:pic>
      <p:cxnSp>
        <p:nvCxnSpPr>
          <p:cNvPr id="218" name="Connecteur droit 217"/>
          <p:cNvCxnSpPr/>
          <p:nvPr/>
        </p:nvCxnSpPr>
        <p:spPr>
          <a:xfrm flipH="1">
            <a:off x="7697549" y="5583446"/>
            <a:ext cx="0" cy="986159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19" name="Rectangle 218"/>
          <p:cNvSpPr/>
          <p:nvPr/>
        </p:nvSpPr>
        <p:spPr>
          <a:xfrm>
            <a:off x="669700" y="6173635"/>
            <a:ext cx="6948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21" name="Rectangle 220"/>
          <p:cNvSpPr/>
          <p:nvPr/>
        </p:nvSpPr>
        <p:spPr>
          <a:xfrm>
            <a:off x="9706522" y="6328916"/>
            <a:ext cx="10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Valider</a:t>
            </a:r>
          </a:p>
        </p:txBody>
      </p:sp>
      <p:sp>
        <p:nvSpPr>
          <p:cNvPr id="89" name="Titre 1"/>
          <p:cNvSpPr txBox="1">
            <a:spLocks/>
          </p:cNvSpPr>
          <p:nvPr/>
        </p:nvSpPr>
        <p:spPr>
          <a:xfrm>
            <a:off x="7658206" y="2893067"/>
            <a:ext cx="126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À prélever</a:t>
            </a:r>
            <a:endParaRPr lang="fr-FR" sz="1400" dirty="0"/>
          </a:p>
        </p:txBody>
      </p:sp>
      <p:sp>
        <p:nvSpPr>
          <p:cNvPr id="90" name="Rectangle 89"/>
          <p:cNvSpPr/>
          <p:nvPr/>
        </p:nvSpPr>
        <p:spPr>
          <a:xfrm>
            <a:off x="7438278" y="2961822"/>
            <a:ext cx="216000" cy="216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" name="Connecteur droit avec flèche 2"/>
          <p:cNvCxnSpPr/>
          <p:nvPr/>
        </p:nvCxnSpPr>
        <p:spPr>
          <a:xfrm flipV="1">
            <a:off x="10277341" y="5834130"/>
            <a:ext cx="605307" cy="4947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3" name="Titre 1"/>
          <p:cNvSpPr txBox="1">
            <a:spLocks/>
          </p:cNvSpPr>
          <p:nvPr/>
        </p:nvSpPr>
        <p:spPr>
          <a:xfrm>
            <a:off x="9973068" y="5519012"/>
            <a:ext cx="2046077" cy="3947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Imprimer un fichier PDF</a:t>
            </a:r>
            <a:endParaRPr lang="fr-FR" sz="1400" dirty="0"/>
          </a:p>
        </p:txBody>
      </p:sp>
      <p:sp>
        <p:nvSpPr>
          <p:cNvPr id="101" name="Titre 1"/>
          <p:cNvSpPr txBox="1">
            <a:spLocks/>
          </p:cNvSpPr>
          <p:nvPr/>
        </p:nvSpPr>
        <p:spPr>
          <a:xfrm>
            <a:off x="2123380" y="3215036"/>
            <a:ext cx="8759273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Le </a:t>
            </a:r>
            <a:r>
              <a:rPr lang="fr-FR" sz="1400" b="1" dirty="0" smtClean="0"/>
              <a:t>Bilan standard </a:t>
            </a:r>
            <a:r>
              <a:rPr lang="fr-FR" sz="1400" dirty="0" smtClean="0"/>
              <a:t>c’est un choix, le demandeur peut sélectionner un analyse biologique ou bien choisir le bilan standard</a:t>
            </a:r>
            <a:endParaRPr lang="fr-FR" sz="1400" b="1" dirty="0"/>
          </a:p>
        </p:txBody>
      </p:sp>
      <p:sp>
        <p:nvSpPr>
          <p:cNvPr id="102" name="Titre 1"/>
          <p:cNvSpPr txBox="1">
            <a:spLocks/>
          </p:cNvSpPr>
          <p:nvPr/>
        </p:nvSpPr>
        <p:spPr>
          <a:xfrm>
            <a:off x="203350" y="6595364"/>
            <a:ext cx="3243932" cy="2150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Cet tableau c’est un tableau dynamique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423586186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47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xploration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Biologiques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/ Historique demandes</a:t>
            </a:r>
            <a:endParaRPr lang="fr-FR" sz="1800" dirty="0"/>
          </a:p>
        </p:txBody>
      </p:sp>
      <p:sp>
        <p:nvSpPr>
          <p:cNvPr id="84" name="Rectangle 83"/>
          <p:cNvSpPr/>
          <p:nvPr/>
        </p:nvSpPr>
        <p:spPr>
          <a:xfrm>
            <a:off x="191991" y="573517"/>
            <a:ext cx="11880000" cy="622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2479820" y="685959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870182" y="672854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697549" y="692366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667218" y="730985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841404" y="686261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8251647" y="737613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2429229" y="627099"/>
            <a:ext cx="6892827" cy="4643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860603" y="75673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950052" y="740319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614530" y="746360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8300317" y="765185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273503" y="533522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-205984" y="1144109"/>
            <a:ext cx="108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400" dirty="0"/>
              <a:t>Demandées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93056" y="1150737"/>
            <a:ext cx="1800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Historique demandes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09129" y="1153354"/>
            <a:ext cx="1296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400" dirty="0"/>
              <a:t>Saisie résultats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016169" y="1146342"/>
            <a:ext cx="1908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Modifications </a:t>
            </a:r>
            <a:r>
              <a:rPr lang="fr-FR" sz="1400" dirty="0" smtClean="0"/>
              <a:t>résultats</a:t>
            </a:r>
            <a:endParaRPr lang="fr-FR" sz="1400" dirty="0"/>
          </a:p>
        </p:txBody>
      </p:sp>
      <p:sp>
        <p:nvSpPr>
          <p:cNvPr id="62" name="Rectangle 61"/>
          <p:cNvSpPr/>
          <p:nvPr/>
        </p:nvSpPr>
        <p:spPr>
          <a:xfrm>
            <a:off x="5943472" y="1150737"/>
            <a:ext cx="151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Résultats du </a:t>
            </a:r>
            <a:r>
              <a:rPr lang="fr-FR" sz="1400" dirty="0" smtClean="0"/>
              <a:t>Labo</a:t>
            </a:r>
            <a:endParaRPr lang="fr-FR" sz="1400" dirty="0"/>
          </a:p>
        </p:txBody>
      </p:sp>
      <p:sp>
        <p:nvSpPr>
          <p:cNvPr id="63" name="Rectangle 62"/>
          <p:cNvSpPr/>
          <p:nvPr/>
        </p:nvSpPr>
        <p:spPr>
          <a:xfrm>
            <a:off x="7476019" y="1141039"/>
            <a:ext cx="2016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Statistiques des </a:t>
            </a:r>
            <a:r>
              <a:rPr lang="fr-FR" sz="1400" dirty="0" smtClean="0"/>
              <a:t>analyses</a:t>
            </a:r>
            <a:endParaRPr lang="fr-FR" sz="1400" dirty="0"/>
          </a:p>
        </p:txBody>
      </p:sp>
      <p:sp>
        <p:nvSpPr>
          <p:cNvPr id="65" name="Rectangle 64"/>
          <p:cNvSpPr/>
          <p:nvPr/>
        </p:nvSpPr>
        <p:spPr>
          <a:xfrm>
            <a:off x="9501330" y="1146938"/>
            <a:ext cx="1656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Historique </a:t>
            </a:r>
            <a:r>
              <a:rPr lang="fr-FR" sz="1400" dirty="0" smtClean="0"/>
              <a:t>résultats</a:t>
            </a:r>
            <a:endParaRPr lang="fr-FR" sz="1400" dirty="0"/>
          </a:p>
        </p:txBody>
      </p:sp>
      <p:sp>
        <p:nvSpPr>
          <p:cNvPr id="67" name="Rectangle 66"/>
          <p:cNvSpPr/>
          <p:nvPr/>
        </p:nvSpPr>
        <p:spPr>
          <a:xfrm>
            <a:off x="11182818" y="1139928"/>
            <a:ext cx="1224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Microbiologie</a:t>
            </a:r>
            <a:endParaRPr lang="fr-FR" sz="1400" dirty="0"/>
          </a:p>
        </p:txBody>
      </p:sp>
      <p:sp>
        <p:nvSpPr>
          <p:cNvPr id="101" name="Titre 1"/>
          <p:cNvSpPr txBox="1">
            <a:spLocks/>
          </p:cNvSpPr>
          <p:nvPr/>
        </p:nvSpPr>
        <p:spPr>
          <a:xfrm>
            <a:off x="3260844" y="1794918"/>
            <a:ext cx="1572344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Famille / Groupe</a:t>
            </a:r>
            <a:endParaRPr lang="fr-FR" sz="1400" dirty="0"/>
          </a:p>
        </p:txBody>
      </p:sp>
      <p:sp>
        <p:nvSpPr>
          <p:cNvPr id="103" name="Titre 1"/>
          <p:cNvSpPr txBox="1">
            <a:spLocks/>
          </p:cNvSpPr>
          <p:nvPr/>
        </p:nvSpPr>
        <p:spPr>
          <a:xfrm>
            <a:off x="1333474" y="1773405"/>
            <a:ext cx="1242463" cy="3947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demande</a:t>
            </a:r>
            <a:endParaRPr lang="fr-FR" sz="1400" dirty="0"/>
          </a:p>
        </p:txBody>
      </p:sp>
      <p:sp>
        <p:nvSpPr>
          <p:cNvPr id="104" name="Rectangle 103"/>
          <p:cNvSpPr/>
          <p:nvPr/>
        </p:nvSpPr>
        <p:spPr>
          <a:xfrm>
            <a:off x="8141309" y="1844772"/>
            <a:ext cx="972000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Supprimer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019828" y="2373742"/>
            <a:ext cx="180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6" name="Rectangle 105"/>
          <p:cNvSpPr/>
          <p:nvPr/>
        </p:nvSpPr>
        <p:spPr>
          <a:xfrm>
            <a:off x="884875" y="1728635"/>
            <a:ext cx="8280000" cy="1188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08" name="Connecteur droit 107"/>
          <p:cNvCxnSpPr/>
          <p:nvPr/>
        </p:nvCxnSpPr>
        <p:spPr>
          <a:xfrm>
            <a:off x="3025869" y="1728635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0" name="Connecteur droit 109"/>
          <p:cNvCxnSpPr/>
          <p:nvPr/>
        </p:nvCxnSpPr>
        <p:spPr>
          <a:xfrm>
            <a:off x="7216851" y="1719780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1" name="Connecteur droit 110"/>
          <p:cNvCxnSpPr/>
          <p:nvPr/>
        </p:nvCxnSpPr>
        <p:spPr>
          <a:xfrm>
            <a:off x="885940" y="2241799"/>
            <a:ext cx="8280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113" name="Image 1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8560" y="2338651"/>
            <a:ext cx="468000" cy="468000"/>
          </a:xfrm>
          <a:prstGeom prst="rect">
            <a:avLst/>
          </a:prstGeom>
        </p:spPr>
      </p:pic>
      <p:sp>
        <p:nvSpPr>
          <p:cNvPr id="117" name="Rectangle 116"/>
          <p:cNvSpPr/>
          <p:nvPr/>
        </p:nvSpPr>
        <p:spPr>
          <a:xfrm>
            <a:off x="3347728" y="2357550"/>
            <a:ext cx="35108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18" name="Connecteur droit 117"/>
          <p:cNvCxnSpPr/>
          <p:nvPr/>
        </p:nvCxnSpPr>
        <p:spPr>
          <a:xfrm>
            <a:off x="8129854" y="1719780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2" name="Titre 1"/>
          <p:cNvSpPr txBox="1">
            <a:spLocks/>
          </p:cNvSpPr>
          <p:nvPr/>
        </p:nvSpPr>
        <p:spPr>
          <a:xfrm>
            <a:off x="7229854" y="1784136"/>
            <a:ext cx="900000" cy="3947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Imprimer</a:t>
            </a:r>
            <a:endParaRPr lang="fr-FR" sz="1400" dirty="0"/>
          </a:p>
        </p:txBody>
      </p:sp>
      <p:sp>
        <p:nvSpPr>
          <p:cNvPr id="127" name="Titre 1"/>
          <p:cNvSpPr txBox="1">
            <a:spLocks/>
          </p:cNvSpPr>
          <p:nvPr/>
        </p:nvSpPr>
        <p:spPr>
          <a:xfrm>
            <a:off x="203350" y="6450372"/>
            <a:ext cx="3243932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Cet tableau c’est un tableau dynamique</a:t>
            </a:r>
            <a:endParaRPr lang="fr-FR" sz="1400" dirty="0"/>
          </a:p>
        </p:txBody>
      </p:sp>
      <p:pic>
        <p:nvPicPr>
          <p:cNvPr id="42" name="Image 4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4010" y="2341539"/>
            <a:ext cx="54000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72165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48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xploration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Biologiques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/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Saisie résultats</a:t>
            </a:r>
            <a:endParaRPr lang="fr-FR" sz="1800" dirty="0"/>
          </a:p>
        </p:txBody>
      </p:sp>
      <p:sp>
        <p:nvSpPr>
          <p:cNvPr id="84" name="Rectangle 83"/>
          <p:cNvSpPr/>
          <p:nvPr/>
        </p:nvSpPr>
        <p:spPr>
          <a:xfrm>
            <a:off x="191991" y="573517"/>
            <a:ext cx="11880000" cy="622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2479820" y="685959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870182" y="672854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697549" y="692366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667218" y="730985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841404" y="686261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8251647" y="737613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2429229" y="627099"/>
            <a:ext cx="6892827" cy="4643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860603" y="75673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950052" y="740319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614530" y="746360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8300317" y="765185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273503" y="533522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-205984" y="1144109"/>
            <a:ext cx="108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400" dirty="0"/>
              <a:t>Demandées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93056" y="1150737"/>
            <a:ext cx="180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400" dirty="0"/>
              <a:t>Historique demandes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09129" y="1153354"/>
            <a:ext cx="1296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Saisie résultats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016169" y="1146342"/>
            <a:ext cx="1908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Modifications </a:t>
            </a:r>
            <a:r>
              <a:rPr lang="fr-FR" sz="1400" dirty="0" smtClean="0"/>
              <a:t>résultats</a:t>
            </a:r>
            <a:endParaRPr lang="fr-FR" sz="1400" dirty="0"/>
          </a:p>
        </p:txBody>
      </p:sp>
      <p:sp>
        <p:nvSpPr>
          <p:cNvPr id="62" name="Rectangle 61"/>
          <p:cNvSpPr/>
          <p:nvPr/>
        </p:nvSpPr>
        <p:spPr>
          <a:xfrm>
            <a:off x="5943472" y="1150737"/>
            <a:ext cx="151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Résultats du </a:t>
            </a:r>
            <a:r>
              <a:rPr lang="fr-FR" sz="1400" dirty="0" smtClean="0"/>
              <a:t>Labo</a:t>
            </a:r>
            <a:endParaRPr lang="fr-FR" sz="1400" dirty="0"/>
          </a:p>
        </p:txBody>
      </p:sp>
      <p:sp>
        <p:nvSpPr>
          <p:cNvPr id="63" name="Rectangle 62"/>
          <p:cNvSpPr/>
          <p:nvPr/>
        </p:nvSpPr>
        <p:spPr>
          <a:xfrm>
            <a:off x="7476019" y="1141039"/>
            <a:ext cx="2016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Statistiques des </a:t>
            </a:r>
            <a:r>
              <a:rPr lang="fr-FR" sz="1400" dirty="0" smtClean="0"/>
              <a:t>analyses</a:t>
            </a:r>
            <a:endParaRPr lang="fr-FR" sz="1400" dirty="0"/>
          </a:p>
        </p:txBody>
      </p:sp>
      <p:sp>
        <p:nvSpPr>
          <p:cNvPr id="65" name="Rectangle 64"/>
          <p:cNvSpPr/>
          <p:nvPr/>
        </p:nvSpPr>
        <p:spPr>
          <a:xfrm>
            <a:off x="9501330" y="1146938"/>
            <a:ext cx="1656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Historique </a:t>
            </a:r>
            <a:r>
              <a:rPr lang="fr-FR" sz="1400" dirty="0" smtClean="0"/>
              <a:t>résultats</a:t>
            </a:r>
            <a:endParaRPr lang="fr-FR" sz="1400" dirty="0"/>
          </a:p>
        </p:txBody>
      </p:sp>
      <p:sp>
        <p:nvSpPr>
          <p:cNvPr id="67" name="Rectangle 66"/>
          <p:cNvSpPr/>
          <p:nvPr/>
        </p:nvSpPr>
        <p:spPr>
          <a:xfrm>
            <a:off x="11182818" y="1139928"/>
            <a:ext cx="1224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Microbiologie</a:t>
            </a:r>
            <a:endParaRPr lang="fr-FR" sz="1400" dirty="0"/>
          </a:p>
        </p:txBody>
      </p:sp>
      <p:sp>
        <p:nvSpPr>
          <p:cNvPr id="101" name="Titre 1"/>
          <p:cNvSpPr txBox="1">
            <a:spLocks/>
          </p:cNvSpPr>
          <p:nvPr/>
        </p:nvSpPr>
        <p:spPr>
          <a:xfrm>
            <a:off x="3260844" y="2657804"/>
            <a:ext cx="1572344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Résultats d’analyse</a:t>
            </a:r>
            <a:endParaRPr lang="fr-FR" sz="1400" dirty="0"/>
          </a:p>
        </p:txBody>
      </p:sp>
      <p:sp>
        <p:nvSpPr>
          <p:cNvPr id="103" name="Titre 1"/>
          <p:cNvSpPr txBox="1">
            <a:spLocks/>
          </p:cNvSpPr>
          <p:nvPr/>
        </p:nvSpPr>
        <p:spPr>
          <a:xfrm>
            <a:off x="1333474" y="2636291"/>
            <a:ext cx="1242463" cy="3947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Groupe</a:t>
            </a:r>
            <a:endParaRPr lang="fr-FR" sz="1400" dirty="0"/>
          </a:p>
        </p:txBody>
      </p:sp>
      <p:sp>
        <p:nvSpPr>
          <p:cNvPr id="106" name="Rectangle 105"/>
          <p:cNvSpPr/>
          <p:nvPr/>
        </p:nvSpPr>
        <p:spPr>
          <a:xfrm>
            <a:off x="884875" y="2591521"/>
            <a:ext cx="6156000" cy="1188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08" name="Connecteur droit 107"/>
          <p:cNvCxnSpPr/>
          <p:nvPr/>
        </p:nvCxnSpPr>
        <p:spPr>
          <a:xfrm>
            <a:off x="3025869" y="2591521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0" name="Connecteur droit 109"/>
          <p:cNvCxnSpPr/>
          <p:nvPr/>
        </p:nvCxnSpPr>
        <p:spPr>
          <a:xfrm>
            <a:off x="5078957" y="2582666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1" name="Connecteur droit 110"/>
          <p:cNvCxnSpPr/>
          <p:nvPr/>
        </p:nvCxnSpPr>
        <p:spPr>
          <a:xfrm>
            <a:off x="885940" y="3104685"/>
            <a:ext cx="6156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7" name="Rectangle 116"/>
          <p:cNvSpPr/>
          <p:nvPr/>
        </p:nvSpPr>
        <p:spPr>
          <a:xfrm>
            <a:off x="3334849" y="3220436"/>
            <a:ext cx="139949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1" name="Titre 1"/>
          <p:cNvSpPr txBox="1">
            <a:spLocks/>
          </p:cNvSpPr>
          <p:nvPr/>
        </p:nvSpPr>
        <p:spPr>
          <a:xfrm>
            <a:off x="960326" y="1793373"/>
            <a:ext cx="72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Famille</a:t>
            </a:r>
            <a:endParaRPr lang="fr-FR" sz="1400" dirty="0"/>
          </a:p>
        </p:txBody>
      </p:sp>
      <p:sp>
        <p:nvSpPr>
          <p:cNvPr id="42" name="Rectangle 41"/>
          <p:cNvSpPr/>
          <p:nvPr/>
        </p:nvSpPr>
        <p:spPr>
          <a:xfrm>
            <a:off x="1664833" y="1829023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3" name="Triangle isocèle 42"/>
          <p:cNvSpPr/>
          <p:nvPr/>
        </p:nvSpPr>
        <p:spPr>
          <a:xfrm rot="10800000">
            <a:off x="3262157" y="1843501"/>
            <a:ext cx="180000" cy="252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4" name="Rectangle 43"/>
          <p:cNvSpPr/>
          <p:nvPr/>
        </p:nvSpPr>
        <p:spPr>
          <a:xfrm>
            <a:off x="4517265" y="1826616"/>
            <a:ext cx="720000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Groupe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251261" y="1828904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6" name="Triangle isocèle 45"/>
          <p:cNvSpPr/>
          <p:nvPr/>
        </p:nvSpPr>
        <p:spPr>
          <a:xfrm rot="10800000">
            <a:off x="6854756" y="1843382"/>
            <a:ext cx="180000" cy="252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9" name="Titre 1"/>
          <p:cNvSpPr txBox="1">
            <a:spLocks/>
          </p:cNvSpPr>
          <p:nvPr/>
        </p:nvSpPr>
        <p:spPr>
          <a:xfrm>
            <a:off x="5254923" y="2668535"/>
            <a:ext cx="1572344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Unité de mesure</a:t>
            </a:r>
            <a:endParaRPr lang="fr-FR" sz="1400" dirty="0"/>
          </a:p>
        </p:txBody>
      </p:sp>
      <p:sp>
        <p:nvSpPr>
          <p:cNvPr id="50" name="Rectangle 49"/>
          <p:cNvSpPr/>
          <p:nvPr/>
        </p:nvSpPr>
        <p:spPr>
          <a:xfrm>
            <a:off x="5367567" y="3231167"/>
            <a:ext cx="139949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" name="Triangle isocèle 1"/>
          <p:cNvSpPr/>
          <p:nvPr/>
        </p:nvSpPr>
        <p:spPr>
          <a:xfrm rot="10800000">
            <a:off x="6528513" y="3256327"/>
            <a:ext cx="216000" cy="324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3" name="Rectangle 52"/>
          <p:cNvSpPr/>
          <p:nvPr/>
        </p:nvSpPr>
        <p:spPr>
          <a:xfrm>
            <a:off x="7435693" y="3634309"/>
            <a:ext cx="10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Ajouter</a:t>
            </a:r>
          </a:p>
        </p:txBody>
      </p:sp>
      <p:sp>
        <p:nvSpPr>
          <p:cNvPr id="54" name="Titre 1"/>
          <p:cNvSpPr txBox="1">
            <a:spLocks/>
          </p:cNvSpPr>
          <p:nvPr/>
        </p:nvSpPr>
        <p:spPr>
          <a:xfrm>
            <a:off x="3168543" y="4381424"/>
            <a:ext cx="1572344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Résultats d’analyse</a:t>
            </a:r>
            <a:endParaRPr lang="fr-FR" sz="1400" dirty="0"/>
          </a:p>
        </p:txBody>
      </p:sp>
      <p:sp>
        <p:nvSpPr>
          <p:cNvPr id="55" name="Titre 1"/>
          <p:cNvSpPr txBox="1">
            <a:spLocks/>
          </p:cNvSpPr>
          <p:nvPr/>
        </p:nvSpPr>
        <p:spPr>
          <a:xfrm>
            <a:off x="1241173" y="4359911"/>
            <a:ext cx="1242463" cy="3947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Groupe</a:t>
            </a:r>
            <a:endParaRPr lang="fr-FR" sz="1400" dirty="0"/>
          </a:p>
        </p:txBody>
      </p:sp>
      <p:sp>
        <p:nvSpPr>
          <p:cNvPr id="56" name="Rectangle 55"/>
          <p:cNvSpPr/>
          <p:nvPr/>
        </p:nvSpPr>
        <p:spPr>
          <a:xfrm>
            <a:off x="7211882" y="4431278"/>
            <a:ext cx="972000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Supprimer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27527" y="4960248"/>
            <a:ext cx="180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6" name="Rectangle 65"/>
          <p:cNvSpPr/>
          <p:nvPr/>
        </p:nvSpPr>
        <p:spPr>
          <a:xfrm>
            <a:off x="792574" y="4315141"/>
            <a:ext cx="7632966" cy="1188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68" name="Connecteur droit 67"/>
          <p:cNvCxnSpPr/>
          <p:nvPr/>
        </p:nvCxnSpPr>
        <p:spPr>
          <a:xfrm>
            <a:off x="2933568" y="4315141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9" name="Connecteur droit 68"/>
          <p:cNvCxnSpPr/>
          <p:nvPr/>
        </p:nvCxnSpPr>
        <p:spPr>
          <a:xfrm>
            <a:off x="4986656" y="4306286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0" name="Connecteur droit 69"/>
          <p:cNvCxnSpPr/>
          <p:nvPr/>
        </p:nvCxnSpPr>
        <p:spPr>
          <a:xfrm flipV="1">
            <a:off x="793639" y="4803671"/>
            <a:ext cx="7631901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71" name="Image 7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9133" y="4925157"/>
            <a:ext cx="468000" cy="468000"/>
          </a:xfrm>
          <a:prstGeom prst="rect">
            <a:avLst/>
          </a:prstGeom>
        </p:spPr>
      </p:pic>
      <p:sp>
        <p:nvSpPr>
          <p:cNvPr id="72" name="Rectangle 71"/>
          <p:cNvSpPr/>
          <p:nvPr/>
        </p:nvSpPr>
        <p:spPr>
          <a:xfrm>
            <a:off x="3242548" y="4944056"/>
            <a:ext cx="139949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6" name="Titre 1"/>
          <p:cNvSpPr txBox="1">
            <a:spLocks/>
          </p:cNvSpPr>
          <p:nvPr/>
        </p:nvSpPr>
        <p:spPr>
          <a:xfrm>
            <a:off x="5162622" y="4392155"/>
            <a:ext cx="1572344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Unité de mesure</a:t>
            </a:r>
            <a:endParaRPr lang="fr-FR" sz="1400" dirty="0"/>
          </a:p>
        </p:txBody>
      </p:sp>
      <p:sp>
        <p:nvSpPr>
          <p:cNvPr id="77" name="Rectangle 76"/>
          <p:cNvSpPr/>
          <p:nvPr/>
        </p:nvSpPr>
        <p:spPr>
          <a:xfrm>
            <a:off x="5275266" y="4954787"/>
            <a:ext cx="139949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1" name="Triangle isocèle 80"/>
          <p:cNvSpPr/>
          <p:nvPr/>
        </p:nvSpPr>
        <p:spPr>
          <a:xfrm rot="5400000">
            <a:off x="1059906" y="3173795"/>
            <a:ext cx="252000" cy="360000"/>
          </a:xfrm>
          <a:prstGeom prst="triangl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4" name="Connecteur droit 3"/>
          <p:cNvCxnSpPr/>
          <p:nvPr/>
        </p:nvCxnSpPr>
        <p:spPr>
          <a:xfrm>
            <a:off x="6950722" y="4321273"/>
            <a:ext cx="0" cy="1152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2" name="Rectangle 81"/>
          <p:cNvSpPr/>
          <p:nvPr/>
        </p:nvSpPr>
        <p:spPr>
          <a:xfrm>
            <a:off x="7369528" y="5658297"/>
            <a:ext cx="10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Valider</a:t>
            </a:r>
          </a:p>
        </p:txBody>
      </p:sp>
      <p:sp>
        <p:nvSpPr>
          <p:cNvPr id="90" name="Titre 1"/>
          <p:cNvSpPr txBox="1">
            <a:spLocks/>
          </p:cNvSpPr>
          <p:nvPr/>
        </p:nvSpPr>
        <p:spPr>
          <a:xfrm>
            <a:off x="203350" y="6450372"/>
            <a:ext cx="3243932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Ces tableaux sont des tableaux dynamique</a:t>
            </a:r>
            <a:endParaRPr lang="fr-FR" sz="1400" dirty="0"/>
          </a:p>
        </p:txBody>
      </p:sp>
      <p:sp>
        <p:nvSpPr>
          <p:cNvPr id="73" name="Rectangle 72"/>
          <p:cNvSpPr/>
          <p:nvPr/>
        </p:nvSpPr>
        <p:spPr>
          <a:xfrm>
            <a:off x="766816" y="1636334"/>
            <a:ext cx="6567714" cy="236198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4" name="Titre 1"/>
          <p:cNvSpPr txBox="1">
            <a:spLocks/>
          </p:cNvSpPr>
          <p:nvPr/>
        </p:nvSpPr>
        <p:spPr>
          <a:xfrm>
            <a:off x="1305568" y="3136424"/>
            <a:ext cx="1619715" cy="3947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Analyse sélectionné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83821026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49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xploration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Biologiques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/ Modifications résultats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91991" y="573517"/>
            <a:ext cx="11880000" cy="622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2479820" y="685959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870182" y="672854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697549" y="692366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667218" y="730985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841404" y="686261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8251647" y="737613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2429229" y="627099"/>
            <a:ext cx="6892827" cy="4643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860603" y="75673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950052" y="740319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614530" y="746360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8300317" y="765185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273503" y="533522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-205984" y="1144109"/>
            <a:ext cx="108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400" dirty="0"/>
              <a:t>Demandées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93056" y="1150737"/>
            <a:ext cx="180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400" dirty="0"/>
              <a:t>Historique demandes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09129" y="1153354"/>
            <a:ext cx="1296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400" dirty="0"/>
              <a:t>Saisie résultats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016169" y="1146342"/>
            <a:ext cx="1908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Modifications résultats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943472" y="1150737"/>
            <a:ext cx="151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Résultats du </a:t>
            </a:r>
            <a:r>
              <a:rPr lang="fr-FR" sz="1400" dirty="0" smtClean="0"/>
              <a:t>Labo</a:t>
            </a:r>
            <a:endParaRPr lang="fr-FR" sz="1400" dirty="0"/>
          </a:p>
        </p:txBody>
      </p:sp>
      <p:sp>
        <p:nvSpPr>
          <p:cNvPr id="63" name="Rectangle 62"/>
          <p:cNvSpPr/>
          <p:nvPr/>
        </p:nvSpPr>
        <p:spPr>
          <a:xfrm>
            <a:off x="7476019" y="1141039"/>
            <a:ext cx="2016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Statistiques des </a:t>
            </a:r>
            <a:r>
              <a:rPr lang="fr-FR" sz="1400" dirty="0" smtClean="0"/>
              <a:t>analyses</a:t>
            </a:r>
            <a:endParaRPr lang="fr-FR" sz="1400" dirty="0"/>
          </a:p>
        </p:txBody>
      </p:sp>
      <p:sp>
        <p:nvSpPr>
          <p:cNvPr id="65" name="Rectangle 64"/>
          <p:cNvSpPr/>
          <p:nvPr/>
        </p:nvSpPr>
        <p:spPr>
          <a:xfrm>
            <a:off x="9501330" y="1146938"/>
            <a:ext cx="1656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Historique </a:t>
            </a:r>
            <a:r>
              <a:rPr lang="fr-FR" sz="1400" dirty="0" smtClean="0"/>
              <a:t>résultats</a:t>
            </a:r>
            <a:endParaRPr lang="fr-FR" sz="1400" dirty="0"/>
          </a:p>
        </p:txBody>
      </p:sp>
      <p:sp>
        <p:nvSpPr>
          <p:cNvPr id="67" name="Rectangle 66"/>
          <p:cNvSpPr/>
          <p:nvPr/>
        </p:nvSpPr>
        <p:spPr>
          <a:xfrm>
            <a:off x="11182818" y="1139928"/>
            <a:ext cx="1224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Microbiologie</a:t>
            </a:r>
            <a:endParaRPr lang="fr-FR" sz="1400" dirty="0"/>
          </a:p>
        </p:txBody>
      </p:sp>
      <p:sp>
        <p:nvSpPr>
          <p:cNvPr id="73" name="Titre 1"/>
          <p:cNvSpPr txBox="1">
            <a:spLocks/>
          </p:cNvSpPr>
          <p:nvPr/>
        </p:nvSpPr>
        <p:spPr>
          <a:xfrm>
            <a:off x="3273720" y="1833555"/>
            <a:ext cx="1801889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Famille / Groupe</a:t>
            </a:r>
            <a:endParaRPr lang="fr-FR" sz="1400" dirty="0"/>
          </a:p>
        </p:txBody>
      </p:sp>
      <p:sp>
        <p:nvSpPr>
          <p:cNvPr id="75" name="Titre 1"/>
          <p:cNvSpPr txBox="1">
            <a:spLocks/>
          </p:cNvSpPr>
          <p:nvPr/>
        </p:nvSpPr>
        <p:spPr>
          <a:xfrm>
            <a:off x="1346351" y="1812042"/>
            <a:ext cx="1242463" cy="3947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d’analyse</a:t>
            </a:r>
            <a:endParaRPr lang="fr-FR" sz="1400" dirty="0"/>
          </a:p>
        </p:txBody>
      </p:sp>
      <p:sp>
        <p:nvSpPr>
          <p:cNvPr id="78" name="Rectangle 77"/>
          <p:cNvSpPr/>
          <p:nvPr/>
        </p:nvSpPr>
        <p:spPr>
          <a:xfrm>
            <a:off x="8926921" y="1857651"/>
            <a:ext cx="972000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Supprimer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1032705" y="2412379"/>
            <a:ext cx="180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9" name="Rectangle 88"/>
          <p:cNvSpPr/>
          <p:nvPr/>
        </p:nvSpPr>
        <p:spPr>
          <a:xfrm>
            <a:off x="897752" y="1767272"/>
            <a:ext cx="9000000" cy="1188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91" name="Connecteur droit 90"/>
          <p:cNvCxnSpPr/>
          <p:nvPr/>
        </p:nvCxnSpPr>
        <p:spPr>
          <a:xfrm>
            <a:off x="3038746" y="1767272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3" name="Connecteur droit 92"/>
          <p:cNvCxnSpPr/>
          <p:nvPr/>
        </p:nvCxnSpPr>
        <p:spPr>
          <a:xfrm>
            <a:off x="8002463" y="1758417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2" name="Connecteur droit 101"/>
          <p:cNvCxnSpPr/>
          <p:nvPr/>
        </p:nvCxnSpPr>
        <p:spPr>
          <a:xfrm>
            <a:off x="898817" y="2280436"/>
            <a:ext cx="9000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105" name="Image 10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4172" y="2377288"/>
            <a:ext cx="468000" cy="468000"/>
          </a:xfrm>
          <a:prstGeom prst="rect">
            <a:avLst/>
          </a:prstGeom>
        </p:spPr>
      </p:pic>
      <p:cxnSp>
        <p:nvCxnSpPr>
          <p:cNvPr id="109" name="Connecteur droit 108"/>
          <p:cNvCxnSpPr/>
          <p:nvPr/>
        </p:nvCxnSpPr>
        <p:spPr>
          <a:xfrm>
            <a:off x="7077447" y="1758417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3" name="Connecteur droit 112"/>
          <p:cNvCxnSpPr/>
          <p:nvPr/>
        </p:nvCxnSpPr>
        <p:spPr>
          <a:xfrm>
            <a:off x="8915466" y="1758417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4" name="Titre 1"/>
          <p:cNvSpPr txBox="1">
            <a:spLocks/>
          </p:cNvSpPr>
          <p:nvPr/>
        </p:nvSpPr>
        <p:spPr>
          <a:xfrm>
            <a:off x="8015465" y="1848531"/>
            <a:ext cx="900000" cy="3947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Imprimer</a:t>
            </a:r>
            <a:endParaRPr lang="fr-FR" sz="1400" dirty="0"/>
          </a:p>
        </p:txBody>
      </p:sp>
      <p:sp>
        <p:nvSpPr>
          <p:cNvPr id="126" name="Rectangle 125"/>
          <p:cNvSpPr/>
          <p:nvPr/>
        </p:nvSpPr>
        <p:spPr>
          <a:xfrm>
            <a:off x="3347728" y="2434825"/>
            <a:ext cx="35108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2" name="Titre 1"/>
          <p:cNvSpPr txBox="1">
            <a:spLocks/>
          </p:cNvSpPr>
          <p:nvPr/>
        </p:nvSpPr>
        <p:spPr>
          <a:xfrm>
            <a:off x="7102526" y="1847195"/>
            <a:ext cx="90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Modifier</a:t>
            </a:r>
            <a:endParaRPr lang="fr-FR" sz="1400" dirty="0"/>
          </a:p>
        </p:txBody>
      </p:sp>
      <p:pic>
        <p:nvPicPr>
          <p:cNvPr id="133" name="Image 1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3645" y="2391398"/>
            <a:ext cx="461787" cy="468000"/>
          </a:xfrm>
          <a:prstGeom prst="rect">
            <a:avLst/>
          </a:prstGeom>
        </p:spPr>
      </p:pic>
      <p:sp>
        <p:nvSpPr>
          <p:cNvPr id="134" name="Titre 1"/>
          <p:cNvSpPr txBox="1">
            <a:spLocks/>
          </p:cNvSpPr>
          <p:nvPr/>
        </p:nvSpPr>
        <p:spPr>
          <a:xfrm>
            <a:off x="203350" y="6450372"/>
            <a:ext cx="3243932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Cet tableau c’est un tableau dynamique</a:t>
            </a:r>
            <a:endParaRPr lang="fr-FR" sz="1400" dirty="0"/>
          </a:p>
        </p:txBody>
      </p:sp>
      <p:pic>
        <p:nvPicPr>
          <p:cNvPr id="45" name="Image 4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5381" y="2341539"/>
            <a:ext cx="54000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77101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50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xploration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Biologiques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/ Résultats du Labo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91991" y="573517"/>
            <a:ext cx="11880000" cy="622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2479820" y="685959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870182" y="672854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697549" y="692366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667218" y="730985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841404" y="686261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8251647" y="737613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2429229" y="627099"/>
            <a:ext cx="6892827" cy="4643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860603" y="75673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950052" y="740319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614530" y="746360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8300317" y="765185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273503" y="533522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-205984" y="1144109"/>
            <a:ext cx="108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400" dirty="0"/>
              <a:t>Demandées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93056" y="1150737"/>
            <a:ext cx="180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400" dirty="0"/>
              <a:t>Historique demandes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09129" y="1153354"/>
            <a:ext cx="1296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400" dirty="0"/>
              <a:t>Saisie résultats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016169" y="1146342"/>
            <a:ext cx="1908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400" dirty="0"/>
              <a:t>Modifications résultats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943472" y="1150737"/>
            <a:ext cx="1512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Résultats du Labo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476019" y="1141039"/>
            <a:ext cx="2016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Statistiques des </a:t>
            </a:r>
            <a:r>
              <a:rPr lang="fr-FR" sz="1400" dirty="0" smtClean="0"/>
              <a:t>analyses</a:t>
            </a:r>
            <a:endParaRPr lang="fr-FR" sz="1400" dirty="0"/>
          </a:p>
        </p:txBody>
      </p:sp>
      <p:sp>
        <p:nvSpPr>
          <p:cNvPr id="65" name="Rectangle 64"/>
          <p:cNvSpPr/>
          <p:nvPr/>
        </p:nvSpPr>
        <p:spPr>
          <a:xfrm>
            <a:off x="9501330" y="1146938"/>
            <a:ext cx="1656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Historique </a:t>
            </a:r>
            <a:r>
              <a:rPr lang="fr-FR" sz="1400" dirty="0" smtClean="0"/>
              <a:t>résultats</a:t>
            </a:r>
            <a:endParaRPr lang="fr-FR" sz="1400" dirty="0"/>
          </a:p>
        </p:txBody>
      </p:sp>
      <p:sp>
        <p:nvSpPr>
          <p:cNvPr id="67" name="Rectangle 66"/>
          <p:cNvSpPr/>
          <p:nvPr/>
        </p:nvSpPr>
        <p:spPr>
          <a:xfrm>
            <a:off x="11182818" y="1139928"/>
            <a:ext cx="1224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Microbiologie</a:t>
            </a:r>
            <a:endParaRPr lang="fr-FR" sz="1400" dirty="0"/>
          </a:p>
        </p:txBody>
      </p:sp>
      <p:sp>
        <p:nvSpPr>
          <p:cNvPr id="73" name="Titre 1"/>
          <p:cNvSpPr txBox="1">
            <a:spLocks/>
          </p:cNvSpPr>
          <p:nvPr/>
        </p:nvSpPr>
        <p:spPr>
          <a:xfrm>
            <a:off x="3325235" y="4847208"/>
            <a:ext cx="90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Examen</a:t>
            </a:r>
            <a:endParaRPr lang="fr-FR" sz="1400" dirty="0"/>
          </a:p>
        </p:txBody>
      </p:sp>
      <p:sp>
        <p:nvSpPr>
          <p:cNvPr id="75" name="Titre 1"/>
          <p:cNvSpPr txBox="1">
            <a:spLocks/>
          </p:cNvSpPr>
          <p:nvPr/>
        </p:nvSpPr>
        <p:spPr>
          <a:xfrm>
            <a:off x="1294835" y="4825695"/>
            <a:ext cx="900000" cy="3947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Famille</a:t>
            </a:r>
            <a:endParaRPr lang="fr-FR" sz="1400" dirty="0"/>
          </a:p>
        </p:txBody>
      </p:sp>
      <p:sp>
        <p:nvSpPr>
          <p:cNvPr id="78" name="Rectangle 77"/>
          <p:cNvSpPr/>
          <p:nvPr/>
        </p:nvSpPr>
        <p:spPr>
          <a:xfrm>
            <a:off x="8386008" y="4858425"/>
            <a:ext cx="1260000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Commentaire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32705" y="5400274"/>
            <a:ext cx="144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9" name="Rectangle 88"/>
          <p:cNvSpPr/>
          <p:nvPr/>
        </p:nvSpPr>
        <p:spPr>
          <a:xfrm>
            <a:off x="897752" y="4755167"/>
            <a:ext cx="9000000" cy="1188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91" name="Connecteur droit 90"/>
          <p:cNvCxnSpPr/>
          <p:nvPr/>
        </p:nvCxnSpPr>
        <p:spPr>
          <a:xfrm>
            <a:off x="4584212" y="4755167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2" name="Connecteur droit 101"/>
          <p:cNvCxnSpPr/>
          <p:nvPr/>
        </p:nvCxnSpPr>
        <p:spPr>
          <a:xfrm>
            <a:off x="898817" y="5268331"/>
            <a:ext cx="9000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9" name="Connecteur droit 108"/>
          <p:cNvCxnSpPr/>
          <p:nvPr/>
        </p:nvCxnSpPr>
        <p:spPr>
          <a:xfrm>
            <a:off x="8146390" y="4746312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4" name="Titre 1"/>
          <p:cNvSpPr txBox="1">
            <a:spLocks/>
          </p:cNvSpPr>
          <p:nvPr/>
        </p:nvSpPr>
        <p:spPr>
          <a:xfrm>
            <a:off x="6444242" y="4836426"/>
            <a:ext cx="1692000" cy="3947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Valeur de référence</a:t>
            </a:r>
            <a:endParaRPr lang="fr-FR" sz="1400" dirty="0"/>
          </a:p>
        </p:txBody>
      </p:sp>
      <p:sp>
        <p:nvSpPr>
          <p:cNvPr id="126" name="Rectangle 125"/>
          <p:cNvSpPr/>
          <p:nvPr/>
        </p:nvSpPr>
        <p:spPr>
          <a:xfrm>
            <a:off x="6554569" y="5422720"/>
            <a:ext cx="144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2" name="Titre 1"/>
          <p:cNvSpPr txBox="1">
            <a:spLocks/>
          </p:cNvSpPr>
          <p:nvPr/>
        </p:nvSpPr>
        <p:spPr>
          <a:xfrm>
            <a:off x="5093420" y="4835090"/>
            <a:ext cx="90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Résultat</a:t>
            </a:r>
            <a:endParaRPr lang="fr-FR" sz="1400" dirty="0"/>
          </a:p>
        </p:txBody>
      </p:sp>
      <p:sp>
        <p:nvSpPr>
          <p:cNvPr id="45" name="Titre 1"/>
          <p:cNvSpPr txBox="1">
            <a:spLocks/>
          </p:cNvSpPr>
          <p:nvPr/>
        </p:nvSpPr>
        <p:spPr>
          <a:xfrm>
            <a:off x="1045678" y="3430531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d’ordre</a:t>
            </a:r>
            <a:endParaRPr lang="fr-FR" sz="1400" dirty="0"/>
          </a:p>
        </p:txBody>
      </p:sp>
      <p:sp>
        <p:nvSpPr>
          <p:cNvPr id="46" name="Titre 1"/>
          <p:cNvSpPr txBox="1">
            <a:spLocks/>
          </p:cNvSpPr>
          <p:nvPr/>
        </p:nvSpPr>
        <p:spPr>
          <a:xfrm>
            <a:off x="3329699" y="3409018"/>
            <a:ext cx="1242463" cy="3947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demande</a:t>
            </a:r>
            <a:endParaRPr lang="fr-FR" sz="1400" dirty="0"/>
          </a:p>
        </p:txBody>
      </p:sp>
      <p:sp>
        <p:nvSpPr>
          <p:cNvPr id="48" name="Rectangle 47"/>
          <p:cNvSpPr/>
          <p:nvPr/>
        </p:nvSpPr>
        <p:spPr>
          <a:xfrm>
            <a:off x="1019828" y="4009355"/>
            <a:ext cx="180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9" name="Rectangle 48"/>
          <p:cNvSpPr/>
          <p:nvPr/>
        </p:nvSpPr>
        <p:spPr>
          <a:xfrm>
            <a:off x="884875" y="3364248"/>
            <a:ext cx="7560000" cy="1188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50" name="Connecteur droit 49"/>
          <p:cNvCxnSpPr/>
          <p:nvPr/>
        </p:nvCxnSpPr>
        <p:spPr>
          <a:xfrm>
            <a:off x="3025869" y="3364248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2" name="Connecteur droit 51"/>
          <p:cNvCxnSpPr/>
          <p:nvPr/>
        </p:nvCxnSpPr>
        <p:spPr>
          <a:xfrm>
            <a:off x="885940" y="3825896"/>
            <a:ext cx="7560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4" name="Rectangle 53"/>
          <p:cNvSpPr/>
          <p:nvPr/>
        </p:nvSpPr>
        <p:spPr>
          <a:xfrm>
            <a:off x="3231817" y="3993163"/>
            <a:ext cx="35108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66" name="Connecteur droit 65"/>
          <p:cNvCxnSpPr/>
          <p:nvPr/>
        </p:nvCxnSpPr>
        <p:spPr>
          <a:xfrm>
            <a:off x="2652376" y="4755167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8" name="Rectangle 67"/>
          <p:cNvSpPr/>
          <p:nvPr/>
        </p:nvSpPr>
        <p:spPr>
          <a:xfrm>
            <a:off x="2832570" y="5422720"/>
            <a:ext cx="1617696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69" name="Connecteur droit 68"/>
          <p:cNvCxnSpPr/>
          <p:nvPr/>
        </p:nvCxnSpPr>
        <p:spPr>
          <a:xfrm>
            <a:off x="6420622" y="4746312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0" name="Rectangle 69"/>
          <p:cNvSpPr/>
          <p:nvPr/>
        </p:nvSpPr>
        <p:spPr>
          <a:xfrm>
            <a:off x="4815922" y="5422720"/>
            <a:ext cx="144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1" name="Rectangle 70"/>
          <p:cNvSpPr/>
          <p:nvPr/>
        </p:nvSpPr>
        <p:spPr>
          <a:xfrm>
            <a:off x="8303954" y="5420572"/>
            <a:ext cx="144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08" name="Connecteur droit 107"/>
          <p:cNvCxnSpPr/>
          <p:nvPr/>
        </p:nvCxnSpPr>
        <p:spPr>
          <a:xfrm>
            <a:off x="7525944" y="3368272"/>
            <a:ext cx="0" cy="1152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0" name="Titre 1"/>
          <p:cNvSpPr txBox="1">
            <a:spLocks/>
          </p:cNvSpPr>
          <p:nvPr/>
        </p:nvSpPr>
        <p:spPr>
          <a:xfrm>
            <a:off x="7538946" y="3419749"/>
            <a:ext cx="900000" cy="3947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Imprimer</a:t>
            </a:r>
            <a:endParaRPr lang="fr-FR" sz="1400" dirty="0"/>
          </a:p>
        </p:txBody>
      </p:sp>
      <p:sp>
        <p:nvSpPr>
          <p:cNvPr id="116" name="Rectangle 115"/>
          <p:cNvSpPr/>
          <p:nvPr/>
        </p:nvSpPr>
        <p:spPr>
          <a:xfrm>
            <a:off x="8419235" y="2360561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Recherche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725561" y="2378816"/>
            <a:ext cx="1080000" cy="32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8" name="Titre 1"/>
          <p:cNvSpPr txBox="1">
            <a:spLocks/>
          </p:cNvSpPr>
          <p:nvPr/>
        </p:nvSpPr>
        <p:spPr>
          <a:xfrm>
            <a:off x="1019828" y="2362240"/>
            <a:ext cx="1720777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Critère de recherche</a:t>
            </a:r>
            <a:endParaRPr lang="fr-FR" sz="1400" dirty="0"/>
          </a:p>
        </p:txBody>
      </p:sp>
      <p:sp>
        <p:nvSpPr>
          <p:cNvPr id="119" name="Rectangle 118"/>
          <p:cNvSpPr/>
          <p:nvPr/>
        </p:nvSpPr>
        <p:spPr>
          <a:xfrm>
            <a:off x="4124874" y="2397021"/>
            <a:ext cx="4021515" cy="32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0" name="Triangle isocèle 119"/>
          <p:cNvSpPr/>
          <p:nvPr/>
        </p:nvSpPr>
        <p:spPr>
          <a:xfrm rot="10800000">
            <a:off x="3574931" y="2379380"/>
            <a:ext cx="216000" cy="324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1" name="Rectangle 120"/>
          <p:cNvSpPr/>
          <p:nvPr/>
        </p:nvSpPr>
        <p:spPr>
          <a:xfrm>
            <a:off x="884228" y="2196575"/>
            <a:ext cx="9013524" cy="713197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2" name="Titre 1"/>
          <p:cNvSpPr txBox="1">
            <a:spLocks/>
          </p:cNvSpPr>
          <p:nvPr/>
        </p:nvSpPr>
        <p:spPr>
          <a:xfrm>
            <a:off x="8281375" y="2952526"/>
            <a:ext cx="3785363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dirty="0" smtClean="0"/>
              <a:t>Critère de recherche : </a:t>
            </a:r>
            <a:r>
              <a:rPr lang="fr-FR" sz="1400" dirty="0" smtClean="0"/>
              <a:t>Date de demande, N° ordre.</a:t>
            </a:r>
            <a:endParaRPr lang="fr-FR" sz="1400" b="1" dirty="0"/>
          </a:p>
        </p:txBody>
      </p:sp>
      <p:pic>
        <p:nvPicPr>
          <p:cNvPr id="72" name="Image 7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0226" y="3912762"/>
            <a:ext cx="54000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63062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51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xploration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Biologiques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/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Statistiques des analyses</a:t>
            </a:r>
            <a:endParaRPr lang="fr-FR" sz="1800" dirty="0"/>
          </a:p>
        </p:txBody>
      </p:sp>
      <p:sp>
        <p:nvSpPr>
          <p:cNvPr id="84" name="Rectangle 83"/>
          <p:cNvSpPr/>
          <p:nvPr/>
        </p:nvSpPr>
        <p:spPr>
          <a:xfrm>
            <a:off x="191991" y="573517"/>
            <a:ext cx="11880000" cy="622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2479820" y="685959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870182" y="672854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697549" y="692366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667218" y="730985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841404" y="686261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8251647" y="737613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2429229" y="627099"/>
            <a:ext cx="6892827" cy="4643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860603" y="75673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950052" y="740319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614530" y="746360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8300317" y="765185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273503" y="533522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-205984" y="1144109"/>
            <a:ext cx="108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400" dirty="0"/>
              <a:t>Demandées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93056" y="1150737"/>
            <a:ext cx="180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400" dirty="0"/>
              <a:t>Historique demandes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09129" y="1153354"/>
            <a:ext cx="1296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400" dirty="0"/>
              <a:t>Saisie résultats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016169" y="1146342"/>
            <a:ext cx="1908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Modifications </a:t>
            </a:r>
            <a:r>
              <a:rPr lang="fr-FR" sz="1400" dirty="0" smtClean="0"/>
              <a:t>résultats</a:t>
            </a:r>
            <a:endParaRPr lang="fr-FR" sz="1400" dirty="0"/>
          </a:p>
        </p:txBody>
      </p:sp>
      <p:sp>
        <p:nvSpPr>
          <p:cNvPr id="62" name="Rectangle 61"/>
          <p:cNvSpPr/>
          <p:nvPr/>
        </p:nvSpPr>
        <p:spPr>
          <a:xfrm>
            <a:off x="5943472" y="1150737"/>
            <a:ext cx="151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Résultats du </a:t>
            </a:r>
            <a:r>
              <a:rPr lang="fr-FR" sz="1400" dirty="0" smtClean="0"/>
              <a:t>Labo</a:t>
            </a:r>
            <a:endParaRPr lang="fr-FR" sz="1400" dirty="0"/>
          </a:p>
        </p:txBody>
      </p:sp>
      <p:sp>
        <p:nvSpPr>
          <p:cNvPr id="63" name="Rectangle 62"/>
          <p:cNvSpPr/>
          <p:nvPr/>
        </p:nvSpPr>
        <p:spPr>
          <a:xfrm>
            <a:off x="7476019" y="1141039"/>
            <a:ext cx="2016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Statistiques des analyses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01330" y="1146938"/>
            <a:ext cx="1656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Historique </a:t>
            </a:r>
            <a:r>
              <a:rPr lang="fr-FR" sz="1400" dirty="0" smtClean="0"/>
              <a:t>résultats</a:t>
            </a:r>
            <a:endParaRPr lang="fr-FR" sz="1400" dirty="0"/>
          </a:p>
        </p:txBody>
      </p:sp>
      <p:sp>
        <p:nvSpPr>
          <p:cNvPr id="67" name="Rectangle 66"/>
          <p:cNvSpPr/>
          <p:nvPr/>
        </p:nvSpPr>
        <p:spPr>
          <a:xfrm>
            <a:off x="11182818" y="1139928"/>
            <a:ext cx="1224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Microbiologie</a:t>
            </a:r>
            <a:endParaRPr lang="fr-FR" sz="1400" dirty="0"/>
          </a:p>
        </p:txBody>
      </p:sp>
      <p:sp>
        <p:nvSpPr>
          <p:cNvPr id="41" name="Titre 1"/>
          <p:cNvSpPr txBox="1">
            <a:spLocks/>
          </p:cNvSpPr>
          <p:nvPr/>
        </p:nvSpPr>
        <p:spPr>
          <a:xfrm>
            <a:off x="805780" y="1741857"/>
            <a:ext cx="72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Famille</a:t>
            </a:r>
            <a:endParaRPr lang="fr-FR" sz="1400" dirty="0"/>
          </a:p>
        </p:txBody>
      </p:sp>
      <p:sp>
        <p:nvSpPr>
          <p:cNvPr id="42" name="Rectangle 41"/>
          <p:cNvSpPr/>
          <p:nvPr/>
        </p:nvSpPr>
        <p:spPr>
          <a:xfrm>
            <a:off x="1613316" y="1777507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3" name="Triangle isocèle 42"/>
          <p:cNvSpPr/>
          <p:nvPr/>
        </p:nvSpPr>
        <p:spPr>
          <a:xfrm rot="10800000">
            <a:off x="3210640" y="1791985"/>
            <a:ext cx="180000" cy="252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4" name="Rectangle 43"/>
          <p:cNvSpPr/>
          <p:nvPr/>
        </p:nvSpPr>
        <p:spPr>
          <a:xfrm>
            <a:off x="4362722" y="1800858"/>
            <a:ext cx="720000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Groupe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109598" y="1803146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6" name="Triangle isocèle 45"/>
          <p:cNvSpPr/>
          <p:nvPr/>
        </p:nvSpPr>
        <p:spPr>
          <a:xfrm rot="10800000">
            <a:off x="6713093" y="1817624"/>
            <a:ext cx="180000" cy="252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3" name="Rectangle 72"/>
          <p:cNvSpPr/>
          <p:nvPr/>
        </p:nvSpPr>
        <p:spPr>
          <a:xfrm>
            <a:off x="7850753" y="1772953"/>
            <a:ext cx="1080000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Exploration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8945360" y="1762362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5" name="Triangle isocèle 74"/>
          <p:cNvSpPr/>
          <p:nvPr/>
        </p:nvSpPr>
        <p:spPr>
          <a:xfrm rot="10800000">
            <a:off x="10548855" y="1776840"/>
            <a:ext cx="180000" cy="252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8" name="Titre 1"/>
          <p:cNvSpPr txBox="1">
            <a:spLocks/>
          </p:cNvSpPr>
          <p:nvPr/>
        </p:nvSpPr>
        <p:spPr>
          <a:xfrm>
            <a:off x="2925988" y="2425984"/>
            <a:ext cx="1801889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Résultats d’analyse</a:t>
            </a:r>
            <a:endParaRPr lang="fr-FR" sz="1400" dirty="0"/>
          </a:p>
        </p:txBody>
      </p:sp>
      <p:sp>
        <p:nvSpPr>
          <p:cNvPr id="79" name="Titre 1"/>
          <p:cNvSpPr txBox="1">
            <a:spLocks/>
          </p:cNvSpPr>
          <p:nvPr/>
        </p:nvSpPr>
        <p:spPr>
          <a:xfrm>
            <a:off x="818313" y="2404471"/>
            <a:ext cx="1242463" cy="3947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d’analyse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684973" y="3004808"/>
            <a:ext cx="180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2" name="Rectangle 91"/>
          <p:cNvSpPr/>
          <p:nvPr/>
        </p:nvSpPr>
        <p:spPr>
          <a:xfrm>
            <a:off x="550020" y="2359701"/>
            <a:ext cx="4500000" cy="1188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93" name="Connecteur droit 92"/>
          <p:cNvCxnSpPr/>
          <p:nvPr/>
        </p:nvCxnSpPr>
        <p:spPr>
          <a:xfrm>
            <a:off x="2691014" y="2359701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4" name="Connecteur droit 103"/>
          <p:cNvCxnSpPr/>
          <p:nvPr/>
        </p:nvCxnSpPr>
        <p:spPr>
          <a:xfrm>
            <a:off x="551085" y="2872865"/>
            <a:ext cx="4500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4" name="Rectangle 113"/>
          <p:cNvSpPr/>
          <p:nvPr/>
        </p:nvSpPr>
        <p:spPr>
          <a:xfrm>
            <a:off x="2999996" y="3027254"/>
            <a:ext cx="180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5" name="Connecteur en angle 4"/>
          <p:cNvCxnSpPr/>
          <p:nvPr/>
        </p:nvCxnSpPr>
        <p:spPr>
          <a:xfrm>
            <a:off x="2051196" y="3825025"/>
            <a:ext cx="3771558" cy="2704563"/>
          </a:xfrm>
          <a:prstGeom prst="bentConnector3">
            <a:avLst>
              <a:gd name="adj1" fmla="val -196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8" name="Rectangle 117"/>
          <p:cNvSpPr/>
          <p:nvPr/>
        </p:nvSpPr>
        <p:spPr>
          <a:xfrm>
            <a:off x="557502" y="3805668"/>
            <a:ext cx="1442262" cy="2551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Unité de mesure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19" name="Rectangle 118"/>
          <p:cNvSpPr/>
          <p:nvPr/>
        </p:nvSpPr>
        <p:spPr>
          <a:xfrm>
            <a:off x="5891012" y="6265540"/>
            <a:ext cx="1218124" cy="25116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Date d’analyse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20" name="Rectangle 119"/>
          <p:cNvSpPr/>
          <p:nvPr/>
        </p:nvSpPr>
        <p:spPr>
          <a:xfrm>
            <a:off x="3812143" y="4690815"/>
            <a:ext cx="1538909" cy="2804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Résultat d’analyse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625480" y="4767768"/>
            <a:ext cx="180000" cy="17489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/>
          <p:cNvSpPr/>
          <p:nvPr/>
        </p:nvSpPr>
        <p:spPr>
          <a:xfrm>
            <a:off x="2880018" y="5254580"/>
            <a:ext cx="180000" cy="12621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1" name="Rectangle 120"/>
          <p:cNvSpPr/>
          <p:nvPr/>
        </p:nvSpPr>
        <p:spPr>
          <a:xfrm>
            <a:off x="4305914" y="5435322"/>
            <a:ext cx="180000" cy="108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2" name="Rectangle 121"/>
          <p:cNvSpPr/>
          <p:nvPr/>
        </p:nvSpPr>
        <p:spPr>
          <a:xfrm>
            <a:off x="7620747" y="6249987"/>
            <a:ext cx="1674609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Imprimer le graphe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7871" y="3684082"/>
            <a:ext cx="6968027" cy="2938783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3" name="Rectangle 52"/>
          <p:cNvSpPr/>
          <p:nvPr/>
        </p:nvSpPr>
        <p:spPr>
          <a:xfrm>
            <a:off x="573630" y="1623457"/>
            <a:ext cx="10583700" cy="648139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91692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51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xploration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Biologiques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/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Statistiques des analyses</a:t>
            </a:r>
            <a:endParaRPr lang="fr-FR" sz="1800" dirty="0"/>
          </a:p>
        </p:txBody>
      </p:sp>
      <p:sp>
        <p:nvSpPr>
          <p:cNvPr id="84" name="Rectangle 83"/>
          <p:cNvSpPr/>
          <p:nvPr/>
        </p:nvSpPr>
        <p:spPr>
          <a:xfrm>
            <a:off x="191991" y="573517"/>
            <a:ext cx="11880000" cy="622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2479820" y="685959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870182" y="672854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697549" y="692366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667218" y="730985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841404" y="686261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8251647" y="737613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2429229" y="627099"/>
            <a:ext cx="6892827" cy="4643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860603" y="75673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950052" y="740319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614530" y="746360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8300317" y="765185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273503" y="533522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-205984" y="1144109"/>
            <a:ext cx="108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400" dirty="0"/>
              <a:t>Demandées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93056" y="1150737"/>
            <a:ext cx="180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400" dirty="0"/>
              <a:t>Historique demandes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09129" y="1153354"/>
            <a:ext cx="1296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400" dirty="0"/>
              <a:t>Saisie résultats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016169" y="1146342"/>
            <a:ext cx="1908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Modifications </a:t>
            </a:r>
            <a:r>
              <a:rPr lang="fr-FR" sz="1400" dirty="0" smtClean="0"/>
              <a:t>résultats</a:t>
            </a:r>
            <a:endParaRPr lang="fr-FR" sz="1400" dirty="0"/>
          </a:p>
        </p:txBody>
      </p:sp>
      <p:sp>
        <p:nvSpPr>
          <p:cNvPr id="62" name="Rectangle 61"/>
          <p:cNvSpPr/>
          <p:nvPr/>
        </p:nvSpPr>
        <p:spPr>
          <a:xfrm>
            <a:off x="5943472" y="1150737"/>
            <a:ext cx="151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Résultats du </a:t>
            </a:r>
            <a:r>
              <a:rPr lang="fr-FR" sz="1400" dirty="0" smtClean="0"/>
              <a:t>Labo</a:t>
            </a:r>
            <a:endParaRPr lang="fr-FR" sz="1400" dirty="0"/>
          </a:p>
        </p:txBody>
      </p:sp>
      <p:sp>
        <p:nvSpPr>
          <p:cNvPr id="63" name="Rectangle 62"/>
          <p:cNvSpPr/>
          <p:nvPr/>
        </p:nvSpPr>
        <p:spPr>
          <a:xfrm>
            <a:off x="7476019" y="1141039"/>
            <a:ext cx="2016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Statistiques des analyses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01330" y="1146938"/>
            <a:ext cx="1656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Historique </a:t>
            </a:r>
            <a:r>
              <a:rPr lang="fr-FR" sz="1400" dirty="0" smtClean="0"/>
              <a:t>résultats</a:t>
            </a:r>
            <a:endParaRPr lang="fr-FR" sz="1400" dirty="0"/>
          </a:p>
        </p:txBody>
      </p:sp>
      <p:sp>
        <p:nvSpPr>
          <p:cNvPr id="67" name="Rectangle 66"/>
          <p:cNvSpPr/>
          <p:nvPr/>
        </p:nvSpPr>
        <p:spPr>
          <a:xfrm>
            <a:off x="11182818" y="1139928"/>
            <a:ext cx="1224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Microbiologie</a:t>
            </a:r>
            <a:endParaRPr lang="fr-FR" sz="1400" dirty="0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 rotWithShape="1">
          <a:blip r:embed="rId2"/>
          <a:srcRect l="20371" t="13689" r="21427" b="5326"/>
          <a:stretch/>
        </p:blipFill>
        <p:spPr>
          <a:xfrm>
            <a:off x="2126401" y="2014977"/>
            <a:ext cx="7128000" cy="4327302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55" name="Rectangle 54"/>
          <p:cNvSpPr/>
          <p:nvPr/>
        </p:nvSpPr>
        <p:spPr>
          <a:xfrm>
            <a:off x="305869" y="1749341"/>
            <a:ext cx="1827144" cy="4787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b="1" dirty="0" smtClean="0">
                <a:latin typeface="+mj-lt"/>
                <a:ea typeface="+mj-ea"/>
                <a:cs typeface="+mj-cs"/>
              </a:rPr>
              <a:t>Exemple de fichier PDF</a:t>
            </a:r>
            <a:endParaRPr lang="fr-FR" sz="1400" b="1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895987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52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xploration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Biologiques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/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historique des résultats</a:t>
            </a:r>
            <a:endParaRPr lang="fr-FR" sz="1800" dirty="0"/>
          </a:p>
        </p:txBody>
      </p:sp>
      <p:sp>
        <p:nvSpPr>
          <p:cNvPr id="84" name="Rectangle 83"/>
          <p:cNvSpPr/>
          <p:nvPr/>
        </p:nvSpPr>
        <p:spPr>
          <a:xfrm>
            <a:off x="191991" y="573517"/>
            <a:ext cx="11880000" cy="622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2479820" y="685959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870182" y="672854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697549" y="692366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667218" y="730985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841404" y="686261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8251647" y="737613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2429229" y="627099"/>
            <a:ext cx="6892827" cy="4643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860603" y="75673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950052" y="740319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614530" y="746360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8300317" y="765185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273503" y="533522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-205984" y="1144109"/>
            <a:ext cx="108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400" dirty="0"/>
              <a:t>Demandées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93056" y="1150737"/>
            <a:ext cx="180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400" dirty="0"/>
              <a:t>Historique demandes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09129" y="1153354"/>
            <a:ext cx="1296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400" dirty="0"/>
              <a:t>Saisie résultats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016169" y="1146342"/>
            <a:ext cx="1908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Modifications </a:t>
            </a:r>
            <a:r>
              <a:rPr lang="fr-FR" sz="1400" dirty="0" smtClean="0"/>
              <a:t>résultats</a:t>
            </a:r>
            <a:endParaRPr lang="fr-FR" sz="1400" dirty="0"/>
          </a:p>
        </p:txBody>
      </p:sp>
      <p:sp>
        <p:nvSpPr>
          <p:cNvPr id="62" name="Rectangle 61"/>
          <p:cNvSpPr/>
          <p:nvPr/>
        </p:nvSpPr>
        <p:spPr>
          <a:xfrm>
            <a:off x="5943472" y="1150737"/>
            <a:ext cx="151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Résultats du </a:t>
            </a:r>
            <a:r>
              <a:rPr lang="fr-FR" sz="1400" dirty="0" smtClean="0"/>
              <a:t>Labo</a:t>
            </a:r>
            <a:endParaRPr lang="fr-FR" sz="1400" dirty="0"/>
          </a:p>
        </p:txBody>
      </p:sp>
      <p:sp>
        <p:nvSpPr>
          <p:cNvPr id="63" name="Rectangle 62"/>
          <p:cNvSpPr/>
          <p:nvPr/>
        </p:nvSpPr>
        <p:spPr>
          <a:xfrm>
            <a:off x="7476019" y="1141039"/>
            <a:ext cx="2016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Statistiques des analyses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01330" y="1146938"/>
            <a:ext cx="1656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Historique résultats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1182818" y="1139928"/>
            <a:ext cx="1224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Microbiologie</a:t>
            </a:r>
            <a:endParaRPr lang="fr-FR" sz="1400" dirty="0"/>
          </a:p>
        </p:txBody>
      </p:sp>
      <p:sp>
        <p:nvSpPr>
          <p:cNvPr id="41" name="Titre 1"/>
          <p:cNvSpPr txBox="1">
            <a:spLocks/>
          </p:cNvSpPr>
          <p:nvPr/>
        </p:nvSpPr>
        <p:spPr>
          <a:xfrm>
            <a:off x="1063355" y="4691128"/>
            <a:ext cx="90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Famille</a:t>
            </a:r>
            <a:endParaRPr lang="fr-FR" sz="1400" dirty="0"/>
          </a:p>
        </p:txBody>
      </p:sp>
      <p:sp>
        <p:nvSpPr>
          <p:cNvPr id="42" name="Rectangle 41"/>
          <p:cNvSpPr/>
          <p:nvPr/>
        </p:nvSpPr>
        <p:spPr>
          <a:xfrm>
            <a:off x="1961044" y="4701020"/>
            <a:ext cx="1800000" cy="32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3" name="Triangle isocèle 42"/>
          <p:cNvSpPr/>
          <p:nvPr/>
        </p:nvSpPr>
        <p:spPr>
          <a:xfrm rot="10800000">
            <a:off x="3535247" y="4731014"/>
            <a:ext cx="216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4" name="Rectangle 43"/>
          <p:cNvSpPr/>
          <p:nvPr/>
        </p:nvSpPr>
        <p:spPr>
          <a:xfrm>
            <a:off x="3937708" y="4685732"/>
            <a:ext cx="90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Groupe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839135" y="4713773"/>
            <a:ext cx="1800000" cy="32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6" name="Triangle isocèle 45"/>
          <p:cNvSpPr/>
          <p:nvPr/>
        </p:nvSpPr>
        <p:spPr>
          <a:xfrm rot="10800000">
            <a:off x="6406630" y="4730888"/>
            <a:ext cx="216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2" name="Titre 1"/>
          <p:cNvSpPr txBox="1">
            <a:spLocks/>
          </p:cNvSpPr>
          <p:nvPr/>
        </p:nvSpPr>
        <p:spPr>
          <a:xfrm>
            <a:off x="3273720" y="1833555"/>
            <a:ext cx="1801889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Famille / Groupe</a:t>
            </a:r>
            <a:endParaRPr lang="fr-FR" sz="1400" dirty="0"/>
          </a:p>
        </p:txBody>
      </p:sp>
      <p:sp>
        <p:nvSpPr>
          <p:cNvPr id="53" name="Titre 1"/>
          <p:cNvSpPr txBox="1">
            <a:spLocks/>
          </p:cNvSpPr>
          <p:nvPr/>
        </p:nvSpPr>
        <p:spPr>
          <a:xfrm>
            <a:off x="1190927" y="1812042"/>
            <a:ext cx="1397888" cy="3947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de résultats</a:t>
            </a:r>
            <a:endParaRPr lang="fr-FR" sz="1400" dirty="0"/>
          </a:p>
        </p:txBody>
      </p:sp>
      <p:sp>
        <p:nvSpPr>
          <p:cNvPr id="55" name="Rectangle 54"/>
          <p:cNvSpPr/>
          <p:nvPr/>
        </p:nvSpPr>
        <p:spPr>
          <a:xfrm>
            <a:off x="1032705" y="2412379"/>
            <a:ext cx="180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6" name="Rectangle 55"/>
          <p:cNvSpPr/>
          <p:nvPr/>
        </p:nvSpPr>
        <p:spPr>
          <a:xfrm>
            <a:off x="897752" y="1767272"/>
            <a:ext cx="7344000" cy="1188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57" name="Connecteur droit 56"/>
          <p:cNvCxnSpPr/>
          <p:nvPr/>
        </p:nvCxnSpPr>
        <p:spPr>
          <a:xfrm>
            <a:off x="3038746" y="1767272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8" name="Connecteur droit 67"/>
          <p:cNvCxnSpPr/>
          <p:nvPr/>
        </p:nvCxnSpPr>
        <p:spPr>
          <a:xfrm>
            <a:off x="898817" y="2280436"/>
            <a:ext cx="734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0" name="Connecteur droit 69"/>
          <p:cNvCxnSpPr/>
          <p:nvPr/>
        </p:nvCxnSpPr>
        <p:spPr>
          <a:xfrm>
            <a:off x="7077447" y="1758417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2" name="Titre 1"/>
          <p:cNvSpPr txBox="1">
            <a:spLocks/>
          </p:cNvSpPr>
          <p:nvPr/>
        </p:nvSpPr>
        <p:spPr>
          <a:xfrm>
            <a:off x="7216974" y="1822773"/>
            <a:ext cx="900000" cy="3947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Imprimer</a:t>
            </a:r>
            <a:endParaRPr lang="fr-FR" sz="1400" dirty="0"/>
          </a:p>
        </p:txBody>
      </p:sp>
      <p:sp>
        <p:nvSpPr>
          <p:cNvPr id="77" name="Rectangle 76"/>
          <p:cNvSpPr/>
          <p:nvPr/>
        </p:nvSpPr>
        <p:spPr>
          <a:xfrm>
            <a:off x="3347728" y="2434825"/>
            <a:ext cx="35108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4010" y="2341539"/>
            <a:ext cx="540000" cy="540000"/>
          </a:xfrm>
          <a:prstGeom prst="rect">
            <a:avLst/>
          </a:prstGeom>
        </p:spPr>
      </p:pic>
      <p:sp>
        <p:nvSpPr>
          <p:cNvPr id="82" name="Titre 1"/>
          <p:cNvSpPr txBox="1">
            <a:spLocks/>
          </p:cNvSpPr>
          <p:nvPr/>
        </p:nvSpPr>
        <p:spPr>
          <a:xfrm>
            <a:off x="945299" y="3182146"/>
            <a:ext cx="1930485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u="sng" dirty="0"/>
              <a:t>Récapitulatif examens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95604" y="3542406"/>
            <a:ext cx="6181843" cy="1878541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0" name="Rectangle 89"/>
          <p:cNvSpPr/>
          <p:nvPr/>
        </p:nvSpPr>
        <p:spPr>
          <a:xfrm>
            <a:off x="1063580" y="3914466"/>
            <a:ext cx="90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Période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01" name="Rectangle 100"/>
          <p:cNvSpPr/>
          <p:nvPr/>
        </p:nvSpPr>
        <p:spPr>
          <a:xfrm>
            <a:off x="1926462" y="3910855"/>
            <a:ext cx="54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Du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02" name="Rectangle 101"/>
          <p:cNvSpPr/>
          <p:nvPr/>
        </p:nvSpPr>
        <p:spPr>
          <a:xfrm>
            <a:off x="3806774" y="3897969"/>
            <a:ext cx="54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Au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03" name="Rectangle 102"/>
          <p:cNvSpPr/>
          <p:nvPr/>
        </p:nvSpPr>
        <p:spPr>
          <a:xfrm>
            <a:off x="2478003" y="3898112"/>
            <a:ext cx="126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5" name="Rectangle 104"/>
          <p:cNvSpPr/>
          <p:nvPr/>
        </p:nvSpPr>
        <p:spPr>
          <a:xfrm>
            <a:off x="4356172" y="3895964"/>
            <a:ext cx="126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6" name="Rectangle 105"/>
          <p:cNvSpPr/>
          <p:nvPr/>
        </p:nvSpPr>
        <p:spPr>
          <a:xfrm>
            <a:off x="1951672" y="3787111"/>
            <a:ext cx="3852000" cy="612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7" name="Rectangle 106"/>
          <p:cNvSpPr/>
          <p:nvPr/>
        </p:nvSpPr>
        <p:spPr>
          <a:xfrm>
            <a:off x="7221366" y="5032853"/>
            <a:ext cx="2679296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Imprimer l’historique des résultats</a:t>
            </a:r>
          </a:p>
        </p:txBody>
      </p:sp>
    </p:spTree>
    <p:extLst>
      <p:ext uri="{BB962C8B-B14F-4D97-AF65-F5344CB8AC3E}">
        <p14:creationId xmlns:p14="http://schemas.microsoft.com/office/powerpoint/2010/main" val="4247861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52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xploration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Biologiques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/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historique des résultats</a:t>
            </a:r>
            <a:endParaRPr lang="fr-FR" sz="1800" dirty="0"/>
          </a:p>
        </p:txBody>
      </p:sp>
      <p:sp>
        <p:nvSpPr>
          <p:cNvPr id="84" name="Rectangle 83"/>
          <p:cNvSpPr/>
          <p:nvPr/>
        </p:nvSpPr>
        <p:spPr>
          <a:xfrm>
            <a:off x="191991" y="573517"/>
            <a:ext cx="11880000" cy="622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2479820" y="685959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870182" y="672854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697549" y="692366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667218" y="730985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841404" y="686261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8251647" y="737613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2429229" y="627099"/>
            <a:ext cx="6892827" cy="4643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860603" y="75673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950052" y="740319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614530" y="746360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8300317" y="765185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273503" y="533522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-205984" y="1144109"/>
            <a:ext cx="108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400" dirty="0"/>
              <a:t>Demandées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93056" y="1150737"/>
            <a:ext cx="180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400" dirty="0"/>
              <a:t>Historique demandes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09129" y="1153354"/>
            <a:ext cx="1296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400" dirty="0"/>
              <a:t>Saisie résultats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016169" y="1146342"/>
            <a:ext cx="1908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Modifications </a:t>
            </a:r>
            <a:r>
              <a:rPr lang="fr-FR" sz="1400" dirty="0" smtClean="0"/>
              <a:t>résultats</a:t>
            </a:r>
            <a:endParaRPr lang="fr-FR" sz="1400" dirty="0"/>
          </a:p>
        </p:txBody>
      </p:sp>
      <p:sp>
        <p:nvSpPr>
          <p:cNvPr id="62" name="Rectangle 61"/>
          <p:cNvSpPr/>
          <p:nvPr/>
        </p:nvSpPr>
        <p:spPr>
          <a:xfrm>
            <a:off x="5943472" y="1150737"/>
            <a:ext cx="151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Résultats du </a:t>
            </a:r>
            <a:r>
              <a:rPr lang="fr-FR" sz="1400" dirty="0" smtClean="0"/>
              <a:t>Labo</a:t>
            </a:r>
            <a:endParaRPr lang="fr-FR" sz="1400" dirty="0"/>
          </a:p>
        </p:txBody>
      </p:sp>
      <p:sp>
        <p:nvSpPr>
          <p:cNvPr id="63" name="Rectangle 62"/>
          <p:cNvSpPr/>
          <p:nvPr/>
        </p:nvSpPr>
        <p:spPr>
          <a:xfrm>
            <a:off x="7476019" y="1141039"/>
            <a:ext cx="2016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Statistiques des analyses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01330" y="1146938"/>
            <a:ext cx="1656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Historique résultats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1182818" y="1139928"/>
            <a:ext cx="1224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Microbiologie</a:t>
            </a:r>
            <a:endParaRPr lang="fr-FR" sz="1400" dirty="0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 rotWithShape="1">
          <a:blip r:embed="rId2"/>
          <a:srcRect l="21460" t="14216" r="22515" b="17826"/>
          <a:stretch/>
        </p:blipFill>
        <p:spPr>
          <a:xfrm>
            <a:off x="2382592" y="1712889"/>
            <a:ext cx="7231894" cy="493200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48" name="Rectangle 47"/>
          <p:cNvSpPr/>
          <p:nvPr/>
        </p:nvSpPr>
        <p:spPr>
          <a:xfrm>
            <a:off x="305869" y="1697825"/>
            <a:ext cx="1827144" cy="4787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b="1" dirty="0" smtClean="0">
                <a:latin typeface="+mj-lt"/>
                <a:ea typeface="+mj-ea"/>
                <a:cs typeface="+mj-cs"/>
              </a:rPr>
              <a:t>Exemple de fichier PDF</a:t>
            </a:r>
            <a:endParaRPr lang="fr-FR" sz="1400" b="1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42019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53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xploration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Biologiques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/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Microbiologie</a:t>
            </a:r>
            <a:endParaRPr lang="fr-FR" sz="1800" dirty="0"/>
          </a:p>
        </p:txBody>
      </p:sp>
      <p:sp>
        <p:nvSpPr>
          <p:cNvPr id="84" name="Rectangle 83"/>
          <p:cNvSpPr/>
          <p:nvPr/>
        </p:nvSpPr>
        <p:spPr>
          <a:xfrm>
            <a:off x="191991" y="573517"/>
            <a:ext cx="11880000" cy="622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2479820" y="685959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870182" y="672854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697549" y="692366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667218" y="730985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841404" y="686261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8251647" y="737613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2429229" y="627099"/>
            <a:ext cx="6892827" cy="4643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860603" y="75673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950052" y="740319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614530" y="746360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8300317" y="765185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273503" y="533522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-205984" y="1144109"/>
            <a:ext cx="108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400" dirty="0"/>
              <a:t>Demandées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93056" y="1150737"/>
            <a:ext cx="180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400" dirty="0"/>
              <a:t>Historique demandes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09129" y="1153354"/>
            <a:ext cx="1296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400" dirty="0"/>
              <a:t>Saisie résultats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016169" y="1146342"/>
            <a:ext cx="1908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Modifications </a:t>
            </a:r>
            <a:r>
              <a:rPr lang="fr-FR" sz="1400" dirty="0" smtClean="0"/>
              <a:t>résultats</a:t>
            </a:r>
            <a:endParaRPr lang="fr-FR" sz="1400" dirty="0"/>
          </a:p>
        </p:txBody>
      </p:sp>
      <p:sp>
        <p:nvSpPr>
          <p:cNvPr id="62" name="Rectangle 61"/>
          <p:cNvSpPr/>
          <p:nvPr/>
        </p:nvSpPr>
        <p:spPr>
          <a:xfrm>
            <a:off x="5943472" y="1150737"/>
            <a:ext cx="151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Résultats du </a:t>
            </a:r>
            <a:r>
              <a:rPr lang="fr-FR" sz="1400" dirty="0" smtClean="0"/>
              <a:t>Labo</a:t>
            </a:r>
            <a:endParaRPr lang="fr-FR" sz="1400" dirty="0"/>
          </a:p>
        </p:txBody>
      </p:sp>
      <p:sp>
        <p:nvSpPr>
          <p:cNvPr id="63" name="Rectangle 62"/>
          <p:cNvSpPr/>
          <p:nvPr/>
        </p:nvSpPr>
        <p:spPr>
          <a:xfrm>
            <a:off x="7476019" y="1141039"/>
            <a:ext cx="2016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Statistiques des analyses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01330" y="1146938"/>
            <a:ext cx="1656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Historique résultats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1182818" y="1139928"/>
            <a:ext cx="1224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Microbiologie</a:t>
            </a:r>
          </a:p>
        </p:txBody>
      </p:sp>
      <p:sp>
        <p:nvSpPr>
          <p:cNvPr id="82" name="Titre 1"/>
          <p:cNvSpPr txBox="1">
            <a:spLocks/>
          </p:cNvSpPr>
          <p:nvPr/>
        </p:nvSpPr>
        <p:spPr>
          <a:xfrm>
            <a:off x="945299" y="1675320"/>
            <a:ext cx="1930485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u="sng" dirty="0" smtClean="0"/>
              <a:t>Validation technique</a:t>
            </a:r>
            <a:endParaRPr lang="fr-FR" sz="1400" b="1" u="sng" dirty="0"/>
          </a:p>
        </p:txBody>
      </p:sp>
      <p:sp>
        <p:nvSpPr>
          <p:cNvPr id="54" name="Rectangle 53"/>
          <p:cNvSpPr/>
          <p:nvPr/>
        </p:nvSpPr>
        <p:spPr>
          <a:xfrm>
            <a:off x="8444993" y="2270414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Recherche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751319" y="2288669"/>
            <a:ext cx="1080000" cy="32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9" name="Titre 1"/>
          <p:cNvSpPr txBox="1">
            <a:spLocks/>
          </p:cNvSpPr>
          <p:nvPr/>
        </p:nvSpPr>
        <p:spPr>
          <a:xfrm>
            <a:off x="1045586" y="2272093"/>
            <a:ext cx="1720777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Critère de recherche</a:t>
            </a:r>
            <a:endParaRPr lang="fr-FR" sz="1400" dirty="0"/>
          </a:p>
        </p:txBody>
      </p:sp>
      <p:sp>
        <p:nvSpPr>
          <p:cNvPr id="71" name="Rectangle 70"/>
          <p:cNvSpPr/>
          <p:nvPr/>
        </p:nvSpPr>
        <p:spPr>
          <a:xfrm>
            <a:off x="4150632" y="2306874"/>
            <a:ext cx="4021515" cy="32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3" name="Triangle isocèle 72"/>
          <p:cNvSpPr/>
          <p:nvPr/>
        </p:nvSpPr>
        <p:spPr>
          <a:xfrm rot="10800000">
            <a:off x="3600688" y="2289233"/>
            <a:ext cx="216000" cy="394544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4" name="Rectangle 73"/>
          <p:cNvSpPr/>
          <p:nvPr/>
        </p:nvSpPr>
        <p:spPr>
          <a:xfrm>
            <a:off x="909986" y="2106428"/>
            <a:ext cx="9013524" cy="1396626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5" name="Titre 1"/>
          <p:cNvSpPr txBox="1">
            <a:spLocks/>
          </p:cNvSpPr>
          <p:nvPr/>
        </p:nvSpPr>
        <p:spPr>
          <a:xfrm>
            <a:off x="1414085" y="2946730"/>
            <a:ext cx="1737973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dirty="0" smtClean="0"/>
              <a:t>Toutes les demandes</a:t>
            </a:r>
            <a:endParaRPr lang="fr-FR" sz="1400" b="1" dirty="0"/>
          </a:p>
        </p:txBody>
      </p:sp>
      <p:sp>
        <p:nvSpPr>
          <p:cNvPr id="76" name="Rectangle 75"/>
          <p:cNvSpPr/>
          <p:nvPr/>
        </p:nvSpPr>
        <p:spPr>
          <a:xfrm>
            <a:off x="1194158" y="3015485"/>
            <a:ext cx="216000" cy="216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8" name="Titre 1"/>
          <p:cNvSpPr txBox="1">
            <a:spLocks/>
          </p:cNvSpPr>
          <p:nvPr/>
        </p:nvSpPr>
        <p:spPr>
          <a:xfrm>
            <a:off x="1045586" y="2573235"/>
            <a:ext cx="4233344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dirty="0" smtClean="0"/>
              <a:t>Critère de recherche = </a:t>
            </a:r>
            <a:r>
              <a:rPr lang="fr-FR" sz="1400" dirty="0" smtClean="0"/>
              <a:t>Nom, Prénom, N° de demande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3641610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54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xploration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Prélèvements</a:t>
            </a:r>
            <a:endParaRPr lang="fr-FR" sz="1800" dirty="0"/>
          </a:p>
        </p:txBody>
      </p:sp>
      <p:sp>
        <p:nvSpPr>
          <p:cNvPr id="84" name="Rectangle 83"/>
          <p:cNvSpPr/>
          <p:nvPr/>
        </p:nvSpPr>
        <p:spPr>
          <a:xfrm>
            <a:off x="191991" y="573517"/>
            <a:ext cx="11880000" cy="622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38" name="Titre 1"/>
          <p:cNvSpPr txBox="1">
            <a:spLocks/>
          </p:cNvSpPr>
          <p:nvPr/>
        </p:nvSpPr>
        <p:spPr>
          <a:xfrm>
            <a:off x="481662" y="637872"/>
            <a:ext cx="1077731" cy="297004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u="sng" dirty="0" smtClean="0"/>
              <a:t>Prélèvement</a:t>
            </a:r>
            <a:endParaRPr lang="fr-FR" sz="1400" b="1" u="sng" dirty="0"/>
          </a:p>
        </p:txBody>
      </p:sp>
      <p:sp>
        <p:nvSpPr>
          <p:cNvPr id="39" name="Rectangle 38"/>
          <p:cNvSpPr/>
          <p:nvPr/>
        </p:nvSpPr>
        <p:spPr>
          <a:xfrm>
            <a:off x="9359397" y="1394653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Recherche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65723" y="1412908"/>
            <a:ext cx="1080000" cy="32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1" name="Titre 1"/>
          <p:cNvSpPr txBox="1">
            <a:spLocks/>
          </p:cNvSpPr>
          <p:nvPr/>
        </p:nvSpPr>
        <p:spPr>
          <a:xfrm>
            <a:off x="1959990" y="1396332"/>
            <a:ext cx="1720777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Critère de recherche</a:t>
            </a:r>
            <a:endParaRPr lang="fr-FR" sz="1400" dirty="0"/>
          </a:p>
        </p:txBody>
      </p:sp>
      <p:sp>
        <p:nvSpPr>
          <p:cNvPr id="42" name="Rectangle 41"/>
          <p:cNvSpPr/>
          <p:nvPr/>
        </p:nvSpPr>
        <p:spPr>
          <a:xfrm>
            <a:off x="5065036" y="1431113"/>
            <a:ext cx="4021515" cy="32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3" name="Triangle isocèle 42"/>
          <p:cNvSpPr/>
          <p:nvPr/>
        </p:nvSpPr>
        <p:spPr>
          <a:xfrm rot="10800000">
            <a:off x="4515093" y="1413472"/>
            <a:ext cx="216000" cy="324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4" name="Rectangle 43"/>
          <p:cNvSpPr/>
          <p:nvPr/>
        </p:nvSpPr>
        <p:spPr>
          <a:xfrm>
            <a:off x="1824390" y="702628"/>
            <a:ext cx="9013524" cy="1396626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7" name="Titre 1"/>
          <p:cNvSpPr txBox="1">
            <a:spLocks/>
          </p:cNvSpPr>
          <p:nvPr/>
        </p:nvSpPr>
        <p:spPr>
          <a:xfrm>
            <a:off x="1932087" y="1754793"/>
            <a:ext cx="4233344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dirty="0" smtClean="0"/>
              <a:t>Critère de recherche = </a:t>
            </a:r>
            <a:r>
              <a:rPr lang="fr-FR" sz="1400" dirty="0" smtClean="0"/>
              <a:t>Nom, Prénom, N° de dossier</a:t>
            </a:r>
            <a:endParaRPr lang="fr-FR" sz="1400" dirty="0"/>
          </a:p>
        </p:txBody>
      </p:sp>
      <p:sp>
        <p:nvSpPr>
          <p:cNvPr id="48" name="Rectangle 47"/>
          <p:cNvSpPr/>
          <p:nvPr/>
        </p:nvSpPr>
        <p:spPr>
          <a:xfrm>
            <a:off x="3663575" y="908480"/>
            <a:ext cx="1800000" cy="32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9" name="Titre 1"/>
          <p:cNvSpPr txBox="1">
            <a:spLocks/>
          </p:cNvSpPr>
          <p:nvPr/>
        </p:nvSpPr>
        <p:spPr>
          <a:xfrm>
            <a:off x="1957842" y="891904"/>
            <a:ext cx="1720777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Scanner code </a:t>
            </a:r>
            <a:r>
              <a:rPr lang="fr-FR" sz="1400" dirty="0"/>
              <a:t>b</a:t>
            </a:r>
            <a:r>
              <a:rPr lang="fr-FR" sz="1400" dirty="0" smtClean="0"/>
              <a:t>arre</a:t>
            </a:r>
            <a:endParaRPr lang="fr-FR" sz="1400" dirty="0"/>
          </a:p>
        </p:txBody>
      </p:sp>
      <p:sp>
        <p:nvSpPr>
          <p:cNvPr id="51" name="Titre 1"/>
          <p:cNvSpPr txBox="1">
            <a:spLocks/>
          </p:cNvSpPr>
          <p:nvPr/>
        </p:nvSpPr>
        <p:spPr>
          <a:xfrm>
            <a:off x="3720717" y="2302279"/>
            <a:ext cx="925253" cy="32284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fr-FR"/>
            </a:defPPr>
            <a:lvl1pPr algn="ctr">
              <a:lnSpc>
                <a:spcPct val="107000"/>
              </a:lnSpc>
              <a:spcAft>
                <a:spcPts val="800"/>
              </a:spcAft>
              <a:defRPr sz="14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r>
              <a:rPr lang="fr-FR" dirty="0"/>
              <a:t>N° dossier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60182" y="2845258"/>
            <a:ext cx="108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3" name="Titre 1"/>
          <p:cNvSpPr txBox="1">
            <a:spLocks/>
          </p:cNvSpPr>
          <p:nvPr/>
        </p:nvSpPr>
        <p:spPr>
          <a:xfrm>
            <a:off x="1932962" y="2301439"/>
            <a:ext cx="1485921" cy="32284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fr-FR"/>
            </a:defPPr>
            <a:lvl1pPr algn="ctr">
              <a:lnSpc>
                <a:spcPct val="107000"/>
              </a:lnSpc>
              <a:spcAft>
                <a:spcPts val="800"/>
              </a:spcAft>
              <a:defRPr sz="14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r>
              <a:rPr lang="fr-FR" dirty="0"/>
              <a:t>Date de demande</a:t>
            </a:r>
          </a:p>
        </p:txBody>
      </p:sp>
      <p:sp>
        <p:nvSpPr>
          <p:cNvPr id="55" name="Rectangle 54"/>
          <p:cNvSpPr>
            <a:spLocks/>
          </p:cNvSpPr>
          <p:nvPr/>
        </p:nvSpPr>
        <p:spPr>
          <a:xfrm>
            <a:off x="9725017" y="2308411"/>
            <a:ext cx="1101585" cy="3228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Sélectionner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1959988" y="2863139"/>
            <a:ext cx="144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7" name="Rectangle 56"/>
          <p:cNvSpPr/>
          <p:nvPr/>
        </p:nvSpPr>
        <p:spPr>
          <a:xfrm>
            <a:off x="1825035" y="2218032"/>
            <a:ext cx="9000000" cy="1188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8" name="Titre 1"/>
          <p:cNvSpPr txBox="1">
            <a:spLocks/>
          </p:cNvSpPr>
          <p:nvPr/>
        </p:nvSpPr>
        <p:spPr>
          <a:xfrm>
            <a:off x="6989971" y="2296618"/>
            <a:ext cx="759375" cy="32284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fr-FR"/>
            </a:defPPr>
            <a:lvl1pPr algn="ctr">
              <a:lnSpc>
                <a:spcPct val="107000"/>
              </a:lnSpc>
              <a:spcAft>
                <a:spcPts val="800"/>
              </a:spcAft>
              <a:defRPr sz="14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r>
              <a:rPr lang="fr-FR" dirty="0"/>
              <a:t>Prénom</a:t>
            </a:r>
          </a:p>
        </p:txBody>
      </p:sp>
      <p:cxnSp>
        <p:nvCxnSpPr>
          <p:cNvPr id="70" name="Connecteur droit 69"/>
          <p:cNvCxnSpPr/>
          <p:nvPr/>
        </p:nvCxnSpPr>
        <p:spPr>
          <a:xfrm>
            <a:off x="3501421" y="2225500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2" name="Connecteur droit 71"/>
          <p:cNvCxnSpPr/>
          <p:nvPr/>
        </p:nvCxnSpPr>
        <p:spPr>
          <a:xfrm>
            <a:off x="4886869" y="2209177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7" name="Connecteur droit 76"/>
          <p:cNvCxnSpPr/>
          <p:nvPr/>
        </p:nvCxnSpPr>
        <p:spPr>
          <a:xfrm>
            <a:off x="6624428" y="2209177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9" name="Connecteur droit 78"/>
          <p:cNvCxnSpPr/>
          <p:nvPr/>
        </p:nvCxnSpPr>
        <p:spPr>
          <a:xfrm>
            <a:off x="1826100" y="2731196"/>
            <a:ext cx="9000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9" name="Rectangle 88"/>
          <p:cNvSpPr/>
          <p:nvPr/>
        </p:nvSpPr>
        <p:spPr>
          <a:xfrm>
            <a:off x="5488944" y="2301439"/>
            <a:ext cx="537327" cy="3228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Nom</a:t>
            </a:r>
          </a:p>
        </p:txBody>
      </p:sp>
      <p:cxnSp>
        <p:nvCxnSpPr>
          <p:cNvPr id="90" name="Connecteur droit 89"/>
          <p:cNvCxnSpPr/>
          <p:nvPr/>
        </p:nvCxnSpPr>
        <p:spPr>
          <a:xfrm>
            <a:off x="8185036" y="2209177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1" name="Rectangle 90"/>
          <p:cNvSpPr/>
          <p:nvPr/>
        </p:nvSpPr>
        <p:spPr>
          <a:xfrm>
            <a:off x="8294251" y="2873870"/>
            <a:ext cx="1332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92" name="Connecteur droit 91"/>
          <p:cNvCxnSpPr/>
          <p:nvPr/>
        </p:nvCxnSpPr>
        <p:spPr>
          <a:xfrm>
            <a:off x="9713959" y="2209177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3" name="Titre 1"/>
          <p:cNvSpPr txBox="1">
            <a:spLocks/>
          </p:cNvSpPr>
          <p:nvPr/>
        </p:nvSpPr>
        <p:spPr>
          <a:xfrm>
            <a:off x="8211694" y="2313168"/>
            <a:ext cx="1503553" cy="32284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fr-FR"/>
            </a:defPPr>
            <a:lvl1pPr algn="ctr">
              <a:lnSpc>
                <a:spcPct val="107000"/>
              </a:lnSpc>
              <a:spcAft>
                <a:spcPts val="800"/>
              </a:spcAft>
              <a:defRPr sz="14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r>
              <a:rPr lang="fr-FR" dirty="0"/>
              <a:t>Date de naissance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048773" y="2873870"/>
            <a:ext cx="144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3" name="Rectangle 102"/>
          <p:cNvSpPr/>
          <p:nvPr/>
        </p:nvSpPr>
        <p:spPr>
          <a:xfrm>
            <a:off x="6761664" y="2873870"/>
            <a:ext cx="1332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" name="Rectangle 2"/>
          <p:cNvSpPr/>
          <p:nvPr/>
        </p:nvSpPr>
        <p:spPr>
          <a:xfrm>
            <a:off x="9996949" y="2897744"/>
            <a:ext cx="576000" cy="288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/>
          <p:cNvSpPr/>
          <p:nvPr/>
        </p:nvSpPr>
        <p:spPr>
          <a:xfrm>
            <a:off x="191991" y="3465300"/>
            <a:ext cx="1655838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b="1" u="sng" dirty="0">
                <a:latin typeface="+mj-lt"/>
                <a:ea typeface="+mj-ea"/>
                <a:cs typeface="+mj-cs"/>
              </a:rPr>
              <a:t>Fiche d'identification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0042468" y="5310729"/>
            <a:ext cx="1800000" cy="396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fr-FR" sz="1400" dirty="0" smtClean="0"/>
              <a:t>Imprimer code barre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716829" y="3546823"/>
            <a:ext cx="1358227" cy="32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6" name="Titre 1"/>
          <p:cNvSpPr txBox="1">
            <a:spLocks/>
          </p:cNvSpPr>
          <p:nvPr/>
        </p:nvSpPr>
        <p:spPr>
          <a:xfrm>
            <a:off x="5418458" y="3573206"/>
            <a:ext cx="1245597" cy="297004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demande</a:t>
            </a:r>
            <a:endParaRPr lang="fr-FR" sz="1400" dirty="0"/>
          </a:p>
        </p:txBody>
      </p:sp>
      <p:sp>
        <p:nvSpPr>
          <p:cNvPr id="108" name="Triangle isocèle 107"/>
          <p:cNvSpPr/>
          <p:nvPr/>
        </p:nvSpPr>
        <p:spPr>
          <a:xfrm rot="10800000">
            <a:off x="4949039" y="4446875"/>
            <a:ext cx="216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endParaRPr lang="fr-FR" dirty="0"/>
          </a:p>
        </p:txBody>
      </p:sp>
      <p:sp>
        <p:nvSpPr>
          <p:cNvPr id="109" name="Rectangle 108"/>
          <p:cNvSpPr/>
          <p:nvPr/>
        </p:nvSpPr>
        <p:spPr>
          <a:xfrm>
            <a:off x="3429608" y="3559386"/>
            <a:ext cx="1800000" cy="32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0" name="Titre 1"/>
          <p:cNvSpPr txBox="1">
            <a:spLocks/>
          </p:cNvSpPr>
          <p:nvPr/>
        </p:nvSpPr>
        <p:spPr>
          <a:xfrm>
            <a:off x="2020091" y="3569193"/>
            <a:ext cx="1082348" cy="297004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demande</a:t>
            </a:r>
            <a:endParaRPr lang="fr-FR" sz="1400" dirty="0"/>
          </a:p>
        </p:txBody>
      </p:sp>
      <p:sp>
        <p:nvSpPr>
          <p:cNvPr id="113" name="Rectangle 112"/>
          <p:cNvSpPr/>
          <p:nvPr/>
        </p:nvSpPr>
        <p:spPr>
          <a:xfrm>
            <a:off x="3414581" y="3995124"/>
            <a:ext cx="1800000" cy="32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4" name="Titre 1"/>
          <p:cNvSpPr txBox="1">
            <a:spLocks/>
          </p:cNvSpPr>
          <p:nvPr/>
        </p:nvSpPr>
        <p:spPr>
          <a:xfrm>
            <a:off x="2378554" y="4004931"/>
            <a:ext cx="702565" cy="297004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115" name="Rectangle 114"/>
          <p:cNvSpPr/>
          <p:nvPr/>
        </p:nvSpPr>
        <p:spPr>
          <a:xfrm>
            <a:off x="6699652" y="4006172"/>
            <a:ext cx="1358227" cy="32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6" name="Titre 1"/>
          <p:cNvSpPr txBox="1">
            <a:spLocks/>
          </p:cNvSpPr>
          <p:nvPr/>
        </p:nvSpPr>
        <p:spPr>
          <a:xfrm>
            <a:off x="5800529" y="4032555"/>
            <a:ext cx="816249" cy="297004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Médecin</a:t>
            </a:r>
            <a:endParaRPr lang="fr-FR" sz="1400" dirty="0"/>
          </a:p>
        </p:txBody>
      </p:sp>
      <p:sp>
        <p:nvSpPr>
          <p:cNvPr id="117" name="Rectangle 116"/>
          <p:cNvSpPr/>
          <p:nvPr/>
        </p:nvSpPr>
        <p:spPr>
          <a:xfrm>
            <a:off x="9290456" y="4021198"/>
            <a:ext cx="1358227" cy="32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8" name="Titre 1"/>
          <p:cNvSpPr txBox="1">
            <a:spLocks/>
          </p:cNvSpPr>
          <p:nvPr/>
        </p:nvSpPr>
        <p:spPr>
          <a:xfrm>
            <a:off x="8391331" y="4047581"/>
            <a:ext cx="870175" cy="297004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Préleveur</a:t>
            </a:r>
            <a:endParaRPr lang="fr-FR" sz="1400" dirty="0"/>
          </a:p>
        </p:txBody>
      </p:sp>
      <p:sp>
        <p:nvSpPr>
          <p:cNvPr id="119" name="Rectangle 118"/>
          <p:cNvSpPr/>
          <p:nvPr/>
        </p:nvSpPr>
        <p:spPr>
          <a:xfrm>
            <a:off x="3414581" y="4419828"/>
            <a:ext cx="1776390" cy="32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0" name="Titre 1"/>
          <p:cNvSpPr txBox="1">
            <a:spLocks/>
          </p:cNvSpPr>
          <p:nvPr/>
        </p:nvSpPr>
        <p:spPr>
          <a:xfrm>
            <a:off x="1810225" y="4446824"/>
            <a:ext cx="1404423" cy="297004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Type échantillon</a:t>
            </a:r>
            <a:endParaRPr lang="fr-FR" sz="1400" dirty="0"/>
          </a:p>
        </p:txBody>
      </p:sp>
      <p:sp>
        <p:nvSpPr>
          <p:cNvPr id="122" name="Rectangle 121"/>
          <p:cNvSpPr/>
          <p:nvPr/>
        </p:nvSpPr>
        <p:spPr>
          <a:xfrm>
            <a:off x="3412433" y="4842684"/>
            <a:ext cx="1776390" cy="32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3" name="Titre 1"/>
          <p:cNvSpPr txBox="1">
            <a:spLocks/>
          </p:cNvSpPr>
          <p:nvPr/>
        </p:nvSpPr>
        <p:spPr>
          <a:xfrm>
            <a:off x="1808077" y="4869680"/>
            <a:ext cx="1357038" cy="297004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Code barre tube</a:t>
            </a:r>
            <a:endParaRPr lang="fr-FR" sz="1400" dirty="0"/>
          </a:p>
        </p:txBody>
      </p:sp>
      <p:sp>
        <p:nvSpPr>
          <p:cNvPr id="124" name="Rectangle 123"/>
          <p:cNvSpPr/>
          <p:nvPr/>
        </p:nvSpPr>
        <p:spPr>
          <a:xfrm>
            <a:off x="1796485" y="3495200"/>
            <a:ext cx="10180869" cy="2248776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5" name="Rectangle 124"/>
          <p:cNvSpPr/>
          <p:nvPr/>
        </p:nvSpPr>
        <p:spPr>
          <a:xfrm>
            <a:off x="3423164" y="5291298"/>
            <a:ext cx="1776390" cy="32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6" name="Titre 1"/>
          <p:cNvSpPr txBox="1">
            <a:spLocks/>
          </p:cNvSpPr>
          <p:nvPr/>
        </p:nvSpPr>
        <p:spPr>
          <a:xfrm>
            <a:off x="1818808" y="5318294"/>
            <a:ext cx="1595758" cy="297004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Code barre scannés</a:t>
            </a:r>
            <a:endParaRPr lang="fr-FR" sz="1400" dirty="0"/>
          </a:p>
        </p:txBody>
      </p:sp>
      <p:sp>
        <p:nvSpPr>
          <p:cNvPr id="127" name="Rectangle 126"/>
          <p:cNvSpPr/>
          <p:nvPr/>
        </p:nvSpPr>
        <p:spPr>
          <a:xfrm>
            <a:off x="5393630" y="4646086"/>
            <a:ext cx="6452500" cy="686472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Rectangle 4"/>
          <p:cNvSpPr/>
          <p:nvPr/>
        </p:nvSpPr>
        <p:spPr>
          <a:xfrm>
            <a:off x="5359238" y="4639775"/>
            <a:ext cx="6560088" cy="706347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Après la saisie de code barre un message s’affiche pour déclarer le nombre des tubes nécessaire pour cette analyse</a:t>
            </a:r>
          </a:p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b="1" dirty="0" smtClean="0">
                <a:latin typeface="+mj-lt"/>
                <a:ea typeface="+mj-ea"/>
                <a:cs typeface="+mj-cs"/>
              </a:rPr>
              <a:t>Exemple : </a:t>
            </a:r>
            <a:r>
              <a:rPr lang="fr-FR" sz="1400" dirty="0" smtClean="0">
                <a:latin typeface="+mj-lt"/>
                <a:ea typeface="+mj-ea"/>
                <a:cs typeface="+mj-cs"/>
              </a:rPr>
              <a:t>(Cette </a:t>
            </a:r>
            <a:r>
              <a:rPr lang="fr-FR" sz="1400" dirty="0">
                <a:latin typeface="+mj-lt"/>
                <a:ea typeface="+mj-ea"/>
                <a:cs typeface="+mj-cs"/>
              </a:rPr>
              <a:t>demande nécessite : 03 tube(s); (EDTA, Héparinate Lithium, Tube sec).</a:t>
            </a:r>
          </a:p>
        </p:txBody>
      </p:sp>
      <p:sp>
        <p:nvSpPr>
          <p:cNvPr id="6" name="Rectangle 5"/>
          <p:cNvSpPr/>
          <p:nvPr/>
        </p:nvSpPr>
        <p:spPr>
          <a:xfrm>
            <a:off x="231585" y="5743976"/>
            <a:ext cx="1367402" cy="6764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b="1" u="sng" dirty="0">
                <a:latin typeface="+mj-lt"/>
                <a:ea typeface="+mj-ea"/>
                <a:cs typeface="+mj-cs"/>
              </a:rPr>
              <a:t>Examens sélectionnés (demandés)</a:t>
            </a:r>
          </a:p>
        </p:txBody>
      </p:sp>
      <p:sp>
        <p:nvSpPr>
          <p:cNvPr id="129" name="Titre 1"/>
          <p:cNvSpPr txBox="1">
            <a:spLocks/>
          </p:cNvSpPr>
          <p:nvPr/>
        </p:nvSpPr>
        <p:spPr>
          <a:xfrm>
            <a:off x="2040934" y="5866241"/>
            <a:ext cx="1614224" cy="297004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Examens demandés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799275" y="5811238"/>
            <a:ext cx="4680000" cy="936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33" name="Connecteur droit 132"/>
          <p:cNvCxnSpPr/>
          <p:nvPr/>
        </p:nvCxnSpPr>
        <p:spPr>
          <a:xfrm>
            <a:off x="1800340" y="6221370"/>
            <a:ext cx="4680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6" name="Rectangle 135"/>
          <p:cNvSpPr/>
          <p:nvPr/>
        </p:nvSpPr>
        <p:spPr>
          <a:xfrm>
            <a:off x="1960112" y="6310945"/>
            <a:ext cx="4438508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2" name="Rectangle 141"/>
          <p:cNvSpPr/>
          <p:nvPr/>
        </p:nvSpPr>
        <p:spPr>
          <a:xfrm>
            <a:off x="6616778" y="6366096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Valider</a:t>
            </a:r>
          </a:p>
        </p:txBody>
      </p:sp>
    </p:spTree>
    <p:extLst>
      <p:ext uri="{BB962C8B-B14F-4D97-AF65-F5344CB8AC3E}">
        <p14:creationId xmlns:p14="http://schemas.microsoft.com/office/powerpoint/2010/main" val="3441958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83"/>
          <p:cNvSpPr/>
          <p:nvPr/>
        </p:nvSpPr>
        <p:spPr>
          <a:xfrm>
            <a:off x="191991" y="573517"/>
            <a:ext cx="11880000" cy="622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2479820" y="685959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870182" y="672854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697549" y="692366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667218" y="730985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841404" y="686261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8251647" y="737613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2429229" y="627099"/>
            <a:ext cx="6892827" cy="4643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860603" y="75673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950052" y="740319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614530" y="746360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8300317" y="765185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273503" y="533522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14480" y="1156988"/>
            <a:ext cx="1980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Demandées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927922" y="1150364"/>
            <a:ext cx="198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Historique demandes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37852" y="1159221"/>
            <a:ext cx="198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Compte rendu</a:t>
            </a:r>
            <a:endParaRPr lang="fr-FR" sz="1400" dirty="0"/>
          </a:p>
        </p:txBody>
      </p:sp>
      <p:sp>
        <p:nvSpPr>
          <p:cNvPr id="65" name="Rectangle 64"/>
          <p:cNvSpPr/>
          <p:nvPr/>
        </p:nvSpPr>
        <p:spPr>
          <a:xfrm>
            <a:off x="6950941" y="1159817"/>
            <a:ext cx="198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Historique résultats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976989" y="1166059"/>
            <a:ext cx="198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Microbiologie</a:t>
            </a:r>
          </a:p>
        </p:txBody>
      </p:sp>
      <p:sp>
        <p:nvSpPr>
          <p:cNvPr id="82" name="Titre 1"/>
          <p:cNvSpPr txBox="1">
            <a:spLocks/>
          </p:cNvSpPr>
          <p:nvPr/>
        </p:nvSpPr>
        <p:spPr>
          <a:xfrm>
            <a:off x="211206" y="1546530"/>
            <a:ext cx="1930485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u="sng" dirty="0"/>
              <a:t>Exploration radiologique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685141" y="1703738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Recherche</a:t>
            </a:r>
          </a:p>
        </p:txBody>
      </p:sp>
      <p:sp>
        <p:nvSpPr>
          <p:cNvPr id="69" name="Titre 1"/>
          <p:cNvSpPr txBox="1">
            <a:spLocks/>
          </p:cNvSpPr>
          <p:nvPr/>
        </p:nvSpPr>
        <p:spPr>
          <a:xfrm>
            <a:off x="2217564" y="1718296"/>
            <a:ext cx="1720777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Alphabétique</a:t>
            </a:r>
            <a:endParaRPr lang="fr-FR" sz="1400" dirty="0"/>
          </a:p>
        </p:txBody>
      </p:sp>
      <p:sp>
        <p:nvSpPr>
          <p:cNvPr id="71" name="Rectangle 70"/>
          <p:cNvSpPr/>
          <p:nvPr/>
        </p:nvSpPr>
        <p:spPr>
          <a:xfrm>
            <a:off x="3468053" y="1727319"/>
            <a:ext cx="4021515" cy="32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4" name="Rectangle 73"/>
          <p:cNvSpPr/>
          <p:nvPr/>
        </p:nvSpPr>
        <p:spPr>
          <a:xfrm>
            <a:off x="2081964" y="1604147"/>
            <a:ext cx="7240092" cy="573626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8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55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xploration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Radiologies / Demandées</a:t>
            </a:r>
            <a:endParaRPr lang="fr-FR" sz="1800" dirty="0"/>
          </a:p>
        </p:txBody>
      </p:sp>
      <p:sp>
        <p:nvSpPr>
          <p:cNvPr id="39" name="Titre 1"/>
          <p:cNvSpPr txBox="1">
            <a:spLocks/>
          </p:cNvSpPr>
          <p:nvPr/>
        </p:nvSpPr>
        <p:spPr>
          <a:xfrm>
            <a:off x="2261094" y="2746404"/>
            <a:ext cx="72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Famille</a:t>
            </a:r>
            <a:endParaRPr lang="fr-FR" sz="1400" dirty="0"/>
          </a:p>
        </p:txBody>
      </p:sp>
      <p:sp>
        <p:nvSpPr>
          <p:cNvPr id="40" name="Rectangle 39"/>
          <p:cNvSpPr/>
          <p:nvPr/>
        </p:nvSpPr>
        <p:spPr>
          <a:xfrm>
            <a:off x="3326210" y="2782054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1" name="Titre 1"/>
          <p:cNvSpPr txBox="1">
            <a:spLocks/>
          </p:cNvSpPr>
          <p:nvPr/>
        </p:nvSpPr>
        <p:spPr>
          <a:xfrm>
            <a:off x="2274012" y="2363881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Demandeur</a:t>
            </a:r>
            <a:endParaRPr lang="fr-FR" sz="1400" dirty="0"/>
          </a:p>
        </p:txBody>
      </p:sp>
      <p:sp>
        <p:nvSpPr>
          <p:cNvPr id="42" name="Triangle isocèle 41"/>
          <p:cNvSpPr/>
          <p:nvPr/>
        </p:nvSpPr>
        <p:spPr>
          <a:xfrm rot="10800000">
            <a:off x="4923534" y="2796532"/>
            <a:ext cx="180000" cy="252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3" name="Rectangle 42"/>
          <p:cNvSpPr/>
          <p:nvPr/>
        </p:nvSpPr>
        <p:spPr>
          <a:xfrm>
            <a:off x="2237705" y="3256168"/>
            <a:ext cx="720000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Groupe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31544" y="2403040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5" name="Rectangle 44"/>
          <p:cNvSpPr/>
          <p:nvPr/>
        </p:nvSpPr>
        <p:spPr>
          <a:xfrm>
            <a:off x="3332312" y="3245577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6" name="Triangle isocèle 45"/>
          <p:cNvSpPr/>
          <p:nvPr/>
        </p:nvSpPr>
        <p:spPr>
          <a:xfrm rot="10800000">
            <a:off x="4935807" y="3260055"/>
            <a:ext cx="180000" cy="252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7" name="Triangle isocèle 46"/>
          <p:cNvSpPr/>
          <p:nvPr/>
        </p:nvSpPr>
        <p:spPr>
          <a:xfrm rot="10800000">
            <a:off x="4921386" y="2420899"/>
            <a:ext cx="180000" cy="252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8" name="Rectangle 47"/>
          <p:cNvSpPr/>
          <p:nvPr/>
        </p:nvSpPr>
        <p:spPr>
          <a:xfrm>
            <a:off x="2248436" y="3691900"/>
            <a:ext cx="720000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Motif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3343042" y="3681309"/>
            <a:ext cx="5163465" cy="599641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1" name="Titre 1"/>
          <p:cNvSpPr txBox="1">
            <a:spLocks/>
          </p:cNvSpPr>
          <p:nvPr/>
        </p:nvSpPr>
        <p:spPr>
          <a:xfrm>
            <a:off x="5182490" y="2374612"/>
            <a:ext cx="2712263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dirty="0" smtClean="0"/>
              <a:t>Demandeur</a:t>
            </a:r>
            <a:r>
              <a:rPr lang="fr-FR" sz="1400" dirty="0" smtClean="0"/>
              <a:t> : médecin demandeur</a:t>
            </a:r>
            <a:endParaRPr lang="fr-FR" sz="1400" dirty="0"/>
          </a:p>
        </p:txBody>
      </p:sp>
      <p:sp>
        <p:nvSpPr>
          <p:cNvPr id="52" name="Titre 1"/>
          <p:cNvSpPr txBox="1">
            <a:spLocks/>
          </p:cNvSpPr>
          <p:nvPr/>
        </p:nvSpPr>
        <p:spPr>
          <a:xfrm>
            <a:off x="5208211" y="2744256"/>
            <a:ext cx="6920756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dirty="0" smtClean="0"/>
              <a:t>Famille</a:t>
            </a:r>
            <a:r>
              <a:rPr lang="fr-FR" sz="1400" dirty="0" smtClean="0"/>
              <a:t> : famille des examens radiologiques, chaque famille ayant des groupes des examens.</a:t>
            </a:r>
            <a:endParaRPr lang="fr-FR" sz="1400" dirty="0"/>
          </a:p>
        </p:txBody>
      </p:sp>
      <p:sp>
        <p:nvSpPr>
          <p:cNvPr id="53" name="Rectangle 52"/>
          <p:cNvSpPr/>
          <p:nvPr/>
        </p:nvSpPr>
        <p:spPr>
          <a:xfrm>
            <a:off x="5236336" y="3195395"/>
            <a:ext cx="3780805" cy="386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b="1" dirty="0" smtClean="0">
                <a:latin typeface="+mj-lt"/>
                <a:ea typeface="+mj-ea"/>
                <a:cs typeface="+mj-cs"/>
              </a:rPr>
              <a:t>Groupe</a:t>
            </a:r>
            <a:r>
              <a:rPr lang="fr-FR" sz="1400" dirty="0" smtClean="0">
                <a:latin typeface="+mj-lt"/>
                <a:ea typeface="+mj-ea"/>
                <a:cs typeface="+mj-cs"/>
              </a:rPr>
              <a:t> : groupe des examens radiologiques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2092695" y="2284579"/>
            <a:ext cx="9846020" cy="2088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" name="Triangle isocèle 1"/>
          <p:cNvSpPr/>
          <p:nvPr/>
        </p:nvSpPr>
        <p:spPr>
          <a:xfrm rot="5400000">
            <a:off x="2318474" y="4565894"/>
            <a:ext cx="180000" cy="2160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7" name="Titre 1"/>
          <p:cNvSpPr txBox="1">
            <a:spLocks/>
          </p:cNvSpPr>
          <p:nvPr/>
        </p:nvSpPr>
        <p:spPr>
          <a:xfrm>
            <a:off x="209058" y="4467883"/>
            <a:ext cx="1872000" cy="500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u="sng" dirty="0" smtClean="0"/>
              <a:t>Groupe des examens demandées</a:t>
            </a:r>
            <a:endParaRPr lang="fr-FR" sz="1400" b="1" u="sng" dirty="0"/>
          </a:p>
        </p:txBody>
      </p:sp>
      <p:sp>
        <p:nvSpPr>
          <p:cNvPr id="68" name="Rectangle 67"/>
          <p:cNvSpPr/>
          <p:nvPr/>
        </p:nvSpPr>
        <p:spPr>
          <a:xfrm>
            <a:off x="2090547" y="4458957"/>
            <a:ext cx="9846020" cy="1021418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0" name="Rectangle 69"/>
          <p:cNvSpPr/>
          <p:nvPr/>
        </p:nvSpPr>
        <p:spPr>
          <a:xfrm>
            <a:off x="2555382" y="4498078"/>
            <a:ext cx="1859648" cy="3528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Radiologie demandée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2621568" y="4855013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7" name="Rectangle 76"/>
          <p:cNvSpPr/>
          <p:nvPr/>
        </p:nvSpPr>
        <p:spPr>
          <a:xfrm>
            <a:off x="2630151" y="5159812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9" name="Titre 1"/>
          <p:cNvSpPr txBox="1">
            <a:spLocks/>
          </p:cNvSpPr>
          <p:nvPr/>
        </p:nvSpPr>
        <p:spPr>
          <a:xfrm>
            <a:off x="2286516" y="5585550"/>
            <a:ext cx="2046077" cy="3947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Exploration </a:t>
            </a:r>
            <a:r>
              <a:rPr lang="fr-FR" sz="1400" dirty="0" smtClean="0"/>
              <a:t>demandées </a:t>
            </a:r>
            <a:endParaRPr lang="fr-FR" sz="1400" dirty="0"/>
          </a:p>
        </p:txBody>
      </p:sp>
      <p:sp>
        <p:nvSpPr>
          <p:cNvPr id="90" name="Rectangle 89"/>
          <p:cNvSpPr/>
          <p:nvPr/>
        </p:nvSpPr>
        <p:spPr>
          <a:xfrm>
            <a:off x="9931474" y="5618285"/>
            <a:ext cx="972000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Supprimer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2082617" y="5540785"/>
            <a:ext cx="9324000" cy="977304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92" name="Connecteur droit 91"/>
          <p:cNvCxnSpPr/>
          <p:nvPr/>
        </p:nvCxnSpPr>
        <p:spPr>
          <a:xfrm>
            <a:off x="2096555" y="5989549"/>
            <a:ext cx="932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93" name="Image 9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4486" y="6022011"/>
            <a:ext cx="468000" cy="468000"/>
          </a:xfrm>
          <a:prstGeom prst="rect">
            <a:avLst/>
          </a:prstGeom>
        </p:spPr>
      </p:pic>
      <p:cxnSp>
        <p:nvCxnSpPr>
          <p:cNvPr id="101" name="Connecteur droit 100"/>
          <p:cNvCxnSpPr/>
          <p:nvPr/>
        </p:nvCxnSpPr>
        <p:spPr>
          <a:xfrm flipH="1">
            <a:off x="9474837" y="5531930"/>
            <a:ext cx="0" cy="986159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2" name="Rectangle 101"/>
          <p:cNvSpPr/>
          <p:nvPr/>
        </p:nvSpPr>
        <p:spPr>
          <a:xfrm>
            <a:off x="2446988" y="6122119"/>
            <a:ext cx="6948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3" name="Rectangle 102"/>
          <p:cNvSpPr/>
          <p:nvPr/>
        </p:nvSpPr>
        <p:spPr>
          <a:xfrm>
            <a:off x="10337592" y="6573617"/>
            <a:ext cx="10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Valider</a:t>
            </a:r>
          </a:p>
        </p:txBody>
      </p:sp>
      <p:cxnSp>
        <p:nvCxnSpPr>
          <p:cNvPr id="104" name="Connecteur droit avec flèche 103"/>
          <p:cNvCxnSpPr/>
          <p:nvPr/>
        </p:nvCxnSpPr>
        <p:spPr>
          <a:xfrm flipV="1">
            <a:off x="11417592" y="6156105"/>
            <a:ext cx="1023403" cy="5432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5" name="Titre 1"/>
          <p:cNvSpPr txBox="1">
            <a:spLocks/>
          </p:cNvSpPr>
          <p:nvPr/>
        </p:nvSpPr>
        <p:spPr>
          <a:xfrm>
            <a:off x="11531415" y="5892503"/>
            <a:ext cx="2046077" cy="3947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Imprimer un fichier PDF</a:t>
            </a:r>
            <a:endParaRPr lang="fr-FR" sz="1400" dirty="0"/>
          </a:p>
        </p:txBody>
      </p:sp>
      <p:sp>
        <p:nvSpPr>
          <p:cNvPr id="106" name="Titre 1"/>
          <p:cNvSpPr txBox="1">
            <a:spLocks/>
          </p:cNvSpPr>
          <p:nvPr/>
        </p:nvSpPr>
        <p:spPr>
          <a:xfrm>
            <a:off x="203355" y="6582485"/>
            <a:ext cx="3243932" cy="2150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Cet tableau c’est un tableau dynamique</a:t>
            </a:r>
            <a:endParaRPr lang="fr-FR" sz="1400" dirty="0"/>
          </a:p>
        </p:txBody>
      </p:sp>
      <p:sp>
        <p:nvSpPr>
          <p:cNvPr id="4" name="Rectangle 3"/>
          <p:cNvSpPr/>
          <p:nvPr/>
        </p:nvSpPr>
        <p:spPr>
          <a:xfrm>
            <a:off x="59129" y="5549654"/>
            <a:ext cx="2060295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b="1" u="sng" dirty="0">
                <a:latin typeface="+mj-lt"/>
                <a:ea typeface="+mj-ea"/>
                <a:cs typeface="+mj-cs"/>
              </a:rPr>
              <a:t>Explorations sélectionnées (demandées)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2825840" y="4810214"/>
            <a:ext cx="900000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Sélection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08" name="Rectangle 107"/>
          <p:cNvSpPr/>
          <p:nvPr/>
        </p:nvSpPr>
        <p:spPr>
          <a:xfrm>
            <a:off x="2823692" y="5130041"/>
            <a:ext cx="900000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Sélection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818140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83"/>
          <p:cNvSpPr/>
          <p:nvPr/>
        </p:nvSpPr>
        <p:spPr>
          <a:xfrm>
            <a:off x="191991" y="573517"/>
            <a:ext cx="11880000" cy="622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2479820" y="685959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870182" y="672854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697549" y="692366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667218" y="730985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841404" y="686261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8251647" y="737613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2429229" y="627099"/>
            <a:ext cx="6892827" cy="4643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860603" y="75673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950052" y="740319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614530" y="746360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8300317" y="765185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273503" y="533522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14480" y="1156988"/>
            <a:ext cx="198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Demandées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927922" y="1150364"/>
            <a:ext cx="1980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Historique demandes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37852" y="1159221"/>
            <a:ext cx="198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Compte rendu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950941" y="1159817"/>
            <a:ext cx="198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Historique résultats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976989" y="1166059"/>
            <a:ext cx="198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Microbiologie</a:t>
            </a:r>
          </a:p>
        </p:txBody>
      </p:sp>
      <p:sp>
        <p:nvSpPr>
          <p:cNvPr id="38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56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xploration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Radiologies / Historique demandes</a:t>
            </a:r>
            <a:endParaRPr lang="fr-FR" sz="1800" dirty="0"/>
          </a:p>
        </p:txBody>
      </p:sp>
      <p:sp>
        <p:nvSpPr>
          <p:cNvPr id="110" name="Titre 1"/>
          <p:cNvSpPr txBox="1">
            <a:spLocks/>
          </p:cNvSpPr>
          <p:nvPr/>
        </p:nvSpPr>
        <p:spPr>
          <a:xfrm>
            <a:off x="3260844" y="2026736"/>
            <a:ext cx="1572344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Exploration</a:t>
            </a:r>
            <a:endParaRPr lang="fr-FR" sz="1400" dirty="0"/>
          </a:p>
        </p:txBody>
      </p:sp>
      <p:sp>
        <p:nvSpPr>
          <p:cNvPr id="111" name="Titre 1"/>
          <p:cNvSpPr txBox="1">
            <a:spLocks/>
          </p:cNvSpPr>
          <p:nvPr/>
        </p:nvSpPr>
        <p:spPr>
          <a:xfrm>
            <a:off x="1333474" y="2005223"/>
            <a:ext cx="1242463" cy="3947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demande</a:t>
            </a:r>
            <a:endParaRPr lang="fr-FR" sz="1400" dirty="0"/>
          </a:p>
        </p:txBody>
      </p:sp>
      <p:sp>
        <p:nvSpPr>
          <p:cNvPr id="112" name="Rectangle 111"/>
          <p:cNvSpPr/>
          <p:nvPr/>
        </p:nvSpPr>
        <p:spPr>
          <a:xfrm>
            <a:off x="8141309" y="2076590"/>
            <a:ext cx="972000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Supprimer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019828" y="2605560"/>
            <a:ext cx="180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4" name="Rectangle 113"/>
          <p:cNvSpPr/>
          <p:nvPr/>
        </p:nvSpPr>
        <p:spPr>
          <a:xfrm>
            <a:off x="884875" y="1960453"/>
            <a:ext cx="8280000" cy="1188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15" name="Connecteur droit 114"/>
          <p:cNvCxnSpPr/>
          <p:nvPr/>
        </p:nvCxnSpPr>
        <p:spPr>
          <a:xfrm>
            <a:off x="3025869" y="1960453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Connecteur droit 115"/>
          <p:cNvCxnSpPr/>
          <p:nvPr/>
        </p:nvCxnSpPr>
        <p:spPr>
          <a:xfrm>
            <a:off x="7216851" y="1951598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Connecteur droit 116"/>
          <p:cNvCxnSpPr/>
          <p:nvPr/>
        </p:nvCxnSpPr>
        <p:spPr>
          <a:xfrm>
            <a:off x="885940" y="2473617"/>
            <a:ext cx="8280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118" name="Image 1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8560" y="2570469"/>
            <a:ext cx="468000" cy="468000"/>
          </a:xfrm>
          <a:prstGeom prst="rect">
            <a:avLst/>
          </a:prstGeom>
        </p:spPr>
      </p:pic>
      <p:sp>
        <p:nvSpPr>
          <p:cNvPr id="119" name="Rectangle 118"/>
          <p:cNvSpPr/>
          <p:nvPr/>
        </p:nvSpPr>
        <p:spPr>
          <a:xfrm>
            <a:off x="3347728" y="2589368"/>
            <a:ext cx="35108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20" name="Connecteur droit 119"/>
          <p:cNvCxnSpPr/>
          <p:nvPr/>
        </p:nvCxnSpPr>
        <p:spPr>
          <a:xfrm>
            <a:off x="8129854" y="1951598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1" name="Titre 1"/>
          <p:cNvSpPr txBox="1">
            <a:spLocks/>
          </p:cNvSpPr>
          <p:nvPr/>
        </p:nvSpPr>
        <p:spPr>
          <a:xfrm>
            <a:off x="7229854" y="2015954"/>
            <a:ext cx="900000" cy="3947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Imprimer</a:t>
            </a:r>
            <a:endParaRPr lang="fr-FR" sz="1400" dirty="0"/>
          </a:p>
        </p:txBody>
      </p:sp>
      <p:pic>
        <p:nvPicPr>
          <p:cNvPr id="122" name="Image 12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4010" y="2573357"/>
            <a:ext cx="540000" cy="540000"/>
          </a:xfrm>
          <a:prstGeom prst="rect">
            <a:avLst/>
          </a:prstGeom>
        </p:spPr>
      </p:pic>
      <p:sp>
        <p:nvSpPr>
          <p:cNvPr id="123" name="Titre 1"/>
          <p:cNvSpPr txBox="1">
            <a:spLocks/>
          </p:cNvSpPr>
          <p:nvPr/>
        </p:nvSpPr>
        <p:spPr>
          <a:xfrm>
            <a:off x="211206" y="1546530"/>
            <a:ext cx="1930485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u="sng" dirty="0"/>
              <a:t>Historique demandes</a:t>
            </a:r>
          </a:p>
        </p:txBody>
      </p:sp>
    </p:spTree>
    <p:extLst>
      <p:ext uri="{BB962C8B-B14F-4D97-AF65-F5344CB8AC3E}">
        <p14:creationId xmlns:p14="http://schemas.microsoft.com/office/powerpoint/2010/main" val="2954376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83"/>
          <p:cNvSpPr/>
          <p:nvPr/>
        </p:nvSpPr>
        <p:spPr>
          <a:xfrm>
            <a:off x="191991" y="573517"/>
            <a:ext cx="11880000" cy="622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2479820" y="685959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870182" y="672854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697549" y="692366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667218" y="730985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841404" y="686261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8251647" y="737613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2429229" y="627099"/>
            <a:ext cx="6892827" cy="4643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860603" y="75673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950052" y="740319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614530" y="746360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8300317" y="765185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273503" y="533522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14480" y="1156988"/>
            <a:ext cx="198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Demandées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927922" y="1163243"/>
            <a:ext cx="198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Historique demandes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37852" y="1159221"/>
            <a:ext cx="1980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Compte rendu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938062" y="1159817"/>
            <a:ext cx="198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Historique résultats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938352" y="1153180"/>
            <a:ext cx="198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Microbiologie</a:t>
            </a:r>
          </a:p>
        </p:txBody>
      </p:sp>
      <p:sp>
        <p:nvSpPr>
          <p:cNvPr id="38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57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xploration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Radiologies /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Compte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rendu</a:t>
            </a:r>
            <a:endParaRPr lang="fr-FR" alt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526042" y="2025709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Recherche</a:t>
            </a:r>
          </a:p>
        </p:txBody>
      </p:sp>
      <p:sp>
        <p:nvSpPr>
          <p:cNvPr id="40" name="Titre 1"/>
          <p:cNvSpPr txBox="1">
            <a:spLocks/>
          </p:cNvSpPr>
          <p:nvPr/>
        </p:nvSpPr>
        <p:spPr>
          <a:xfrm>
            <a:off x="1058465" y="2040267"/>
            <a:ext cx="1720777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Alphabétique</a:t>
            </a:r>
            <a:endParaRPr lang="fr-FR" sz="1400" dirty="0"/>
          </a:p>
        </p:txBody>
      </p:sp>
      <p:sp>
        <p:nvSpPr>
          <p:cNvPr id="41" name="Rectangle 40"/>
          <p:cNvSpPr/>
          <p:nvPr/>
        </p:nvSpPr>
        <p:spPr>
          <a:xfrm>
            <a:off x="2308954" y="2049290"/>
            <a:ext cx="4021515" cy="32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2" name="Rectangle 41"/>
          <p:cNvSpPr/>
          <p:nvPr/>
        </p:nvSpPr>
        <p:spPr>
          <a:xfrm>
            <a:off x="922865" y="1926118"/>
            <a:ext cx="7240092" cy="573626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3" name="Titre 1"/>
          <p:cNvSpPr txBox="1">
            <a:spLocks/>
          </p:cNvSpPr>
          <p:nvPr/>
        </p:nvSpPr>
        <p:spPr>
          <a:xfrm>
            <a:off x="4671373" y="2730319"/>
            <a:ext cx="720000" cy="324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Famille</a:t>
            </a:r>
            <a:endParaRPr lang="fr-FR" sz="1400" dirty="0"/>
          </a:p>
        </p:txBody>
      </p:sp>
      <p:sp>
        <p:nvSpPr>
          <p:cNvPr id="44" name="Rectangle 43"/>
          <p:cNvSpPr/>
          <p:nvPr/>
        </p:nvSpPr>
        <p:spPr>
          <a:xfrm>
            <a:off x="5399712" y="2743417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5" name="Titre 1"/>
          <p:cNvSpPr txBox="1">
            <a:spLocks/>
          </p:cNvSpPr>
          <p:nvPr/>
        </p:nvSpPr>
        <p:spPr>
          <a:xfrm>
            <a:off x="1114912" y="2698731"/>
            <a:ext cx="1364907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de résultat</a:t>
            </a:r>
            <a:endParaRPr lang="fr-FR" sz="1400" dirty="0"/>
          </a:p>
        </p:txBody>
      </p:sp>
      <p:sp>
        <p:nvSpPr>
          <p:cNvPr id="46" name="Triangle isocèle 45"/>
          <p:cNvSpPr/>
          <p:nvPr/>
        </p:nvSpPr>
        <p:spPr>
          <a:xfrm rot="10800000">
            <a:off x="6997036" y="2757895"/>
            <a:ext cx="180000" cy="252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7" name="Rectangle 46"/>
          <p:cNvSpPr/>
          <p:nvPr/>
        </p:nvSpPr>
        <p:spPr>
          <a:xfrm>
            <a:off x="7466088" y="2747083"/>
            <a:ext cx="720000" cy="324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Groupe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481539" y="2737890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9" name="Rectangle 48"/>
          <p:cNvSpPr/>
          <p:nvPr/>
        </p:nvSpPr>
        <p:spPr>
          <a:xfrm>
            <a:off x="8187650" y="2756179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0" name="Triangle isocèle 49"/>
          <p:cNvSpPr/>
          <p:nvPr/>
        </p:nvSpPr>
        <p:spPr>
          <a:xfrm rot="10800000">
            <a:off x="9791145" y="2770657"/>
            <a:ext cx="180000" cy="252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7" name="Rectangle 56"/>
          <p:cNvSpPr/>
          <p:nvPr/>
        </p:nvSpPr>
        <p:spPr>
          <a:xfrm>
            <a:off x="933596" y="2606550"/>
            <a:ext cx="9846020" cy="587411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" name="Rectangle 1"/>
          <p:cNvSpPr/>
          <p:nvPr/>
        </p:nvSpPr>
        <p:spPr>
          <a:xfrm>
            <a:off x="913477" y="1571453"/>
            <a:ext cx="1202124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b="1" u="sng" dirty="0">
                <a:latin typeface="+mj-lt"/>
                <a:ea typeface="+mj-ea"/>
                <a:cs typeface="+mj-cs"/>
              </a:rPr>
              <a:t>Compte rendu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1991" y="5296274"/>
            <a:ext cx="3170715" cy="3702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b="1" u="sng" dirty="0" smtClean="0">
                <a:latin typeface="+mj-lt"/>
                <a:ea typeface="+mj-ea"/>
                <a:cs typeface="+mj-cs"/>
              </a:rPr>
              <a:t>Résultats des explorations sélectionnées</a:t>
            </a:r>
            <a:endParaRPr lang="fr-FR" sz="1400" b="1" u="sng" dirty="0">
              <a:latin typeface="+mj-lt"/>
              <a:ea typeface="+mj-ea"/>
              <a:cs typeface="+mj-cs"/>
            </a:endParaRPr>
          </a:p>
        </p:txBody>
      </p:sp>
      <p:sp>
        <p:nvSpPr>
          <p:cNvPr id="62" name="Triangle isocèle 61"/>
          <p:cNvSpPr/>
          <p:nvPr/>
        </p:nvSpPr>
        <p:spPr>
          <a:xfrm rot="5400000">
            <a:off x="1146499" y="3664372"/>
            <a:ext cx="180000" cy="2160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3" name="Rectangle 62"/>
          <p:cNvSpPr/>
          <p:nvPr/>
        </p:nvSpPr>
        <p:spPr>
          <a:xfrm>
            <a:off x="918572" y="3557434"/>
            <a:ext cx="9846020" cy="1728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6" name="Rectangle 65"/>
          <p:cNvSpPr/>
          <p:nvPr/>
        </p:nvSpPr>
        <p:spPr>
          <a:xfrm>
            <a:off x="1383407" y="3596556"/>
            <a:ext cx="1859648" cy="3528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Radiologie demandée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1449593" y="4017886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9" name="Rectangle 68"/>
          <p:cNvSpPr/>
          <p:nvPr/>
        </p:nvSpPr>
        <p:spPr>
          <a:xfrm>
            <a:off x="1458176" y="4719132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0" name="Rectangle 69"/>
          <p:cNvSpPr/>
          <p:nvPr/>
        </p:nvSpPr>
        <p:spPr>
          <a:xfrm>
            <a:off x="1653865" y="3973087"/>
            <a:ext cx="900000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Sélection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1651717" y="4689361"/>
            <a:ext cx="900000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Sélection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cxnSp>
        <p:nvCxnSpPr>
          <p:cNvPr id="4" name="Connecteur droit 3"/>
          <p:cNvCxnSpPr/>
          <p:nvPr/>
        </p:nvCxnSpPr>
        <p:spPr>
          <a:xfrm>
            <a:off x="918572" y="3948699"/>
            <a:ext cx="984602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2" name="Connecteur droit 71"/>
          <p:cNvCxnSpPr/>
          <p:nvPr/>
        </p:nvCxnSpPr>
        <p:spPr>
          <a:xfrm>
            <a:off x="918572" y="4592649"/>
            <a:ext cx="984602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3" name="Rectangle 72"/>
          <p:cNvSpPr/>
          <p:nvPr/>
        </p:nvSpPr>
        <p:spPr>
          <a:xfrm>
            <a:off x="3362706" y="4647347"/>
            <a:ext cx="7200000" cy="54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4" name="Rectangle 73"/>
          <p:cNvSpPr/>
          <p:nvPr/>
        </p:nvSpPr>
        <p:spPr>
          <a:xfrm>
            <a:off x="3362706" y="4003770"/>
            <a:ext cx="7200000" cy="54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5" name="Rectangle 74"/>
          <p:cNvSpPr/>
          <p:nvPr/>
        </p:nvSpPr>
        <p:spPr>
          <a:xfrm>
            <a:off x="9555616" y="5354764"/>
            <a:ext cx="1224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Ajouter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91991" y="3202428"/>
            <a:ext cx="2060295" cy="3702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b="1" u="sng" dirty="0">
                <a:latin typeface="+mj-lt"/>
                <a:ea typeface="+mj-ea"/>
                <a:cs typeface="+mj-cs"/>
              </a:rPr>
              <a:t>Explorations </a:t>
            </a:r>
            <a:r>
              <a:rPr lang="fr-FR" sz="1400" b="1" u="sng" dirty="0" smtClean="0">
                <a:latin typeface="+mj-lt"/>
                <a:ea typeface="+mj-ea"/>
                <a:cs typeface="+mj-cs"/>
              </a:rPr>
              <a:t>sélectionnées</a:t>
            </a:r>
            <a:endParaRPr lang="fr-FR" sz="1400" b="1" u="sng" dirty="0">
              <a:latin typeface="+mj-lt"/>
              <a:ea typeface="+mj-ea"/>
              <a:cs typeface="+mj-cs"/>
            </a:endParaRPr>
          </a:p>
        </p:txBody>
      </p:sp>
      <p:sp>
        <p:nvSpPr>
          <p:cNvPr id="77" name="Titre 1"/>
          <p:cNvSpPr txBox="1">
            <a:spLocks/>
          </p:cNvSpPr>
          <p:nvPr/>
        </p:nvSpPr>
        <p:spPr>
          <a:xfrm>
            <a:off x="5913894" y="5710092"/>
            <a:ext cx="1572344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Résultat</a:t>
            </a:r>
            <a:endParaRPr lang="fr-FR" sz="1400" dirty="0"/>
          </a:p>
        </p:txBody>
      </p:sp>
      <p:sp>
        <p:nvSpPr>
          <p:cNvPr id="78" name="Titre 1"/>
          <p:cNvSpPr txBox="1">
            <a:spLocks/>
          </p:cNvSpPr>
          <p:nvPr/>
        </p:nvSpPr>
        <p:spPr>
          <a:xfrm>
            <a:off x="1359232" y="5675700"/>
            <a:ext cx="1242463" cy="3947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Exploration</a:t>
            </a:r>
            <a:endParaRPr lang="fr-FR" sz="1400" dirty="0"/>
          </a:p>
        </p:txBody>
      </p:sp>
      <p:sp>
        <p:nvSpPr>
          <p:cNvPr id="79" name="Rectangle 78"/>
          <p:cNvSpPr/>
          <p:nvPr/>
        </p:nvSpPr>
        <p:spPr>
          <a:xfrm>
            <a:off x="8167067" y="5747067"/>
            <a:ext cx="972000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Supprimer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554259" y="6276037"/>
            <a:ext cx="2368177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1" name="Rectangle 80"/>
          <p:cNvSpPr/>
          <p:nvPr/>
        </p:nvSpPr>
        <p:spPr>
          <a:xfrm>
            <a:off x="910633" y="5630930"/>
            <a:ext cx="8542460" cy="1116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82" name="Connecteur droit 81"/>
          <p:cNvCxnSpPr/>
          <p:nvPr/>
        </p:nvCxnSpPr>
        <p:spPr>
          <a:xfrm>
            <a:off x="5318308" y="5630930"/>
            <a:ext cx="0" cy="1116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3" name="Connecteur droit 82"/>
          <p:cNvCxnSpPr/>
          <p:nvPr/>
        </p:nvCxnSpPr>
        <p:spPr>
          <a:xfrm>
            <a:off x="8105493" y="5622075"/>
            <a:ext cx="0" cy="1116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9" name="Connecteur droit 88"/>
          <p:cNvCxnSpPr>
            <a:endCxn id="81" idx="3"/>
          </p:cNvCxnSpPr>
          <p:nvPr/>
        </p:nvCxnSpPr>
        <p:spPr>
          <a:xfrm>
            <a:off x="911698" y="6144094"/>
            <a:ext cx="8541395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90" name="Image 8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4318" y="6240946"/>
            <a:ext cx="468000" cy="468000"/>
          </a:xfrm>
          <a:prstGeom prst="rect">
            <a:avLst/>
          </a:prstGeom>
        </p:spPr>
      </p:pic>
      <p:sp>
        <p:nvSpPr>
          <p:cNvPr id="91" name="Rectangle 90"/>
          <p:cNvSpPr/>
          <p:nvPr/>
        </p:nvSpPr>
        <p:spPr>
          <a:xfrm>
            <a:off x="1132557" y="6259845"/>
            <a:ext cx="3907435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Rectangle 101"/>
          <p:cNvSpPr/>
          <p:nvPr/>
        </p:nvSpPr>
        <p:spPr>
          <a:xfrm>
            <a:off x="9555616" y="6396301"/>
            <a:ext cx="1224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Valider</a:t>
            </a:r>
          </a:p>
        </p:txBody>
      </p:sp>
    </p:spTree>
    <p:extLst>
      <p:ext uri="{BB962C8B-B14F-4D97-AF65-F5344CB8AC3E}">
        <p14:creationId xmlns:p14="http://schemas.microsoft.com/office/powerpoint/2010/main" val="3004505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83"/>
          <p:cNvSpPr/>
          <p:nvPr/>
        </p:nvSpPr>
        <p:spPr>
          <a:xfrm>
            <a:off x="191991" y="573517"/>
            <a:ext cx="11880000" cy="622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2479820" y="685959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870182" y="672854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697549" y="692366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667218" y="730985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841404" y="686261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8251647" y="737613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2429229" y="627099"/>
            <a:ext cx="6892827" cy="4643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860603" y="75673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950052" y="740319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614530" y="746360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8300317" y="765185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273503" y="533522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14480" y="1156988"/>
            <a:ext cx="198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Demandées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927922" y="1150364"/>
            <a:ext cx="198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Historique demandes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37852" y="1159221"/>
            <a:ext cx="198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Compte rendu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950941" y="1159817"/>
            <a:ext cx="1980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Historique résultats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976989" y="1166059"/>
            <a:ext cx="198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Microbiologie</a:t>
            </a:r>
          </a:p>
        </p:txBody>
      </p:sp>
      <p:sp>
        <p:nvSpPr>
          <p:cNvPr id="38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58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xploration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Radiologies / Historique résultats</a:t>
            </a:r>
            <a:endParaRPr lang="fr-FR" sz="1800" dirty="0"/>
          </a:p>
        </p:txBody>
      </p:sp>
      <p:sp>
        <p:nvSpPr>
          <p:cNvPr id="110" name="Titre 1"/>
          <p:cNvSpPr txBox="1">
            <a:spLocks/>
          </p:cNvSpPr>
          <p:nvPr/>
        </p:nvSpPr>
        <p:spPr>
          <a:xfrm>
            <a:off x="1135830" y="2078247"/>
            <a:ext cx="1572344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Exploration</a:t>
            </a:r>
            <a:endParaRPr lang="fr-FR" sz="1400" dirty="0"/>
          </a:p>
        </p:txBody>
      </p:sp>
      <p:cxnSp>
        <p:nvCxnSpPr>
          <p:cNvPr id="115" name="Connecteur droit 114"/>
          <p:cNvCxnSpPr/>
          <p:nvPr/>
        </p:nvCxnSpPr>
        <p:spPr>
          <a:xfrm>
            <a:off x="4944822" y="2011964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9" name="Rectangle 118"/>
          <p:cNvSpPr/>
          <p:nvPr/>
        </p:nvSpPr>
        <p:spPr>
          <a:xfrm>
            <a:off x="1106803" y="2640879"/>
            <a:ext cx="360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3" name="Titre 1"/>
          <p:cNvSpPr txBox="1">
            <a:spLocks/>
          </p:cNvSpPr>
          <p:nvPr/>
        </p:nvSpPr>
        <p:spPr>
          <a:xfrm>
            <a:off x="211206" y="1546530"/>
            <a:ext cx="1930485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u="sng" dirty="0"/>
              <a:t>Historique </a:t>
            </a:r>
            <a:r>
              <a:rPr lang="fr-FR" sz="1400" b="1" u="sng" dirty="0" smtClean="0"/>
              <a:t>résultat</a:t>
            </a:r>
            <a:endParaRPr lang="fr-FR" sz="1400" b="1" u="sng" dirty="0"/>
          </a:p>
        </p:txBody>
      </p:sp>
      <p:sp>
        <p:nvSpPr>
          <p:cNvPr id="40" name="Titre 1"/>
          <p:cNvSpPr txBox="1">
            <a:spLocks/>
          </p:cNvSpPr>
          <p:nvPr/>
        </p:nvSpPr>
        <p:spPr>
          <a:xfrm>
            <a:off x="5364562" y="2069615"/>
            <a:ext cx="1242463" cy="3947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résultat</a:t>
            </a:r>
            <a:endParaRPr lang="fr-FR" sz="1400" dirty="0"/>
          </a:p>
        </p:txBody>
      </p:sp>
      <p:sp>
        <p:nvSpPr>
          <p:cNvPr id="41" name="Rectangle 40"/>
          <p:cNvSpPr/>
          <p:nvPr/>
        </p:nvSpPr>
        <p:spPr>
          <a:xfrm>
            <a:off x="8926921" y="2089469"/>
            <a:ext cx="972000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Supprimer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5143050" y="2656840"/>
            <a:ext cx="180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3" name="Rectangle 42"/>
          <p:cNvSpPr/>
          <p:nvPr/>
        </p:nvSpPr>
        <p:spPr>
          <a:xfrm>
            <a:off x="897752" y="1999090"/>
            <a:ext cx="9000000" cy="1188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45" name="Connecteur droit 44"/>
          <p:cNvCxnSpPr/>
          <p:nvPr/>
        </p:nvCxnSpPr>
        <p:spPr>
          <a:xfrm>
            <a:off x="8002463" y="1990235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6" name="Connecteur droit 45"/>
          <p:cNvCxnSpPr/>
          <p:nvPr/>
        </p:nvCxnSpPr>
        <p:spPr>
          <a:xfrm>
            <a:off x="898817" y="2512254"/>
            <a:ext cx="9000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47" name="Image 4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4172" y="2609106"/>
            <a:ext cx="468000" cy="468000"/>
          </a:xfrm>
          <a:prstGeom prst="rect">
            <a:avLst/>
          </a:prstGeom>
        </p:spPr>
      </p:pic>
      <p:cxnSp>
        <p:nvCxnSpPr>
          <p:cNvPr id="48" name="Connecteur droit 47"/>
          <p:cNvCxnSpPr/>
          <p:nvPr/>
        </p:nvCxnSpPr>
        <p:spPr>
          <a:xfrm>
            <a:off x="7077447" y="1990235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9" name="Connecteur droit 48"/>
          <p:cNvCxnSpPr/>
          <p:nvPr/>
        </p:nvCxnSpPr>
        <p:spPr>
          <a:xfrm>
            <a:off x="8915466" y="1990235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0" name="Titre 1"/>
          <p:cNvSpPr txBox="1">
            <a:spLocks/>
          </p:cNvSpPr>
          <p:nvPr/>
        </p:nvSpPr>
        <p:spPr>
          <a:xfrm>
            <a:off x="8015465" y="2080349"/>
            <a:ext cx="900000" cy="3947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Imprimer</a:t>
            </a:r>
            <a:endParaRPr lang="fr-FR" sz="1400" dirty="0"/>
          </a:p>
        </p:txBody>
      </p:sp>
      <p:sp>
        <p:nvSpPr>
          <p:cNvPr id="52" name="Titre 1"/>
          <p:cNvSpPr txBox="1">
            <a:spLocks/>
          </p:cNvSpPr>
          <p:nvPr/>
        </p:nvSpPr>
        <p:spPr>
          <a:xfrm>
            <a:off x="7102526" y="2079013"/>
            <a:ext cx="90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Modifier</a:t>
            </a:r>
            <a:endParaRPr lang="fr-FR" sz="1400" dirty="0"/>
          </a:p>
        </p:txBody>
      </p:sp>
      <p:pic>
        <p:nvPicPr>
          <p:cNvPr id="53" name="Image 5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3645" y="2623216"/>
            <a:ext cx="461787" cy="468000"/>
          </a:xfrm>
          <a:prstGeom prst="rect">
            <a:avLst/>
          </a:prstGeom>
        </p:spPr>
      </p:pic>
      <p:pic>
        <p:nvPicPr>
          <p:cNvPr id="54" name="Image 5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5381" y="2573357"/>
            <a:ext cx="540000" cy="540000"/>
          </a:xfrm>
          <a:prstGeom prst="rect">
            <a:avLst/>
          </a:prstGeom>
        </p:spPr>
      </p:pic>
      <p:sp>
        <p:nvSpPr>
          <p:cNvPr id="55" name="Rectangle 54"/>
          <p:cNvSpPr/>
          <p:nvPr/>
        </p:nvSpPr>
        <p:spPr>
          <a:xfrm>
            <a:off x="8673752" y="3411044"/>
            <a:ext cx="1224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Valider</a:t>
            </a:r>
          </a:p>
        </p:txBody>
      </p:sp>
    </p:spTree>
    <p:extLst>
      <p:ext uri="{BB962C8B-B14F-4D97-AF65-F5344CB8AC3E}">
        <p14:creationId xmlns:p14="http://schemas.microsoft.com/office/powerpoint/2010/main" val="1361559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83"/>
          <p:cNvSpPr/>
          <p:nvPr/>
        </p:nvSpPr>
        <p:spPr>
          <a:xfrm>
            <a:off x="191991" y="573517"/>
            <a:ext cx="11880000" cy="622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2479820" y="685959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870182" y="672854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697549" y="692366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667218" y="730985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841404" y="686261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8251647" y="737613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2429229" y="627099"/>
            <a:ext cx="6892827" cy="4643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860603" y="75673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950052" y="740319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614530" y="746360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8300317" y="765185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273503" y="533522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14480" y="1156988"/>
            <a:ext cx="198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Demandées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927922" y="1150364"/>
            <a:ext cx="198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Historique demandes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37852" y="1159221"/>
            <a:ext cx="198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Compte rendu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950941" y="1159817"/>
            <a:ext cx="198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Historique résultats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976989" y="1166059"/>
            <a:ext cx="1980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Microbiologie</a:t>
            </a:r>
          </a:p>
        </p:txBody>
      </p:sp>
      <p:sp>
        <p:nvSpPr>
          <p:cNvPr id="38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59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xploration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Radiologies / Microbiologie</a:t>
            </a:r>
            <a:endParaRPr lang="fr-FR" sz="1800" dirty="0"/>
          </a:p>
        </p:txBody>
      </p:sp>
      <p:sp>
        <p:nvSpPr>
          <p:cNvPr id="2" name="Rectangle 1"/>
          <p:cNvSpPr/>
          <p:nvPr/>
        </p:nvSpPr>
        <p:spPr>
          <a:xfrm>
            <a:off x="209108" y="1619997"/>
            <a:ext cx="1922578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b="1" u="sng" dirty="0" smtClean="0">
                <a:latin typeface="+mj-lt"/>
                <a:ea typeface="+mj-ea"/>
                <a:cs typeface="+mj-cs"/>
              </a:rPr>
              <a:t>Validation technique</a:t>
            </a:r>
            <a:endParaRPr lang="fr-FR" sz="1400" b="1" u="sng" dirty="0">
              <a:latin typeface="+mj-lt"/>
              <a:ea typeface="+mj-ea"/>
              <a:cs typeface="+mj-cs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8444993" y="2128748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Recherche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51319" y="2147003"/>
            <a:ext cx="1080000" cy="32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6" name="Titre 1"/>
          <p:cNvSpPr txBox="1">
            <a:spLocks/>
          </p:cNvSpPr>
          <p:nvPr/>
        </p:nvSpPr>
        <p:spPr>
          <a:xfrm>
            <a:off x="1045586" y="2130427"/>
            <a:ext cx="1720777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Critère de recherche</a:t>
            </a:r>
            <a:endParaRPr lang="fr-FR" sz="1400" dirty="0"/>
          </a:p>
        </p:txBody>
      </p:sp>
      <p:sp>
        <p:nvSpPr>
          <p:cNvPr id="57" name="Rectangle 56"/>
          <p:cNvSpPr/>
          <p:nvPr/>
        </p:nvSpPr>
        <p:spPr>
          <a:xfrm>
            <a:off x="4150632" y="2165208"/>
            <a:ext cx="4021515" cy="32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0" name="Triangle isocèle 59"/>
          <p:cNvSpPr/>
          <p:nvPr/>
        </p:nvSpPr>
        <p:spPr>
          <a:xfrm rot="10800000">
            <a:off x="3600688" y="2147567"/>
            <a:ext cx="216000" cy="394544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2" name="Rectangle 61"/>
          <p:cNvSpPr/>
          <p:nvPr/>
        </p:nvSpPr>
        <p:spPr>
          <a:xfrm>
            <a:off x="909986" y="1964762"/>
            <a:ext cx="9013524" cy="1396626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3" name="Titre 1"/>
          <p:cNvSpPr txBox="1">
            <a:spLocks/>
          </p:cNvSpPr>
          <p:nvPr/>
        </p:nvSpPr>
        <p:spPr>
          <a:xfrm>
            <a:off x="1414085" y="2805064"/>
            <a:ext cx="1737973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dirty="0" smtClean="0"/>
              <a:t>Toutes les demandes</a:t>
            </a:r>
            <a:endParaRPr lang="fr-FR" sz="1400" b="1" dirty="0"/>
          </a:p>
        </p:txBody>
      </p:sp>
      <p:sp>
        <p:nvSpPr>
          <p:cNvPr id="66" name="Rectangle 65"/>
          <p:cNvSpPr/>
          <p:nvPr/>
        </p:nvSpPr>
        <p:spPr>
          <a:xfrm>
            <a:off x="1194158" y="2873819"/>
            <a:ext cx="216000" cy="216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8" name="Titre 1"/>
          <p:cNvSpPr txBox="1">
            <a:spLocks/>
          </p:cNvSpPr>
          <p:nvPr/>
        </p:nvSpPr>
        <p:spPr>
          <a:xfrm>
            <a:off x="1045586" y="2431569"/>
            <a:ext cx="4233344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dirty="0" smtClean="0"/>
              <a:t>Critère de recherche = </a:t>
            </a:r>
            <a:r>
              <a:rPr lang="fr-FR" sz="1400" dirty="0" smtClean="0"/>
              <a:t>Nom, Prénom, N° de demande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3345572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83"/>
          <p:cNvSpPr/>
          <p:nvPr/>
        </p:nvSpPr>
        <p:spPr>
          <a:xfrm>
            <a:off x="74369" y="573517"/>
            <a:ext cx="12043342" cy="622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2479820" y="685959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870182" y="672854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697549" y="692366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667218" y="730985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841404" y="686261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8251647" y="737613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2429229" y="627099"/>
            <a:ext cx="6892827" cy="4643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860603" y="75673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950052" y="740319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614530" y="746360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8300317" y="765185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273503" y="533522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14480" y="1156988"/>
            <a:ext cx="1980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Demandées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927922" y="1150364"/>
            <a:ext cx="198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Historique demandes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37852" y="1159221"/>
            <a:ext cx="198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Compte rendu</a:t>
            </a:r>
            <a:endParaRPr lang="fr-FR" sz="1400" dirty="0"/>
          </a:p>
        </p:txBody>
      </p:sp>
      <p:sp>
        <p:nvSpPr>
          <p:cNvPr id="65" name="Rectangle 64"/>
          <p:cNvSpPr/>
          <p:nvPr/>
        </p:nvSpPr>
        <p:spPr>
          <a:xfrm>
            <a:off x="6950941" y="1159817"/>
            <a:ext cx="198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Historique résultats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976989" y="1166059"/>
            <a:ext cx="198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Microbiologie</a:t>
            </a:r>
          </a:p>
        </p:txBody>
      </p:sp>
      <p:sp>
        <p:nvSpPr>
          <p:cNvPr id="82" name="Titre 1"/>
          <p:cNvSpPr txBox="1">
            <a:spLocks/>
          </p:cNvSpPr>
          <p:nvPr/>
        </p:nvSpPr>
        <p:spPr>
          <a:xfrm>
            <a:off x="211206" y="1546530"/>
            <a:ext cx="1930485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u="sng" dirty="0"/>
              <a:t>Exploration radiologique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685141" y="1703738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Recherche</a:t>
            </a:r>
          </a:p>
        </p:txBody>
      </p:sp>
      <p:sp>
        <p:nvSpPr>
          <p:cNvPr id="69" name="Titre 1"/>
          <p:cNvSpPr txBox="1">
            <a:spLocks/>
          </p:cNvSpPr>
          <p:nvPr/>
        </p:nvSpPr>
        <p:spPr>
          <a:xfrm>
            <a:off x="2217564" y="1718296"/>
            <a:ext cx="1720777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Alphabétique</a:t>
            </a:r>
            <a:endParaRPr lang="fr-FR" sz="1400" dirty="0"/>
          </a:p>
        </p:txBody>
      </p:sp>
      <p:sp>
        <p:nvSpPr>
          <p:cNvPr id="71" name="Rectangle 70"/>
          <p:cNvSpPr/>
          <p:nvPr/>
        </p:nvSpPr>
        <p:spPr>
          <a:xfrm>
            <a:off x="3468053" y="1727319"/>
            <a:ext cx="4021515" cy="32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4" name="Rectangle 73"/>
          <p:cNvSpPr/>
          <p:nvPr/>
        </p:nvSpPr>
        <p:spPr>
          <a:xfrm>
            <a:off x="2081964" y="1604147"/>
            <a:ext cx="7240092" cy="573626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8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60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xploration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Histologique/ Demandées</a:t>
            </a:r>
            <a:endParaRPr lang="fr-FR" sz="1800" dirty="0"/>
          </a:p>
        </p:txBody>
      </p:sp>
      <p:sp>
        <p:nvSpPr>
          <p:cNvPr id="39" name="Titre 1"/>
          <p:cNvSpPr txBox="1">
            <a:spLocks/>
          </p:cNvSpPr>
          <p:nvPr/>
        </p:nvSpPr>
        <p:spPr>
          <a:xfrm>
            <a:off x="2261094" y="2746404"/>
            <a:ext cx="72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Famille</a:t>
            </a:r>
            <a:endParaRPr lang="fr-FR" sz="1400" dirty="0"/>
          </a:p>
        </p:txBody>
      </p:sp>
      <p:sp>
        <p:nvSpPr>
          <p:cNvPr id="40" name="Rectangle 39"/>
          <p:cNvSpPr/>
          <p:nvPr/>
        </p:nvSpPr>
        <p:spPr>
          <a:xfrm>
            <a:off x="3326210" y="2782054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1" name="Titre 1"/>
          <p:cNvSpPr txBox="1">
            <a:spLocks/>
          </p:cNvSpPr>
          <p:nvPr/>
        </p:nvSpPr>
        <p:spPr>
          <a:xfrm>
            <a:off x="2274012" y="2363881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Demandeur</a:t>
            </a:r>
            <a:endParaRPr lang="fr-FR" sz="1400" dirty="0"/>
          </a:p>
        </p:txBody>
      </p:sp>
      <p:sp>
        <p:nvSpPr>
          <p:cNvPr id="42" name="Triangle isocèle 41"/>
          <p:cNvSpPr/>
          <p:nvPr/>
        </p:nvSpPr>
        <p:spPr>
          <a:xfrm rot="10800000">
            <a:off x="4923534" y="2796532"/>
            <a:ext cx="180000" cy="252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3" name="Rectangle 42"/>
          <p:cNvSpPr/>
          <p:nvPr/>
        </p:nvSpPr>
        <p:spPr>
          <a:xfrm>
            <a:off x="2237705" y="3256168"/>
            <a:ext cx="720000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Groupe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31544" y="2403040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5" name="Rectangle 44"/>
          <p:cNvSpPr/>
          <p:nvPr/>
        </p:nvSpPr>
        <p:spPr>
          <a:xfrm>
            <a:off x="3332312" y="3245577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6" name="Triangle isocèle 45"/>
          <p:cNvSpPr/>
          <p:nvPr/>
        </p:nvSpPr>
        <p:spPr>
          <a:xfrm rot="10800000">
            <a:off x="4935807" y="3260055"/>
            <a:ext cx="180000" cy="252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7" name="Triangle isocèle 46"/>
          <p:cNvSpPr/>
          <p:nvPr/>
        </p:nvSpPr>
        <p:spPr>
          <a:xfrm rot="10800000">
            <a:off x="4921386" y="2420899"/>
            <a:ext cx="180000" cy="252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1" name="Titre 1"/>
          <p:cNvSpPr txBox="1">
            <a:spLocks/>
          </p:cNvSpPr>
          <p:nvPr/>
        </p:nvSpPr>
        <p:spPr>
          <a:xfrm>
            <a:off x="5182490" y="2374612"/>
            <a:ext cx="2712263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dirty="0" smtClean="0"/>
              <a:t>Demandeur</a:t>
            </a:r>
            <a:r>
              <a:rPr lang="fr-FR" sz="1400" dirty="0" smtClean="0"/>
              <a:t> : médecin demandeur</a:t>
            </a:r>
            <a:endParaRPr lang="fr-FR" sz="1400" dirty="0"/>
          </a:p>
        </p:txBody>
      </p:sp>
      <p:sp>
        <p:nvSpPr>
          <p:cNvPr id="52" name="Titre 1"/>
          <p:cNvSpPr txBox="1">
            <a:spLocks/>
          </p:cNvSpPr>
          <p:nvPr/>
        </p:nvSpPr>
        <p:spPr>
          <a:xfrm>
            <a:off x="5208211" y="2744256"/>
            <a:ext cx="6920756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dirty="0" smtClean="0"/>
              <a:t>Famille</a:t>
            </a:r>
            <a:r>
              <a:rPr lang="fr-FR" sz="1400" dirty="0" smtClean="0"/>
              <a:t> : famille des examens radiologiques, chaque famille ayant des groupes des examens.</a:t>
            </a:r>
            <a:endParaRPr lang="fr-FR" sz="1400" dirty="0"/>
          </a:p>
        </p:txBody>
      </p:sp>
      <p:sp>
        <p:nvSpPr>
          <p:cNvPr id="53" name="Rectangle 52"/>
          <p:cNvSpPr/>
          <p:nvPr/>
        </p:nvSpPr>
        <p:spPr>
          <a:xfrm>
            <a:off x="5236336" y="3195395"/>
            <a:ext cx="3780805" cy="386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b="1" dirty="0" smtClean="0">
                <a:latin typeface="+mj-lt"/>
                <a:ea typeface="+mj-ea"/>
                <a:cs typeface="+mj-cs"/>
              </a:rPr>
              <a:t>Groupe</a:t>
            </a:r>
            <a:r>
              <a:rPr lang="fr-FR" sz="1400" dirty="0" smtClean="0">
                <a:latin typeface="+mj-lt"/>
                <a:ea typeface="+mj-ea"/>
                <a:cs typeface="+mj-cs"/>
              </a:rPr>
              <a:t> : groupe des examens radiologiques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2092695" y="2284579"/>
            <a:ext cx="9846020" cy="1414739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" name="Triangle isocèle 1"/>
          <p:cNvSpPr/>
          <p:nvPr/>
        </p:nvSpPr>
        <p:spPr>
          <a:xfrm rot="5400000">
            <a:off x="2318474" y="3925814"/>
            <a:ext cx="180000" cy="2160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7" name="Titre 1"/>
          <p:cNvSpPr txBox="1">
            <a:spLocks/>
          </p:cNvSpPr>
          <p:nvPr/>
        </p:nvSpPr>
        <p:spPr>
          <a:xfrm>
            <a:off x="209058" y="3782083"/>
            <a:ext cx="1872000" cy="500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u="sng" dirty="0" smtClean="0"/>
              <a:t>Groupe des examens demandées</a:t>
            </a:r>
            <a:endParaRPr lang="fr-FR" sz="1400" b="1" u="sng" dirty="0"/>
          </a:p>
        </p:txBody>
      </p:sp>
      <p:sp>
        <p:nvSpPr>
          <p:cNvPr id="68" name="Rectangle 67"/>
          <p:cNvSpPr/>
          <p:nvPr/>
        </p:nvSpPr>
        <p:spPr>
          <a:xfrm>
            <a:off x="2090547" y="3818877"/>
            <a:ext cx="9846020" cy="1417946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0" name="Rectangle 69"/>
          <p:cNvSpPr/>
          <p:nvPr/>
        </p:nvSpPr>
        <p:spPr>
          <a:xfrm>
            <a:off x="2555382" y="3857998"/>
            <a:ext cx="2880000" cy="3528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Anatomo-pathologie demandée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8214648" y="4184453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9" name="Titre 1"/>
          <p:cNvSpPr txBox="1">
            <a:spLocks/>
          </p:cNvSpPr>
          <p:nvPr/>
        </p:nvSpPr>
        <p:spPr>
          <a:xfrm>
            <a:off x="2286516" y="5387430"/>
            <a:ext cx="2046077" cy="3947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Exploration </a:t>
            </a:r>
            <a:r>
              <a:rPr lang="fr-FR" sz="1400" dirty="0" smtClean="0"/>
              <a:t>demandées </a:t>
            </a:r>
            <a:endParaRPr lang="fr-FR" sz="1400" dirty="0"/>
          </a:p>
        </p:txBody>
      </p:sp>
      <p:sp>
        <p:nvSpPr>
          <p:cNvPr id="90" name="Rectangle 89"/>
          <p:cNvSpPr/>
          <p:nvPr/>
        </p:nvSpPr>
        <p:spPr>
          <a:xfrm>
            <a:off x="9931474" y="5420165"/>
            <a:ext cx="972000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Supprimer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2082617" y="5342665"/>
            <a:ext cx="9324000" cy="977304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92" name="Connecteur droit 91"/>
          <p:cNvCxnSpPr/>
          <p:nvPr/>
        </p:nvCxnSpPr>
        <p:spPr>
          <a:xfrm>
            <a:off x="2096555" y="5791429"/>
            <a:ext cx="932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93" name="Image 9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4486" y="5823891"/>
            <a:ext cx="468000" cy="468000"/>
          </a:xfrm>
          <a:prstGeom prst="rect">
            <a:avLst/>
          </a:prstGeom>
        </p:spPr>
      </p:pic>
      <p:cxnSp>
        <p:nvCxnSpPr>
          <p:cNvPr id="101" name="Connecteur droit 100"/>
          <p:cNvCxnSpPr/>
          <p:nvPr/>
        </p:nvCxnSpPr>
        <p:spPr>
          <a:xfrm flipH="1">
            <a:off x="9474837" y="5333810"/>
            <a:ext cx="0" cy="986159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2" name="Rectangle 101"/>
          <p:cNvSpPr/>
          <p:nvPr/>
        </p:nvSpPr>
        <p:spPr>
          <a:xfrm>
            <a:off x="2446988" y="5923999"/>
            <a:ext cx="6948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3" name="Rectangle 102"/>
          <p:cNvSpPr/>
          <p:nvPr/>
        </p:nvSpPr>
        <p:spPr>
          <a:xfrm>
            <a:off x="10337592" y="6375497"/>
            <a:ext cx="10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Valider</a:t>
            </a:r>
          </a:p>
        </p:txBody>
      </p:sp>
      <p:cxnSp>
        <p:nvCxnSpPr>
          <p:cNvPr id="104" name="Connecteur droit avec flèche 103"/>
          <p:cNvCxnSpPr>
            <a:endCxn id="105" idx="3"/>
          </p:cNvCxnSpPr>
          <p:nvPr/>
        </p:nvCxnSpPr>
        <p:spPr>
          <a:xfrm flipH="1">
            <a:off x="9670685" y="6574937"/>
            <a:ext cx="655651" cy="947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5" name="Titre 1"/>
          <p:cNvSpPr txBox="1">
            <a:spLocks/>
          </p:cNvSpPr>
          <p:nvPr/>
        </p:nvSpPr>
        <p:spPr>
          <a:xfrm>
            <a:off x="7624608" y="6472268"/>
            <a:ext cx="2046077" cy="3947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Imprimer un fichier PDF</a:t>
            </a:r>
            <a:endParaRPr lang="fr-FR" sz="1400" dirty="0"/>
          </a:p>
        </p:txBody>
      </p:sp>
      <p:sp>
        <p:nvSpPr>
          <p:cNvPr id="106" name="Titre 1"/>
          <p:cNvSpPr txBox="1">
            <a:spLocks/>
          </p:cNvSpPr>
          <p:nvPr/>
        </p:nvSpPr>
        <p:spPr>
          <a:xfrm>
            <a:off x="110080" y="6506358"/>
            <a:ext cx="3243932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Cet tableau c’est un tableau dynamique</a:t>
            </a:r>
            <a:endParaRPr lang="fr-FR" sz="1400" dirty="0"/>
          </a:p>
        </p:txBody>
      </p:sp>
      <p:sp>
        <p:nvSpPr>
          <p:cNvPr id="4" name="Rectangle 3"/>
          <p:cNvSpPr/>
          <p:nvPr/>
        </p:nvSpPr>
        <p:spPr>
          <a:xfrm>
            <a:off x="28649" y="5366774"/>
            <a:ext cx="2060295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b="1" u="sng" dirty="0">
                <a:latin typeface="+mj-lt"/>
                <a:ea typeface="+mj-ea"/>
                <a:cs typeface="+mj-cs"/>
              </a:rPr>
              <a:t>Explorations sélectionnées (demandées)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411064" y="4445065"/>
            <a:ext cx="1224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Biopsie Rénale</a:t>
            </a:r>
          </a:p>
        </p:txBody>
      </p:sp>
      <p:sp>
        <p:nvSpPr>
          <p:cNvPr id="3" name="Rectangle 2"/>
          <p:cNvSpPr/>
          <p:nvPr/>
        </p:nvSpPr>
        <p:spPr>
          <a:xfrm>
            <a:off x="2824038" y="4165659"/>
            <a:ext cx="1647567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Biopsie </a:t>
            </a:r>
            <a:r>
              <a:rPr lang="fr-FR" sz="1400" dirty="0" smtClean="0">
                <a:latin typeface="+mj-lt"/>
                <a:ea typeface="+mj-ea"/>
                <a:cs typeface="+mj-cs"/>
              </a:rPr>
              <a:t>Colorectale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21056" y="4485699"/>
            <a:ext cx="1324080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Biopsie cutanée</a:t>
            </a:r>
          </a:p>
        </p:txBody>
      </p:sp>
      <p:sp>
        <p:nvSpPr>
          <p:cNvPr id="6" name="Rectangle 5"/>
          <p:cNvSpPr/>
          <p:nvPr/>
        </p:nvSpPr>
        <p:spPr>
          <a:xfrm>
            <a:off x="2820918" y="4836219"/>
            <a:ext cx="2278444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Biopsie des glandes salivaires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860758" y="4150419"/>
            <a:ext cx="1474058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Biopsie hépatique</a:t>
            </a:r>
          </a:p>
        </p:txBody>
      </p:sp>
      <p:sp>
        <p:nvSpPr>
          <p:cNvPr id="8" name="Rectangle 7"/>
          <p:cNvSpPr/>
          <p:nvPr/>
        </p:nvSpPr>
        <p:spPr>
          <a:xfrm>
            <a:off x="5863089" y="4485699"/>
            <a:ext cx="1844479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Biopsie moelle osseuse</a:t>
            </a:r>
          </a:p>
        </p:txBody>
      </p:sp>
      <p:sp>
        <p:nvSpPr>
          <p:cNvPr id="9" name="Rectangle 8"/>
          <p:cNvSpPr/>
          <p:nvPr/>
        </p:nvSpPr>
        <p:spPr>
          <a:xfrm>
            <a:off x="5872462" y="4820979"/>
            <a:ext cx="1530868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Biopsie musculaire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9601" y="4119939"/>
            <a:ext cx="2388603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Biopsie </a:t>
            </a:r>
            <a:r>
              <a:rPr lang="fr-FR" sz="1400" dirty="0" err="1">
                <a:latin typeface="+mj-lt"/>
                <a:ea typeface="+mj-ea"/>
                <a:cs typeface="+mj-cs"/>
              </a:rPr>
              <a:t>Oeso</a:t>
            </a:r>
            <a:r>
              <a:rPr lang="fr-FR" sz="1400" dirty="0">
                <a:latin typeface="+mj-lt"/>
                <a:ea typeface="+mj-ea"/>
                <a:cs typeface="+mj-cs"/>
              </a:rPr>
              <a:t>-</a:t>
            </a:r>
            <a:r>
              <a:rPr lang="fr-FR" sz="1400" dirty="0" err="1">
                <a:latin typeface="+mj-lt"/>
                <a:ea typeface="+mj-ea"/>
                <a:cs typeface="+mj-cs"/>
              </a:rPr>
              <a:t>Gastro-Duodenal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8223231" y="4519732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5" name="Rectangle 74"/>
          <p:cNvSpPr/>
          <p:nvPr/>
        </p:nvSpPr>
        <p:spPr>
          <a:xfrm>
            <a:off x="2621568" y="4214933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6" name="Rectangle 75"/>
          <p:cNvSpPr/>
          <p:nvPr/>
        </p:nvSpPr>
        <p:spPr>
          <a:xfrm>
            <a:off x="2630151" y="4885492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8" name="Rectangle 77"/>
          <p:cNvSpPr/>
          <p:nvPr/>
        </p:nvSpPr>
        <p:spPr>
          <a:xfrm>
            <a:off x="2630151" y="4550212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9" name="Rectangle 78"/>
          <p:cNvSpPr/>
          <p:nvPr/>
        </p:nvSpPr>
        <p:spPr>
          <a:xfrm>
            <a:off x="5669568" y="4214933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0" name="Rectangle 79"/>
          <p:cNvSpPr/>
          <p:nvPr/>
        </p:nvSpPr>
        <p:spPr>
          <a:xfrm>
            <a:off x="5678151" y="4885492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1" name="Rectangle 80"/>
          <p:cNvSpPr/>
          <p:nvPr/>
        </p:nvSpPr>
        <p:spPr>
          <a:xfrm>
            <a:off x="5678151" y="4550212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81855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83"/>
          <p:cNvSpPr/>
          <p:nvPr/>
        </p:nvSpPr>
        <p:spPr>
          <a:xfrm>
            <a:off x="191991" y="573517"/>
            <a:ext cx="11880000" cy="622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2479820" y="685959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870182" y="672854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697549" y="692366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667218" y="730985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841404" y="686261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8251647" y="737613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2429229" y="627099"/>
            <a:ext cx="6892827" cy="4643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860603" y="75673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950052" y="740319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614530" y="746360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8300317" y="765185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273503" y="533522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14480" y="1156988"/>
            <a:ext cx="198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Demandées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927922" y="1150364"/>
            <a:ext cx="1980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Historique demandes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37852" y="1159221"/>
            <a:ext cx="198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Compte rendu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950941" y="1159817"/>
            <a:ext cx="198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Historique résultats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976989" y="1166059"/>
            <a:ext cx="198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Microbiologie</a:t>
            </a:r>
          </a:p>
        </p:txBody>
      </p:sp>
      <p:sp>
        <p:nvSpPr>
          <p:cNvPr id="38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61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xploration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Histologique /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Historique demandes</a:t>
            </a:r>
            <a:endParaRPr lang="fr-FR" sz="1800" dirty="0"/>
          </a:p>
        </p:txBody>
      </p:sp>
      <p:sp>
        <p:nvSpPr>
          <p:cNvPr id="110" name="Titre 1"/>
          <p:cNvSpPr txBox="1">
            <a:spLocks/>
          </p:cNvSpPr>
          <p:nvPr/>
        </p:nvSpPr>
        <p:spPr>
          <a:xfrm>
            <a:off x="3260844" y="2026736"/>
            <a:ext cx="1572344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Exploration</a:t>
            </a:r>
            <a:endParaRPr lang="fr-FR" sz="1400" dirty="0"/>
          </a:p>
        </p:txBody>
      </p:sp>
      <p:sp>
        <p:nvSpPr>
          <p:cNvPr id="111" name="Titre 1"/>
          <p:cNvSpPr txBox="1">
            <a:spLocks/>
          </p:cNvSpPr>
          <p:nvPr/>
        </p:nvSpPr>
        <p:spPr>
          <a:xfrm>
            <a:off x="1333474" y="2005223"/>
            <a:ext cx="1242463" cy="3947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demande</a:t>
            </a:r>
            <a:endParaRPr lang="fr-FR" sz="1400" dirty="0"/>
          </a:p>
        </p:txBody>
      </p:sp>
      <p:sp>
        <p:nvSpPr>
          <p:cNvPr id="112" name="Rectangle 111"/>
          <p:cNvSpPr/>
          <p:nvPr/>
        </p:nvSpPr>
        <p:spPr>
          <a:xfrm>
            <a:off x="8141309" y="2076590"/>
            <a:ext cx="972000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Supprimer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019828" y="2605560"/>
            <a:ext cx="180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4" name="Rectangle 113"/>
          <p:cNvSpPr/>
          <p:nvPr/>
        </p:nvSpPr>
        <p:spPr>
          <a:xfrm>
            <a:off x="884875" y="1960453"/>
            <a:ext cx="8280000" cy="1188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15" name="Connecteur droit 114"/>
          <p:cNvCxnSpPr/>
          <p:nvPr/>
        </p:nvCxnSpPr>
        <p:spPr>
          <a:xfrm>
            <a:off x="3025869" y="1960453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Connecteur droit 115"/>
          <p:cNvCxnSpPr/>
          <p:nvPr/>
        </p:nvCxnSpPr>
        <p:spPr>
          <a:xfrm>
            <a:off x="7216851" y="1951598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Connecteur droit 116"/>
          <p:cNvCxnSpPr/>
          <p:nvPr/>
        </p:nvCxnSpPr>
        <p:spPr>
          <a:xfrm>
            <a:off x="885940" y="2473617"/>
            <a:ext cx="8280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118" name="Image 1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8560" y="2570469"/>
            <a:ext cx="468000" cy="468000"/>
          </a:xfrm>
          <a:prstGeom prst="rect">
            <a:avLst/>
          </a:prstGeom>
        </p:spPr>
      </p:pic>
      <p:sp>
        <p:nvSpPr>
          <p:cNvPr id="119" name="Rectangle 118"/>
          <p:cNvSpPr/>
          <p:nvPr/>
        </p:nvSpPr>
        <p:spPr>
          <a:xfrm>
            <a:off x="3347728" y="2589368"/>
            <a:ext cx="35108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20" name="Connecteur droit 119"/>
          <p:cNvCxnSpPr/>
          <p:nvPr/>
        </p:nvCxnSpPr>
        <p:spPr>
          <a:xfrm>
            <a:off x="8129854" y="1951598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1" name="Titre 1"/>
          <p:cNvSpPr txBox="1">
            <a:spLocks/>
          </p:cNvSpPr>
          <p:nvPr/>
        </p:nvSpPr>
        <p:spPr>
          <a:xfrm>
            <a:off x="7229854" y="2015954"/>
            <a:ext cx="900000" cy="3947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Imprimer</a:t>
            </a:r>
            <a:endParaRPr lang="fr-FR" sz="1400" dirty="0"/>
          </a:p>
        </p:txBody>
      </p:sp>
      <p:pic>
        <p:nvPicPr>
          <p:cNvPr id="122" name="Image 12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4010" y="2573357"/>
            <a:ext cx="540000" cy="540000"/>
          </a:xfrm>
          <a:prstGeom prst="rect">
            <a:avLst/>
          </a:prstGeom>
        </p:spPr>
      </p:pic>
      <p:sp>
        <p:nvSpPr>
          <p:cNvPr id="123" name="Titre 1"/>
          <p:cNvSpPr txBox="1">
            <a:spLocks/>
          </p:cNvSpPr>
          <p:nvPr/>
        </p:nvSpPr>
        <p:spPr>
          <a:xfrm>
            <a:off x="211206" y="1546530"/>
            <a:ext cx="1930485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u="sng" dirty="0"/>
              <a:t>Historique demandes</a:t>
            </a:r>
          </a:p>
        </p:txBody>
      </p:sp>
    </p:spTree>
    <p:extLst>
      <p:ext uri="{BB962C8B-B14F-4D97-AF65-F5344CB8AC3E}">
        <p14:creationId xmlns:p14="http://schemas.microsoft.com/office/powerpoint/2010/main" val="2479584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83"/>
          <p:cNvSpPr/>
          <p:nvPr/>
        </p:nvSpPr>
        <p:spPr>
          <a:xfrm>
            <a:off x="191991" y="573517"/>
            <a:ext cx="11880000" cy="622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2479820" y="685959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870182" y="672854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697549" y="692366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667218" y="730985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841404" y="686261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8251647" y="737613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2429229" y="627099"/>
            <a:ext cx="6892827" cy="4643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860603" y="75673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950052" y="740319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614530" y="746360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8300317" y="765185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273503" y="533522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14480" y="1156988"/>
            <a:ext cx="198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Demandées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927922" y="1163243"/>
            <a:ext cx="198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Historique demandes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37852" y="1159221"/>
            <a:ext cx="1980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Compte rendu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938062" y="1159817"/>
            <a:ext cx="198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Historique résultats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938352" y="1153180"/>
            <a:ext cx="198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Microbiologie</a:t>
            </a:r>
          </a:p>
        </p:txBody>
      </p:sp>
      <p:sp>
        <p:nvSpPr>
          <p:cNvPr id="38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62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xploration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Histologique / Compte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rendu</a:t>
            </a:r>
            <a:endParaRPr lang="fr-FR" alt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526042" y="2025709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Recherche</a:t>
            </a:r>
          </a:p>
        </p:txBody>
      </p:sp>
      <p:sp>
        <p:nvSpPr>
          <p:cNvPr id="40" name="Titre 1"/>
          <p:cNvSpPr txBox="1">
            <a:spLocks/>
          </p:cNvSpPr>
          <p:nvPr/>
        </p:nvSpPr>
        <p:spPr>
          <a:xfrm>
            <a:off x="1058465" y="2040267"/>
            <a:ext cx="1720777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Alphabétique</a:t>
            </a:r>
            <a:endParaRPr lang="fr-FR" sz="1400" dirty="0"/>
          </a:p>
        </p:txBody>
      </p:sp>
      <p:sp>
        <p:nvSpPr>
          <p:cNvPr id="41" name="Rectangle 40"/>
          <p:cNvSpPr/>
          <p:nvPr/>
        </p:nvSpPr>
        <p:spPr>
          <a:xfrm>
            <a:off x="2308954" y="2049290"/>
            <a:ext cx="4021515" cy="32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2" name="Rectangle 41"/>
          <p:cNvSpPr/>
          <p:nvPr/>
        </p:nvSpPr>
        <p:spPr>
          <a:xfrm>
            <a:off x="922865" y="1926118"/>
            <a:ext cx="7240092" cy="573626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3" name="Titre 1"/>
          <p:cNvSpPr txBox="1">
            <a:spLocks/>
          </p:cNvSpPr>
          <p:nvPr/>
        </p:nvSpPr>
        <p:spPr>
          <a:xfrm>
            <a:off x="4671373" y="2730319"/>
            <a:ext cx="720000" cy="324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Famille</a:t>
            </a:r>
            <a:endParaRPr lang="fr-FR" sz="1400" dirty="0"/>
          </a:p>
        </p:txBody>
      </p:sp>
      <p:sp>
        <p:nvSpPr>
          <p:cNvPr id="44" name="Rectangle 43"/>
          <p:cNvSpPr/>
          <p:nvPr/>
        </p:nvSpPr>
        <p:spPr>
          <a:xfrm>
            <a:off x="5399712" y="2743417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5" name="Titre 1"/>
          <p:cNvSpPr txBox="1">
            <a:spLocks/>
          </p:cNvSpPr>
          <p:nvPr/>
        </p:nvSpPr>
        <p:spPr>
          <a:xfrm>
            <a:off x="1114912" y="2698731"/>
            <a:ext cx="1364907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de résultat</a:t>
            </a:r>
            <a:endParaRPr lang="fr-FR" sz="1400" dirty="0"/>
          </a:p>
        </p:txBody>
      </p:sp>
      <p:sp>
        <p:nvSpPr>
          <p:cNvPr id="46" name="Triangle isocèle 45"/>
          <p:cNvSpPr/>
          <p:nvPr/>
        </p:nvSpPr>
        <p:spPr>
          <a:xfrm rot="10800000">
            <a:off x="6997036" y="2757895"/>
            <a:ext cx="180000" cy="252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7" name="Rectangle 46"/>
          <p:cNvSpPr/>
          <p:nvPr/>
        </p:nvSpPr>
        <p:spPr>
          <a:xfrm>
            <a:off x="7466088" y="2747083"/>
            <a:ext cx="720000" cy="324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Groupe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481539" y="2737890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9" name="Rectangle 48"/>
          <p:cNvSpPr/>
          <p:nvPr/>
        </p:nvSpPr>
        <p:spPr>
          <a:xfrm>
            <a:off x="8187650" y="2756179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0" name="Triangle isocèle 49"/>
          <p:cNvSpPr/>
          <p:nvPr/>
        </p:nvSpPr>
        <p:spPr>
          <a:xfrm rot="10800000">
            <a:off x="9791145" y="2770657"/>
            <a:ext cx="180000" cy="252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7" name="Rectangle 56"/>
          <p:cNvSpPr/>
          <p:nvPr/>
        </p:nvSpPr>
        <p:spPr>
          <a:xfrm>
            <a:off x="933596" y="2606550"/>
            <a:ext cx="9846020" cy="587411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" name="Rectangle 1"/>
          <p:cNvSpPr/>
          <p:nvPr/>
        </p:nvSpPr>
        <p:spPr>
          <a:xfrm>
            <a:off x="913477" y="1571453"/>
            <a:ext cx="1202124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b="1" u="sng" dirty="0">
                <a:latin typeface="+mj-lt"/>
                <a:ea typeface="+mj-ea"/>
                <a:cs typeface="+mj-cs"/>
              </a:rPr>
              <a:t>Compte rendu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1991" y="5296274"/>
            <a:ext cx="3170715" cy="3702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b="1" u="sng" dirty="0" smtClean="0">
                <a:latin typeface="+mj-lt"/>
                <a:ea typeface="+mj-ea"/>
                <a:cs typeface="+mj-cs"/>
              </a:rPr>
              <a:t>Résultats des explorations sélectionnées</a:t>
            </a:r>
            <a:endParaRPr lang="fr-FR" sz="1400" b="1" u="sng" dirty="0">
              <a:latin typeface="+mj-lt"/>
              <a:ea typeface="+mj-ea"/>
              <a:cs typeface="+mj-cs"/>
            </a:endParaRPr>
          </a:p>
        </p:txBody>
      </p:sp>
      <p:sp>
        <p:nvSpPr>
          <p:cNvPr id="62" name="Triangle isocèle 61"/>
          <p:cNvSpPr/>
          <p:nvPr/>
        </p:nvSpPr>
        <p:spPr>
          <a:xfrm rot="5400000">
            <a:off x="1146499" y="3664372"/>
            <a:ext cx="180000" cy="2160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3" name="Rectangle 62"/>
          <p:cNvSpPr/>
          <p:nvPr/>
        </p:nvSpPr>
        <p:spPr>
          <a:xfrm>
            <a:off x="918572" y="3557434"/>
            <a:ext cx="9846020" cy="1728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6" name="Rectangle 65"/>
          <p:cNvSpPr/>
          <p:nvPr/>
        </p:nvSpPr>
        <p:spPr>
          <a:xfrm>
            <a:off x="1383407" y="3596556"/>
            <a:ext cx="1859648" cy="3528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Radiologie demandée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1449593" y="4017886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9" name="Rectangle 68"/>
          <p:cNvSpPr/>
          <p:nvPr/>
        </p:nvSpPr>
        <p:spPr>
          <a:xfrm>
            <a:off x="1458176" y="4719132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0" name="Rectangle 69"/>
          <p:cNvSpPr/>
          <p:nvPr/>
        </p:nvSpPr>
        <p:spPr>
          <a:xfrm>
            <a:off x="1653865" y="3973087"/>
            <a:ext cx="900000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Sélection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1651717" y="4689361"/>
            <a:ext cx="900000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Sélection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cxnSp>
        <p:nvCxnSpPr>
          <p:cNvPr id="4" name="Connecteur droit 3"/>
          <p:cNvCxnSpPr/>
          <p:nvPr/>
        </p:nvCxnSpPr>
        <p:spPr>
          <a:xfrm>
            <a:off x="918572" y="3948699"/>
            <a:ext cx="984602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2" name="Connecteur droit 71"/>
          <p:cNvCxnSpPr/>
          <p:nvPr/>
        </p:nvCxnSpPr>
        <p:spPr>
          <a:xfrm>
            <a:off x="918572" y="4592649"/>
            <a:ext cx="984602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3" name="Rectangle 72"/>
          <p:cNvSpPr/>
          <p:nvPr/>
        </p:nvSpPr>
        <p:spPr>
          <a:xfrm>
            <a:off x="3362706" y="4647347"/>
            <a:ext cx="7200000" cy="54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4" name="Rectangle 73"/>
          <p:cNvSpPr/>
          <p:nvPr/>
        </p:nvSpPr>
        <p:spPr>
          <a:xfrm>
            <a:off x="3362706" y="4003770"/>
            <a:ext cx="7200000" cy="54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5" name="Rectangle 74"/>
          <p:cNvSpPr/>
          <p:nvPr/>
        </p:nvSpPr>
        <p:spPr>
          <a:xfrm>
            <a:off x="9555616" y="5354764"/>
            <a:ext cx="1224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Ajouter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91991" y="3202428"/>
            <a:ext cx="2060295" cy="3702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b="1" u="sng" dirty="0">
                <a:latin typeface="+mj-lt"/>
                <a:ea typeface="+mj-ea"/>
                <a:cs typeface="+mj-cs"/>
              </a:rPr>
              <a:t>Explorations </a:t>
            </a:r>
            <a:r>
              <a:rPr lang="fr-FR" sz="1400" b="1" u="sng" dirty="0" smtClean="0">
                <a:latin typeface="+mj-lt"/>
                <a:ea typeface="+mj-ea"/>
                <a:cs typeface="+mj-cs"/>
              </a:rPr>
              <a:t>sélectionnées</a:t>
            </a:r>
            <a:endParaRPr lang="fr-FR" sz="1400" b="1" u="sng" dirty="0">
              <a:latin typeface="+mj-lt"/>
              <a:ea typeface="+mj-ea"/>
              <a:cs typeface="+mj-cs"/>
            </a:endParaRPr>
          </a:p>
        </p:txBody>
      </p:sp>
      <p:sp>
        <p:nvSpPr>
          <p:cNvPr id="77" name="Titre 1"/>
          <p:cNvSpPr txBox="1">
            <a:spLocks/>
          </p:cNvSpPr>
          <p:nvPr/>
        </p:nvSpPr>
        <p:spPr>
          <a:xfrm>
            <a:off x="5913894" y="5710092"/>
            <a:ext cx="1572344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Résultat</a:t>
            </a:r>
            <a:endParaRPr lang="fr-FR" sz="1400" dirty="0"/>
          </a:p>
        </p:txBody>
      </p:sp>
      <p:sp>
        <p:nvSpPr>
          <p:cNvPr id="78" name="Titre 1"/>
          <p:cNvSpPr txBox="1">
            <a:spLocks/>
          </p:cNvSpPr>
          <p:nvPr/>
        </p:nvSpPr>
        <p:spPr>
          <a:xfrm>
            <a:off x="1359232" y="5675700"/>
            <a:ext cx="1242463" cy="3947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Exploration</a:t>
            </a:r>
            <a:endParaRPr lang="fr-FR" sz="1400" dirty="0"/>
          </a:p>
        </p:txBody>
      </p:sp>
      <p:sp>
        <p:nvSpPr>
          <p:cNvPr id="79" name="Rectangle 78"/>
          <p:cNvSpPr/>
          <p:nvPr/>
        </p:nvSpPr>
        <p:spPr>
          <a:xfrm>
            <a:off x="8167067" y="5747067"/>
            <a:ext cx="972000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Supprimer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554259" y="6276037"/>
            <a:ext cx="2368177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1" name="Rectangle 80"/>
          <p:cNvSpPr/>
          <p:nvPr/>
        </p:nvSpPr>
        <p:spPr>
          <a:xfrm>
            <a:off x="910633" y="5630930"/>
            <a:ext cx="8542460" cy="1116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82" name="Connecteur droit 81"/>
          <p:cNvCxnSpPr/>
          <p:nvPr/>
        </p:nvCxnSpPr>
        <p:spPr>
          <a:xfrm>
            <a:off x="5318308" y="5630930"/>
            <a:ext cx="0" cy="1116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3" name="Connecteur droit 82"/>
          <p:cNvCxnSpPr/>
          <p:nvPr/>
        </p:nvCxnSpPr>
        <p:spPr>
          <a:xfrm>
            <a:off x="8105493" y="5622075"/>
            <a:ext cx="0" cy="1116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9" name="Connecteur droit 88"/>
          <p:cNvCxnSpPr>
            <a:endCxn id="81" idx="3"/>
          </p:cNvCxnSpPr>
          <p:nvPr/>
        </p:nvCxnSpPr>
        <p:spPr>
          <a:xfrm>
            <a:off x="911698" y="6144094"/>
            <a:ext cx="8541395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90" name="Image 8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4318" y="6240946"/>
            <a:ext cx="468000" cy="468000"/>
          </a:xfrm>
          <a:prstGeom prst="rect">
            <a:avLst/>
          </a:prstGeom>
        </p:spPr>
      </p:pic>
      <p:sp>
        <p:nvSpPr>
          <p:cNvPr id="91" name="Rectangle 90"/>
          <p:cNvSpPr/>
          <p:nvPr/>
        </p:nvSpPr>
        <p:spPr>
          <a:xfrm>
            <a:off x="1132557" y="6259845"/>
            <a:ext cx="3907435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Rectangle 101"/>
          <p:cNvSpPr/>
          <p:nvPr/>
        </p:nvSpPr>
        <p:spPr>
          <a:xfrm>
            <a:off x="9555616" y="6396301"/>
            <a:ext cx="1224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Valider</a:t>
            </a:r>
          </a:p>
        </p:txBody>
      </p:sp>
    </p:spTree>
    <p:extLst>
      <p:ext uri="{BB962C8B-B14F-4D97-AF65-F5344CB8AC3E}">
        <p14:creationId xmlns:p14="http://schemas.microsoft.com/office/powerpoint/2010/main" val="3538089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83"/>
          <p:cNvSpPr/>
          <p:nvPr/>
        </p:nvSpPr>
        <p:spPr>
          <a:xfrm>
            <a:off x="191991" y="573517"/>
            <a:ext cx="11880000" cy="622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2479820" y="685959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870182" y="672854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697549" y="692366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667218" y="730985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841404" y="686261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8251647" y="737613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2429229" y="627099"/>
            <a:ext cx="6892827" cy="4643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860603" y="75673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950052" y="740319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614530" y="746360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8300317" y="765185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273503" y="533522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14480" y="1156988"/>
            <a:ext cx="198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Demandées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927922" y="1150364"/>
            <a:ext cx="198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Historique demandes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37852" y="1159221"/>
            <a:ext cx="198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Compte rendu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950941" y="1159817"/>
            <a:ext cx="1980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Historique résultats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976989" y="1166059"/>
            <a:ext cx="198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Microbiologie</a:t>
            </a:r>
          </a:p>
        </p:txBody>
      </p:sp>
      <p:sp>
        <p:nvSpPr>
          <p:cNvPr id="38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63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xploration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Histologique /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Historique résultats</a:t>
            </a:r>
            <a:endParaRPr lang="fr-FR" sz="1800" dirty="0"/>
          </a:p>
        </p:txBody>
      </p:sp>
      <p:sp>
        <p:nvSpPr>
          <p:cNvPr id="110" name="Titre 1"/>
          <p:cNvSpPr txBox="1">
            <a:spLocks/>
          </p:cNvSpPr>
          <p:nvPr/>
        </p:nvSpPr>
        <p:spPr>
          <a:xfrm>
            <a:off x="1135830" y="2078247"/>
            <a:ext cx="1572344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Exploration</a:t>
            </a:r>
            <a:endParaRPr lang="fr-FR" sz="1400" dirty="0"/>
          </a:p>
        </p:txBody>
      </p:sp>
      <p:cxnSp>
        <p:nvCxnSpPr>
          <p:cNvPr id="115" name="Connecteur droit 114"/>
          <p:cNvCxnSpPr/>
          <p:nvPr/>
        </p:nvCxnSpPr>
        <p:spPr>
          <a:xfrm>
            <a:off x="4944822" y="2011964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9" name="Rectangle 118"/>
          <p:cNvSpPr/>
          <p:nvPr/>
        </p:nvSpPr>
        <p:spPr>
          <a:xfrm>
            <a:off x="1106803" y="2640879"/>
            <a:ext cx="360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3" name="Titre 1"/>
          <p:cNvSpPr txBox="1">
            <a:spLocks/>
          </p:cNvSpPr>
          <p:nvPr/>
        </p:nvSpPr>
        <p:spPr>
          <a:xfrm>
            <a:off x="211206" y="1546530"/>
            <a:ext cx="1930485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u="sng" dirty="0"/>
              <a:t>Historique </a:t>
            </a:r>
            <a:r>
              <a:rPr lang="fr-FR" sz="1400" b="1" u="sng" dirty="0" smtClean="0"/>
              <a:t>résultat</a:t>
            </a:r>
            <a:endParaRPr lang="fr-FR" sz="1400" b="1" u="sng" dirty="0"/>
          </a:p>
        </p:txBody>
      </p:sp>
      <p:sp>
        <p:nvSpPr>
          <p:cNvPr id="40" name="Titre 1"/>
          <p:cNvSpPr txBox="1">
            <a:spLocks/>
          </p:cNvSpPr>
          <p:nvPr/>
        </p:nvSpPr>
        <p:spPr>
          <a:xfrm>
            <a:off x="5364562" y="2069615"/>
            <a:ext cx="1242463" cy="3947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résultat</a:t>
            </a:r>
            <a:endParaRPr lang="fr-FR" sz="1400" dirty="0"/>
          </a:p>
        </p:txBody>
      </p:sp>
      <p:sp>
        <p:nvSpPr>
          <p:cNvPr id="41" name="Rectangle 40"/>
          <p:cNvSpPr/>
          <p:nvPr/>
        </p:nvSpPr>
        <p:spPr>
          <a:xfrm>
            <a:off x="8926921" y="2089469"/>
            <a:ext cx="972000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Supprimer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5143050" y="2656840"/>
            <a:ext cx="180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3" name="Rectangle 42"/>
          <p:cNvSpPr/>
          <p:nvPr/>
        </p:nvSpPr>
        <p:spPr>
          <a:xfrm>
            <a:off x="897752" y="1999090"/>
            <a:ext cx="9000000" cy="1188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45" name="Connecteur droit 44"/>
          <p:cNvCxnSpPr/>
          <p:nvPr/>
        </p:nvCxnSpPr>
        <p:spPr>
          <a:xfrm>
            <a:off x="8002463" y="1990235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6" name="Connecteur droit 45"/>
          <p:cNvCxnSpPr/>
          <p:nvPr/>
        </p:nvCxnSpPr>
        <p:spPr>
          <a:xfrm>
            <a:off x="898817" y="2512254"/>
            <a:ext cx="9000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47" name="Image 4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4172" y="2609106"/>
            <a:ext cx="468000" cy="468000"/>
          </a:xfrm>
          <a:prstGeom prst="rect">
            <a:avLst/>
          </a:prstGeom>
        </p:spPr>
      </p:pic>
      <p:cxnSp>
        <p:nvCxnSpPr>
          <p:cNvPr id="48" name="Connecteur droit 47"/>
          <p:cNvCxnSpPr/>
          <p:nvPr/>
        </p:nvCxnSpPr>
        <p:spPr>
          <a:xfrm>
            <a:off x="7077447" y="1990235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9" name="Connecteur droit 48"/>
          <p:cNvCxnSpPr/>
          <p:nvPr/>
        </p:nvCxnSpPr>
        <p:spPr>
          <a:xfrm>
            <a:off x="8915466" y="1990235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0" name="Titre 1"/>
          <p:cNvSpPr txBox="1">
            <a:spLocks/>
          </p:cNvSpPr>
          <p:nvPr/>
        </p:nvSpPr>
        <p:spPr>
          <a:xfrm>
            <a:off x="8015465" y="2080349"/>
            <a:ext cx="900000" cy="3947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Imprimer</a:t>
            </a:r>
            <a:endParaRPr lang="fr-FR" sz="1400" dirty="0"/>
          </a:p>
        </p:txBody>
      </p:sp>
      <p:sp>
        <p:nvSpPr>
          <p:cNvPr id="52" name="Titre 1"/>
          <p:cNvSpPr txBox="1">
            <a:spLocks/>
          </p:cNvSpPr>
          <p:nvPr/>
        </p:nvSpPr>
        <p:spPr>
          <a:xfrm>
            <a:off x="7102526" y="2079013"/>
            <a:ext cx="90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Modifier</a:t>
            </a:r>
            <a:endParaRPr lang="fr-FR" sz="1400" dirty="0"/>
          </a:p>
        </p:txBody>
      </p:sp>
      <p:pic>
        <p:nvPicPr>
          <p:cNvPr id="53" name="Image 5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3645" y="2623216"/>
            <a:ext cx="461787" cy="468000"/>
          </a:xfrm>
          <a:prstGeom prst="rect">
            <a:avLst/>
          </a:prstGeom>
        </p:spPr>
      </p:pic>
      <p:pic>
        <p:nvPicPr>
          <p:cNvPr id="54" name="Image 5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5381" y="2573357"/>
            <a:ext cx="540000" cy="540000"/>
          </a:xfrm>
          <a:prstGeom prst="rect">
            <a:avLst/>
          </a:prstGeom>
        </p:spPr>
      </p:pic>
      <p:sp>
        <p:nvSpPr>
          <p:cNvPr id="55" name="Rectangle 54"/>
          <p:cNvSpPr/>
          <p:nvPr/>
        </p:nvSpPr>
        <p:spPr>
          <a:xfrm>
            <a:off x="8673752" y="3411044"/>
            <a:ext cx="1224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Valider</a:t>
            </a:r>
          </a:p>
        </p:txBody>
      </p:sp>
    </p:spTree>
    <p:extLst>
      <p:ext uri="{BB962C8B-B14F-4D97-AF65-F5344CB8AC3E}">
        <p14:creationId xmlns:p14="http://schemas.microsoft.com/office/powerpoint/2010/main" val="655212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83"/>
          <p:cNvSpPr/>
          <p:nvPr/>
        </p:nvSpPr>
        <p:spPr>
          <a:xfrm>
            <a:off x="191991" y="573517"/>
            <a:ext cx="11880000" cy="622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2479820" y="685959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870182" y="672854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697549" y="692366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667218" y="730985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841404" y="686261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8251647" y="737613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2429229" y="627099"/>
            <a:ext cx="6892827" cy="4643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860603" y="75673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950052" y="740319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614530" y="746360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8300317" y="765185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273503" y="533522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14480" y="1156988"/>
            <a:ext cx="198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Demandées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927922" y="1150364"/>
            <a:ext cx="198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Historique demandes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37852" y="1159221"/>
            <a:ext cx="198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Compte rendu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950941" y="1159817"/>
            <a:ext cx="198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Historique résultats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976989" y="1166059"/>
            <a:ext cx="1980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Microbiologie</a:t>
            </a:r>
          </a:p>
        </p:txBody>
      </p:sp>
      <p:sp>
        <p:nvSpPr>
          <p:cNvPr id="38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64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xploration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Histologique /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Microbiologie</a:t>
            </a:r>
            <a:endParaRPr lang="fr-FR" sz="1800" dirty="0"/>
          </a:p>
        </p:txBody>
      </p:sp>
      <p:sp>
        <p:nvSpPr>
          <p:cNvPr id="2" name="Rectangle 1"/>
          <p:cNvSpPr/>
          <p:nvPr/>
        </p:nvSpPr>
        <p:spPr>
          <a:xfrm>
            <a:off x="209108" y="1619997"/>
            <a:ext cx="1922578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b="1" u="sng" dirty="0" smtClean="0">
                <a:latin typeface="+mj-lt"/>
                <a:ea typeface="+mj-ea"/>
                <a:cs typeface="+mj-cs"/>
              </a:rPr>
              <a:t>Validation technique</a:t>
            </a:r>
            <a:endParaRPr lang="fr-FR" sz="1400" b="1" u="sng" dirty="0">
              <a:latin typeface="+mj-lt"/>
              <a:ea typeface="+mj-ea"/>
              <a:cs typeface="+mj-cs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8444993" y="2128748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Recherche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51319" y="2147003"/>
            <a:ext cx="1080000" cy="32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6" name="Titre 1"/>
          <p:cNvSpPr txBox="1">
            <a:spLocks/>
          </p:cNvSpPr>
          <p:nvPr/>
        </p:nvSpPr>
        <p:spPr>
          <a:xfrm>
            <a:off x="1045586" y="2130427"/>
            <a:ext cx="1720777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Critère de recherche</a:t>
            </a:r>
            <a:endParaRPr lang="fr-FR" sz="1400" dirty="0"/>
          </a:p>
        </p:txBody>
      </p:sp>
      <p:sp>
        <p:nvSpPr>
          <p:cNvPr id="57" name="Rectangle 56"/>
          <p:cNvSpPr/>
          <p:nvPr/>
        </p:nvSpPr>
        <p:spPr>
          <a:xfrm>
            <a:off x="4150632" y="2165208"/>
            <a:ext cx="4021515" cy="32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0" name="Triangle isocèle 59"/>
          <p:cNvSpPr/>
          <p:nvPr/>
        </p:nvSpPr>
        <p:spPr>
          <a:xfrm rot="10800000">
            <a:off x="3600688" y="2147567"/>
            <a:ext cx="216000" cy="394544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2" name="Rectangle 61"/>
          <p:cNvSpPr/>
          <p:nvPr/>
        </p:nvSpPr>
        <p:spPr>
          <a:xfrm>
            <a:off x="909986" y="1964762"/>
            <a:ext cx="9013524" cy="1396626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3" name="Titre 1"/>
          <p:cNvSpPr txBox="1">
            <a:spLocks/>
          </p:cNvSpPr>
          <p:nvPr/>
        </p:nvSpPr>
        <p:spPr>
          <a:xfrm>
            <a:off x="1414085" y="2805064"/>
            <a:ext cx="1737973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dirty="0" smtClean="0"/>
              <a:t>Toutes les demandes</a:t>
            </a:r>
            <a:endParaRPr lang="fr-FR" sz="1400" b="1" dirty="0"/>
          </a:p>
        </p:txBody>
      </p:sp>
      <p:sp>
        <p:nvSpPr>
          <p:cNvPr id="66" name="Rectangle 65"/>
          <p:cNvSpPr/>
          <p:nvPr/>
        </p:nvSpPr>
        <p:spPr>
          <a:xfrm>
            <a:off x="1194158" y="2873819"/>
            <a:ext cx="216000" cy="216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8" name="Titre 1"/>
          <p:cNvSpPr txBox="1">
            <a:spLocks/>
          </p:cNvSpPr>
          <p:nvPr/>
        </p:nvSpPr>
        <p:spPr>
          <a:xfrm>
            <a:off x="1045586" y="2431569"/>
            <a:ext cx="4233344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dirty="0" smtClean="0"/>
              <a:t>Critère de recherche = </a:t>
            </a:r>
            <a:r>
              <a:rPr lang="fr-FR" sz="1400" dirty="0" smtClean="0"/>
              <a:t>Nom, Prénom, N° de demande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1913199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83"/>
          <p:cNvSpPr/>
          <p:nvPr/>
        </p:nvSpPr>
        <p:spPr>
          <a:xfrm>
            <a:off x="191991" y="573517"/>
            <a:ext cx="11880000" cy="622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2479820" y="685959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870182" y="672854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697549" y="692366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667218" y="730985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841404" y="686261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8251647" y="737613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2429229" y="627099"/>
            <a:ext cx="6892827" cy="4643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860603" y="75673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950052" y="740319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614530" y="746360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8300317" y="765185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273503" y="533522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86920" y="1202708"/>
            <a:ext cx="1980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Ordonnance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400362" y="1196084"/>
            <a:ext cx="198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Historique</a:t>
            </a:r>
            <a:endParaRPr lang="fr-FR" sz="1400" dirty="0"/>
          </a:p>
        </p:txBody>
      </p:sp>
      <p:sp>
        <p:nvSpPr>
          <p:cNvPr id="38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65 – Ordonnance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Prescription / Ordonnance</a:t>
            </a:r>
            <a:endParaRPr lang="fr-FR" sz="1800" dirty="0"/>
          </a:p>
        </p:txBody>
      </p:sp>
      <p:sp>
        <p:nvSpPr>
          <p:cNvPr id="2" name="Rectangle 1"/>
          <p:cNvSpPr/>
          <p:nvPr/>
        </p:nvSpPr>
        <p:spPr>
          <a:xfrm>
            <a:off x="209108" y="1619997"/>
            <a:ext cx="1922578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b="1" u="sng" dirty="0" smtClean="0">
                <a:latin typeface="+mj-lt"/>
                <a:ea typeface="+mj-ea"/>
                <a:cs typeface="+mj-cs"/>
              </a:rPr>
              <a:t>Prescription</a:t>
            </a:r>
            <a:endParaRPr lang="fr-FR" sz="1400" b="1" u="sng" dirty="0">
              <a:latin typeface="+mj-lt"/>
              <a:ea typeface="+mj-ea"/>
              <a:cs typeface="+mj-cs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9693926" y="6238695"/>
            <a:ext cx="10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Valider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86772" y="1903708"/>
            <a:ext cx="1496418" cy="396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6" name="Titre 1"/>
          <p:cNvSpPr txBox="1">
            <a:spLocks/>
          </p:cNvSpPr>
          <p:nvPr/>
        </p:nvSpPr>
        <p:spPr>
          <a:xfrm>
            <a:off x="2569586" y="1917067"/>
            <a:ext cx="720000" cy="39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</a:t>
            </a:r>
            <a:endParaRPr lang="fr-FR" sz="1400" dirty="0"/>
          </a:p>
        </p:txBody>
      </p:sp>
      <p:sp>
        <p:nvSpPr>
          <p:cNvPr id="57" name="Rectangle 56"/>
          <p:cNvSpPr/>
          <p:nvPr/>
        </p:nvSpPr>
        <p:spPr>
          <a:xfrm>
            <a:off x="6913892" y="2591927"/>
            <a:ext cx="1502095" cy="396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0" name="Triangle isocèle 59"/>
          <p:cNvSpPr/>
          <p:nvPr/>
        </p:nvSpPr>
        <p:spPr>
          <a:xfrm rot="10800000">
            <a:off x="8195726" y="2603015"/>
            <a:ext cx="216000" cy="394544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2" name="Rectangle 61"/>
          <p:cNvSpPr/>
          <p:nvPr/>
        </p:nvSpPr>
        <p:spPr>
          <a:xfrm>
            <a:off x="1397666" y="1675199"/>
            <a:ext cx="9396000" cy="4464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3" name="Titre 1"/>
          <p:cNvSpPr txBox="1">
            <a:spLocks/>
          </p:cNvSpPr>
          <p:nvPr/>
        </p:nvSpPr>
        <p:spPr>
          <a:xfrm>
            <a:off x="9003605" y="1966864"/>
            <a:ext cx="1737973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dirty="0" smtClean="0"/>
              <a:t>Envoi à la pharmacie</a:t>
            </a:r>
            <a:endParaRPr lang="fr-FR" sz="1400" b="1" dirty="0"/>
          </a:p>
        </p:txBody>
      </p:sp>
      <p:sp>
        <p:nvSpPr>
          <p:cNvPr id="66" name="Rectangle 65"/>
          <p:cNvSpPr/>
          <p:nvPr/>
        </p:nvSpPr>
        <p:spPr>
          <a:xfrm>
            <a:off x="8783678" y="2035619"/>
            <a:ext cx="216000" cy="216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Titre 1"/>
          <p:cNvSpPr txBox="1">
            <a:spLocks/>
          </p:cNvSpPr>
          <p:nvPr/>
        </p:nvSpPr>
        <p:spPr>
          <a:xfrm>
            <a:off x="5043002" y="2583442"/>
            <a:ext cx="1872000" cy="39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S/Classe thérapeutique</a:t>
            </a:r>
            <a:endParaRPr lang="fr-FR" sz="1400" dirty="0"/>
          </a:p>
        </p:txBody>
      </p:sp>
      <p:sp>
        <p:nvSpPr>
          <p:cNvPr id="36" name="Rectangle 35"/>
          <p:cNvSpPr/>
          <p:nvPr/>
        </p:nvSpPr>
        <p:spPr>
          <a:xfrm>
            <a:off x="6913892" y="1936607"/>
            <a:ext cx="1502095" cy="396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7" name="Triangle isocèle 36"/>
          <p:cNvSpPr/>
          <p:nvPr/>
        </p:nvSpPr>
        <p:spPr>
          <a:xfrm rot="10800000">
            <a:off x="8165246" y="1947695"/>
            <a:ext cx="216000" cy="394544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9" name="Titre 1"/>
          <p:cNvSpPr txBox="1">
            <a:spLocks/>
          </p:cNvSpPr>
          <p:nvPr/>
        </p:nvSpPr>
        <p:spPr>
          <a:xfrm>
            <a:off x="5835482" y="1928122"/>
            <a:ext cx="1080000" cy="39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Prescripteur</a:t>
            </a:r>
            <a:endParaRPr lang="fr-FR" sz="1400" dirty="0"/>
          </a:p>
        </p:txBody>
      </p:sp>
      <p:sp>
        <p:nvSpPr>
          <p:cNvPr id="40" name="Rectangle 39"/>
          <p:cNvSpPr/>
          <p:nvPr/>
        </p:nvSpPr>
        <p:spPr>
          <a:xfrm>
            <a:off x="3286772" y="2591927"/>
            <a:ext cx="1502095" cy="396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1" name="Triangle isocèle 40"/>
          <p:cNvSpPr/>
          <p:nvPr/>
        </p:nvSpPr>
        <p:spPr>
          <a:xfrm rot="10800000">
            <a:off x="4568606" y="2603015"/>
            <a:ext cx="216000" cy="394544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2" name="Titre 1"/>
          <p:cNvSpPr txBox="1">
            <a:spLocks/>
          </p:cNvSpPr>
          <p:nvPr/>
        </p:nvSpPr>
        <p:spPr>
          <a:xfrm>
            <a:off x="1415882" y="2583442"/>
            <a:ext cx="1872000" cy="39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Classe thérapeutique</a:t>
            </a:r>
            <a:endParaRPr lang="fr-FR" sz="1400" dirty="0"/>
          </a:p>
        </p:txBody>
      </p:sp>
      <p:sp>
        <p:nvSpPr>
          <p:cNvPr id="43" name="Rectangle 42"/>
          <p:cNvSpPr/>
          <p:nvPr/>
        </p:nvSpPr>
        <p:spPr>
          <a:xfrm>
            <a:off x="9184652" y="2591927"/>
            <a:ext cx="1502095" cy="396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5" name="Triangle isocèle 44"/>
          <p:cNvSpPr/>
          <p:nvPr/>
        </p:nvSpPr>
        <p:spPr>
          <a:xfrm rot="10800000">
            <a:off x="10466486" y="2603015"/>
            <a:ext cx="216000" cy="394544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6" name="Titre 1"/>
          <p:cNvSpPr txBox="1">
            <a:spLocks/>
          </p:cNvSpPr>
          <p:nvPr/>
        </p:nvSpPr>
        <p:spPr>
          <a:xfrm>
            <a:off x="8654882" y="2583442"/>
            <a:ext cx="540000" cy="39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DCI</a:t>
            </a:r>
            <a:endParaRPr lang="fr-FR" sz="1400" dirty="0"/>
          </a:p>
        </p:txBody>
      </p:sp>
      <p:sp>
        <p:nvSpPr>
          <p:cNvPr id="47" name="Rectangle 46"/>
          <p:cNvSpPr/>
          <p:nvPr/>
        </p:nvSpPr>
        <p:spPr>
          <a:xfrm>
            <a:off x="7297983" y="5248599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8" name="Rectangle 47"/>
          <p:cNvSpPr/>
          <p:nvPr/>
        </p:nvSpPr>
        <p:spPr>
          <a:xfrm>
            <a:off x="7297983" y="4133160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9" name="Titre 1"/>
          <p:cNvSpPr txBox="1">
            <a:spLocks/>
          </p:cNvSpPr>
          <p:nvPr/>
        </p:nvSpPr>
        <p:spPr>
          <a:xfrm>
            <a:off x="5288823" y="324544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Dose</a:t>
            </a:r>
            <a:endParaRPr lang="fr-FR" sz="1400" dirty="0"/>
          </a:p>
        </p:txBody>
      </p:sp>
      <p:sp>
        <p:nvSpPr>
          <p:cNvPr id="52" name="Rectangle 51"/>
          <p:cNvSpPr/>
          <p:nvPr/>
        </p:nvSpPr>
        <p:spPr>
          <a:xfrm>
            <a:off x="4919189" y="4136247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4" name="Titre 1"/>
          <p:cNvSpPr txBox="1">
            <a:spLocks/>
          </p:cNvSpPr>
          <p:nvPr/>
        </p:nvSpPr>
        <p:spPr>
          <a:xfrm>
            <a:off x="2723206" y="5476392"/>
            <a:ext cx="126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Commentaire</a:t>
            </a:r>
            <a:endParaRPr lang="fr-FR" sz="1400" dirty="0"/>
          </a:p>
        </p:txBody>
      </p:sp>
      <p:sp>
        <p:nvSpPr>
          <p:cNvPr id="55" name="Rectangle 54"/>
          <p:cNvSpPr/>
          <p:nvPr/>
        </p:nvSpPr>
        <p:spPr>
          <a:xfrm>
            <a:off x="9554867" y="3245445"/>
            <a:ext cx="900000" cy="36000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Ajouter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2639446" y="3825931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0" name="Triangle isocèle 69"/>
          <p:cNvSpPr/>
          <p:nvPr/>
        </p:nvSpPr>
        <p:spPr>
          <a:xfrm rot="10800000">
            <a:off x="4177112" y="3865314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1" name="Rectangle 70"/>
          <p:cNvSpPr/>
          <p:nvPr/>
        </p:nvSpPr>
        <p:spPr>
          <a:xfrm>
            <a:off x="2543130" y="3206582"/>
            <a:ext cx="8091818" cy="2772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2" name="Titre 1"/>
          <p:cNvSpPr txBox="1">
            <a:spLocks/>
          </p:cNvSpPr>
          <p:nvPr/>
        </p:nvSpPr>
        <p:spPr>
          <a:xfrm>
            <a:off x="7485774" y="3247868"/>
            <a:ext cx="144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Période</a:t>
            </a:r>
            <a:endParaRPr lang="fr-FR" sz="1400" dirty="0"/>
          </a:p>
        </p:txBody>
      </p:sp>
      <p:sp>
        <p:nvSpPr>
          <p:cNvPr id="73" name="Rectangle 72"/>
          <p:cNvSpPr/>
          <p:nvPr/>
        </p:nvSpPr>
        <p:spPr>
          <a:xfrm>
            <a:off x="4919189" y="5272995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4" name="Rectangle 73"/>
          <p:cNvSpPr/>
          <p:nvPr/>
        </p:nvSpPr>
        <p:spPr>
          <a:xfrm>
            <a:off x="2639445" y="5403270"/>
            <a:ext cx="1951885" cy="497027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6" name="Rectangle 75"/>
          <p:cNvSpPr/>
          <p:nvPr/>
        </p:nvSpPr>
        <p:spPr>
          <a:xfrm>
            <a:off x="2658496" y="4961311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7" name="Triangle isocèle 76"/>
          <p:cNvSpPr/>
          <p:nvPr/>
        </p:nvSpPr>
        <p:spPr>
          <a:xfrm rot="10800000">
            <a:off x="4196162" y="5000694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78" name="Connecteur droit 77"/>
          <p:cNvCxnSpPr/>
          <p:nvPr/>
        </p:nvCxnSpPr>
        <p:spPr>
          <a:xfrm>
            <a:off x="4684124" y="3206582"/>
            <a:ext cx="0" cy="2772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9" name="Connecteur droit 78"/>
          <p:cNvCxnSpPr/>
          <p:nvPr/>
        </p:nvCxnSpPr>
        <p:spPr>
          <a:xfrm>
            <a:off x="6929132" y="3199725"/>
            <a:ext cx="0" cy="2772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0" name="Connecteur droit 79"/>
          <p:cNvCxnSpPr/>
          <p:nvPr/>
        </p:nvCxnSpPr>
        <p:spPr>
          <a:xfrm>
            <a:off x="9465674" y="3195152"/>
            <a:ext cx="0" cy="2772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1" name="Plus 80"/>
          <p:cNvSpPr/>
          <p:nvPr/>
        </p:nvSpPr>
        <p:spPr>
          <a:xfrm>
            <a:off x="9864090" y="3844981"/>
            <a:ext cx="360000" cy="360000"/>
          </a:xfrm>
          <a:prstGeom prst="mathPlu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3" name="Plus 82"/>
          <p:cNvSpPr/>
          <p:nvPr/>
        </p:nvSpPr>
        <p:spPr>
          <a:xfrm>
            <a:off x="9864090" y="5159431"/>
            <a:ext cx="360000" cy="360000"/>
          </a:xfrm>
          <a:prstGeom prst="mathPlu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89" name="Connecteur droit 88"/>
          <p:cNvCxnSpPr/>
          <p:nvPr/>
        </p:nvCxnSpPr>
        <p:spPr>
          <a:xfrm>
            <a:off x="2544195" y="3719746"/>
            <a:ext cx="806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1" name="Connecteur droit 90"/>
          <p:cNvCxnSpPr/>
          <p:nvPr/>
        </p:nvCxnSpPr>
        <p:spPr>
          <a:xfrm>
            <a:off x="2544195" y="4855126"/>
            <a:ext cx="806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2" name="Titre 1"/>
          <p:cNvSpPr txBox="1">
            <a:spLocks/>
          </p:cNvSpPr>
          <p:nvPr/>
        </p:nvSpPr>
        <p:spPr>
          <a:xfrm>
            <a:off x="2723206" y="3281832"/>
            <a:ext cx="180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Médicament</a:t>
            </a:r>
            <a:endParaRPr lang="fr-FR" sz="1400" dirty="0"/>
          </a:p>
        </p:txBody>
      </p:sp>
      <p:sp>
        <p:nvSpPr>
          <p:cNvPr id="93" name="Titre 1"/>
          <p:cNvSpPr txBox="1">
            <a:spLocks/>
          </p:cNvSpPr>
          <p:nvPr/>
        </p:nvSpPr>
        <p:spPr>
          <a:xfrm>
            <a:off x="2723206" y="4333392"/>
            <a:ext cx="126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Commentaire</a:t>
            </a:r>
            <a:endParaRPr lang="fr-FR" sz="1400" dirty="0"/>
          </a:p>
        </p:txBody>
      </p:sp>
      <p:sp>
        <p:nvSpPr>
          <p:cNvPr id="101" name="Rectangle 100"/>
          <p:cNvSpPr/>
          <p:nvPr/>
        </p:nvSpPr>
        <p:spPr>
          <a:xfrm>
            <a:off x="2639445" y="4260270"/>
            <a:ext cx="1951885" cy="497027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Titre 1"/>
          <p:cNvSpPr txBox="1">
            <a:spLocks/>
          </p:cNvSpPr>
          <p:nvPr/>
        </p:nvSpPr>
        <p:spPr>
          <a:xfrm>
            <a:off x="211922" y="6330604"/>
            <a:ext cx="6874678" cy="39787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Cet écran permet de sélectionner les médicaments donner par le médecin pour le patient.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1460882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83"/>
          <p:cNvSpPr/>
          <p:nvPr/>
        </p:nvSpPr>
        <p:spPr>
          <a:xfrm>
            <a:off x="191991" y="573517"/>
            <a:ext cx="11880000" cy="622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2479820" y="685959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870182" y="672854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697549" y="692366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667218" y="730985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841404" y="686261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8251647" y="737613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2429229" y="627099"/>
            <a:ext cx="6892827" cy="4643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860603" y="75673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950052" y="740319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614530" y="746360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8300317" y="765185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273503" y="533522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14480" y="1202708"/>
            <a:ext cx="198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Ordonnance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927922" y="1196084"/>
            <a:ext cx="1980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Historique</a:t>
            </a:r>
          </a:p>
        </p:txBody>
      </p:sp>
      <p:sp>
        <p:nvSpPr>
          <p:cNvPr id="38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66 – Ordonnance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Prescription /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Historique</a:t>
            </a:r>
            <a:endParaRPr lang="fr-FR" sz="1800" dirty="0"/>
          </a:p>
        </p:txBody>
      </p:sp>
      <p:sp>
        <p:nvSpPr>
          <p:cNvPr id="2" name="Rectangle 1"/>
          <p:cNvSpPr/>
          <p:nvPr/>
        </p:nvSpPr>
        <p:spPr>
          <a:xfrm>
            <a:off x="872785" y="1604726"/>
            <a:ext cx="1080000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b="1" u="sng" dirty="0" smtClean="0">
                <a:latin typeface="+mj-lt"/>
                <a:ea typeface="+mj-ea"/>
                <a:cs typeface="+mj-cs"/>
              </a:rPr>
              <a:t>Historique</a:t>
            </a:r>
            <a:endParaRPr lang="fr-FR" sz="1400" b="1" u="sng" dirty="0">
              <a:latin typeface="+mj-lt"/>
              <a:ea typeface="+mj-ea"/>
              <a:cs typeface="+mj-cs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3917922" y="2339553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Recherche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238366" y="2299346"/>
            <a:ext cx="1428852" cy="396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2" name="Rectangle 61"/>
          <p:cNvSpPr/>
          <p:nvPr/>
        </p:nvSpPr>
        <p:spPr>
          <a:xfrm>
            <a:off x="1045586" y="2140955"/>
            <a:ext cx="4562734" cy="81560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3" name="Titre 1"/>
          <p:cNvSpPr txBox="1">
            <a:spLocks/>
          </p:cNvSpPr>
          <p:nvPr/>
        </p:nvSpPr>
        <p:spPr>
          <a:xfrm>
            <a:off x="1520765" y="2302144"/>
            <a:ext cx="72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dirty="0" smtClean="0"/>
              <a:t>Date</a:t>
            </a:r>
            <a:endParaRPr lang="fr-FR" sz="1400" b="1" dirty="0"/>
          </a:p>
        </p:txBody>
      </p:sp>
      <p:sp>
        <p:nvSpPr>
          <p:cNvPr id="66" name="Rectangle 65"/>
          <p:cNvSpPr/>
          <p:nvPr/>
        </p:nvSpPr>
        <p:spPr>
          <a:xfrm>
            <a:off x="1300838" y="2370899"/>
            <a:ext cx="216000" cy="216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2" name="Titre 1"/>
          <p:cNvSpPr txBox="1">
            <a:spLocks/>
          </p:cNvSpPr>
          <p:nvPr/>
        </p:nvSpPr>
        <p:spPr>
          <a:xfrm>
            <a:off x="3407234" y="3288441"/>
            <a:ext cx="162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d’ordonnance</a:t>
            </a:r>
            <a:endParaRPr lang="fr-FR" sz="1400" dirty="0"/>
          </a:p>
        </p:txBody>
      </p:sp>
      <p:sp>
        <p:nvSpPr>
          <p:cNvPr id="33" name="Rectangle 32"/>
          <p:cNvSpPr/>
          <p:nvPr/>
        </p:nvSpPr>
        <p:spPr>
          <a:xfrm>
            <a:off x="3178724" y="3862263"/>
            <a:ext cx="180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4" name="Titre 1"/>
          <p:cNvSpPr txBox="1">
            <a:spLocks/>
          </p:cNvSpPr>
          <p:nvPr/>
        </p:nvSpPr>
        <p:spPr>
          <a:xfrm>
            <a:off x="1479864" y="3266928"/>
            <a:ext cx="1242463" cy="3947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Prescripteur</a:t>
            </a:r>
            <a:endParaRPr lang="fr-FR" sz="1400" dirty="0"/>
          </a:p>
        </p:txBody>
      </p:sp>
      <p:sp>
        <p:nvSpPr>
          <p:cNvPr id="35" name="Rectangle 34"/>
          <p:cNvSpPr/>
          <p:nvPr/>
        </p:nvSpPr>
        <p:spPr>
          <a:xfrm>
            <a:off x="9060434" y="3312537"/>
            <a:ext cx="972000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Supprimer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1166218" y="3867265"/>
            <a:ext cx="180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7" name="Rectangle 36"/>
          <p:cNvSpPr/>
          <p:nvPr/>
        </p:nvSpPr>
        <p:spPr>
          <a:xfrm>
            <a:off x="1031265" y="3222158"/>
            <a:ext cx="9000000" cy="1188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9" name="Titre 1"/>
          <p:cNvSpPr txBox="1">
            <a:spLocks/>
          </p:cNvSpPr>
          <p:nvPr/>
        </p:nvSpPr>
        <p:spPr>
          <a:xfrm>
            <a:off x="7236039" y="3302081"/>
            <a:ext cx="90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Modifier</a:t>
            </a:r>
            <a:endParaRPr lang="fr-FR" sz="1400" dirty="0"/>
          </a:p>
        </p:txBody>
      </p:sp>
      <p:cxnSp>
        <p:nvCxnSpPr>
          <p:cNvPr id="40" name="Connecteur droit 39"/>
          <p:cNvCxnSpPr/>
          <p:nvPr/>
        </p:nvCxnSpPr>
        <p:spPr>
          <a:xfrm>
            <a:off x="3096059" y="3222158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1" name="Connecteur droit 40"/>
          <p:cNvCxnSpPr/>
          <p:nvPr/>
        </p:nvCxnSpPr>
        <p:spPr>
          <a:xfrm>
            <a:off x="5120403" y="3241208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2" name="Connecteur droit 41"/>
          <p:cNvCxnSpPr/>
          <p:nvPr/>
        </p:nvCxnSpPr>
        <p:spPr>
          <a:xfrm>
            <a:off x="8135976" y="3213303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3" name="Connecteur droit 42"/>
          <p:cNvCxnSpPr/>
          <p:nvPr/>
        </p:nvCxnSpPr>
        <p:spPr>
          <a:xfrm>
            <a:off x="1032330" y="3735322"/>
            <a:ext cx="9000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45" name="Image 4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7158" y="3807647"/>
            <a:ext cx="461787" cy="468000"/>
          </a:xfrm>
          <a:prstGeom prst="rect">
            <a:avLst/>
          </a:prstGeom>
        </p:spPr>
      </p:pic>
      <p:pic>
        <p:nvPicPr>
          <p:cNvPr id="46" name="Image 4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7685" y="3832174"/>
            <a:ext cx="468000" cy="468000"/>
          </a:xfrm>
          <a:prstGeom prst="rect">
            <a:avLst/>
          </a:prstGeom>
        </p:spPr>
      </p:pic>
      <p:sp>
        <p:nvSpPr>
          <p:cNvPr id="47" name="Rectangle 46"/>
          <p:cNvSpPr/>
          <p:nvPr/>
        </p:nvSpPr>
        <p:spPr>
          <a:xfrm>
            <a:off x="5477462" y="3266928"/>
            <a:ext cx="1368000" cy="49865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Pharmacie externe/interne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cxnSp>
        <p:nvCxnSpPr>
          <p:cNvPr id="48" name="Connecteur droit 47"/>
          <p:cNvCxnSpPr/>
          <p:nvPr/>
        </p:nvCxnSpPr>
        <p:spPr>
          <a:xfrm>
            <a:off x="7210960" y="3213303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9" name="Rectangle 48"/>
          <p:cNvSpPr/>
          <p:nvPr/>
        </p:nvSpPr>
        <p:spPr>
          <a:xfrm>
            <a:off x="5247108" y="3877996"/>
            <a:ext cx="180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50" name="Connecteur droit 49"/>
          <p:cNvCxnSpPr/>
          <p:nvPr/>
        </p:nvCxnSpPr>
        <p:spPr>
          <a:xfrm>
            <a:off x="9048979" y="3213303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2" name="Titre 1"/>
          <p:cNvSpPr txBox="1">
            <a:spLocks/>
          </p:cNvSpPr>
          <p:nvPr/>
        </p:nvSpPr>
        <p:spPr>
          <a:xfrm>
            <a:off x="8148979" y="3303417"/>
            <a:ext cx="900000" cy="3947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Imprimer</a:t>
            </a:r>
            <a:endParaRPr lang="fr-FR" sz="1400" dirty="0"/>
          </a:p>
        </p:txBody>
      </p:sp>
      <p:pic>
        <p:nvPicPr>
          <p:cNvPr id="53" name="Image 5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7373" y="3796424"/>
            <a:ext cx="540000" cy="540000"/>
          </a:xfrm>
          <a:prstGeom prst="rect">
            <a:avLst/>
          </a:prstGeom>
        </p:spPr>
      </p:pic>
      <p:sp>
        <p:nvSpPr>
          <p:cNvPr id="54" name="Rectangle 53"/>
          <p:cNvSpPr/>
          <p:nvPr/>
        </p:nvSpPr>
        <p:spPr>
          <a:xfrm>
            <a:off x="878865" y="1932241"/>
            <a:ext cx="9301456" cy="2715959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5" name="Titre 1"/>
          <p:cNvSpPr txBox="1">
            <a:spLocks/>
          </p:cNvSpPr>
          <p:nvPr/>
        </p:nvSpPr>
        <p:spPr>
          <a:xfrm>
            <a:off x="227162" y="6293945"/>
            <a:ext cx="10971914" cy="50167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Cet écran permet d’afficher l’historiques des ordonnances et sont prescripteur.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le prescripteur peut modifier, imprimer, ou supprimer lors ordonnance.</a:t>
            </a:r>
          </a:p>
        </p:txBody>
      </p:sp>
    </p:spTree>
    <p:extLst>
      <p:ext uri="{BB962C8B-B14F-4D97-AF65-F5344CB8AC3E}">
        <p14:creationId xmlns:p14="http://schemas.microsoft.com/office/powerpoint/2010/main" val="3186048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83"/>
          <p:cNvSpPr/>
          <p:nvPr/>
        </p:nvSpPr>
        <p:spPr>
          <a:xfrm>
            <a:off x="191991" y="573517"/>
            <a:ext cx="11880000" cy="622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2479820" y="685959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870182" y="672854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697549" y="692366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667218" y="730985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841404" y="686261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8251647" y="737613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2429229" y="627099"/>
            <a:ext cx="6892827" cy="4643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860603" y="75673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950052" y="740319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614530" y="746360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8300317" y="765185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948535" y="592061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38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67 – Ordonnance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Récapitulatif des traitements</a:t>
            </a:r>
            <a:endParaRPr lang="fr-FR" sz="1800" dirty="0"/>
          </a:p>
        </p:txBody>
      </p:sp>
      <p:sp>
        <p:nvSpPr>
          <p:cNvPr id="2" name="Rectangle 1"/>
          <p:cNvSpPr/>
          <p:nvPr/>
        </p:nvSpPr>
        <p:spPr>
          <a:xfrm>
            <a:off x="933745" y="1277059"/>
            <a:ext cx="2279274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b="1" u="sng" dirty="0">
                <a:latin typeface="+mj-lt"/>
                <a:ea typeface="+mj-ea"/>
                <a:cs typeface="+mj-cs"/>
              </a:rPr>
              <a:t>Récapitulatif des </a:t>
            </a:r>
            <a:r>
              <a:rPr lang="fr-FR" sz="1400" b="1" u="sng" dirty="0" smtClean="0">
                <a:latin typeface="+mj-lt"/>
                <a:ea typeface="+mj-ea"/>
                <a:cs typeface="+mj-cs"/>
              </a:rPr>
              <a:t>traitements</a:t>
            </a:r>
            <a:endParaRPr lang="fr-FR" sz="1400" b="1" u="sng" dirty="0">
              <a:latin typeface="+mj-lt"/>
              <a:ea typeface="+mj-ea"/>
              <a:cs typeface="+mj-cs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7258742" y="2012483"/>
            <a:ext cx="252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Imprimer Historique Traitement 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152766" y="1956440"/>
            <a:ext cx="1260000" cy="396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2" name="Rectangle 61"/>
          <p:cNvSpPr/>
          <p:nvPr/>
        </p:nvSpPr>
        <p:spPr>
          <a:xfrm>
            <a:off x="923664" y="1721848"/>
            <a:ext cx="9000000" cy="900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3" name="Titre 1"/>
          <p:cNvSpPr txBox="1">
            <a:spLocks/>
          </p:cNvSpPr>
          <p:nvPr/>
        </p:nvSpPr>
        <p:spPr>
          <a:xfrm>
            <a:off x="1215965" y="1989718"/>
            <a:ext cx="90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  <a:lvl1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b="1" dirty="0"/>
              <a:t>Période </a:t>
            </a:r>
          </a:p>
        </p:txBody>
      </p:sp>
      <p:sp>
        <p:nvSpPr>
          <p:cNvPr id="34" name="Titre 1"/>
          <p:cNvSpPr txBox="1">
            <a:spLocks/>
          </p:cNvSpPr>
          <p:nvPr/>
        </p:nvSpPr>
        <p:spPr>
          <a:xfrm>
            <a:off x="2615009" y="1949041"/>
            <a:ext cx="540000" cy="3947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Du</a:t>
            </a:r>
            <a:endParaRPr lang="fr-FR" sz="1400" dirty="0"/>
          </a:p>
        </p:txBody>
      </p:sp>
      <p:sp>
        <p:nvSpPr>
          <p:cNvPr id="37" name="Rectangle 36"/>
          <p:cNvSpPr/>
          <p:nvPr/>
        </p:nvSpPr>
        <p:spPr>
          <a:xfrm>
            <a:off x="2631465" y="1842932"/>
            <a:ext cx="4140000" cy="648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5" name="Titre 1"/>
          <p:cNvSpPr txBox="1">
            <a:spLocks/>
          </p:cNvSpPr>
          <p:nvPr/>
        </p:nvSpPr>
        <p:spPr>
          <a:xfrm>
            <a:off x="191991" y="6402177"/>
            <a:ext cx="10971914" cy="29700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Cet écran permet d’afficher l’historiques des ordonnances et sont </a:t>
            </a:r>
            <a:r>
              <a:rPr lang="fr-FR" sz="1400" dirty="0"/>
              <a:t>prescripteur pendant une </a:t>
            </a:r>
            <a:r>
              <a:rPr lang="fr-FR" sz="1400" dirty="0" smtClean="0"/>
              <a:t>période spécifique.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393046" y="1941200"/>
            <a:ext cx="1260000" cy="396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7" name="Titre 1"/>
          <p:cNvSpPr txBox="1">
            <a:spLocks/>
          </p:cNvSpPr>
          <p:nvPr/>
        </p:nvSpPr>
        <p:spPr>
          <a:xfrm>
            <a:off x="4855289" y="1933801"/>
            <a:ext cx="540000" cy="3947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Au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392859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83"/>
          <p:cNvSpPr/>
          <p:nvPr/>
        </p:nvSpPr>
        <p:spPr>
          <a:xfrm>
            <a:off x="191991" y="573517"/>
            <a:ext cx="11880000" cy="622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38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68 – Transfusion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Poche sanguine</a:t>
            </a:r>
            <a:endParaRPr lang="fr-FR" sz="1800" dirty="0"/>
          </a:p>
        </p:txBody>
      </p:sp>
      <p:sp>
        <p:nvSpPr>
          <p:cNvPr id="2" name="Rectangle 1"/>
          <p:cNvSpPr/>
          <p:nvPr/>
        </p:nvSpPr>
        <p:spPr>
          <a:xfrm>
            <a:off x="872786" y="650543"/>
            <a:ext cx="1441790" cy="5027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b="1" u="sng" dirty="0" smtClean="0">
                <a:latin typeface="+mj-lt"/>
                <a:ea typeface="+mj-ea"/>
                <a:cs typeface="+mj-cs"/>
              </a:rPr>
              <a:t>Poche sanguine</a:t>
            </a:r>
            <a:endParaRPr lang="fr-FR" sz="1400" b="1" u="sng" dirty="0">
              <a:latin typeface="+mj-lt"/>
              <a:ea typeface="+mj-ea"/>
              <a:cs typeface="+mj-cs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7350275" y="2825805"/>
            <a:ext cx="10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Ajouter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115964" y="1153270"/>
            <a:ext cx="6599411" cy="2354131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5" name="Titre 1"/>
          <p:cNvSpPr txBox="1">
            <a:spLocks/>
          </p:cNvSpPr>
          <p:nvPr/>
        </p:nvSpPr>
        <p:spPr>
          <a:xfrm>
            <a:off x="191991" y="6299841"/>
            <a:ext cx="10971914" cy="50167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Cet écran permet d’ajouter les poches des PSL  demander pour faire la transfusion au patient.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Le tableau en dessous c’est un tableau dynamique qui s’affiche après l’ajoute d’une poche de PSL.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01060" y="2060874"/>
            <a:ext cx="1496418" cy="396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3" name="Titre 1"/>
          <p:cNvSpPr txBox="1">
            <a:spLocks/>
          </p:cNvSpPr>
          <p:nvPr/>
        </p:nvSpPr>
        <p:spPr>
          <a:xfrm>
            <a:off x="2214900" y="2074233"/>
            <a:ext cx="1080000" cy="39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Code poche</a:t>
            </a:r>
            <a:endParaRPr lang="fr-FR" sz="1400" dirty="0"/>
          </a:p>
        </p:txBody>
      </p:sp>
      <p:sp>
        <p:nvSpPr>
          <p:cNvPr id="35" name="Rectangle 34"/>
          <p:cNvSpPr/>
          <p:nvPr/>
        </p:nvSpPr>
        <p:spPr>
          <a:xfrm>
            <a:off x="6913892" y="1406073"/>
            <a:ext cx="1502095" cy="396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6" name="Triangle isocèle 35"/>
          <p:cNvSpPr/>
          <p:nvPr/>
        </p:nvSpPr>
        <p:spPr>
          <a:xfrm rot="10800000">
            <a:off x="8182029" y="1420510"/>
            <a:ext cx="216000" cy="396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9" name="Titre 1"/>
          <p:cNvSpPr txBox="1">
            <a:spLocks/>
          </p:cNvSpPr>
          <p:nvPr/>
        </p:nvSpPr>
        <p:spPr>
          <a:xfrm>
            <a:off x="5943129" y="1397588"/>
            <a:ext cx="972000" cy="39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Groupage</a:t>
            </a:r>
            <a:endParaRPr lang="fr-FR" sz="1400" dirty="0"/>
          </a:p>
        </p:txBody>
      </p:sp>
      <p:sp>
        <p:nvSpPr>
          <p:cNvPr id="40" name="Rectangle 39"/>
          <p:cNvSpPr/>
          <p:nvPr/>
        </p:nvSpPr>
        <p:spPr>
          <a:xfrm>
            <a:off x="6928180" y="2093773"/>
            <a:ext cx="1502095" cy="396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2" name="Titre 1"/>
          <p:cNvSpPr txBox="1">
            <a:spLocks/>
          </p:cNvSpPr>
          <p:nvPr/>
        </p:nvSpPr>
        <p:spPr>
          <a:xfrm>
            <a:off x="5486402" y="3756929"/>
            <a:ext cx="1080000" cy="46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de péremption</a:t>
            </a:r>
            <a:endParaRPr lang="fr-FR" sz="1400" dirty="0"/>
          </a:p>
        </p:txBody>
      </p:sp>
      <p:sp>
        <p:nvSpPr>
          <p:cNvPr id="43" name="Rectangle 42"/>
          <p:cNvSpPr/>
          <p:nvPr/>
        </p:nvSpPr>
        <p:spPr>
          <a:xfrm>
            <a:off x="3286772" y="1406073"/>
            <a:ext cx="1502095" cy="396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5" name="Triangle isocèle 44"/>
          <p:cNvSpPr/>
          <p:nvPr/>
        </p:nvSpPr>
        <p:spPr>
          <a:xfrm rot="10800000">
            <a:off x="4568606" y="1417161"/>
            <a:ext cx="216000" cy="394544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6" name="Titre 1"/>
          <p:cNvSpPr txBox="1">
            <a:spLocks/>
          </p:cNvSpPr>
          <p:nvPr/>
        </p:nvSpPr>
        <p:spPr>
          <a:xfrm>
            <a:off x="2387445" y="1397588"/>
            <a:ext cx="900000" cy="39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Type PSL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98195" y="2749090"/>
            <a:ext cx="1502095" cy="396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8" name="Triangle isocèle 47"/>
          <p:cNvSpPr/>
          <p:nvPr/>
        </p:nvSpPr>
        <p:spPr>
          <a:xfrm rot="10800000">
            <a:off x="4580029" y="2760178"/>
            <a:ext cx="216000" cy="394544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9" name="Titre 1"/>
          <p:cNvSpPr txBox="1">
            <a:spLocks/>
          </p:cNvSpPr>
          <p:nvPr/>
        </p:nvSpPr>
        <p:spPr>
          <a:xfrm>
            <a:off x="2768425" y="2740605"/>
            <a:ext cx="540000" cy="39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CTS</a:t>
            </a:r>
            <a:endParaRPr lang="fr-FR" sz="1400" dirty="0"/>
          </a:p>
        </p:txBody>
      </p:sp>
      <p:sp>
        <p:nvSpPr>
          <p:cNvPr id="50" name="Titre 1"/>
          <p:cNvSpPr txBox="1">
            <a:spLocks/>
          </p:cNvSpPr>
          <p:nvPr/>
        </p:nvSpPr>
        <p:spPr>
          <a:xfrm>
            <a:off x="2535688" y="3817083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Groupage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36164" y="4376617"/>
            <a:ext cx="1188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3" name="Titre 1"/>
          <p:cNvSpPr txBox="1">
            <a:spLocks/>
          </p:cNvSpPr>
          <p:nvPr/>
        </p:nvSpPr>
        <p:spPr>
          <a:xfrm>
            <a:off x="1165537" y="3809858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Type PLS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017579" y="3812603"/>
            <a:ext cx="972000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Supprimer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3902381" y="4381619"/>
            <a:ext cx="1295078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1" name="Rectangle 60"/>
          <p:cNvSpPr/>
          <p:nvPr/>
        </p:nvSpPr>
        <p:spPr>
          <a:xfrm>
            <a:off x="988410" y="3722224"/>
            <a:ext cx="9000000" cy="1188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5" name="Titre 1"/>
          <p:cNvSpPr txBox="1">
            <a:spLocks/>
          </p:cNvSpPr>
          <p:nvPr/>
        </p:nvSpPr>
        <p:spPr>
          <a:xfrm>
            <a:off x="7121745" y="3816435"/>
            <a:ext cx="54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CTS</a:t>
            </a:r>
          </a:p>
        </p:txBody>
      </p:sp>
      <p:cxnSp>
        <p:nvCxnSpPr>
          <p:cNvPr id="66" name="Connecteur droit 65"/>
          <p:cNvCxnSpPr/>
          <p:nvPr/>
        </p:nvCxnSpPr>
        <p:spPr>
          <a:xfrm>
            <a:off x="2353104" y="3722224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7" name="Connecteur droit 66"/>
          <p:cNvCxnSpPr/>
          <p:nvPr/>
        </p:nvCxnSpPr>
        <p:spPr>
          <a:xfrm>
            <a:off x="3791654" y="3741274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8" name="Connecteur droit 67"/>
          <p:cNvCxnSpPr/>
          <p:nvPr/>
        </p:nvCxnSpPr>
        <p:spPr>
          <a:xfrm>
            <a:off x="8093121" y="3713369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9" name="Connecteur droit 68"/>
          <p:cNvCxnSpPr/>
          <p:nvPr/>
        </p:nvCxnSpPr>
        <p:spPr>
          <a:xfrm>
            <a:off x="989475" y="4235388"/>
            <a:ext cx="9000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71" name="Image 7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4830" y="4332240"/>
            <a:ext cx="468000" cy="468000"/>
          </a:xfrm>
          <a:prstGeom prst="rect">
            <a:avLst/>
          </a:prstGeom>
        </p:spPr>
      </p:pic>
      <p:sp>
        <p:nvSpPr>
          <p:cNvPr id="72" name="Rectangle 71"/>
          <p:cNvSpPr/>
          <p:nvPr/>
        </p:nvSpPr>
        <p:spPr>
          <a:xfrm>
            <a:off x="4048703" y="3809858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Code Poche</a:t>
            </a:r>
          </a:p>
        </p:txBody>
      </p:sp>
      <p:cxnSp>
        <p:nvCxnSpPr>
          <p:cNvPr id="73" name="Connecteur droit 72"/>
          <p:cNvCxnSpPr/>
          <p:nvPr/>
        </p:nvCxnSpPr>
        <p:spPr>
          <a:xfrm>
            <a:off x="6725191" y="3727657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4" name="Rectangle 73"/>
          <p:cNvSpPr/>
          <p:nvPr/>
        </p:nvSpPr>
        <p:spPr>
          <a:xfrm>
            <a:off x="6818736" y="4378062"/>
            <a:ext cx="1188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75" name="Connecteur droit 74"/>
          <p:cNvCxnSpPr/>
          <p:nvPr/>
        </p:nvCxnSpPr>
        <p:spPr>
          <a:xfrm>
            <a:off x="9006124" y="3713369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6" name="Titre 1"/>
          <p:cNvSpPr txBox="1">
            <a:spLocks/>
          </p:cNvSpPr>
          <p:nvPr/>
        </p:nvSpPr>
        <p:spPr>
          <a:xfrm>
            <a:off x="8106124" y="3803483"/>
            <a:ext cx="900000" cy="3947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Imprimer</a:t>
            </a:r>
            <a:endParaRPr lang="fr-FR" sz="1400" dirty="0"/>
          </a:p>
        </p:txBody>
      </p:sp>
      <p:pic>
        <p:nvPicPr>
          <p:cNvPr id="77" name="Image 7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4518" y="4296490"/>
            <a:ext cx="540000" cy="540000"/>
          </a:xfrm>
          <a:prstGeom prst="rect">
            <a:avLst/>
          </a:prstGeom>
        </p:spPr>
      </p:pic>
      <p:sp>
        <p:nvSpPr>
          <p:cNvPr id="78" name="Titre 1"/>
          <p:cNvSpPr txBox="1">
            <a:spLocks/>
          </p:cNvSpPr>
          <p:nvPr/>
        </p:nvSpPr>
        <p:spPr>
          <a:xfrm>
            <a:off x="5272089" y="2085288"/>
            <a:ext cx="1656000" cy="39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de péremption</a:t>
            </a:r>
            <a:endParaRPr lang="fr-FR" sz="1400" dirty="0"/>
          </a:p>
        </p:txBody>
      </p:sp>
      <p:sp>
        <p:nvSpPr>
          <p:cNvPr id="79" name="Rectangle 78"/>
          <p:cNvSpPr/>
          <p:nvPr/>
        </p:nvSpPr>
        <p:spPr>
          <a:xfrm>
            <a:off x="2492929" y="4376617"/>
            <a:ext cx="1188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0" name="Rectangle 79"/>
          <p:cNvSpPr/>
          <p:nvPr/>
        </p:nvSpPr>
        <p:spPr>
          <a:xfrm>
            <a:off x="1103717" y="4378062"/>
            <a:ext cx="1188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81" name="Connecteur droit 80"/>
          <p:cNvCxnSpPr/>
          <p:nvPr/>
        </p:nvCxnSpPr>
        <p:spPr>
          <a:xfrm>
            <a:off x="5310719" y="3727657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3662635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83"/>
          <p:cNvSpPr/>
          <p:nvPr/>
        </p:nvSpPr>
        <p:spPr>
          <a:xfrm>
            <a:off x="191991" y="573517"/>
            <a:ext cx="11880000" cy="622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290574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69759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12540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-8916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38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69 – Transfusion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Transfusion</a:t>
            </a:r>
            <a:endParaRPr lang="fr-FR" sz="1800" dirty="0"/>
          </a:p>
        </p:txBody>
      </p:sp>
      <p:sp>
        <p:nvSpPr>
          <p:cNvPr id="2" name="Rectangle 1"/>
          <p:cNvSpPr/>
          <p:nvPr/>
        </p:nvSpPr>
        <p:spPr>
          <a:xfrm>
            <a:off x="643931" y="1791451"/>
            <a:ext cx="1607286" cy="3659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600" b="1" u="sng" dirty="0"/>
              <a:t>Liste des poches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07467" y="3097271"/>
            <a:ext cx="10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Ajouter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251619" y="1839083"/>
            <a:ext cx="7223751" cy="1704217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5" name="Titre 1"/>
          <p:cNvSpPr txBox="1">
            <a:spLocks/>
          </p:cNvSpPr>
          <p:nvPr/>
        </p:nvSpPr>
        <p:spPr>
          <a:xfrm>
            <a:off x="9610970" y="784986"/>
            <a:ext cx="2284967" cy="111569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Cet écran permet d’afficher les poches des PSL qu'éteint demander par le médecin prescripteur pour faire la transfusion au patient.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8252" y="2475217"/>
            <a:ext cx="1496418" cy="396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3" name="Titre 1"/>
          <p:cNvSpPr txBox="1">
            <a:spLocks/>
          </p:cNvSpPr>
          <p:nvPr/>
        </p:nvSpPr>
        <p:spPr>
          <a:xfrm>
            <a:off x="2572092" y="2488576"/>
            <a:ext cx="1080000" cy="39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Code poche</a:t>
            </a:r>
            <a:endParaRPr lang="fr-FR" sz="1400" dirty="0"/>
          </a:p>
        </p:txBody>
      </p:sp>
      <p:sp>
        <p:nvSpPr>
          <p:cNvPr id="35" name="Rectangle 34"/>
          <p:cNvSpPr/>
          <p:nvPr/>
        </p:nvSpPr>
        <p:spPr>
          <a:xfrm>
            <a:off x="7271084" y="1977582"/>
            <a:ext cx="1502095" cy="396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6" name="Triangle isocèle 35"/>
          <p:cNvSpPr/>
          <p:nvPr/>
        </p:nvSpPr>
        <p:spPr>
          <a:xfrm rot="10800000">
            <a:off x="8539221" y="1992019"/>
            <a:ext cx="216000" cy="396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9" name="Titre 1"/>
          <p:cNvSpPr txBox="1">
            <a:spLocks/>
          </p:cNvSpPr>
          <p:nvPr/>
        </p:nvSpPr>
        <p:spPr>
          <a:xfrm>
            <a:off x="6186017" y="1969097"/>
            <a:ext cx="1080000" cy="39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Groupage</a:t>
            </a:r>
            <a:endParaRPr lang="fr-FR" sz="1400" dirty="0"/>
          </a:p>
        </p:txBody>
      </p:sp>
      <p:sp>
        <p:nvSpPr>
          <p:cNvPr id="40" name="Rectangle 39"/>
          <p:cNvSpPr/>
          <p:nvPr/>
        </p:nvSpPr>
        <p:spPr>
          <a:xfrm>
            <a:off x="7285372" y="2508116"/>
            <a:ext cx="1502095" cy="396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2" name="Titre 1"/>
          <p:cNvSpPr txBox="1">
            <a:spLocks/>
          </p:cNvSpPr>
          <p:nvPr/>
        </p:nvSpPr>
        <p:spPr>
          <a:xfrm>
            <a:off x="6772298" y="5600047"/>
            <a:ext cx="1080000" cy="46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de péremption</a:t>
            </a:r>
            <a:endParaRPr lang="fr-FR" sz="1400" dirty="0"/>
          </a:p>
        </p:txBody>
      </p:sp>
      <p:sp>
        <p:nvSpPr>
          <p:cNvPr id="43" name="Rectangle 42"/>
          <p:cNvSpPr/>
          <p:nvPr/>
        </p:nvSpPr>
        <p:spPr>
          <a:xfrm>
            <a:off x="3643964" y="1977582"/>
            <a:ext cx="1502095" cy="396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5" name="Triangle isocèle 44"/>
          <p:cNvSpPr/>
          <p:nvPr/>
        </p:nvSpPr>
        <p:spPr>
          <a:xfrm rot="10800000">
            <a:off x="4925798" y="1988670"/>
            <a:ext cx="216000" cy="394544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6" name="Titre 1"/>
          <p:cNvSpPr txBox="1">
            <a:spLocks/>
          </p:cNvSpPr>
          <p:nvPr/>
        </p:nvSpPr>
        <p:spPr>
          <a:xfrm>
            <a:off x="2773217" y="1969097"/>
            <a:ext cx="864000" cy="39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Type PSL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5387" y="3034844"/>
            <a:ext cx="1502095" cy="396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9" name="Titre 1"/>
          <p:cNvSpPr txBox="1">
            <a:spLocks/>
          </p:cNvSpPr>
          <p:nvPr/>
        </p:nvSpPr>
        <p:spPr>
          <a:xfrm>
            <a:off x="3125617" y="3026359"/>
            <a:ext cx="540000" cy="39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CTS</a:t>
            </a:r>
            <a:endParaRPr lang="fr-FR" sz="1400" dirty="0"/>
          </a:p>
        </p:txBody>
      </p:sp>
      <p:sp>
        <p:nvSpPr>
          <p:cNvPr id="50" name="Titre 1"/>
          <p:cNvSpPr txBox="1">
            <a:spLocks/>
          </p:cNvSpPr>
          <p:nvPr/>
        </p:nvSpPr>
        <p:spPr>
          <a:xfrm>
            <a:off x="3821584" y="5660201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Groupage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722060" y="6219735"/>
            <a:ext cx="1188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3" name="Titre 1"/>
          <p:cNvSpPr txBox="1">
            <a:spLocks/>
          </p:cNvSpPr>
          <p:nvPr/>
        </p:nvSpPr>
        <p:spPr>
          <a:xfrm>
            <a:off x="2451433" y="565297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Type PLS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188277" y="6224737"/>
            <a:ext cx="1295078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1" name="Rectangle 60"/>
          <p:cNvSpPr/>
          <p:nvPr/>
        </p:nvSpPr>
        <p:spPr>
          <a:xfrm>
            <a:off x="2251619" y="5565342"/>
            <a:ext cx="7240091" cy="1188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5" name="Titre 1"/>
          <p:cNvSpPr txBox="1">
            <a:spLocks/>
          </p:cNvSpPr>
          <p:nvPr/>
        </p:nvSpPr>
        <p:spPr>
          <a:xfrm>
            <a:off x="8407641" y="5659553"/>
            <a:ext cx="54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CTS</a:t>
            </a:r>
          </a:p>
        </p:txBody>
      </p:sp>
      <p:cxnSp>
        <p:nvCxnSpPr>
          <p:cNvPr id="66" name="Connecteur droit 65"/>
          <p:cNvCxnSpPr/>
          <p:nvPr/>
        </p:nvCxnSpPr>
        <p:spPr>
          <a:xfrm>
            <a:off x="3639000" y="5565342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7" name="Connecteur droit 66"/>
          <p:cNvCxnSpPr/>
          <p:nvPr/>
        </p:nvCxnSpPr>
        <p:spPr>
          <a:xfrm>
            <a:off x="5077550" y="5584392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9" name="Connecteur droit 68"/>
          <p:cNvCxnSpPr/>
          <p:nvPr/>
        </p:nvCxnSpPr>
        <p:spPr>
          <a:xfrm>
            <a:off x="2275371" y="6078506"/>
            <a:ext cx="7200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2" name="Rectangle 71"/>
          <p:cNvSpPr/>
          <p:nvPr/>
        </p:nvSpPr>
        <p:spPr>
          <a:xfrm>
            <a:off x="5334599" y="565297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Code Poche</a:t>
            </a:r>
          </a:p>
        </p:txBody>
      </p:sp>
      <p:cxnSp>
        <p:nvCxnSpPr>
          <p:cNvPr id="73" name="Connecteur droit 72"/>
          <p:cNvCxnSpPr/>
          <p:nvPr/>
        </p:nvCxnSpPr>
        <p:spPr>
          <a:xfrm>
            <a:off x="8011087" y="5570775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4" name="Rectangle 73"/>
          <p:cNvSpPr/>
          <p:nvPr/>
        </p:nvSpPr>
        <p:spPr>
          <a:xfrm>
            <a:off x="8104632" y="6221180"/>
            <a:ext cx="1188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8" name="Titre 1"/>
          <p:cNvSpPr txBox="1">
            <a:spLocks/>
          </p:cNvSpPr>
          <p:nvPr/>
        </p:nvSpPr>
        <p:spPr>
          <a:xfrm>
            <a:off x="5629281" y="2499631"/>
            <a:ext cx="1656000" cy="39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de péremption</a:t>
            </a:r>
            <a:endParaRPr lang="fr-FR" sz="1400" dirty="0"/>
          </a:p>
        </p:txBody>
      </p:sp>
      <p:sp>
        <p:nvSpPr>
          <p:cNvPr id="79" name="Rectangle 78"/>
          <p:cNvSpPr/>
          <p:nvPr/>
        </p:nvSpPr>
        <p:spPr>
          <a:xfrm>
            <a:off x="3778825" y="6219735"/>
            <a:ext cx="1188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0" name="Rectangle 79"/>
          <p:cNvSpPr/>
          <p:nvPr/>
        </p:nvSpPr>
        <p:spPr>
          <a:xfrm>
            <a:off x="2389613" y="6221180"/>
            <a:ext cx="1188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81" name="Connecteur droit 80"/>
          <p:cNvCxnSpPr/>
          <p:nvPr/>
        </p:nvCxnSpPr>
        <p:spPr>
          <a:xfrm>
            <a:off x="6596615" y="5570775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1" name="Titre 1"/>
          <p:cNvSpPr txBox="1">
            <a:spLocks/>
          </p:cNvSpPr>
          <p:nvPr/>
        </p:nvSpPr>
        <p:spPr>
          <a:xfrm>
            <a:off x="2479820" y="685959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56" name="Titre 1"/>
          <p:cNvSpPr txBox="1">
            <a:spLocks/>
          </p:cNvSpPr>
          <p:nvPr/>
        </p:nvSpPr>
        <p:spPr>
          <a:xfrm>
            <a:off x="4870182" y="672854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57" name="Titre 1"/>
          <p:cNvSpPr txBox="1">
            <a:spLocks/>
          </p:cNvSpPr>
          <p:nvPr/>
        </p:nvSpPr>
        <p:spPr>
          <a:xfrm>
            <a:off x="7697549" y="692366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58" name="Rectangle 57"/>
          <p:cNvSpPr/>
          <p:nvPr/>
        </p:nvSpPr>
        <p:spPr>
          <a:xfrm>
            <a:off x="3667218" y="730985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9" name="Rectangle 58"/>
          <p:cNvSpPr/>
          <p:nvPr/>
        </p:nvSpPr>
        <p:spPr>
          <a:xfrm>
            <a:off x="5841404" y="686261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3" name="Rectangle 62"/>
          <p:cNvSpPr/>
          <p:nvPr/>
        </p:nvSpPr>
        <p:spPr>
          <a:xfrm>
            <a:off x="8251647" y="737613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4" name="Rectangle 63"/>
          <p:cNvSpPr/>
          <p:nvPr/>
        </p:nvSpPr>
        <p:spPr>
          <a:xfrm>
            <a:off x="2429229" y="627099"/>
            <a:ext cx="6892827" cy="4643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0" name="Titre 1"/>
          <p:cNvSpPr txBox="1">
            <a:spLocks/>
          </p:cNvSpPr>
          <p:nvPr/>
        </p:nvSpPr>
        <p:spPr>
          <a:xfrm>
            <a:off x="3860603" y="75673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82" name="Rectangle 81"/>
          <p:cNvSpPr/>
          <p:nvPr/>
        </p:nvSpPr>
        <p:spPr>
          <a:xfrm>
            <a:off x="5950052" y="740319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6614530" y="746360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8300317" y="765185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90" name="Titre 1"/>
          <p:cNvSpPr txBox="1">
            <a:spLocks/>
          </p:cNvSpPr>
          <p:nvPr/>
        </p:nvSpPr>
        <p:spPr>
          <a:xfrm>
            <a:off x="1348296" y="619120"/>
            <a:ext cx="1080000" cy="4380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854796" y="1268461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Recherche</a:t>
            </a:r>
          </a:p>
        </p:txBody>
      </p:sp>
      <p:sp>
        <p:nvSpPr>
          <p:cNvPr id="92" name="Titre 1"/>
          <p:cNvSpPr txBox="1">
            <a:spLocks/>
          </p:cNvSpPr>
          <p:nvPr/>
        </p:nvSpPr>
        <p:spPr>
          <a:xfrm>
            <a:off x="2387219" y="1283019"/>
            <a:ext cx="1720777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Alphabétique</a:t>
            </a:r>
            <a:endParaRPr lang="fr-FR" sz="1400" dirty="0"/>
          </a:p>
        </p:txBody>
      </p:sp>
      <p:sp>
        <p:nvSpPr>
          <p:cNvPr id="93" name="Rectangle 92"/>
          <p:cNvSpPr/>
          <p:nvPr/>
        </p:nvSpPr>
        <p:spPr>
          <a:xfrm>
            <a:off x="3637708" y="1292042"/>
            <a:ext cx="4021515" cy="32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4" name="Rectangle 93"/>
          <p:cNvSpPr/>
          <p:nvPr/>
        </p:nvSpPr>
        <p:spPr>
          <a:xfrm>
            <a:off x="2251619" y="1168870"/>
            <a:ext cx="7240092" cy="573626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6" name="Rectangle 95"/>
          <p:cNvSpPr/>
          <p:nvPr/>
        </p:nvSpPr>
        <p:spPr>
          <a:xfrm>
            <a:off x="2251619" y="3658228"/>
            <a:ext cx="7223751" cy="182108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7" name="Rectangle 96"/>
          <p:cNvSpPr/>
          <p:nvPr/>
        </p:nvSpPr>
        <p:spPr>
          <a:xfrm>
            <a:off x="3653487" y="3784908"/>
            <a:ext cx="1496418" cy="396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Titre 1"/>
          <p:cNvSpPr txBox="1">
            <a:spLocks/>
          </p:cNvSpPr>
          <p:nvPr/>
        </p:nvSpPr>
        <p:spPr>
          <a:xfrm>
            <a:off x="2567327" y="3798267"/>
            <a:ext cx="1080000" cy="39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Prescripteur</a:t>
            </a:r>
            <a:endParaRPr lang="fr-FR" sz="1400" dirty="0"/>
          </a:p>
        </p:txBody>
      </p:sp>
      <p:sp>
        <p:nvSpPr>
          <p:cNvPr id="100" name="Triangle isocèle 99"/>
          <p:cNvSpPr/>
          <p:nvPr/>
        </p:nvSpPr>
        <p:spPr>
          <a:xfrm rot="10800000">
            <a:off x="8563032" y="3830347"/>
            <a:ext cx="216000" cy="396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1" name="Titre 1"/>
          <p:cNvSpPr txBox="1">
            <a:spLocks/>
          </p:cNvSpPr>
          <p:nvPr/>
        </p:nvSpPr>
        <p:spPr>
          <a:xfrm>
            <a:off x="3047567" y="4864791"/>
            <a:ext cx="612000" cy="39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Motif</a:t>
            </a:r>
            <a:endParaRPr lang="fr-FR" sz="1400" dirty="0"/>
          </a:p>
        </p:txBody>
      </p:sp>
      <p:sp>
        <p:nvSpPr>
          <p:cNvPr id="102" name="Rectangle 101"/>
          <p:cNvSpPr/>
          <p:nvPr/>
        </p:nvSpPr>
        <p:spPr>
          <a:xfrm>
            <a:off x="7280607" y="3817807"/>
            <a:ext cx="1502095" cy="396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4" name="Triangle isocèle 103"/>
          <p:cNvSpPr/>
          <p:nvPr/>
        </p:nvSpPr>
        <p:spPr>
          <a:xfrm rot="10800000">
            <a:off x="4935321" y="3026891"/>
            <a:ext cx="216000" cy="394544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6" name="Rectangle 105"/>
          <p:cNvSpPr/>
          <p:nvPr/>
        </p:nvSpPr>
        <p:spPr>
          <a:xfrm>
            <a:off x="3650622" y="4844595"/>
            <a:ext cx="5104599" cy="54714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7" name="Triangle isocèle 106"/>
          <p:cNvSpPr/>
          <p:nvPr/>
        </p:nvSpPr>
        <p:spPr>
          <a:xfrm rot="10800000">
            <a:off x="4932456" y="4327044"/>
            <a:ext cx="216000" cy="394544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8" name="Titre 1"/>
          <p:cNvSpPr txBox="1">
            <a:spLocks/>
          </p:cNvSpPr>
          <p:nvPr/>
        </p:nvSpPr>
        <p:spPr>
          <a:xfrm>
            <a:off x="2277877" y="4307471"/>
            <a:ext cx="1471774" cy="39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transfusion</a:t>
            </a:r>
            <a:endParaRPr lang="fr-FR" sz="1400" dirty="0"/>
          </a:p>
        </p:txBody>
      </p:sp>
      <p:sp>
        <p:nvSpPr>
          <p:cNvPr id="109" name="Titre 1"/>
          <p:cNvSpPr txBox="1">
            <a:spLocks/>
          </p:cNvSpPr>
          <p:nvPr/>
        </p:nvSpPr>
        <p:spPr>
          <a:xfrm>
            <a:off x="6381766" y="3809322"/>
            <a:ext cx="900000" cy="39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Infirmier</a:t>
            </a:r>
            <a:endParaRPr lang="fr-FR" sz="1400" dirty="0"/>
          </a:p>
        </p:txBody>
      </p:sp>
      <p:sp>
        <p:nvSpPr>
          <p:cNvPr id="110" name="Rectangle 109"/>
          <p:cNvSpPr/>
          <p:nvPr/>
        </p:nvSpPr>
        <p:spPr>
          <a:xfrm>
            <a:off x="3650622" y="4315956"/>
            <a:ext cx="1502095" cy="396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1" name="Rectangle 110"/>
          <p:cNvSpPr/>
          <p:nvPr/>
        </p:nvSpPr>
        <p:spPr>
          <a:xfrm>
            <a:off x="9590281" y="6392011"/>
            <a:ext cx="10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Valider</a:t>
            </a:r>
          </a:p>
        </p:txBody>
      </p:sp>
    </p:spTree>
    <p:extLst>
      <p:ext uri="{BB962C8B-B14F-4D97-AF65-F5344CB8AC3E}">
        <p14:creationId xmlns:p14="http://schemas.microsoft.com/office/powerpoint/2010/main" val="3851886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83"/>
          <p:cNvSpPr/>
          <p:nvPr/>
        </p:nvSpPr>
        <p:spPr>
          <a:xfrm>
            <a:off x="191991" y="573517"/>
            <a:ext cx="11880000" cy="622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290574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69759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12540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-8916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38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70 – Transfusion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Transfusion</a:t>
            </a:r>
            <a:endParaRPr lang="fr-FR" sz="1800" dirty="0"/>
          </a:p>
        </p:txBody>
      </p:sp>
      <p:sp>
        <p:nvSpPr>
          <p:cNvPr id="2" name="Rectangle 1"/>
          <p:cNvSpPr/>
          <p:nvPr/>
        </p:nvSpPr>
        <p:spPr>
          <a:xfrm>
            <a:off x="643931" y="1791451"/>
            <a:ext cx="1607286" cy="3659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600" b="1" u="sng" dirty="0"/>
              <a:t>Liste des poches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07467" y="3097271"/>
            <a:ext cx="10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Ajouter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251619" y="1839083"/>
            <a:ext cx="7223751" cy="1704217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5" name="Titre 1"/>
          <p:cNvSpPr txBox="1">
            <a:spLocks/>
          </p:cNvSpPr>
          <p:nvPr/>
        </p:nvSpPr>
        <p:spPr>
          <a:xfrm>
            <a:off x="9610970" y="784986"/>
            <a:ext cx="2284967" cy="111569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Cet écran permet d’afficher les poches des PSL qu'éteint demander par le médecin prescripteur pour faire la transfusion au patient.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8252" y="2475217"/>
            <a:ext cx="1496418" cy="396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3" name="Titre 1"/>
          <p:cNvSpPr txBox="1">
            <a:spLocks/>
          </p:cNvSpPr>
          <p:nvPr/>
        </p:nvSpPr>
        <p:spPr>
          <a:xfrm>
            <a:off x="2572092" y="2488576"/>
            <a:ext cx="1080000" cy="39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Code poche</a:t>
            </a:r>
            <a:endParaRPr lang="fr-FR" sz="1400" dirty="0"/>
          </a:p>
        </p:txBody>
      </p:sp>
      <p:sp>
        <p:nvSpPr>
          <p:cNvPr id="35" name="Rectangle 34"/>
          <p:cNvSpPr/>
          <p:nvPr/>
        </p:nvSpPr>
        <p:spPr>
          <a:xfrm>
            <a:off x="7271084" y="1977582"/>
            <a:ext cx="1502095" cy="396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6" name="Triangle isocèle 35"/>
          <p:cNvSpPr/>
          <p:nvPr/>
        </p:nvSpPr>
        <p:spPr>
          <a:xfrm rot="10800000">
            <a:off x="8539221" y="1992019"/>
            <a:ext cx="216000" cy="396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9" name="Titre 1"/>
          <p:cNvSpPr txBox="1">
            <a:spLocks/>
          </p:cNvSpPr>
          <p:nvPr/>
        </p:nvSpPr>
        <p:spPr>
          <a:xfrm>
            <a:off x="6186017" y="1969097"/>
            <a:ext cx="1080000" cy="39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Groupage</a:t>
            </a:r>
            <a:endParaRPr lang="fr-FR" sz="1400" dirty="0"/>
          </a:p>
        </p:txBody>
      </p:sp>
      <p:sp>
        <p:nvSpPr>
          <p:cNvPr id="40" name="Rectangle 39"/>
          <p:cNvSpPr/>
          <p:nvPr/>
        </p:nvSpPr>
        <p:spPr>
          <a:xfrm>
            <a:off x="7285372" y="2508116"/>
            <a:ext cx="1502095" cy="396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2" name="Titre 1"/>
          <p:cNvSpPr txBox="1">
            <a:spLocks/>
          </p:cNvSpPr>
          <p:nvPr/>
        </p:nvSpPr>
        <p:spPr>
          <a:xfrm>
            <a:off x="6772298" y="5600047"/>
            <a:ext cx="1080000" cy="46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de péremption</a:t>
            </a:r>
            <a:endParaRPr lang="fr-FR" sz="1400" dirty="0"/>
          </a:p>
        </p:txBody>
      </p:sp>
      <p:sp>
        <p:nvSpPr>
          <p:cNvPr id="43" name="Rectangle 42"/>
          <p:cNvSpPr/>
          <p:nvPr/>
        </p:nvSpPr>
        <p:spPr>
          <a:xfrm>
            <a:off x="3643964" y="1977582"/>
            <a:ext cx="1502095" cy="396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5" name="Triangle isocèle 44"/>
          <p:cNvSpPr/>
          <p:nvPr/>
        </p:nvSpPr>
        <p:spPr>
          <a:xfrm rot="10800000">
            <a:off x="4925798" y="1988670"/>
            <a:ext cx="216000" cy="394544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6" name="Titre 1"/>
          <p:cNvSpPr txBox="1">
            <a:spLocks/>
          </p:cNvSpPr>
          <p:nvPr/>
        </p:nvSpPr>
        <p:spPr>
          <a:xfrm>
            <a:off x="2773217" y="1969097"/>
            <a:ext cx="864000" cy="39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Type PSL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5387" y="3034844"/>
            <a:ext cx="1502095" cy="396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9" name="Titre 1"/>
          <p:cNvSpPr txBox="1">
            <a:spLocks/>
          </p:cNvSpPr>
          <p:nvPr/>
        </p:nvSpPr>
        <p:spPr>
          <a:xfrm>
            <a:off x="3125617" y="3026359"/>
            <a:ext cx="540000" cy="39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CTS</a:t>
            </a:r>
            <a:endParaRPr lang="fr-FR" sz="1400" dirty="0"/>
          </a:p>
        </p:txBody>
      </p:sp>
      <p:sp>
        <p:nvSpPr>
          <p:cNvPr id="50" name="Titre 1"/>
          <p:cNvSpPr txBox="1">
            <a:spLocks/>
          </p:cNvSpPr>
          <p:nvPr/>
        </p:nvSpPr>
        <p:spPr>
          <a:xfrm>
            <a:off x="3821584" y="5660201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Groupage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722060" y="6219735"/>
            <a:ext cx="1188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3" name="Titre 1"/>
          <p:cNvSpPr txBox="1">
            <a:spLocks/>
          </p:cNvSpPr>
          <p:nvPr/>
        </p:nvSpPr>
        <p:spPr>
          <a:xfrm>
            <a:off x="2451433" y="565297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Type PLS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188277" y="6224737"/>
            <a:ext cx="1295078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1" name="Rectangle 60"/>
          <p:cNvSpPr/>
          <p:nvPr/>
        </p:nvSpPr>
        <p:spPr>
          <a:xfrm>
            <a:off x="2251619" y="5565342"/>
            <a:ext cx="7240091" cy="1188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5" name="Titre 1"/>
          <p:cNvSpPr txBox="1">
            <a:spLocks/>
          </p:cNvSpPr>
          <p:nvPr/>
        </p:nvSpPr>
        <p:spPr>
          <a:xfrm>
            <a:off x="8407641" y="5659553"/>
            <a:ext cx="54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CTS</a:t>
            </a:r>
          </a:p>
        </p:txBody>
      </p:sp>
      <p:cxnSp>
        <p:nvCxnSpPr>
          <p:cNvPr id="66" name="Connecteur droit 65"/>
          <p:cNvCxnSpPr/>
          <p:nvPr/>
        </p:nvCxnSpPr>
        <p:spPr>
          <a:xfrm>
            <a:off x="3639000" y="5565342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7" name="Connecteur droit 66"/>
          <p:cNvCxnSpPr/>
          <p:nvPr/>
        </p:nvCxnSpPr>
        <p:spPr>
          <a:xfrm>
            <a:off x="5077550" y="5584392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9" name="Connecteur droit 68"/>
          <p:cNvCxnSpPr/>
          <p:nvPr/>
        </p:nvCxnSpPr>
        <p:spPr>
          <a:xfrm>
            <a:off x="2275371" y="6078506"/>
            <a:ext cx="7200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2" name="Rectangle 71"/>
          <p:cNvSpPr/>
          <p:nvPr/>
        </p:nvSpPr>
        <p:spPr>
          <a:xfrm>
            <a:off x="5334599" y="565297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Code Poche</a:t>
            </a:r>
          </a:p>
        </p:txBody>
      </p:sp>
      <p:cxnSp>
        <p:nvCxnSpPr>
          <p:cNvPr id="73" name="Connecteur droit 72"/>
          <p:cNvCxnSpPr/>
          <p:nvPr/>
        </p:nvCxnSpPr>
        <p:spPr>
          <a:xfrm>
            <a:off x="8011087" y="5570775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4" name="Rectangle 73"/>
          <p:cNvSpPr/>
          <p:nvPr/>
        </p:nvSpPr>
        <p:spPr>
          <a:xfrm>
            <a:off x="8104632" y="6221180"/>
            <a:ext cx="1188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8" name="Titre 1"/>
          <p:cNvSpPr txBox="1">
            <a:spLocks/>
          </p:cNvSpPr>
          <p:nvPr/>
        </p:nvSpPr>
        <p:spPr>
          <a:xfrm>
            <a:off x="5629281" y="2499631"/>
            <a:ext cx="1656000" cy="39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de péremption</a:t>
            </a:r>
            <a:endParaRPr lang="fr-FR" sz="1400" dirty="0"/>
          </a:p>
        </p:txBody>
      </p:sp>
      <p:sp>
        <p:nvSpPr>
          <p:cNvPr id="79" name="Rectangle 78"/>
          <p:cNvSpPr/>
          <p:nvPr/>
        </p:nvSpPr>
        <p:spPr>
          <a:xfrm>
            <a:off x="3778825" y="6219735"/>
            <a:ext cx="1188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0" name="Rectangle 79"/>
          <p:cNvSpPr/>
          <p:nvPr/>
        </p:nvSpPr>
        <p:spPr>
          <a:xfrm>
            <a:off x="2389613" y="6221180"/>
            <a:ext cx="1188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81" name="Connecteur droit 80"/>
          <p:cNvCxnSpPr/>
          <p:nvPr/>
        </p:nvCxnSpPr>
        <p:spPr>
          <a:xfrm>
            <a:off x="6596615" y="5570775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1" name="Titre 1"/>
          <p:cNvSpPr txBox="1">
            <a:spLocks/>
          </p:cNvSpPr>
          <p:nvPr/>
        </p:nvSpPr>
        <p:spPr>
          <a:xfrm>
            <a:off x="2479820" y="685959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56" name="Titre 1"/>
          <p:cNvSpPr txBox="1">
            <a:spLocks/>
          </p:cNvSpPr>
          <p:nvPr/>
        </p:nvSpPr>
        <p:spPr>
          <a:xfrm>
            <a:off x="4870182" y="672854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57" name="Titre 1"/>
          <p:cNvSpPr txBox="1">
            <a:spLocks/>
          </p:cNvSpPr>
          <p:nvPr/>
        </p:nvSpPr>
        <p:spPr>
          <a:xfrm>
            <a:off x="7697549" y="692366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58" name="Rectangle 57"/>
          <p:cNvSpPr/>
          <p:nvPr/>
        </p:nvSpPr>
        <p:spPr>
          <a:xfrm>
            <a:off x="3667218" y="730985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9" name="Rectangle 58"/>
          <p:cNvSpPr/>
          <p:nvPr/>
        </p:nvSpPr>
        <p:spPr>
          <a:xfrm>
            <a:off x="5841404" y="686261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3" name="Rectangle 62"/>
          <p:cNvSpPr/>
          <p:nvPr/>
        </p:nvSpPr>
        <p:spPr>
          <a:xfrm>
            <a:off x="8251647" y="737613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4" name="Rectangle 63"/>
          <p:cNvSpPr/>
          <p:nvPr/>
        </p:nvSpPr>
        <p:spPr>
          <a:xfrm>
            <a:off x="2429229" y="627099"/>
            <a:ext cx="6892827" cy="4643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0" name="Titre 1"/>
          <p:cNvSpPr txBox="1">
            <a:spLocks/>
          </p:cNvSpPr>
          <p:nvPr/>
        </p:nvSpPr>
        <p:spPr>
          <a:xfrm>
            <a:off x="3860603" y="75673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82" name="Rectangle 81"/>
          <p:cNvSpPr/>
          <p:nvPr/>
        </p:nvSpPr>
        <p:spPr>
          <a:xfrm>
            <a:off x="5950052" y="740319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6614530" y="746360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8300317" y="765185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90" name="Titre 1"/>
          <p:cNvSpPr txBox="1">
            <a:spLocks/>
          </p:cNvSpPr>
          <p:nvPr/>
        </p:nvSpPr>
        <p:spPr>
          <a:xfrm>
            <a:off x="1349639" y="589959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854796" y="1268461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Recherche</a:t>
            </a:r>
          </a:p>
        </p:txBody>
      </p:sp>
      <p:sp>
        <p:nvSpPr>
          <p:cNvPr id="92" name="Titre 1"/>
          <p:cNvSpPr txBox="1">
            <a:spLocks/>
          </p:cNvSpPr>
          <p:nvPr/>
        </p:nvSpPr>
        <p:spPr>
          <a:xfrm>
            <a:off x="2387219" y="1283019"/>
            <a:ext cx="1720777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Alphabétique</a:t>
            </a:r>
            <a:endParaRPr lang="fr-FR" sz="1400" dirty="0"/>
          </a:p>
        </p:txBody>
      </p:sp>
      <p:sp>
        <p:nvSpPr>
          <p:cNvPr id="93" name="Rectangle 92"/>
          <p:cNvSpPr/>
          <p:nvPr/>
        </p:nvSpPr>
        <p:spPr>
          <a:xfrm>
            <a:off x="3637708" y="1292042"/>
            <a:ext cx="4021515" cy="32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4" name="Rectangle 93"/>
          <p:cNvSpPr/>
          <p:nvPr/>
        </p:nvSpPr>
        <p:spPr>
          <a:xfrm>
            <a:off x="2251619" y="1168870"/>
            <a:ext cx="7240092" cy="573626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6" name="Rectangle 95"/>
          <p:cNvSpPr/>
          <p:nvPr/>
        </p:nvSpPr>
        <p:spPr>
          <a:xfrm>
            <a:off x="2251619" y="3658228"/>
            <a:ext cx="7223751" cy="182108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7" name="Rectangle 96"/>
          <p:cNvSpPr/>
          <p:nvPr/>
        </p:nvSpPr>
        <p:spPr>
          <a:xfrm>
            <a:off x="3653487" y="3784908"/>
            <a:ext cx="1496418" cy="396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Titre 1"/>
          <p:cNvSpPr txBox="1">
            <a:spLocks/>
          </p:cNvSpPr>
          <p:nvPr/>
        </p:nvSpPr>
        <p:spPr>
          <a:xfrm>
            <a:off x="2567327" y="3798267"/>
            <a:ext cx="1080000" cy="39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Prescripteur</a:t>
            </a:r>
            <a:endParaRPr lang="fr-FR" sz="1400" dirty="0"/>
          </a:p>
        </p:txBody>
      </p:sp>
      <p:sp>
        <p:nvSpPr>
          <p:cNvPr id="100" name="Triangle isocèle 99"/>
          <p:cNvSpPr/>
          <p:nvPr/>
        </p:nvSpPr>
        <p:spPr>
          <a:xfrm rot="10800000">
            <a:off x="8563032" y="3830347"/>
            <a:ext cx="216000" cy="396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1" name="Titre 1"/>
          <p:cNvSpPr txBox="1">
            <a:spLocks/>
          </p:cNvSpPr>
          <p:nvPr/>
        </p:nvSpPr>
        <p:spPr>
          <a:xfrm>
            <a:off x="3047567" y="4864791"/>
            <a:ext cx="612000" cy="39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Motif</a:t>
            </a:r>
            <a:endParaRPr lang="fr-FR" sz="1400" dirty="0"/>
          </a:p>
        </p:txBody>
      </p:sp>
      <p:sp>
        <p:nvSpPr>
          <p:cNvPr id="102" name="Rectangle 101"/>
          <p:cNvSpPr/>
          <p:nvPr/>
        </p:nvSpPr>
        <p:spPr>
          <a:xfrm>
            <a:off x="7280607" y="3817807"/>
            <a:ext cx="1502095" cy="396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4" name="Triangle isocèle 103"/>
          <p:cNvSpPr/>
          <p:nvPr/>
        </p:nvSpPr>
        <p:spPr>
          <a:xfrm rot="10800000">
            <a:off x="4935321" y="3026891"/>
            <a:ext cx="216000" cy="394544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6" name="Rectangle 105"/>
          <p:cNvSpPr/>
          <p:nvPr/>
        </p:nvSpPr>
        <p:spPr>
          <a:xfrm>
            <a:off x="3650622" y="4844595"/>
            <a:ext cx="5104599" cy="54714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7" name="Triangle isocèle 106"/>
          <p:cNvSpPr/>
          <p:nvPr/>
        </p:nvSpPr>
        <p:spPr>
          <a:xfrm rot="10800000">
            <a:off x="4932456" y="4327044"/>
            <a:ext cx="216000" cy="394544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8" name="Titre 1"/>
          <p:cNvSpPr txBox="1">
            <a:spLocks/>
          </p:cNvSpPr>
          <p:nvPr/>
        </p:nvSpPr>
        <p:spPr>
          <a:xfrm>
            <a:off x="2277877" y="4307471"/>
            <a:ext cx="1471774" cy="39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transfusion</a:t>
            </a:r>
            <a:endParaRPr lang="fr-FR" sz="1400" dirty="0"/>
          </a:p>
        </p:txBody>
      </p:sp>
      <p:sp>
        <p:nvSpPr>
          <p:cNvPr id="109" name="Titre 1"/>
          <p:cNvSpPr txBox="1">
            <a:spLocks/>
          </p:cNvSpPr>
          <p:nvPr/>
        </p:nvSpPr>
        <p:spPr>
          <a:xfrm>
            <a:off x="6381766" y="3809322"/>
            <a:ext cx="900000" cy="39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Infirmier</a:t>
            </a:r>
            <a:endParaRPr lang="fr-FR" sz="1400" dirty="0"/>
          </a:p>
        </p:txBody>
      </p:sp>
      <p:sp>
        <p:nvSpPr>
          <p:cNvPr id="110" name="Rectangle 109"/>
          <p:cNvSpPr/>
          <p:nvPr/>
        </p:nvSpPr>
        <p:spPr>
          <a:xfrm>
            <a:off x="3650622" y="4315956"/>
            <a:ext cx="1502095" cy="396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1" name="Rectangle 110"/>
          <p:cNvSpPr/>
          <p:nvPr/>
        </p:nvSpPr>
        <p:spPr>
          <a:xfrm>
            <a:off x="9590281" y="6392011"/>
            <a:ext cx="10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Valider</a:t>
            </a:r>
          </a:p>
        </p:txBody>
      </p:sp>
    </p:spTree>
    <p:extLst>
      <p:ext uri="{BB962C8B-B14F-4D97-AF65-F5344CB8AC3E}">
        <p14:creationId xmlns:p14="http://schemas.microsoft.com/office/powerpoint/2010/main" val="1935768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83"/>
          <p:cNvSpPr/>
          <p:nvPr/>
        </p:nvSpPr>
        <p:spPr>
          <a:xfrm>
            <a:off x="191991" y="573517"/>
            <a:ext cx="11880000" cy="622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290574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69759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12540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-8916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38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71 – Hémodialyse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Abord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vasculaire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/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nouvel abord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vasculaire</a:t>
            </a:r>
            <a:endParaRPr lang="fr-FR" sz="1800" dirty="0"/>
          </a:p>
        </p:txBody>
      </p:sp>
      <p:sp>
        <p:nvSpPr>
          <p:cNvPr id="2" name="Rectangle 1"/>
          <p:cNvSpPr/>
          <p:nvPr/>
        </p:nvSpPr>
        <p:spPr>
          <a:xfrm>
            <a:off x="643931" y="1267348"/>
            <a:ext cx="1607286" cy="3659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600" b="1" u="sng" dirty="0"/>
              <a:t>Abord vasculaire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07467" y="2573168"/>
            <a:ext cx="10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Ajouter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251619" y="1314980"/>
            <a:ext cx="7223751" cy="1704217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5" name="Titre 1"/>
          <p:cNvSpPr txBox="1">
            <a:spLocks/>
          </p:cNvSpPr>
          <p:nvPr/>
        </p:nvSpPr>
        <p:spPr>
          <a:xfrm>
            <a:off x="9610970" y="784986"/>
            <a:ext cx="2284967" cy="111569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Cet écran permet d’afficher les poches des PSL qu'éteint demander par le médecin prescripteur pour faire la transfusion au patient.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01147" y="1951114"/>
            <a:ext cx="1496418" cy="396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3" name="Titre 1"/>
          <p:cNvSpPr txBox="1">
            <a:spLocks/>
          </p:cNvSpPr>
          <p:nvPr/>
        </p:nvSpPr>
        <p:spPr>
          <a:xfrm>
            <a:off x="3286471" y="1964473"/>
            <a:ext cx="540000" cy="39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Type</a:t>
            </a:r>
            <a:endParaRPr lang="fr-FR" sz="1400" dirty="0"/>
          </a:p>
        </p:txBody>
      </p:sp>
      <p:sp>
        <p:nvSpPr>
          <p:cNvPr id="35" name="Rectangle 34"/>
          <p:cNvSpPr/>
          <p:nvPr/>
        </p:nvSpPr>
        <p:spPr>
          <a:xfrm>
            <a:off x="7271084" y="1453479"/>
            <a:ext cx="1502095" cy="396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6" name="Triangle isocèle 35"/>
          <p:cNvSpPr/>
          <p:nvPr/>
        </p:nvSpPr>
        <p:spPr>
          <a:xfrm rot="10800000">
            <a:off x="8539221" y="1467916"/>
            <a:ext cx="216000" cy="396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9" name="Titre 1"/>
          <p:cNvSpPr txBox="1">
            <a:spLocks/>
          </p:cNvSpPr>
          <p:nvPr/>
        </p:nvSpPr>
        <p:spPr>
          <a:xfrm>
            <a:off x="5644379" y="1444994"/>
            <a:ext cx="1621638" cy="39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Lieu de confection</a:t>
            </a:r>
            <a:endParaRPr lang="fr-FR" sz="1400" dirty="0"/>
          </a:p>
        </p:txBody>
      </p:sp>
      <p:sp>
        <p:nvSpPr>
          <p:cNvPr id="40" name="Rectangle 39"/>
          <p:cNvSpPr/>
          <p:nvPr/>
        </p:nvSpPr>
        <p:spPr>
          <a:xfrm>
            <a:off x="7285372" y="1984013"/>
            <a:ext cx="1502095" cy="396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2" name="Titre 1"/>
          <p:cNvSpPr txBox="1">
            <a:spLocks/>
          </p:cNvSpPr>
          <p:nvPr/>
        </p:nvSpPr>
        <p:spPr>
          <a:xfrm>
            <a:off x="6772298" y="5075944"/>
            <a:ext cx="1080000" cy="46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de péremption</a:t>
            </a:r>
            <a:endParaRPr lang="fr-FR" sz="1400" dirty="0"/>
          </a:p>
        </p:txBody>
      </p:sp>
      <p:sp>
        <p:nvSpPr>
          <p:cNvPr id="43" name="Rectangle 42"/>
          <p:cNvSpPr/>
          <p:nvPr/>
        </p:nvSpPr>
        <p:spPr>
          <a:xfrm>
            <a:off x="3886859" y="1453479"/>
            <a:ext cx="1502095" cy="396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5" name="Triangle isocèle 44"/>
          <p:cNvSpPr/>
          <p:nvPr/>
        </p:nvSpPr>
        <p:spPr>
          <a:xfrm rot="10800000">
            <a:off x="5168693" y="1464567"/>
            <a:ext cx="216000" cy="394544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6" name="Titre 1"/>
          <p:cNvSpPr txBox="1">
            <a:spLocks/>
          </p:cNvSpPr>
          <p:nvPr/>
        </p:nvSpPr>
        <p:spPr>
          <a:xfrm>
            <a:off x="2275370" y="1444994"/>
            <a:ext cx="1610469" cy="39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de confection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898282" y="2510741"/>
            <a:ext cx="1502095" cy="396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9" name="Titre 1"/>
          <p:cNvSpPr txBox="1">
            <a:spLocks/>
          </p:cNvSpPr>
          <p:nvPr/>
        </p:nvSpPr>
        <p:spPr>
          <a:xfrm>
            <a:off x="3297070" y="2502256"/>
            <a:ext cx="540000" cy="39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Coté</a:t>
            </a:r>
            <a:endParaRPr lang="fr-FR" sz="1400" dirty="0"/>
          </a:p>
        </p:txBody>
      </p:sp>
      <p:sp>
        <p:nvSpPr>
          <p:cNvPr id="50" name="Titre 1"/>
          <p:cNvSpPr txBox="1">
            <a:spLocks/>
          </p:cNvSpPr>
          <p:nvPr/>
        </p:nvSpPr>
        <p:spPr>
          <a:xfrm>
            <a:off x="3821584" y="5136098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Groupage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722060" y="5695632"/>
            <a:ext cx="1188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3" name="Titre 1"/>
          <p:cNvSpPr txBox="1">
            <a:spLocks/>
          </p:cNvSpPr>
          <p:nvPr/>
        </p:nvSpPr>
        <p:spPr>
          <a:xfrm>
            <a:off x="2451433" y="5128873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Type PLS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188277" y="5700634"/>
            <a:ext cx="1295078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1" name="Rectangle 60"/>
          <p:cNvSpPr/>
          <p:nvPr/>
        </p:nvSpPr>
        <p:spPr>
          <a:xfrm>
            <a:off x="2251619" y="5041239"/>
            <a:ext cx="7240091" cy="1188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5" name="Titre 1"/>
          <p:cNvSpPr txBox="1">
            <a:spLocks/>
          </p:cNvSpPr>
          <p:nvPr/>
        </p:nvSpPr>
        <p:spPr>
          <a:xfrm>
            <a:off x="8407641" y="5135450"/>
            <a:ext cx="54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CTS</a:t>
            </a:r>
          </a:p>
        </p:txBody>
      </p:sp>
      <p:cxnSp>
        <p:nvCxnSpPr>
          <p:cNvPr id="66" name="Connecteur droit 65"/>
          <p:cNvCxnSpPr/>
          <p:nvPr/>
        </p:nvCxnSpPr>
        <p:spPr>
          <a:xfrm>
            <a:off x="3639000" y="5041239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7" name="Connecteur droit 66"/>
          <p:cNvCxnSpPr/>
          <p:nvPr/>
        </p:nvCxnSpPr>
        <p:spPr>
          <a:xfrm>
            <a:off x="5077550" y="5060289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9" name="Connecteur droit 68"/>
          <p:cNvCxnSpPr/>
          <p:nvPr/>
        </p:nvCxnSpPr>
        <p:spPr>
          <a:xfrm>
            <a:off x="2275371" y="5554403"/>
            <a:ext cx="7200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2" name="Rectangle 71"/>
          <p:cNvSpPr/>
          <p:nvPr/>
        </p:nvSpPr>
        <p:spPr>
          <a:xfrm>
            <a:off x="5334599" y="5128873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Code Poche</a:t>
            </a:r>
          </a:p>
        </p:txBody>
      </p:sp>
      <p:cxnSp>
        <p:nvCxnSpPr>
          <p:cNvPr id="73" name="Connecteur droit 72"/>
          <p:cNvCxnSpPr/>
          <p:nvPr/>
        </p:nvCxnSpPr>
        <p:spPr>
          <a:xfrm>
            <a:off x="8011087" y="5046672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4" name="Rectangle 73"/>
          <p:cNvSpPr/>
          <p:nvPr/>
        </p:nvSpPr>
        <p:spPr>
          <a:xfrm>
            <a:off x="8104632" y="5697077"/>
            <a:ext cx="1188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8" name="Titre 1"/>
          <p:cNvSpPr txBox="1">
            <a:spLocks/>
          </p:cNvSpPr>
          <p:nvPr/>
        </p:nvSpPr>
        <p:spPr>
          <a:xfrm>
            <a:off x="5629281" y="1975528"/>
            <a:ext cx="1656000" cy="39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Abord vasculaire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778825" y="5695632"/>
            <a:ext cx="1188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0" name="Rectangle 79"/>
          <p:cNvSpPr/>
          <p:nvPr/>
        </p:nvSpPr>
        <p:spPr>
          <a:xfrm>
            <a:off x="2389613" y="5697077"/>
            <a:ext cx="1188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81" name="Connecteur droit 80"/>
          <p:cNvCxnSpPr/>
          <p:nvPr/>
        </p:nvCxnSpPr>
        <p:spPr>
          <a:xfrm>
            <a:off x="6596615" y="5046672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1" name="Titre 1"/>
          <p:cNvSpPr txBox="1">
            <a:spLocks/>
          </p:cNvSpPr>
          <p:nvPr/>
        </p:nvSpPr>
        <p:spPr>
          <a:xfrm>
            <a:off x="2479820" y="685959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56" name="Titre 1"/>
          <p:cNvSpPr txBox="1">
            <a:spLocks/>
          </p:cNvSpPr>
          <p:nvPr/>
        </p:nvSpPr>
        <p:spPr>
          <a:xfrm>
            <a:off x="4870182" y="672854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57" name="Titre 1"/>
          <p:cNvSpPr txBox="1">
            <a:spLocks/>
          </p:cNvSpPr>
          <p:nvPr/>
        </p:nvSpPr>
        <p:spPr>
          <a:xfrm>
            <a:off x="7697549" y="692366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58" name="Rectangle 57"/>
          <p:cNvSpPr/>
          <p:nvPr/>
        </p:nvSpPr>
        <p:spPr>
          <a:xfrm>
            <a:off x="3667218" y="730985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9" name="Rectangle 58"/>
          <p:cNvSpPr/>
          <p:nvPr/>
        </p:nvSpPr>
        <p:spPr>
          <a:xfrm>
            <a:off x="5841404" y="686261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3" name="Rectangle 62"/>
          <p:cNvSpPr/>
          <p:nvPr/>
        </p:nvSpPr>
        <p:spPr>
          <a:xfrm>
            <a:off x="8251647" y="737613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4" name="Rectangle 63"/>
          <p:cNvSpPr/>
          <p:nvPr/>
        </p:nvSpPr>
        <p:spPr>
          <a:xfrm>
            <a:off x="2429229" y="627099"/>
            <a:ext cx="6892827" cy="4643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0" name="Titre 1"/>
          <p:cNvSpPr txBox="1">
            <a:spLocks/>
          </p:cNvSpPr>
          <p:nvPr/>
        </p:nvSpPr>
        <p:spPr>
          <a:xfrm>
            <a:off x="3860603" y="75673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82" name="Rectangle 81"/>
          <p:cNvSpPr/>
          <p:nvPr/>
        </p:nvSpPr>
        <p:spPr>
          <a:xfrm>
            <a:off x="5950052" y="740319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6614530" y="746360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8300317" y="765185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90" name="Titre 1"/>
          <p:cNvSpPr txBox="1">
            <a:spLocks/>
          </p:cNvSpPr>
          <p:nvPr/>
        </p:nvSpPr>
        <p:spPr>
          <a:xfrm>
            <a:off x="1349639" y="589959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251619" y="3134125"/>
            <a:ext cx="7223751" cy="182108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7" name="Rectangle 96"/>
          <p:cNvSpPr/>
          <p:nvPr/>
        </p:nvSpPr>
        <p:spPr>
          <a:xfrm>
            <a:off x="3653487" y="3260805"/>
            <a:ext cx="1496418" cy="396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Titre 1"/>
          <p:cNvSpPr txBox="1">
            <a:spLocks/>
          </p:cNvSpPr>
          <p:nvPr/>
        </p:nvSpPr>
        <p:spPr>
          <a:xfrm>
            <a:off x="2567327" y="3274164"/>
            <a:ext cx="1080000" cy="39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Prescripteur</a:t>
            </a:r>
            <a:endParaRPr lang="fr-FR" sz="1400" dirty="0"/>
          </a:p>
        </p:txBody>
      </p:sp>
      <p:sp>
        <p:nvSpPr>
          <p:cNvPr id="100" name="Triangle isocèle 99"/>
          <p:cNvSpPr/>
          <p:nvPr/>
        </p:nvSpPr>
        <p:spPr>
          <a:xfrm rot="10800000">
            <a:off x="8563032" y="3306244"/>
            <a:ext cx="216000" cy="396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1" name="Titre 1"/>
          <p:cNvSpPr txBox="1">
            <a:spLocks/>
          </p:cNvSpPr>
          <p:nvPr/>
        </p:nvSpPr>
        <p:spPr>
          <a:xfrm>
            <a:off x="3047567" y="4340688"/>
            <a:ext cx="612000" cy="39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Motif</a:t>
            </a:r>
            <a:endParaRPr lang="fr-FR" sz="1400" dirty="0"/>
          </a:p>
        </p:txBody>
      </p:sp>
      <p:sp>
        <p:nvSpPr>
          <p:cNvPr id="102" name="Rectangle 101"/>
          <p:cNvSpPr/>
          <p:nvPr/>
        </p:nvSpPr>
        <p:spPr>
          <a:xfrm>
            <a:off x="7280607" y="3293704"/>
            <a:ext cx="1502095" cy="396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4" name="Triangle isocèle 103"/>
          <p:cNvSpPr/>
          <p:nvPr/>
        </p:nvSpPr>
        <p:spPr>
          <a:xfrm rot="10800000">
            <a:off x="5178216" y="2502788"/>
            <a:ext cx="216000" cy="394544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6" name="Rectangle 105"/>
          <p:cNvSpPr/>
          <p:nvPr/>
        </p:nvSpPr>
        <p:spPr>
          <a:xfrm>
            <a:off x="3650622" y="4320492"/>
            <a:ext cx="5104599" cy="54714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7" name="Triangle isocèle 106"/>
          <p:cNvSpPr/>
          <p:nvPr/>
        </p:nvSpPr>
        <p:spPr>
          <a:xfrm rot="10800000">
            <a:off x="4932456" y="3802941"/>
            <a:ext cx="216000" cy="394544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8" name="Titre 1"/>
          <p:cNvSpPr txBox="1">
            <a:spLocks/>
          </p:cNvSpPr>
          <p:nvPr/>
        </p:nvSpPr>
        <p:spPr>
          <a:xfrm>
            <a:off x="2277877" y="3783368"/>
            <a:ext cx="1471774" cy="39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transfusion</a:t>
            </a:r>
            <a:endParaRPr lang="fr-FR" sz="1400" dirty="0"/>
          </a:p>
        </p:txBody>
      </p:sp>
      <p:sp>
        <p:nvSpPr>
          <p:cNvPr id="109" name="Titre 1"/>
          <p:cNvSpPr txBox="1">
            <a:spLocks/>
          </p:cNvSpPr>
          <p:nvPr/>
        </p:nvSpPr>
        <p:spPr>
          <a:xfrm>
            <a:off x="6381766" y="3285219"/>
            <a:ext cx="900000" cy="39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Infirmier</a:t>
            </a:r>
            <a:endParaRPr lang="fr-FR" sz="1400" dirty="0"/>
          </a:p>
        </p:txBody>
      </p:sp>
      <p:sp>
        <p:nvSpPr>
          <p:cNvPr id="110" name="Rectangle 109"/>
          <p:cNvSpPr/>
          <p:nvPr/>
        </p:nvSpPr>
        <p:spPr>
          <a:xfrm>
            <a:off x="3650622" y="3791853"/>
            <a:ext cx="1502095" cy="396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1" name="Rectangle 110"/>
          <p:cNvSpPr/>
          <p:nvPr/>
        </p:nvSpPr>
        <p:spPr>
          <a:xfrm>
            <a:off x="8411710" y="6331639"/>
            <a:ext cx="10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Valider</a:t>
            </a:r>
          </a:p>
        </p:txBody>
      </p:sp>
    </p:spTree>
    <p:extLst>
      <p:ext uri="{BB962C8B-B14F-4D97-AF65-F5344CB8AC3E}">
        <p14:creationId xmlns:p14="http://schemas.microsoft.com/office/powerpoint/2010/main" val="3363809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83"/>
          <p:cNvSpPr/>
          <p:nvPr/>
        </p:nvSpPr>
        <p:spPr>
          <a:xfrm>
            <a:off x="191991" y="573517"/>
            <a:ext cx="11880000" cy="622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290574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69759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12540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-8916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38" name="Titre 1"/>
          <p:cNvSpPr txBox="1">
            <a:spLocks/>
          </p:cNvSpPr>
          <p:nvPr/>
        </p:nvSpPr>
        <p:spPr>
          <a:xfrm>
            <a:off x="2363472" y="59579"/>
            <a:ext cx="7385175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72 – Hémodialyse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Séance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d'hémodialyse / nouvel séance d'hémodialyse </a:t>
            </a:r>
            <a:r>
              <a:rPr lang="fr-FR" altLang="fr-FR" sz="1800" dirty="0"/>
              <a:t>/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Stratégie de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dialyse</a:t>
            </a:r>
            <a:endParaRPr lang="fr-FR" sz="1800" dirty="0"/>
          </a:p>
        </p:txBody>
      </p:sp>
      <p:sp>
        <p:nvSpPr>
          <p:cNvPr id="2" name="Rectangle 1"/>
          <p:cNvSpPr/>
          <p:nvPr/>
        </p:nvSpPr>
        <p:spPr>
          <a:xfrm>
            <a:off x="186428" y="4134725"/>
            <a:ext cx="3155083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600" b="1" u="sng" dirty="0" smtClean="0"/>
              <a:t>Bordereau séance </a:t>
            </a:r>
            <a:r>
              <a:rPr lang="fr-FR" sz="1600" b="1" u="sng" dirty="0"/>
              <a:t>d'hémodialyse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6375" y="4430715"/>
            <a:ext cx="11408294" cy="2319874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32" name="Rectangle 31"/>
          <p:cNvSpPr/>
          <p:nvPr/>
        </p:nvSpPr>
        <p:spPr>
          <a:xfrm>
            <a:off x="5391284" y="5484524"/>
            <a:ext cx="150794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33" name="Titre 1"/>
          <p:cNvSpPr txBox="1">
            <a:spLocks/>
          </p:cNvSpPr>
          <p:nvPr/>
        </p:nvSpPr>
        <p:spPr>
          <a:xfrm>
            <a:off x="3671986" y="5485894"/>
            <a:ext cx="1728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Température </a:t>
            </a:r>
            <a:r>
              <a:rPr lang="fr-FR" sz="1400" dirty="0"/>
              <a:t>du </a:t>
            </a:r>
            <a:r>
              <a:rPr lang="fr-FR" sz="1400" dirty="0" smtClean="0"/>
              <a:t>bain</a:t>
            </a:r>
            <a:endParaRPr lang="fr-FR" sz="1400" dirty="0"/>
          </a:p>
        </p:txBody>
      </p:sp>
      <p:sp>
        <p:nvSpPr>
          <p:cNvPr id="35" name="Rectangle 34"/>
          <p:cNvSpPr/>
          <p:nvPr/>
        </p:nvSpPr>
        <p:spPr>
          <a:xfrm>
            <a:off x="5385840" y="4591786"/>
            <a:ext cx="150209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39" name="Titre 1"/>
          <p:cNvSpPr txBox="1">
            <a:spLocks/>
          </p:cNvSpPr>
          <p:nvPr/>
        </p:nvSpPr>
        <p:spPr>
          <a:xfrm>
            <a:off x="4481625" y="4591786"/>
            <a:ext cx="900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Poids </a:t>
            </a:r>
            <a:r>
              <a:rPr lang="fr-FR" sz="1400" dirty="0" smtClean="0"/>
              <a:t>sec</a:t>
            </a:r>
            <a:endParaRPr lang="fr-FR" sz="1400" dirty="0"/>
          </a:p>
        </p:txBody>
      </p:sp>
      <p:sp>
        <p:nvSpPr>
          <p:cNvPr id="40" name="Rectangle 39"/>
          <p:cNvSpPr/>
          <p:nvPr/>
        </p:nvSpPr>
        <p:spPr>
          <a:xfrm>
            <a:off x="2013038" y="6309040"/>
            <a:ext cx="4895924" cy="368905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43" name="Rectangle 42"/>
          <p:cNvSpPr/>
          <p:nvPr/>
        </p:nvSpPr>
        <p:spPr>
          <a:xfrm>
            <a:off x="2001615" y="4591786"/>
            <a:ext cx="150209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46" name="Titre 1"/>
          <p:cNvSpPr txBox="1">
            <a:spLocks/>
          </p:cNvSpPr>
          <p:nvPr/>
        </p:nvSpPr>
        <p:spPr>
          <a:xfrm>
            <a:off x="558288" y="4594589"/>
            <a:ext cx="1440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Durée </a:t>
            </a:r>
            <a:r>
              <a:rPr lang="fr-FR" sz="1400" dirty="0" smtClean="0"/>
              <a:t>séance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22286" y="5942553"/>
            <a:ext cx="150209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78" name="Titre 1"/>
          <p:cNvSpPr txBox="1">
            <a:spLocks/>
          </p:cNvSpPr>
          <p:nvPr/>
        </p:nvSpPr>
        <p:spPr>
          <a:xfrm>
            <a:off x="862948" y="6288344"/>
            <a:ext cx="1136459" cy="41787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Observations médicales   </a:t>
            </a:r>
          </a:p>
        </p:txBody>
      </p:sp>
      <p:sp>
        <p:nvSpPr>
          <p:cNvPr id="51" name="Titre 1"/>
          <p:cNvSpPr txBox="1">
            <a:spLocks/>
          </p:cNvSpPr>
          <p:nvPr/>
        </p:nvSpPr>
        <p:spPr>
          <a:xfrm>
            <a:off x="2570132" y="685959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56" name="Titre 1"/>
          <p:cNvSpPr txBox="1">
            <a:spLocks/>
          </p:cNvSpPr>
          <p:nvPr/>
        </p:nvSpPr>
        <p:spPr>
          <a:xfrm>
            <a:off x="4960494" y="672854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57" name="Titre 1"/>
          <p:cNvSpPr txBox="1">
            <a:spLocks/>
          </p:cNvSpPr>
          <p:nvPr/>
        </p:nvSpPr>
        <p:spPr>
          <a:xfrm>
            <a:off x="7787861" y="692366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58" name="Rectangle 57"/>
          <p:cNvSpPr/>
          <p:nvPr/>
        </p:nvSpPr>
        <p:spPr>
          <a:xfrm>
            <a:off x="3757530" y="730985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9" name="Rectangle 58"/>
          <p:cNvSpPr/>
          <p:nvPr/>
        </p:nvSpPr>
        <p:spPr>
          <a:xfrm>
            <a:off x="5931716" y="686261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3" name="Rectangle 62"/>
          <p:cNvSpPr/>
          <p:nvPr/>
        </p:nvSpPr>
        <p:spPr>
          <a:xfrm>
            <a:off x="8341959" y="737613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4" name="Rectangle 63"/>
          <p:cNvSpPr/>
          <p:nvPr/>
        </p:nvSpPr>
        <p:spPr>
          <a:xfrm>
            <a:off x="2519541" y="627099"/>
            <a:ext cx="6892827" cy="4643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0" name="Titre 1"/>
          <p:cNvSpPr txBox="1">
            <a:spLocks/>
          </p:cNvSpPr>
          <p:nvPr/>
        </p:nvSpPr>
        <p:spPr>
          <a:xfrm>
            <a:off x="3950915" y="75673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82" name="Rectangle 81"/>
          <p:cNvSpPr/>
          <p:nvPr/>
        </p:nvSpPr>
        <p:spPr>
          <a:xfrm>
            <a:off x="6040364" y="740319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6704842" y="746360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8390629" y="765185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90" name="Titre 1"/>
          <p:cNvSpPr txBox="1">
            <a:spLocks/>
          </p:cNvSpPr>
          <p:nvPr/>
        </p:nvSpPr>
        <p:spPr>
          <a:xfrm>
            <a:off x="1439951" y="589959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264510" y="4585317"/>
            <a:ext cx="150209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75" name="Titre 1"/>
          <p:cNvSpPr txBox="1">
            <a:spLocks/>
          </p:cNvSpPr>
          <p:nvPr/>
        </p:nvSpPr>
        <p:spPr>
          <a:xfrm>
            <a:off x="7403610" y="4588178"/>
            <a:ext cx="864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Allergies</a:t>
            </a:r>
            <a:endParaRPr lang="fr-FR" sz="1400" dirty="0"/>
          </a:p>
        </p:txBody>
      </p:sp>
      <p:sp>
        <p:nvSpPr>
          <p:cNvPr id="76" name="Rectangle 75"/>
          <p:cNvSpPr/>
          <p:nvPr/>
        </p:nvSpPr>
        <p:spPr>
          <a:xfrm>
            <a:off x="2004614" y="5021688"/>
            <a:ext cx="150794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77" name="Titre 1"/>
          <p:cNvSpPr txBox="1">
            <a:spLocks/>
          </p:cNvSpPr>
          <p:nvPr/>
        </p:nvSpPr>
        <p:spPr>
          <a:xfrm>
            <a:off x="677472" y="5023758"/>
            <a:ext cx="1332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Générateur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393731" y="5031760"/>
            <a:ext cx="1502095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92" name="Rectangle 91"/>
          <p:cNvSpPr/>
          <p:nvPr/>
        </p:nvSpPr>
        <p:spPr>
          <a:xfrm>
            <a:off x="2013038" y="5479715"/>
            <a:ext cx="150209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93" name="Titre 1"/>
          <p:cNvSpPr txBox="1">
            <a:spLocks/>
          </p:cNvSpPr>
          <p:nvPr/>
        </p:nvSpPr>
        <p:spPr>
          <a:xfrm>
            <a:off x="673703" y="5495569"/>
            <a:ext cx="1332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Dialyseur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3992392" y="5035047"/>
            <a:ext cx="1404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Abord </a:t>
            </a:r>
            <a:r>
              <a:rPr lang="fr-FR" sz="1400" dirty="0" smtClean="0"/>
              <a:t>vasculaire</a:t>
            </a:r>
            <a:endParaRPr lang="fr-FR" sz="1400" dirty="0"/>
          </a:p>
        </p:txBody>
      </p:sp>
      <p:sp>
        <p:nvSpPr>
          <p:cNvPr id="99" name="Rectangle 98"/>
          <p:cNvSpPr/>
          <p:nvPr/>
        </p:nvSpPr>
        <p:spPr>
          <a:xfrm>
            <a:off x="8278794" y="5494845"/>
            <a:ext cx="150209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112" name="Rectangle 111"/>
          <p:cNvSpPr/>
          <p:nvPr/>
        </p:nvSpPr>
        <p:spPr>
          <a:xfrm>
            <a:off x="2013456" y="5935113"/>
            <a:ext cx="150209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113" name="Rectangle 112"/>
          <p:cNvSpPr/>
          <p:nvPr/>
        </p:nvSpPr>
        <p:spPr>
          <a:xfrm>
            <a:off x="8267090" y="5050732"/>
            <a:ext cx="150209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114" name="Titre 1"/>
          <p:cNvSpPr txBox="1">
            <a:spLocks/>
          </p:cNvSpPr>
          <p:nvPr/>
        </p:nvSpPr>
        <p:spPr>
          <a:xfrm>
            <a:off x="7255136" y="5044008"/>
            <a:ext cx="1008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Débit </a:t>
            </a:r>
            <a:r>
              <a:rPr lang="fr-FR" sz="1400" dirty="0" smtClean="0"/>
              <a:t>sang</a:t>
            </a:r>
            <a:endParaRPr lang="fr-FR" sz="1400" dirty="0"/>
          </a:p>
        </p:txBody>
      </p:sp>
      <p:sp>
        <p:nvSpPr>
          <p:cNvPr id="115" name="Titre 1"/>
          <p:cNvSpPr txBox="1">
            <a:spLocks/>
          </p:cNvSpPr>
          <p:nvPr/>
        </p:nvSpPr>
        <p:spPr>
          <a:xfrm>
            <a:off x="673456" y="5926862"/>
            <a:ext cx="1332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Verrou </a:t>
            </a:r>
            <a:r>
              <a:rPr lang="fr-FR" sz="1400" dirty="0" smtClean="0"/>
              <a:t>KT</a:t>
            </a:r>
            <a:endParaRPr lang="fr-FR" sz="1400" dirty="0"/>
          </a:p>
        </p:txBody>
      </p:sp>
      <p:sp>
        <p:nvSpPr>
          <p:cNvPr id="95" name="Rectangle 94"/>
          <p:cNvSpPr/>
          <p:nvPr/>
        </p:nvSpPr>
        <p:spPr>
          <a:xfrm>
            <a:off x="350030" y="3787865"/>
            <a:ext cx="1980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Stratégie de dialyse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363472" y="3781241"/>
            <a:ext cx="198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Détail séance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385812" y="3782219"/>
            <a:ext cx="198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Complications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86428" y="1018990"/>
            <a:ext cx="3155083" cy="3781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600" b="1" u="sng" dirty="0" smtClean="0"/>
              <a:t>Bordereau séance </a:t>
            </a:r>
            <a:r>
              <a:rPr lang="fr-FR" sz="1600" b="1" u="sng" dirty="0"/>
              <a:t>d'hémodialyse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66375" y="1405292"/>
            <a:ext cx="11408294" cy="231416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dirty="0"/>
          </a:p>
        </p:txBody>
      </p:sp>
      <p:sp>
        <p:nvSpPr>
          <p:cNvPr id="102" name="Rectangle 101"/>
          <p:cNvSpPr/>
          <p:nvPr/>
        </p:nvSpPr>
        <p:spPr>
          <a:xfrm>
            <a:off x="5391284" y="2323633"/>
            <a:ext cx="150794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105" name="Titre 1"/>
          <p:cNvSpPr txBox="1">
            <a:spLocks/>
          </p:cNvSpPr>
          <p:nvPr/>
        </p:nvSpPr>
        <p:spPr>
          <a:xfrm>
            <a:off x="3872231" y="2336992"/>
            <a:ext cx="1332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Equipe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385840" y="1521207"/>
            <a:ext cx="150209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107" name="Titre 1"/>
          <p:cNvSpPr txBox="1">
            <a:spLocks/>
          </p:cNvSpPr>
          <p:nvPr/>
        </p:nvSpPr>
        <p:spPr>
          <a:xfrm>
            <a:off x="3838157" y="1434419"/>
            <a:ext cx="1440000" cy="432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Nombre séances hebdomadaires 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013454" y="3158051"/>
            <a:ext cx="4874481" cy="45199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109" name="Rectangle 108"/>
          <p:cNvSpPr/>
          <p:nvPr/>
        </p:nvSpPr>
        <p:spPr>
          <a:xfrm>
            <a:off x="2001615" y="1521207"/>
            <a:ext cx="150209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110" name="Titre 1"/>
          <p:cNvSpPr txBox="1">
            <a:spLocks/>
          </p:cNvSpPr>
          <p:nvPr/>
        </p:nvSpPr>
        <p:spPr>
          <a:xfrm>
            <a:off x="558288" y="1467565"/>
            <a:ext cx="1440000" cy="39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de 1</a:t>
            </a:r>
            <a:r>
              <a:rPr lang="fr-FR" sz="1400" baseline="30000" dirty="0" smtClean="0"/>
              <a:t>er</a:t>
            </a:r>
            <a:r>
              <a:rPr lang="fr-FR" sz="1400" dirty="0" smtClean="0"/>
              <a:t> prescription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5422286" y="2725217"/>
            <a:ext cx="150209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118" name="Titre 1"/>
          <p:cNvSpPr txBox="1">
            <a:spLocks/>
          </p:cNvSpPr>
          <p:nvPr/>
        </p:nvSpPr>
        <p:spPr>
          <a:xfrm>
            <a:off x="3891042" y="2718493"/>
            <a:ext cx="1332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IDE</a:t>
            </a:r>
          </a:p>
        </p:txBody>
      </p:sp>
      <p:sp>
        <p:nvSpPr>
          <p:cNvPr id="119" name="Titre 1"/>
          <p:cNvSpPr txBox="1">
            <a:spLocks/>
          </p:cNvSpPr>
          <p:nvPr/>
        </p:nvSpPr>
        <p:spPr>
          <a:xfrm>
            <a:off x="571852" y="3161089"/>
            <a:ext cx="1332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Transmission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264510" y="1514738"/>
            <a:ext cx="1502095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122" name="Triangle isocèle 121"/>
          <p:cNvSpPr/>
          <p:nvPr/>
        </p:nvSpPr>
        <p:spPr>
          <a:xfrm rot="10800000">
            <a:off x="9532647" y="1524285"/>
            <a:ext cx="216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123" name="Titre 1"/>
          <p:cNvSpPr txBox="1">
            <a:spLocks/>
          </p:cNvSpPr>
          <p:nvPr/>
        </p:nvSpPr>
        <p:spPr>
          <a:xfrm>
            <a:off x="6895609" y="1517599"/>
            <a:ext cx="1332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Groupage</a:t>
            </a:r>
            <a:endParaRPr lang="fr-FR" sz="1400" dirty="0"/>
          </a:p>
        </p:txBody>
      </p:sp>
      <p:sp>
        <p:nvSpPr>
          <p:cNvPr id="124" name="Rectangle 123"/>
          <p:cNvSpPr/>
          <p:nvPr/>
        </p:nvSpPr>
        <p:spPr>
          <a:xfrm>
            <a:off x="2004614" y="1928531"/>
            <a:ext cx="150794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125" name="Titre 1"/>
          <p:cNvSpPr txBox="1">
            <a:spLocks/>
          </p:cNvSpPr>
          <p:nvPr/>
        </p:nvSpPr>
        <p:spPr>
          <a:xfrm>
            <a:off x="485559" y="1941890"/>
            <a:ext cx="1332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1</a:t>
            </a:r>
            <a:r>
              <a:rPr lang="fr-FR" sz="1400" baseline="30000" dirty="0" smtClean="0"/>
              <a:t>er</a:t>
            </a:r>
            <a:r>
              <a:rPr lang="fr-FR" sz="1400" dirty="0" smtClean="0"/>
              <a:t> EPO</a:t>
            </a:r>
            <a:endParaRPr lang="fr-FR" sz="1400" dirty="0"/>
          </a:p>
        </p:txBody>
      </p:sp>
      <p:sp>
        <p:nvSpPr>
          <p:cNvPr id="126" name="Rectangle 125"/>
          <p:cNvSpPr/>
          <p:nvPr/>
        </p:nvSpPr>
        <p:spPr>
          <a:xfrm>
            <a:off x="5400128" y="1938852"/>
            <a:ext cx="150209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2013038" y="2341402"/>
            <a:ext cx="150209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128" name="Titre 1"/>
          <p:cNvSpPr txBox="1">
            <a:spLocks/>
          </p:cNvSpPr>
          <p:nvPr/>
        </p:nvSpPr>
        <p:spPr>
          <a:xfrm>
            <a:off x="481790" y="2323389"/>
            <a:ext cx="1332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de séance</a:t>
            </a:r>
            <a:endParaRPr lang="fr-FR" sz="1400" dirty="0"/>
          </a:p>
        </p:txBody>
      </p:sp>
      <p:sp>
        <p:nvSpPr>
          <p:cNvPr id="129" name="Titre 1"/>
          <p:cNvSpPr txBox="1">
            <a:spLocks/>
          </p:cNvSpPr>
          <p:nvPr/>
        </p:nvSpPr>
        <p:spPr>
          <a:xfrm>
            <a:off x="3518257" y="1919312"/>
            <a:ext cx="1764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1</a:t>
            </a:r>
            <a:r>
              <a:rPr lang="fr-FR" sz="1400" baseline="30000" dirty="0" smtClean="0"/>
              <a:t>er</a:t>
            </a:r>
            <a:r>
              <a:rPr lang="fr-FR" sz="1400" dirty="0" smtClean="0"/>
              <a:t> fer injectable</a:t>
            </a:r>
            <a:endParaRPr lang="fr-FR" sz="1400" dirty="0"/>
          </a:p>
        </p:txBody>
      </p:sp>
      <p:sp>
        <p:nvSpPr>
          <p:cNvPr id="130" name="Rectangle 129"/>
          <p:cNvSpPr/>
          <p:nvPr/>
        </p:nvSpPr>
        <p:spPr>
          <a:xfrm>
            <a:off x="8301372" y="2333954"/>
            <a:ext cx="150209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131" name="Titre 1"/>
          <p:cNvSpPr txBox="1">
            <a:spLocks/>
          </p:cNvSpPr>
          <p:nvPr/>
        </p:nvSpPr>
        <p:spPr>
          <a:xfrm>
            <a:off x="6961371" y="2325703"/>
            <a:ext cx="1332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Séance</a:t>
            </a:r>
            <a:endParaRPr lang="fr-FR" sz="1400" dirty="0"/>
          </a:p>
        </p:txBody>
      </p:sp>
      <p:sp>
        <p:nvSpPr>
          <p:cNvPr id="132" name="Rectangle 131"/>
          <p:cNvSpPr/>
          <p:nvPr/>
        </p:nvSpPr>
        <p:spPr>
          <a:xfrm>
            <a:off x="2013456" y="2740355"/>
            <a:ext cx="150209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133" name="Rectangle 132"/>
          <p:cNvSpPr/>
          <p:nvPr/>
        </p:nvSpPr>
        <p:spPr>
          <a:xfrm>
            <a:off x="8267090" y="1934997"/>
            <a:ext cx="150209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134" name="Titre 1"/>
          <p:cNvSpPr txBox="1">
            <a:spLocks/>
          </p:cNvSpPr>
          <p:nvPr/>
        </p:nvSpPr>
        <p:spPr>
          <a:xfrm>
            <a:off x="6905177" y="1928273"/>
            <a:ext cx="1332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Statut</a:t>
            </a:r>
          </a:p>
        </p:txBody>
      </p:sp>
      <p:sp>
        <p:nvSpPr>
          <p:cNvPr id="135" name="Titre 1"/>
          <p:cNvSpPr txBox="1">
            <a:spLocks/>
          </p:cNvSpPr>
          <p:nvPr/>
        </p:nvSpPr>
        <p:spPr>
          <a:xfrm>
            <a:off x="526699" y="2720815"/>
            <a:ext cx="1332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Forfait </a:t>
            </a:r>
            <a:r>
              <a:rPr lang="fr-FR" sz="1400" dirty="0" smtClean="0"/>
              <a:t>séance</a:t>
            </a:r>
            <a:endParaRPr lang="fr-FR" sz="1400" dirty="0"/>
          </a:p>
        </p:txBody>
      </p:sp>
      <p:sp>
        <p:nvSpPr>
          <p:cNvPr id="136" name="Triangle isocèle 135"/>
          <p:cNvSpPr/>
          <p:nvPr/>
        </p:nvSpPr>
        <p:spPr>
          <a:xfrm rot="10800000">
            <a:off x="9535735" y="1932539"/>
            <a:ext cx="216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137" name="Triangle isocèle 136"/>
          <p:cNvSpPr/>
          <p:nvPr/>
        </p:nvSpPr>
        <p:spPr>
          <a:xfrm rot="10800000">
            <a:off x="6667743" y="5035052"/>
            <a:ext cx="216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3" name="Rectangle 2"/>
          <p:cNvSpPr/>
          <p:nvPr/>
        </p:nvSpPr>
        <p:spPr>
          <a:xfrm>
            <a:off x="7490244" y="5492585"/>
            <a:ext cx="780983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Aiguilles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507602" y="4584987"/>
            <a:ext cx="295273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H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902270" y="4575739"/>
            <a:ext cx="355417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Kg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24445" y="6214862"/>
            <a:ext cx="950878" cy="4405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b="1" u="sng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À suivre</a:t>
            </a:r>
            <a:endParaRPr lang="fr-FR" b="1" u="sng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908962" y="5479752"/>
            <a:ext cx="341760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°C</a:t>
            </a:r>
          </a:p>
        </p:txBody>
      </p:sp>
      <p:sp>
        <p:nvSpPr>
          <p:cNvPr id="8" name="Rectangle 7"/>
          <p:cNvSpPr/>
          <p:nvPr/>
        </p:nvSpPr>
        <p:spPr>
          <a:xfrm>
            <a:off x="5062095" y="5930719"/>
            <a:ext cx="360996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KT</a:t>
            </a:r>
          </a:p>
        </p:txBody>
      </p:sp>
      <p:sp>
        <p:nvSpPr>
          <p:cNvPr id="138" name="Triangle isocèle 137"/>
          <p:cNvSpPr/>
          <p:nvPr/>
        </p:nvSpPr>
        <p:spPr>
          <a:xfrm rot="10800000">
            <a:off x="3286721" y="5029406"/>
            <a:ext cx="216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9780217" y="5037467"/>
            <a:ext cx="668773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ml/mn</a:t>
            </a:r>
          </a:p>
        </p:txBody>
      </p:sp>
    </p:spTree>
    <p:extLst>
      <p:ext uri="{BB962C8B-B14F-4D97-AF65-F5344CB8AC3E}">
        <p14:creationId xmlns:p14="http://schemas.microsoft.com/office/powerpoint/2010/main" val="2335790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83"/>
          <p:cNvSpPr/>
          <p:nvPr/>
        </p:nvSpPr>
        <p:spPr>
          <a:xfrm>
            <a:off x="191991" y="573517"/>
            <a:ext cx="11880000" cy="622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290574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69759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12540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-8916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38" name="Titre 1"/>
          <p:cNvSpPr txBox="1">
            <a:spLocks/>
          </p:cNvSpPr>
          <p:nvPr/>
        </p:nvSpPr>
        <p:spPr>
          <a:xfrm>
            <a:off x="2363472" y="59579"/>
            <a:ext cx="7385175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72 – Hémodialyse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Séance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d'hémodialyse / nouvel séance d'hémodialyse</a:t>
            </a:r>
            <a:r>
              <a:rPr lang="fr-FR" altLang="fr-FR" sz="1800" dirty="0"/>
              <a:t> /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Stratégie de dialyse </a:t>
            </a:r>
          </a:p>
        </p:txBody>
      </p:sp>
      <p:sp>
        <p:nvSpPr>
          <p:cNvPr id="2" name="Rectangle 1"/>
          <p:cNvSpPr/>
          <p:nvPr/>
        </p:nvSpPr>
        <p:spPr>
          <a:xfrm>
            <a:off x="186428" y="1515702"/>
            <a:ext cx="3155083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600" b="1" u="sng" dirty="0" smtClean="0"/>
              <a:t>Bordereau séance </a:t>
            </a:r>
            <a:r>
              <a:rPr lang="fr-FR" sz="1600" b="1" u="sng" dirty="0"/>
              <a:t>d'hémodialyse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6375" y="1811692"/>
            <a:ext cx="11408294" cy="2319874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43" name="Rectangle 42"/>
          <p:cNvSpPr/>
          <p:nvPr/>
        </p:nvSpPr>
        <p:spPr>
          <a:xfrm>
            <a:off x="2001614" y="1972763"/>
            <a:ext cx="36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46" name="Titre 1"/>
          <p:cNvSpPr txBox="1">
            <a:spLocks/>
          </p:cNvSpPr>
          <p:nvPr/>
        </p:nvSpPr>
        <p:spPr>
          <a:xfrm>
            <a:off x="558288" y="1975566"/>
            <a:ext cx="1440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Héparine</a:t>
            </a:r>
            <a:endParaRPr lang="fr-FR" sz="1400" dirty="0" smtClean="0"/>
          </a:p>
        </p:txBody>
      </p:sp>
      <p:sp>
        <p:nvSpPr>
          <p:cNvPr id="78" name="Titre 1"/>
          <p:cNvSpPr txBox="1">
            <a:spLocks/>
          </p:cNvSpPr>
          <p:nvPr/>
        </p:nvSpPr>
        <p:spPr>
          <a:xfrm>
            <a:off x="932041" y="3737008"/>
            <a:ext cx="1080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Transfusion</a:t>
            </a:r>
          </a:p>
        </p:txBody>
      </p:sp>
      <p:sp>
        <p:nvSpPr>
          <p:cNvPr id="51" name="Titre 1"/>
          <p:cNvSpPr txBox="1">
            <a:spLocks/>
          </p:cNvSpPr>
          <p:nvPr/>
        </p:nvSpPr>
        <p:spPr>
          <a:xfrm>
            <a:off x="2570132" y="685959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56" name="Titre 1"/>
          <p:cNvSpPr txBox="1">
            <a:spLocks/>
          </p:cNvSpPr>
          <p:nvPr/>
        </p:nvSpPr>
        <p:spPr>
          <a:xfrm>
            <a:off x="4960494" y="672854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57" name="Titre 1"/>
          <p:cNvSpPr txBox="1">
            <a:spLocks/>
          </p:cNvSpPr>
          <p:nvPr/>
        </p:nvSpPr>
        <p:spPr>
          <a:xfrm>
            <a:off x="7787861" y="692366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58" name="Rectangle 57"/>
          <p:cNvSpPr/>
          <p:nvPr/>
        </p:nvSpPr>
        <p:spPr>
          <a:xfrm>
            <a:off x="3757530" y="730985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9" name="Rectangle 58"/>
          <p:cNvSpPr/>
          <p:nvPr/>
        </p:nvSpPr>
        <p:spPr>
          <a:xfrm>
            <a:off x="5931716" y="686261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3" name="Rectangle 62"/>
          <p:cNvSpPr/>
          <p:nvPr/>
        </p:nvSpPr>
        <p:spPr>
          <a:xfrm>
            <a:off x="8341959" y="737613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4" name="Rectangle 63"/>
          <p:cNvSpPr/>
          <p:nvPr/>
        </p:nvSpPr>
        <p:spPr>
          <a:xfrm>
            <a:off x="2519541" y="627099"/>
            <a:ext cx="6892827" cy="4643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0" name="Titre 1"/>
          <p:cNvSpPr txBox="1">
            <a:spLocks/>
          </p:cNvSpPr>
          <p:nvPr/>
        </p:nvSpPr>
        <p:spPr>
          <a:xfrm>
            <a:off x="3950915" y="75673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82" name="Rectangle 81"/>
          <p:cNvSpPr/>
          <p:nvPr/>
        </p:nvSpPr>
        <p:spPr>
          <a:xfrm>
            <a:off x="6040364" y="740319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6704842" y="746360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8390629" y="765185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90" name="Titre 1"/>
          <p:cNvSpPr txBox="1">
            <a:spLocks/>
          </p:cNvSpPr>
          <p:nvPr/>
        </p:nvSpPr>
        <p:spPr>
          <a:xfrm>
            <a:off x="1439951" y="589959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0694669" y="4357504"/>
            <a:ext cx="108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Valider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203349" y="1966294"/>
            <a:ext cx="36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75" name="Titre 1"/>
          <p:cNvSpPr txBox="1">
            <a:spLocks/>
          </p:cNvSpPr>
          <p:nvPr/>
        </p:nvSpPr>
        <p:spPr>
          <a:xfrm>
            <a:off x="6084707" y="2894851"/>
            <a:ext cx="1133032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Prescription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004614" y="2402665"/>
            <a:ext cx="36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77" name="Titre 1"/>
          <p:cNvSpPr txBox="1">
            <a:spLocks/>
          </p:cNvSpPr>
          <p:nvPr/>
        </p:nvSpPr>
        <p:spPr>
          <a:xfrm>
            <a:off x="677472" y="2404735"/>
            <a:ext cx="1332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EPO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013037" y="2860692"/>
            <a:ext cx="36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93" name="Titre 1"/>
          <p:cNvSpPr txBox="1">
            <a:spLocks/>
          </p:cNvSpPr>
          <p:nvPr/>
        </p:nvSpPr>
        <p:spPr>
          <a:xfrm>
            <a:off x="673703" y="2876546"/>
            <a:ext cx="1332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Fer </a:t>
            </a:r>
            <a:r>
              <a:rPr lang="fr-FR" sz="1400" dirty="0" smtClean="0"/>
              <a:t>injectable</a:t>
            </a:r>
            <a:endParaRPr lang="fr-FR" sz="1400" dirty="0"/>
          </a:p>
        </p:txBody>
      </p:sp>
      <p:sp>
        <p:nvSpPr>
          <p:cNvPr id="99" name="Rectangle 98"/>
          <p:cNvSpPr/>
          <p:nvPr/>
        </p:nvSpPr>
        <p:spPr>
          <a:xfrm>
            <a:off x="7217633" y="2875822"/>
            <a:ext cx="36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112" name="Rectangle 111"/>
          <p:cNvSpPr/>
          <p:nvPr/>
        </p:nvSpPr>
        <p:spPr>
          <a:xfrm>
            <a:off x="2013455" y="3316090"/>
            <a:ext cx="36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113" name="Rectangle 112"/>
          <p:cNvSpPr/>
          <p:nvPr/>
        </p:nvSpPr>
        <p:spPr>
          <a:xfrm>
            <a:off x="7205929" y="2431709"/>
            <a:ext cx="36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115" name="Titre 1"/>
          <p:cNvSpPr txBox="1">
            <a:spLocks/>
          </p:cNvSpPr>
          <p:nvPr/>
        </p:nvSpPr>
        <p:spPr>
          <a:xfrm>
            <a:off x="673456" y="3307839"/>
            <a:ext cx="1332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Autres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50030" y="1168842"/>
            <a:ext cx="1980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Stratégie de dialyse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363472" y="1162218"/>
            <a:ext cx="198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Détail séance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385812" y="1163196"/>
            <a:ext cx="198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Complications</a:t>
            </a:r>
          </a:p>
        </p:txBody>
      </p:sp>
      <p:sp>
        <p:nvSpPr>
          <p:cNvPr id="138" name="Triangle isocèle 137"/>
          <p:cNvSpPr/>
          <p:nvPr/>
        </p:nvSpPr>
        <p:spPr>
          <a:xfrm rot="10800000">
            <a:off x="5385614" y="2421024"/>
            <a:ext cx="216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10024379" y="646994"/>
            <a:ext cx="2042805" cy="4405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b="1" u="sng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Suite de l’écran 72</a:t>
            </a:r>
            <a:endParaRPr lang="fr-FR" b="1" u="sng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Ellipse 9"/>
          <p:cNvSpPr/>
          <p:nvPr/>
        </p:nvSpPr>
        <p:spPr>
          <a:xfrm>
            <a:off x="2912535" y="3793067"/>
            <a:ext cx="180000" cy="18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4" name="Ellipse 103"/>
          <p:cNvSpPr/>
          <p:nvPr/>
        </p:nvSpPr>
        <p:spPr>
          <a:xfrm>
            <a:off x="2031996" y="3793067"/>
            <a:ext cx="180000" cy="18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6" name="Rectangle 115"/>
          <p:cNvSpPr/>
          <p:nvPr/>
        </p:nvSpPr>
        <p:spPr>
          <a:xfrm>
            <a:off x="2234999" y="3737008"/>
            <a:ext cx="432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Oui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20" name="Rectangle 119"/>
          <p:cNvSpPr/>
          <p:nvPr/>
        </p:nvSpPr>
        <p:spPr>
          <a:xfrm>
            <a:off x="3128334" y="3743969"/>
            <a:ext cx="540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Non</a:t>
            </a:r>
          </a:p>
        </p:txBody>
      </p:sp>
      <p:sp>
        <p:nvSpPr>
          <p:cNvPr id="139" name="Triangle isocèle 138"/>
          <p:cNvSpPr/>
          <p:nvPr/>
        </p:nvSpPr>
        <p:spPr>
          <a:xfrm rot="10800000">
            <a:off x="5385614" y="2861288"/>
            <a:ext cx="216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141" name="Triangle isocèle 140"/>
          <p:cNvSpPr/>
          <p:nvPr/>
        </p:nvSpPr>
        <p:spPr>
          <a:xfrm rot="10800000">
            <a:off x="5385614" y="1980753"/>
            <a:ext cx="216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142" name="Titre 1"/>
          <p:cNvSpPr txBox="1">
            <a:spLocks/>
          </p:cNvSpPr>
          <p:nvPr/>
        </p:nvSpPr>
        <p:spPr>
          <a:xfrm>
            <a:off x="6073418" y="1946577"/>
            <a:ext cx="1133032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Prescription</a:t>
            </a:r>
          </a:p>
        </p:txBody>
      </p:sp>
      <p:sp>
        <p:nvSpPr>
          <p:cNvPr id="143" name="Titre 1"/>
          <p:cNvSpPr txBox="1">
            <a:spLocks/>
          </p:cNvSpPr>
          <p:nvPr/>
        </p:nvSpPr>
        <p:spPr>
          <a:xfrm>
            <a:off x="6073418" y="2432003"/>
            <a:ext cx="1133032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Prescription</a:t>
            </a:r>
          </a:p>
        </p:txBody>
      </p:sp>
    </p:spTree>
    <p:extLst>
      <p:ext uri="{BB962C8B-B14F-4D97-AF65-F5344CB8AC3E}">
        <p14:creationId xmlns:p14="http://schemas.microsoft.com/office/powerpoint/2010/main" val="154370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83"/>
          <p:cNvSpPr/>
          <p:nvPr/>
        </p:nvSpPr>
        <p:spPr>
          <a:xfrm>
            <a:off x="191991" y="573516"/>
            <a:ext cx="11880000" cy="629326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290574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69759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12540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-8916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38" name="Titre 1"/>
          <p:cNvSpPr txBox="1">
            <a:spLocks/>
          </p:cNvSpPr>
          <p:nvPr/>
        </p:nvSpPr>
        <p:spPr>
          <a:xfrm>
            <a:off x="2363472" y="59579"/>
            <a:ext cx="7385175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73 – Hémodialyse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Séance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d'hémodialyse / nouvel séance d'hémodialyse </a:t>
            </a:r>
            <a:r>
              <a:rPr lang="fr-FR" altLang="fr-FR" sz="1800" dirty="0"/>
              <a:t>/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Détail séance</a:t>
            </a:r>
          </a:p>
        </p:txBody>
      </p:sp>
      <p:sp>
        <p:nvSpPr>
          <p:cNvPr id="2" name="Rectangle 1"/>
          <p:cNvSpPr/>
          <p:nvPr/>
        </p:nvSpPr>
        <p:spPr>
          <a:xfrm>
            <a:off x="186428" y="3920234"/>
            <a:ext cx="1523207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600" b="1" u="sng" dirty="0"/>
              <a:t>Détail séance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6375" y="4216224"/>
            <a:ext cx="11408294" cy="265056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32" name="Rectangle 31"/>
          <p:cNvSpPr/>
          <p:nvPr/>
        </p:nvSpPr>
        <p:spPr>
          <a:xfrm>
            <a:off x="9940705" y="5100694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33" name="Titre 1"/>
          <p:cNvSpPr txBox="1">
            <a:spLocks/>
          </p:cNvSpPr>
          <p:nvPr/>
        </p:nvSpPr>
        <p:spPr>
          <a:xfrm>
            <a:off x="8741607" y="5102064"/>
            <a:ext cx="1207799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Température</a:t>
            </a:r>
            <a:endParaRPr lang="fr-FR" sz="1400" dirty="0"/>
          </a:p>
        </p:txBody>
      </p:sp>
      <p:sp>
        <p:nvSpPr>
          <p:cNvPr id="35" name="Rectangle 34"/>
          <p:cNvSpPr/>
          <p:nvPr/>
        </p:nvSpPr>
        <p:spPr>
          <a:xfrm>
            <a:off x="4482726" y="4286983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39" name="Titre 1"/>
          <p:cNvSpPr txBox="1">
            <a:spLocks/>
          </p:cNvSpPr>
          <p:nvPr/>
        </p:nvSpPr>
        <p:spPr>
          <a:xfrm>
            <a:off x="3578511" y="4286983"/>
            <a:ext cx="900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Poids </a:t>
            </a:r>
            <a:r>
              <a:rPr lang="fr-FR" sz="1400" dirty="0" smtClean="0"/>
              <a:t>sec</a:t>
            </a:r>
            <a:endParaRPr lang="fr-FR" sz="1400" dirty="0"/>
          </a:p>
        </p:txBody>
      </p:sp>
      <p:sp>
        <p:nvSpPr>
          <p:cNvPr id="43" name="Rectangle 42"/>
          <p:cNvSpPr/>
          <p:nvPr/>
        </p:nvSpPr>
        <p:spPr>
          <a:xfrm>
            <a:off x="2001615" y="4286983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46" name="Titre 1"/>
          <p:cNvSpPr txBox="1">
            <a:spLocks/>
          </p:cNvSpPr>
          <p:nvPr/>
        </p:nvSpPr>
        <p:spPr>
          <a:xfrm>
            <a:off x="558288" y="4289786"/>
            <a:ext cx="1440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Poids </a:t>
            </a:r>
            <a:r>
              <a:rPr lang="fr-FR" sz="1400" dirty="0" smtClean="0"/>
              <a:t>d'entrée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496595" y="5524854"/>
            <a:ext cx="150209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51" name="Titre 1"/>
          <p:cNvSpPr txBox="1">
            <a:spLocks/>
          </p:cNvSpPr>
          <p:nvPr/>
        </p:nvSpPr>
        <p:spPr>
          <a:xfrm>
            <a:off x="2570132" y="685959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56" name="Titre 1"/>
          <p:cNvSpPr txBox="1">
            <a:spLocks/>
          </p:cNvSpPr>
          <p:nvPr/>
        </p:nvSpPr>
        <p:spPr>
          <a:xfrm>
            <a:off x="4960494" y="672854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57" name="Titre 1"/>
          <p:cNvSpPr txBox="1">
            <a:spLocks/>
          </p:cNvSpPr>
          <p:nvPr/>
        </p:nvSpPr>
        <p:spPr>
          <a:xfrm>
            <a:off x="7787861" y="692366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58" name="Rectangle 57"/>
          <p:cNvSpPr/>
          <p:nvPr/>
        </p:nvSpPr>
        <p:spPr>
          <a:xfrm>
            <a:off x="3757530" y="730985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9" name="Rectangle 58"/>
          <p:cNvSpPr/>
          <p:nvPr/>
        </p:nvSpPr>
        <p:spPr>
          <a:xfrm>
            <a:off x="5931716" y="686261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3" name="Rectangle 62"/>
          <p:cNvSpPr/>
          <p:nvPr/>
        </p:nvSpPr>
        <p:spPr>
          <a:xfrm>
            <a:off x="8341959" y="737613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4" name="Rectangle 63"/>
          <p:cNvSpPr/>
          <p:nvPr/>
        </p:nvSpPr>
        <p:spPr>
          <a:xfrm>
            <a:off x="2519541" y="627099"/>
            <a:ext cx="6892827" cy="4643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0" name="Titre 1"/>
          <p:cNvSpPr txBox="1">
            <a:spLocks/>
          </p:cNvSpPr>
          <p:nvPr/>
        </p:nvSpPr>
        <p:spPr>
          <a:xfrm>
            <a:off x="3950915" y="75673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82" name="Rectangle 81"/>
          <p:cNvSpPr/>
          <p:nvPr/>
        </p:nvSpPr>
        <p:spPr>
          <a:xfrm>
            <a:off x="6040364" y="740319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6704842" y="746360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8390629" y="765185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90" name="Titre 1"/>
          <p:cNvSpPr txBox="1">
            <a:spLocks/>
          </p:cNvSpPr>
          <p:nvPr/>
        </p:nvSpPr>
        <p:spPr>
          <a:xfrm>
            <a:off x="1439951" y="589959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135616" y="4280514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75" name="Titre 1"/>
          <p:cNvSpPr txBox="1">
            <a:spLocks/>
          </p:cNvSpPr>
          <p:nvPr/>
        </p:nvSpPr>
        <p:spPr>
          <a:xfrm>
            <a:off x="6143129" y="4283375"/>
            <a:ext cx="995588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Restitution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942922" y="4277621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77" name="Titre 1"/>
          <p:cNvSpPr txBox="1">
            <a:spLocks/>
          </p:cNvSpPr>
          <p:nvPr/>
        </p:nvSpPr>
        <p:spPr>
          <a:xfrm>
            <a:off x="9110628" y="4279691"/>
            <a:ext cx="837151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UF </a:t>
            </a:r>
            <a:r>
              <a:rPr lang="fr-FR" sz="1400" dirty="0" smtClean="0"/>
              <a:t>totale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2018348" y="5133355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92" name="Rectangle 91"/>
          <p:cNvSpPr/>
          <p:nvPr/>
        </p:nvSpPr>
        <p:spPr>
          <a:xfrm>
            <a:off x="7115618" y="5118463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93" name="Titre 1"/>
          <p:cNvSpPr txBox="1">
            <a:spLocks/>
          </p:cNvSpPr>
          <p:nvPr/>
        </p:nvSpPr>
        <p:spPr>
          <a:xfrm>
            <a:off x="1128889" y="5519728"/>
            <a:ext cx="88446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Profil </a:t>
            </a:r>
            <a:r>
              <a:rPr lang="fr-FR" sz="1400" dirty="0" smtClean="0"/>
              <a:t>NA</a:t>
            </a:r>
            <a:endParaRPr lang="fr-FR" sz="1400" dirty="0"/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382147" y="5136642"/>
            <a:ext cx="1638862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Heure </a:t>
            </a:r>
            <a:r>
              <a:rPr lang="fr-FR" sz="1400" dirty="0" smtClean="0"/>
              <a:t>branchement</a:t>
            </a:r>
            <a:endParaRPr lang="fr-FR" sz="1400" dirty="0"/>
          </a:p>
        </p:txBody>
      </p:sp>
      <p:sp>
        <p:nvSpPr>
          <p:cNvPr id="112" name="Rectangle 111"/>
          <p:cNvSpPr/>
          <p:nvPr/>
        </p:nvSpPr>
        <p:spPr>
          <a:xfrm>
            <a:off x="2013456" y="5517414"/>
            <a:ext cx="150209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113" name="Rectangle 112"/>
          <p:cNvSpPr/>
          <p:nvPr/>
        </p:nvSpPr>
        <p:spPr>
          <a:xfrm>
            <a:off x="4496597" y="5152327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114" name="Titre 1"/>
          <p:cNvSpPr txBox="1">
            <a:spLocks/>
          </p:cNvSpPr>
          <p:nvPr/>
        </p:nvSpPr>
        <p:spPr>
          <a:xfrm>
            <a:off x="4097863" y="5145603"/>
            <a:ext cx="39478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TA</a:t>
            </a:r>
          </a:p>
        </p:txBody>
      </p:sp>
      <p:sp>
        <p:nvSpPr>
          <p:cNvPr id="115" name="Titre 1"/>
          <p:cNvSpPr txBox="1">
            <a:spLocks/>
          </p:cNvSpPr>
          <p:nvPr/>
        </p:nvSpPr>
        <p:spPr>
          <a:xfrm>
            <a:off x="6542530" y="5114056"/>
            <a:ext cx="565505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Pouls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50030" y="3584663"/>
            <a:ext cx="198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Stratégie de dialyse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363472" y="3578039"/>
            <a:ext cx="1980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Détail séance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385812" y="3579017"/>
            <a:ext cx="198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Complications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86428" y="1018990"/>
            <a:ext cx="3155083" cy="3781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600" b="1" u="sng" dirty="0" smtClean="0"/>
              <a:t>Bordereau séance </a:t>
            </a:r>
            <a:r>
              <a:rPr lang="fr-FR" sz="1600" b="1" u="sng" dirty="0"/>
              <a:t>d'hémodialyse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66375" y="1405292"/>
            <a:ext cx="11408294" cy="207983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dirty="0"/>
          </a:p>
        </p:txBody>
      </p:sp>
      <p:sp>
        <p:nvSpPr>
          <p:cNvPr id="102" name="Rectangle 101"/>
          <p:cNvSpPr/>
          <p:nvPr/>
        </p:nvSpPr>
        <p:spPr>
          <a:xfrm>
            <a:off x="5391284" y="2188165"/>
            <a:ext cx="150794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105" name="Titre 1"/>
          <p:cNvSpPr txBox="1">
            <a:spLocks/>
          </p:cNvSpPr>
          <p:nvPr/>
        </p:nvSpPr>
        <p:spPr>
          <a:xfrm>
            <a:off x="4591400" y="2201524"/>
            <a:ext cx="794439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Equipe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385840" y="1498629"/>
            <a:ext cx="1502095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107" name="Titre 1"/>
          <p:cNvSpPr txBox="1">
            <a:spLocks/>
          </p:cNvSpPr>
          <p:nvPr/>
        </p:nvSpPr>
        <p:spPr>
          <a:xfrm>
            <a:off x="3838157" y="1411841"/>
            <a:ext cx="1440000" cy="432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Nombre séances hebdomadaires 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013454" y="2954849"/>
            <a:ext cx="4910927" cy="45199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109" name="Rectangle 108"/>
          <p:cNvSpPr/>
          <p:nvPr/>
        </p:nvSpPr>
        <p:spPr>
          <a:xfrm>
            <a:off x="2001615" y="1464762"/>
            <a:ext cx="1502095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110" name="Titre 1"/>
          <p:cNvSpPr txBox="1">
            <a:spLocks/>
          </p:cNvSpPr>
          <p:nvPr/>
        </p:nvSpPr>
        <p:spPr>
          <a:xfrm>
            <a:off x="558288" y="1411120"/>
            <a:ext cx="1440000" cy="39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de 1</a:t>
            </a:r>
            <a:r>
              <a:rPr lang="fr-FR" sz="1400" baseline="30000" dirty="0" smtClean="0"/>
              <a:t>er</a:t>
            </a:r>
            <a:r>
              <a:rPr lang="fr-FR" sz="1400" dirty="0" smtClean="0"/>
              <a:t> prescription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5399708" y="2555882"/>
            <a:ext cx="1502095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118" name="Titre 1"/>
          <p:cNvSpPr txBox="1">
            <a:spLocks/>
          </p:cNvSpPr>
          <p:nvPr/>
        </p:nvSpPr>
        <p:spPr>
          <a:xfrm>
            <a:off x="4771577" y="2549158"/>
            <a:ext cx="648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IDE</a:t>
            </a:r>
          </a:p>
        </p:txBody>
      </p:sp>
      <p:sp>
        <p:nvSpPr>
          <p:cNvPr id="119" name="Titre 1"/>
          <p:cNvSpPr txBox="1">
            <a:spLocks/>
          </p:cNvSpPr>
          <p:nvPr/>
        </p:nvSpPr>
        <p:spPr>
          <a:xfrm>
            <a:off x="571852" y="2957887"/>
            <a:ext cx="1332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Transmission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264510" y="1458293"/>
            <a:ext cx="1502095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122" name="Triangle isocèle 121"/>
          <p:cNvSpPr/>
          <p:nvPr/>
        </p:nvSpPr>
        <p:spPr>
          <a:xfrm rot="10800000">
            <a:off x="9532647" y="1467840"/>
            <a:ext cx="216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123" name="Titre 1"/>
          <p:cNvSpPr txBox="1">
            <a:spLocks/>
          </p:cNvSpPr>
          <p:nvPr/>
        </p:nvSpPr>
        <p:spPr>
          <a:xfrm>
            <a:off x="7259717" y="1461154"/>
            <a:ext cx="967891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Groupage</a:t>
            </a:r>
            <a:endParaRPr lang="fr-FR" sz="1400" dirty="0"/>
          </a:p>
        </p:txBody>
      </p:sp>
      <p:sp>
        <p:nvSpPr>
          <p:cNvPr id="124" name="Rectangle 123"/>
          <p:cNvSpPr/>
          <p:nvPr/>
        </p:nvSpPr>
        <p:spPr>
          <a:xfrm>
            <a:off x="2004614" y="1838219"/>
            <a:ext cx="150794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125" name="Titre 1"/>
          <p:cNvSpPr txBox="1">
            <a:spLocks/>
          </p:cNvSpPr>
          <p:nvPr/>
        </p:nvSpPr>
        <p:spPr>
          <a:xfrm>
            <a:off x="485559" y="1851578"/>
            <a:ext cx="1332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1</a:t>
            </a:r>
            <a:r>
              <a:rPr lang="fr-FR" sz="1400" baseline="30000" dirty="0" smtClean="0"/>
              <a:t>er</a:t>
            </a:r>
            <a:r>
              <a:rPr lang="fr-FR" sz="1400" dirty="0" smtClean="0"/>
              <a:t> EPO</a:t>
            </a:r>
            <a:endParaRPr lang="fr-FR" sz="1400" dirty="0"/>
          </a:p>
        </p:txBody>
      </p:sp>
      <p:sp>
        <p:nvSpPr>
          <p:cNvPr id="126" name="Rectangle 125"/>
          <p:cNvSpPr/>
          <p:nvPr/>
        </p:nvSpPr>
        <p:spPr>
          <a:xfrm>
            <a:off x="5400128" y="1848540"/>
            <a:ext cx="1502095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2013038" y="2205934"/>
            <a:ext cx="150209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128" name="Titre 1"/>
          <p:cNvSpPr txBox="1">
            <a:spLocks/>
          </p:cNvSpPr>
          <p:nvPr/>
        </p:nvSpPr>
        <p:spPr>
          <a:xfrm>
            <a:off x="481790" y="2187921"/>
            <a:ext cx="1332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de séance</a:t>
            </a:r>
            <a:endParaRPr lang="fr-FR" sz="1400" dirty="0"/>
          </a:p>
        </p:txBody>
      </p:sp>
      <p:sp>
        <p:nvSpPr>
          <p:cNvPr id="129" name="Titre 1"/>
          <p:cNvSpPr txBox="1">
            <a:spLocks/>
          </p:cNvSpPr>
          <p:nvPr/>
        </p:nvSpPr>
        <p:spPr>
          <a:xfrm>
            <a:off x="3518257" y="1829000"/>
            <a:ext cx="1764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1</a:t>
            </a:r>
            <a:r>
              <a:rPr lang="fr-FR" sz="1400" baseline="30000" dirty="0" smtClean="0"/>
              <a:t>er</a:t>
            </a:r>
            <a:r>
              <a:rPr lang="fr-FR" sz="1400" dirty="0" smtClean="0"/>
              <a:t> fer injectable</a:t>
            </a:r>
            <a:endParaRPr lang="fr-FR" sz="1400" dirty="0"/>
          </a:p>
        </p:txBody>
      </p:sp>
      <p:sp>
        <p:nvSpPr>
          <p:cNvPr id="130" name="Rectangle 129"/>
          <p:cNvSpPr/>
          <p:nvPr/>
        </p:nvSpPr>
        <p:spPr>
          <a:xfrm>
            <a:off x="8290083" y="2198486"/>
            <a:ext cx="1502095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131" name="Titre 1"/>
          <p:cNvSpPr txBox="1">
            <a:spLocks/>
          </p:cNvSpPr>
          <p:nvPr/>
        </p:nvSpPr>
        <p:spPr>
          <a:xfrm>
            <a:off x="7572905" y="2190235"/>
            <a:ext cx="720466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Séance</a:t>
            </a:r>
            <a:endParaRPr lang="fr-FR" sz="1400" dirty="0"/>
          </a:p>
        </p:txBody>
      </p:sp>
      <p:sp>
        <p:nvSpPr>
          <p:cNvPr id="132" name="Rectangle 131"/>
          <p:cNvSpPr/>
          <p:nvPr/>
        </p:nvSpPr>
        <p:spPr>
          <a:xfrm>
            <a:off x="2013456" y="2571020"/>
            <a:ext cx="1502095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133" name="Rectangle 132"/>
          <p:cNvSpPr/>
          <p:nvPr/>
        </p:nvSpPr>
        <p:spPr>
          <a:xfrm>
            <a:off x="8267090" y="1844685"/>
            <a:ext cx="1502095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134" name="Titre 1"/>
          <p:cNvSpPr txBox="1">
            <a:spLocks/>
          </p:cNvSpPr>
          <p:nvPr/>
        </p:nvSpPr>
        <p:spPr>
          <a:xfrm>
            <a:off x="7512801" y="1837961"/>
            <a:ext cx="724376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Statut</a:t>
            </a:r>
          </a:p>
        </p:txBody>
      </p:sp>
      <p:sp>
        <p:nvSpPr>
          <p:cNvPr id="135" name="Titre 1"/>
          <p:cNvSpPr txBox="1">
            <a:spLocks/>
          </p:cNvSpPr>
          <p:nvPr/>
        </p:nvSpPr>
        <p:spPr>
          <a:xfrm>
            <a:off x="526699" y="2551480"/>
            <a:ext cx="1332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Forfait </a:t>
            </a:r>
            <a:r>
              <a:rPr lang="fr-FR" sz="1400" dirty="0" smtClean="0"/>
              <a:t>séance</a:t>
            </a:r>
            <a:endParaRPr lang="fr-FR" sz="1400" dirty="0"/>
          </a:p>
        </p:txBody>
      </p:sp>
      <p:sp>
        <p:nvSpPr>
          <p:cNvPr id="136" name="Triangle isocèle 135"/>
          <p:cNvSpPr/>
          <p:nvPr/>
        </p:nvSpPr>
        <p:spPr>
          <a:xfrm rot="10800000">
            <a:off x="9535735" y="1842227"/>
            <a:ext cx="216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5" name="Rectangle 4"/>
          <p:cNvSpPr/>
          <p:nvPr/>
        </p:nvSpPr>
        <p:spPr>
          <a:xfrm>
            <a:off x="3097912" y="4293514"/>
            <a:ext cx="355417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Kg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24445" y="6214862"/>
            <a:ext cx="950878" cy="4405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b="1" u="sng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À suivre</a:t>
            </a:r>
            <a:endParaRPr lang="fr-FR" b="1" u="sng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104598" y="5129787"/>
            <a:ext cx="304638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H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660429" y="5524309"/>
            <a:ext cx="825681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Profil </a:t>
            </a:r>
            <a:r>
              <a:rPr lang="fr-FR" sz="1400" dirty="0" smtClean="0">
                <a:latin typeface="+mj-lt"/>
                <a:ea typeface="+mj-ea"/>
                <a:cs typeface="+mj-cs"/>
              </a:rPr>
              <a:t>UF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98" name="Rectangle 97"/>
          <p:cNvSpPr/>
          <p:nvPr/>
        </p:nvSpPr>
        <p:spPr>
          <a:xfrm>
            <a:off x="5585430" y="5140142"/>
            <a:ext cx="668773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cmHg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04" name="Rectangle 103"/>
          <p:cNvSpPr/>
          <p:nvPr/>
        </p:nvSpPr>
        <p:spPr>
          <a:xfrm>
            <a:off x="8234358" y="4282225"/>
            <a:ext cx="355417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cc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11" name="Rectangle 110"/>
          <p:cNvSpPr/>
          <p:nvPr/>
        </p:nvSpPr>
        <p:spPr>
          <a:xfrm>
            <a:off x="5581465" y="4282225"/>
            <a:ext cx="355417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Kg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013038" y="4672146"/>
            <a:ext cx="4895924" cy="368905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120" name="Titre 1"/>
          <p:cNvSpPr txBox="1">
            <a:spLocks/>
          </p:cNvSpPr>
          <p:nvPr/>
        </p:nvSpPr>
        <p:spPr>
          <a:xfrm>
            <a:off x="862948" y="4651450"/>
            <a:ext cx="1136459" cy="41787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Observations incidents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8207184" y="5118500"/>
            <a:ext cx="515880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/mn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11029401" y="5095927"/>
            <a:ext cx="341760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°C</a:t>
            </a:r>
          </a:p>
        </p:txBody>
      </p:sp>
      <p:sp>
        <p:nvSpPr>
          <p:cNvPr id="141" name="Titre 1"/>
          <p:cNvSpPr txBox="1">
            <a:spLocks/>
          </p:cNvSpPr>
          <p:nvPr/>
        </p:nvSpPr>
        <p:spPr>
          <a:xfrm>
            <a:off x="4120441" y="5958263"/>
            <a:ext cx="720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PV</a:t>
            </a:r>
            <a:endParaRPr lang="fr-FR" sz="1400" dirty="0"/>
          </a:p>
        </p:txBody>
      </p:sp>
      <p:sp>
        <p:nvSpPr>
          <p:cNvPr id="142" name="Titre 1"/>
          <p:cNvSpPr txBox="1">
            <a:spLocks/>
          </p:cNvSpPr>
          <p:nvPr/>
        </p:nvSpPr>
        <p:spPr>
          <a:xfrm>
            <a:off x="1858352" y="5961972"/>
            <a:ext cx="720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TA</a:t>
            </a:r>
            <a:endParaRPr lang="fr-FR" sz="1400" dirty="0"/>
          </a:p>
        </p:txBody>
      </p:sp>
      <p:sp>
        <p:nvSpPr>
          <p:cNvPr id="143" name="Rectangle 142"/>
          <p:cNvSpPr/>
          <p:nvPr/>
        </p:nvSpPr>
        <p:spPr>
          <a:xfrm>
            <a:off x="3991185" y="6374749"/>
            <a:ext cx="864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4" name="Titre 1"/>
          <p:cNvSpPr txBox="1">
            <a:spLocks/>
          </p:cNvSpPr>
          <p:nvPr/>
        </p:nvSpPr>
        <p:spPr>
          <a:xfrm>
            <a:off x="815582" y="5966036"/>
            <a:ext cx="720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Heure</a:t>
            </a:r>
            <a:endParaRPr lang="fr-FR" sz="1400" dirty="0"/>
          </a:p>
        </p:txBody>
      </p:sp>
      <p:sp>
        <p:nvSpPr>
          <p:cNvPr id="145" name="Rectangle 144"/>
          <p:cNvSpPr/>
          <p:nvPr/>
        </p:nvSpPr>
        <p:spPr>
          <a:xfrm>
            <a:off x="7696779" y="5957491"/>
            <a:ext cx="1342820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bservation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6" name="Rectangle 145"/>
          <p:cNvSpPr/>
          <p:nvPr/>
        </p:nvSpPr>
        <p:spPr>
          <a:xfrm>
            <a:off x="2897669" y="6379751"/>
            <a:ext cx="864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7" name="Rectangle 146"/>
          <p:cNvSpPr/>
          <p:nvPr/>
        </p:nvSpPr>
        <p:spPr>
          <a:xfrm>
            <a:off x="638455" y="5889691"/>
            <a:ext cx="9986644" cy="900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8" name="Titre 1"/>
          <p:cNvSpPr txBox="1">
            <a:spLocks/>
          </p:cNvSpPr>
          <p:nvPr/>
        </p:nvSpPr>
        <p:spPr>
          <a:xfrm>
            <a:off x="5247784" y="5961324"/>
            <a:ext cx="720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UF</a:t>
            </a:r>
            <a:endParaRPr lang="fr-FR" sz="1400" dirty="0"/>
          </a:p>
        </p:txBody>
      </p:sp>
      <p:cxnSp>
        <p:nvCxnSpPr>
          <p:cNvPr id="149" name="Connecteur droit 148"/>
          <p:cNvCxnSpPr/>
          <p:nvPr/>
        </p:nvCxnSpPr>
        <p:spPr>
          <a:xfrm>
            <a:off x="1709635" y="5889691"/>
            <a:ext cx="0" cy="90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0" name="Connecteur droit 149"/>
          <p:cNvCxnSpPr/>
          <p:nvPr/>
        </p:nvCxnSpPr>
        <p:spPr>
          <a:xfrm>
            <a:off x="2786942" y="5908741"/>
            <a:ext cx="0" cy="90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1" name="Connecteur droit 150"/>
          <p:cNvCxnSpPr/>
          <p:nvPr/>
        </p:nvCxnSpPr>
        <p:spPr>
          <a:xfrm>
            <a:off x="6049833" y="5880836"/>
            <a:ext cx="0" cy="90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2" name="Connecteur droit 151"/>
          <p:cNvCxnSpPr/>
          <p:nvPr/>
        </p:nvCxnSpPr>
        <p:spPr>
          <a:xfrm>
            <a:off x="639520" y="6312543"/>
            <a:ext cx="9972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4" name="Rectangle 153"/>
          <p:cNvSpPr/>
          <p:nvPr/>
        </p:nvSpPr>
        <p:spPr>
          <a:xfrm>
            <a:off x="2795632" y="5966035"/>
            <a:ext cx="1080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Débit sang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cxnSp>
        <p:nvCxnSpPr>
          <p:cNvPr id="155" name="Connecteur droit 154"/>
          <p:cNvCxnSpPr/>
          <p:nvPr/>
        </p:nvCxnSpPr>
        <p:spPr>
          <a:xfrm>
            <a:off x="4952837" y="5895124"/>
            <a:ext cx="0" cy="90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6" name="Rectangle 155"/>
          <p:cNvSpPr/>
          <p:nvPr/>
        </p:nvSpPr>
        <p:spPr>
          <a:xfrm>
            <a:off x="6163979" y="6387483"/>
            <a:ext cx="864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57" name="Connecteur droit 156"/>
          <p:cNvCxnSpPr/>
          <p:nvPr/>
        </p:nvCxnSpPr>
        <p:spPr>
          <a:xfrm>
            <a:off x="9536701" y="5880836"/>
            <a:ext cx="0" cy="90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8" name="Titre 1"/>
          <p:cNvSpPr txBox="1">
            <a:spLocks/>
          </p:cNvSpPr>
          <p:nvPr/>
        </p:nvSpPr>
        <p:spPr>
          <a:xfrm>
            <a:off x="9686566" y="5959661"/>
            <a:ext cx="720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Ajouter</a:t>
            </a:r>
            <a:endParaRPr lang="fr-FR" sz="1400" dirty="0"/>
          </a:p>
        </p:txBody>
      </p:sp>
      <p:sp>
        <p:nvSpPr>
          <p:cNvPr id="160" name="Rectangle 159"/>
          <p:cNvSpPr/>
          <p:nvPr/>
        </p:nvSpPr>
        <p:spPr>
          <a:xfrm>
            <a:off x="1815593" y="6374749"/>
            <a:ext cx="864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61" name="Rectangle 160"/>
          <p:cNvSpPr/>
          <p:nvPr/>
        </p:nvSpPr>
        <p:spPr>
          <a:xfrm>
            <a:off x="753762" y="6364905"/>
            <a:ext cx="864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62" name="Connecteur droit 161"/>
          <p:cNvCxnSpPr/>
          <p:nvPr/>
        </p:nvCxnSpPr>
        <p:spPr>
          <a:xfrm>
            <a:off x="3877030" y="5895124"/>
            <a:ext cx="0" cy="90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63" name="Rectangle 162"/>
          <p:cNvSpPr/>
          <p:nvPr/>
        </p:nvSpPr>
        <p:spPr>
          <a:xfrm>
            <a:off x="5080245" y="6376194"/>
            <a:ext cx="864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64" name="Rectangle 163"/>
          <p:cNvSpPr/>
          <p:nvPr/>
        </p:nvSpPr>
        <p:spPr>
          <a:xfrm>
            <a:off x="7259718" y="6381837"/>
            <a:ext cx="2143009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65" name="Titre 1"/>
          <p:cNvSpPr txBox="1">
            <a:spLocks/>
          </p:cNvSpPr>
          <p:nvPr/>
        </p:nvSpPr>
        <p:spPr>
          <a:xfrm>
            <a:off x="6311186" y="5959661"/>
            <a:ext cx="720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PTM</a:t>
            </a:r>
            <a:endParaRPr lang="fr-FR" sz="1400" dirty="0"/>
          </a:p>
        </p:txBody>
      </p:sp>
      <p:cxnSp>
        <p:nvCxnSpPr>
          <p:cNvPr id="166" name="Connecteur droit 165"/>
          <p:cNvCxnSpPr/>
          <p:nvPr/>
        </p:nvCxnSpPr>
        <p:spPr>
          <a:xfrm>
            <a:off x="7132167" y="5880836"/>
            <a:ext cx="0" cy="90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67" name="Plus 166"/>
          <p:cNvSpPr/>
          <p:nvPr/>
        </p:nvSpPr>
        <p:spPr>
          <a:xfrm>
            <a:off x="9889373" y="6373558"/>
            <a:ext cx="360000" cy="360000"/>
          </a:xfrm>
          <a:prstGeom prst="mathPlu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05008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83"/>
          <p:cNvSpPr/>
          <p:nvPr/>
        </p:nvSpPr>
        <p:spPr>
          <a:xfrm>
            <a:off x="191991" y="573517"/>
            <a:ext cx="11880000" cy="622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290574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69759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12540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-8916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2" name="Rectangle 1"/>
          <p:cNvSpPr/>
          <p:nvPr/>
        </p:nvSpPr>
        <p:spPr>
          <a:xfrm>
            <a:off x="186428" y="1515702"/>
            <a:ext cx="1529483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600" b="1" u="sng" dirty="0"/>
              <a:t>Détail séance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33778" y="1811692"/>
            <a:ext cx="9877778" cy="4510086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78" name="Titre 1"/>
          <p:cNvSpPr txBox="1">
            <a:spLocks/>
          </p:cNvSpPr>
          <p:nvPr/>
        </p:nvSpPr>
        <p:spPr>
          <a:xfrm>
            <a:off x="954524" y="5752817"/>
            <a:ext cx="1191339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Transmission</a:t>
            </a:r>
            <a:endParaRPr lang="fr-FR" sz="1400" dirty="0"/>
          </a:p>
        </p:txBody>
      </p:sp>
      <p:sp>
        <p:nvSpPr>
          <p:cNvPr id="51" name="Titre 1"/>
          <p:cNvSpPr txBox="1">
            <a:spLocks/>
          </p:cNvSpPr>
          <p:nvPr/>
        </p:nvSpPr>
        <p:spPr>
          <a:xfrm>
            <a:off x="2570132" y="685959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56" name="Titre 1"/>
          <p:cNvSpPr txBox="1">
            <a:spLocks/>
          </p:cNvSpPr>
          <p:nvPr/>
        </p:nvSpPr>
        <p:spPr>
          <a:xfrm>
            <a:off x="4960494" y="672854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57" name="Titre 1"/>
          <p:cNvSpPr txBox="1">
            <a:spLocks/>
          </p:cNvSpPr>
          <p:nvPr/>
        </p:nvSpPr>
        <p:spPr>
          <a:xfrm>
            <a:off x="7787861" y="692366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58" name="Rectangle 57"/>
          <p:cNvSpPr/>
          <p:nvPr/>
        </p:nvSpPr>
        <p:spPr>
          <a:xfrm>
            <a:off x="3757530" y="730985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9" name="Rectangle 58"/>
          <p:cNvSpPr/>
          <p:nvPr/>
        </p:nvSpPr>
        <p:spPr>
          <a:xfrm>
            <a:off x="5931716" y="686261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3" name="Rectangle 62"/>
          <p:cNvSpPr/>
          <p:nvPr/>
        </p:nvSpPr>
        <p:spPr>
          <a:xfrm>
            <a:off x="8341959" y="737613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4" name="Rectangle 63"/>
          <p:cNvSpPr/>
          <p:nvPr/>
        </p:nvSpPr>
        <p:spPr>
          <a:xfrm>
            <a:off x="2519541" y="627099"/>
            <a:ext cx="6892827" cy="4643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0" name="Titre 1"/>
          <p:cNvSpPr txBox="1">
            <a:spLocks/>
          </p:cNvSpPr>
          <p:nvPr/>
        </p:nvSpPr>
        <p:spPr>
          <a:xfrm>
            <a:off x="3950915" y="75673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82" name="Rectangle 81"/>
          <p:cNvSpPr/>
          <p:nvPr/>
        </p:nvSpPr>
        <p:spPr>
          <a:xfrm>
            <a:off x="6040364" y="740319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6704842" y="746360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8390629" y="765185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90" name="Titre 1"/>
          <p:cNvSpPr txBox="1">
            <a:spLocks/>
          </p:cNvSpPr>
          <p:nvPr/>
        </p:nvSpPr>
        <p:spPr>
          <a:xfrm>
            <a:off x="1439951" y="589959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9085724" y="6451421"/>
            <a:ext cx="108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Valider</a:t>
            </a:r>
          </a:p>
        </p:txBody>
      </p:sp>
      <p:sp>
        <p:nvSpPr>
          <p:cNvPr id="93" name="Titre 1"/>
          <p:cNvSpPr txBox="1">
            <a:spLocks/>
          </p:cNvSpPr>
          <p:nvPr/>
        </p:nvSpPr>
        <p:spPr>
          <a:xfrm>
            <a:off x="2152710" y="4587692"/>
            <a:ext cx="1836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dirty="0"/>
              <a:t>Temps de </a:t>
            </a:r>
            <a:r>
              <a:rPr lang="fr-FR" sz="1400" b="1" dirty="0" smtClean="0"/>
              <a:t>compression</a:t>
            </a:r>
            <a:endParaRPr lang="fr-FR" sz="1400" b="1" dirty="0"/>
          </a:p>
        </p:txBody>
      </p:sp>
      <p:sp>
        <p:nvSpPr>
          <p:cNvPr id="115" name="Titre 1"/>
          <p:cNvSpPr txBox="1">
            <a:spLocks/>
          </p:cNvSpPr>
          <p:nvPr/>
        </p:nvSpPr>
        <p:spPr>
          <a:xfrm>
            <a:off x="6308298" y="4606635"/>
            <a:ext cx="1548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dirty="0"/>
              <a:t>Traitement </a:t>
            </a:r>
            <a:r>
              <a:rPr lang="fr-FR" sz="1400" b="1" dirty="0" smtClean="0"/>
              <a:t>anémie</a:t>
            </a:r>
            <a:endParaRPr lang="fr-FR" sz="1400" b="1" dirty="0"/>
          </a:p>
        </p:txBody>
      </p:sp>
      <p:sp>
        <p:nvSpPr>
          <p:cNvPr id="95" name="Rectangle 94"/>
          <p:cNvSpPr/>
          <p:nvPr/>
        </p:nvSpPr>
        <p:spPr>
          <a:xfrm>
            <a:off x="350030" y="1168842"/>
            <a:ext cx="198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Stratégie de dialyse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363472" y="1162218"/>
            <a:ext cx="1980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Détail séance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385812" y="1163196"/>
            <a:ext cx="198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Complications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024379" y="646994"/>
            <a:ext cx="2042805" cy="4405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b="1" u="sng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Suite de l’écran 73</a:t>
            </a:r>
            <a:endParaRPr lang="fr-FR" b="1" u="sng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16" name="Rectangle 115"/>
          <p:cNvSpPr/>
          <p:nvPr/>
        </p:nvSpPr>
        <p:spPr>
          <a:xfrm>
            <a:off x="8726112" y="4673982"/>
            <a:ext cx="1080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EPO</a:t>
            </a:r>
          </a:p>
        </p:txBody>
      </p:sp>
      <p:sp>
        <p:nvSpPr>
          <p:cNvPr id="49" name="Titre 1"/>
          <p:cNvSpPr txBox="1">
            <a:spLocks/>
          </p:cNvSpPr>
          <p:nvPr/>
        </p:nvSpPr>
        <p:spPr>
          <a:xfrm>
            <a:off x="2363472" y="59579"/>
            <a:ext cx="7385175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73 – Hémodialyse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Séance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d'hémodialyse / nouvel séance d'hémodialyse </a:t>
            </a:r>
            <a:r>
              <a:rPr lang="fr-FR" altLang="fr-FR" sz="1800" dirty="0"/>
              <a:t>/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Détail séance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55086" y="1938889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54" name="Titre 1"/>
          <p:cNvSpPr txBox="1">
            <a:spLocks/>
          </p:cNvSpPr>
          <p:nvPr/>
        </p:nvSpPr>
        <p:spPr>
          <a:xfrm>
            <a:off x="4510530" y="1938889"/>
            <a:ext cx="1745912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Volume de sang </a:t>
            </a:r>
            <a:r>
              <a:rPr lang="fr-FR" sz="1400" dirty="0" smtClean="0"/>
              <a:t>traité</a:t>
            </a:r>
            <a:endParaRPr lang="fr-FR" sz="1400" dirty="0"/>
          </a:p>
        </p:txBody>
      </p:sp>
      <p:sp>
        <p:nvSpPr>
          <p:cNvPr id="60" name="Rectangle 59"/>
          <p:cNvSpPr/>
          <p:nvPr/>
        </p:nvSpPr>
        <p:spPr>
          <a:xfrm>
            <a:off x="2667665" y="1927607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61" name="Titre 1"/>
          <p:cNvSpPr txBox="1">
            <a:spLocks/>
          </p:cNvSpPr>
          <p:nvPr/>
        </p:nvSpPr>
        <p:spPr>
          <a:xfrm>
            <a:off x="863090" y="1919121"/>
            <a:ext cx="1805184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Heure </a:t>
            </a:r>
            <a:r>
              <a:rPr lang="fr-FR" sz="1400" dirty="0" smtClean="0"/>
              <a:t>débranchement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665212" y="2372687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69" name="Titre 1"/>
          <p:cNvSpPr txBox="1">
            <a:spLocks/>
          </p:cNvSpPr>
          <p:nvPr/>
        </p:nvSpPr>
        <p:spPr>
          <a:xfrm>
            <a:off x="2295460" y="2375548"/>
            <a:ext cx="372852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TA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145921" y="5766364"/>
            <a:ext cx="8019803" cy="414596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72" name="Titre 1"/>
          <p:cNvSpPr txBox="1">
            <a:spLocks/>
          </p:cNvSpPr>
          <p:nvPr/>
        </p:nvSpPr>
        <p:spPr>
          <a:xfrm>
            <a:off x="2077433" y="2844607"/>
            <a:ext cx="603929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KT/V</a:t>
            </a:r>
            <a:endParaRPr lang="fr-FR" sz="1400" dirty="0"/>
          </a:p>
        </p:txBody>
      </p:sp>
      <p:sp>
        <p:nvSpPr>
          <p:cNvPr id="73" name="Rectangle 72"/>
          <p:cNvSpPr/>
          <p:nvPr/>
        </p:nvSpPr>
        <p:spPr>
          <a:xfrm>
            <a:off x="6266365" y="2865458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80" name="Titre 1"/>
          <p:cNvSpPr txBox="1">
            <a:spLocks/>
          </p:cNvSpPr>
          <p:nvPr/>
        </p:nvSpPr>
        <p:spPr>
          <a:xfrm>
            <a:off x="5376900" y="2868745"/>
            <a:ext cx="892125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UF </a:t>
            </a:r>
            <a:r>
              <a:rPr lang="fr-FR" sz="1400" dirty="0" smtClean="0"/>
              <a:t>totale</a:t>
            </a:r>
            <a:endParaRPr lang="fr-FR" sz="1400" dirty="0"/>
          </a:p>
        </p:txBody>
      </p:sp>
      <p:sp>
        <p:nvSpPr>
          <p:cNvPr id="81" name="Rectangle 80"/>
          <p:cNvSpPr/>
          <p:nvPr/>
        </p:nvSpPr>
        <p:spPr>
          <a:xfrm>
            <a:off x="8841477" y="2879844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94" name="Rectangle 93"/>
          <p:cNvSpPr/>
          <p:nvPr/>
        </p:nvSpPr>
        <p:spPr>
          <a:xfrm>
            <a:off x="6257664" y="2397831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100" name="Titre 1"/>
          <p:cNvSpPr txBox="1">
            <a:spLocks/>
          </p:cNvSpPr>
          <p:nvPr/>
        </p:nvSpPr>
        <p:spPr>
          <a:xfrm>
            <a:off x="5678306" y="2402396"/>
            <a:ext cx="575403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Pouls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502007" y="2875574"/>
            <a:ext cx="1346098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Poids de </a:t>
            </a:r>
            <a:r>
              <a:rPr lang="fr-FR" sz="1400" dirty="0" smtClean="0">
                <a:latin typeface="+mj-lt"/>
                <a:ea typeface="+mj-ea"/>
                <a:cs typeface="+mj-cs"/>
              </a:rPr>
              <a:t>sortie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05" name="Rectangle 104"/>
          <p:cNvSpPr/>
          <p:nvPr/>
        </p:nvSpPr>
        <p:spPr>
          <a:xfrm>
            <a:off x="3755565" y="1930959"/>
            <a:ext cx="295273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H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06" name="Rectangle 105"/>
          <p:cNvSpPr/>
          <p:nvPr/>
        </p:nvSpPr>
        <p:spPr>
          <a:xfrm>
            <a:off x="3761941" y="2363792"/>
            <a:ext cx="657571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cmHg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10" name="Rectangle 109"/>
          <p:cNvSpPr/>
          <p:nvPr/>
        </p:nvSpPr>
        <p:spPr>
          <a:xfrm>
            <a:off x="9941628" y="2882444"/>
            <a:ext cx="511392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Kg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14" name="Rectangle 113"/>
          <p:cNvSpPr/>
          <p:nvPr/>
        </p:nvSpPr>
        <p:spPr>
          <a:xfrm>
            <a:off x="7353099" y="2395855"/>
            <a:ext cx="511392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/mn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17" name="Rectangle 116"/>
          <p:cNvSpPr/>
          <p:nvPr/>
        </p:nvSpPr>
        <p:spPr>
          <a:xfrm>
            <a:off x="6298687" y="4594404"/>
            <a:ext cx="3867037" cy="1072618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119" name="Rectangle 118"/>
          <p:cNvSpPr/>
          <p:nvPr/>
        </p:nvSpPr>
        <p:spPr>
          <a:xfrm>
            <a:off x="8738913" y="5019613"/>
            <a:ext cx="1260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FER Injectable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2150032" y="4577472"/>
            <a:ext cx="3859764" cy="1072618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123" name="Ellipse 122"/>
          <p:cNvSpPr/>
          <p:nvPr/>
        </p:nvSpPr>
        <p:spPr>
          <a:xfrm>
            <a:off x="4340589" y="4701820"/>
            <a:ext cx="180000" cy="18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4" name="Rectangle 123"/>
          <p:cNvSpPr/>
          <p:nvPr/>
        </p:nvSpPr>
        <p:spPr>
          <a:xfrm>
            <a:off x="4543592" y="4645761"/>
            <a:ext cx="1080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&lt; 10 mn</a:t>
            </a:r>
          </a:p>
        </p:txBody>
      </p:sp>
      <p:sp>
        <p:nvSpPr>
          <p:cNvPr id="126" name="Ellipse 125"/>
          <p:cNvSpPr/>
          <p:nvPr/>
        </p:nvSpPr>
        <p:spPr>
          <a:xfrm>
            <a:off x="4340594" y="5085646"/>
            <a:ext cx="180000" cy="18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7" name="Rectangle 126"/>
          <p:cNvSpPr/>
          <p:nvPr/>
        </p:nvSpPr>
        <p:spPr>
          <a:xfrm>
            <a:off x="4556393" y="5036548"/>
            <a:ext cx="1260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&gt; 10 mn</a:t>
            </a:r>
          </a:p>
        </p:txBody>
      </p:sp>
      <p:sp>
        <p:nvSpPr>
          <p:cNvPr id="128" name="Titre 1"/>
          <p:cNvSpPr txBox="1">
            <a:spLocks/>
          </p:cNvSpPr>
          <p:nvPr/>
        </p:nvSpPr>
        <p:spPr>
          <a:xfrm>
            <a:off x="6304344" y="3357223"/>
            <a:ext cx="1764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dirty="0"/>
              <a:t>Qualité de </a:t>
            </a:r>
            <a:r>
              <a:rPr lang="fr-FR" sz="1400" b="1" dirty="0" smtClean="0"/>
              <a:t>restitution</a:t>
            </a:r>
            <a:endParaRPr lang="fr-FR" sz="1400" b="1" dirty="0"/>
          </a:p>
        </p:txBody>
      </p:sp>
      <p:sp>
        <p:nvSpPr>
          <p:cNvPr id="129" name="Rectangle 128"/>
          <p:cNvSpPr/>
          <p:nvPr/>
        </p:nvSpPr>
        <p:spPr>
          <a:xfrm>
            <a:off x="6293056" y="3346980"/>
            <a:ext cx="3888000" cy="1072618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130" name="Ellipse 129"/>
          <p:cNvSpPr/>
          <p:nvPr/>
        </p:nvSpPr>
        <p:spPr>
          <a:xfrm>
            <a:off x="8393306" y="4080934"/>
            <a:ext cx="180000" cy="18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1" name="Ellipse 130"/>
          <p:cNvSpPr/>
          <p:nvPr/>
        </p:nvSpPr>
        <p:spPr>
          <a:xfrm>
            <a:off x="8393301" y="3471328"/>
            <a:ext cx="180000" cy="18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2" name="Rectangle 131"/>
          <p:cNvSpPr/>
          <p:nvPr/>
        </p:nvSpPr>
        <p:spPr>
          <a:xfrm>
            <a:off x="8618882" y="3415269"/>
            <a:ext cx="1080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Bon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8631683" y="4031836"/>
            <a:ext cx="1260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Mauvais</a:t>
            </a:r>
          </a:p>
        </p:txBody>
      </p:sp>
      <p:sp>
        <p:nvSpPr>
          <p:cNvPr id="134" name="Ellipse 133"/>
          <p:cNvSpPr/>
          <p:nvPr/>
        </p:nvSpPr>
        <p:spPr>
          <a:xfrm>
            <a:off x="8393306" y="3764842"/>
            <a:ext cx="180000" cy="18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5" name="Rectangle 134"/>
          <p:cNvSpPr/>
          <p:nvPr/>
        </p:nvSpPr>
        <p:spPr>
          <a:xfrm>
            <a:off x="8631683" y="3715744"/>
            <a:ext cx="1260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Moyen</a:t>
            </a:r>
          </a:p>
        </p:txBody>
      </p:sp>
      <p:sp>
        <p:nvSpPr>
          <p:cNvPr id="136" name="Titre 1"/>
          <p:cNvSpPr txBox="1">
            <a:spLocks/>
          </p:cNvSpPr>
          <p:nvPr/>
        </p:nvSpPr>
        <p:spPr>
          <a:xfrm>
            <a:off x="2138732" y="3352804"/>
            <a:ext cx="2052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dirty="0"/>
              <a:t>Mode de débranchement</a:t>
            </a:r>
            <a:endParaRPr lang="fr-FR" sz="1400" b="1" dirty="0" smtClean="0"/>
          </a:p>
        </p:txBody>
      </p:sp>
      <p:sp>
        <p:nvSpPr>
          <p:cNvPr id="137" name="Ellipse 136"/>
          <p:cNvSpPr/>
          <p:nvPr/>
        </p:nvSpPr>
        <p:spPr>
          <a:xfrm>
            <a:off x="4346219" y="3476974"/>
            <a:ext cx="180000" cy="18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0" name="Rectangle 139"/>
          <p:cNvSpPr/>
          <p:nvPr/>
        </p:nvSpPr>
        <p:spPr>
          <a:xfrm>
            <a:off x="4549222" y="3420915"/>
            <a:ext cx="1080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Sérum salé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2121796" y="3341337"/>
            <a:ext cx="3888000" cy="1072618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145" name="Ellipse 144"/>
          <p:cNvSpPr/>
          <p:nvPr/>
        </p:nvSpPr>
        <p:spPr>
          <a:xfrm>
            <a:off x="4346224" y="3849511"/>
            <a:ext cx="180000" cy="18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6" name="Rectangle 145"/>
          <p:cNvSpPr/>
          <p:nvPr/>
        </p:nvSpPr>
        <p:spPr>
          <a:xfrm>
            <a:off x="4562023" y="3800413"/>
            <a:ext cx="1260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Sérum </a:t>
            </a:r>
            <a:r>
              <a:rPr lang="fr-FR" sz="1400" dirty="0" smtClean="0">
                <a:latin typeface="+mj-lt"/>
                <a:ea typeface="+mj-ea"/>
                <a:cs typeface="+mj-cs"/>
              </a:rPr>
              <a:t>glucosé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532397" y="5086161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 smtClean="0"/>
          </a:p>
          <a:p>
            <a:pPr algn="ctr"/>
            <a:endParaRPr lang="fr-FR" dirty="0"/>
          </a:p>
        </p:txBody>
      </p:sp>
      <p:sp>
        <p:nvSpPr>
          <p:cNvPr id="147" name="Rectangle 146"/>
          <p:cNvSpPr/>
          <p:nvPr/>
        </p:nvSpPr>
        <p:spPr>
          <a:xfrm>
            <a:off x="8532397" y="4736202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 smtClean="0"/>
          </a:p>
          <a:p>
            <a:pPr algn="ctr"/>
            <a:endParaRPr lang="fr-FR" dirty="0"/>
          </a:p>
        </p:txBody>
      </p:sp>
      <p:sp>
        <p:nvSpPr>
          <p:cNvPr id="148" name="Rectangle 147"/>
          <p:cNvSpPr/>
          <p:nvPr/>
        </p:nvSpPr>
        <p:spPr>
          <a:xfrm>
            <a:off x="2676505" y="2842537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017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83"/>
          <p:cNvSpPr/>
          <p:nvPr/>
        </p:nvSpPr>
        <p:spPr>
          <a:xfrm>
            <a:off x="191991" y="573516"/>
            <a:ext cx="11880000" cy="619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290574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69759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12540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-8916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38" name="Titre 1"/>
          <p:cNvSpPr txBox="1">
            <a:spLocks/>
          </p:cNvSpPr>
          <p:nvPr/>
        </p:nvSpPr>
        <p:spPr>
          <a:xfrm>
            <a:off x="2363472" y="59579"/>
            <a:ext cx="7385175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74 – Hémodialyse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Séance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d'hémodialyse / nouvel séance d'hémodialyse </a:t>
            </a:r>
            <a:r>
              <a:rPr lang="fr-FR" altLang="fr-FR" sz="1800" dirty="0"/>
              <a:t>/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Complications</a:t>
            </a:r>
          </a:p>
        </p:txBody>
      </p:sp>
      <p:sp>
        <p:nvSpPr>
          <p:cNvPr id="2" name="Rectangle 1"/>
          <p:cNvSpPr/>
          <p:nvPr/>
        </p:nvSpPr>
        <p:spPr>
          <a:xfrm>
            <a:off x="535632" y="3913456"/>
            <a:ext cx="1044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600" b="1" u="sng" dirty="0" smtClean="0"/>
              <a:t>Médicales</a:t>
            </a:r>
            <a:endParaRPr lang="fr-FR" sz="1600" dirty="0"/>
          </a:p>
        </p:txBody>
      </p:sp>
      <p:sp>
        <p:nvSpPr>
          <p:cNvPr id="62" name="Rectangle 61"/>
          <p:cNvSpPr/>
          <p:nvPr/>
        </p:nvSpPr>
        <p:spPr>
          <a:xfrm>
            <a:off x="1585578" y="3900132"/>
            <a:ext cx="10260000" cy="1217208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39" name="Titre 1"/>
          <p:cNvSpPr txBox="1">
            <a:spLocks/>
          </p:cNvSpPr>
          <p:nvPr/>
        </p:nvSpPr>
        <p:spPr>
          <a:xfrm>
            <a:off x="6243732" y="4115054"/>
            <a:ext cx="1222512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  <a:lvl1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Commentaire</a:t>
            </a:r>
          </a:p>
        </p:txBody>
      </p:sp>
      <p:sp>
        <p:nvSpPr>
          <p:cNvPr id="46" name="Titre 1"/>
          <p:cNvSpPr txBox="1">
            <a:spLocks/>
          </p:cNvSpPr>
          <p:nvPr/>
        </p:nvSpPr>
        <p:spPr>
          <a:xfrm>
            <a:off x="1845225" y="4109162"/>
            <a:ext cx="720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Libelle</a:t>
            </a:r>
          </a:p>
        </p:txBody>
      </p:sp>
      <p:sp>
        <p:nvSpPr>
          <p:cNvPr id="51" name="Titre 1"/>
          <p:cNvSpPr txBox="1">
            <a:spLocks/>
          </p:cNvSpPr>
          <p:nvPr/>
        </p:nvSpPr>
        <p:spPr>
          <a:xfrm>
            <a:off x="2570132" y="685959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56" name="Titre 1"/>
          <p:cNvSpPr txBox="1">
            <a:spLocks/>
          </p:cNvSpPr>
          <p:nvPr/>
        </p:nvSpPr>
        <p:spPr>
          <a:xfrm>
            <a:off x="4960494" y="672854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57" name="Titre 1"/>
          <p:cNvSpPr txBox="1">
            <a:spLocks/>
          </p:cNvSpPr>
          <p:nvPr/>
        </p:nvSpPr>
        <p:spPr>
          <a:xfrm>
            <a:off x="7787861" y="692366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58" name="Rectangle 57"/>
          <p:cNvSpPr/>
          <p:nvPr/>
        </p:nvSpPr>
        <p:spPr>
          <a:xfrm>
            <a:off x="3757530" y="730985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9" name="Rectangle 58"/>
          <p:cNvSpPr/>
          <p:nvPr/>
        </p:nvSpPr>
        <p:spPr>
          <a:xfrm>
            <a:off x="5931716" y="686261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3" name="Rectangle 62"/>
          <p:cNvSpPr/>
          <p:nvPr/>
        </p:nvSpPr>
        <p:spPr>
          <a:xfrm>
            <a:off x="8341959" y="737613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4" name="Rectangle 63"/>
          <p:cNvSpPr/>
          <p:nvPr/>
        </p:nvSpPr>
        <p:spPr>
          <a:xfrm>
            <a:off x="2519541" y="627099"/>
            <a:ext cx="6892827" cy="4643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0" name="Titre 1"/>
          <p:cNvSpPr txBox="1">
            <a:spLocks/>
          </p:cNvSpPr>
          <p:nvPr/>
        </p:nvSpPr>
        <p:spPr>
          <a:xfrm>
            <a:off x="3950915" y="75673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82" name="Rectangle 81"/>
          <p:cNvSpPr/>
          <p:nvPr/>
        </p:nvSpPr>
        <p:spPr>
          <a:xfrm>
            <a:off x="6040364" y="740319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6704842" y="746360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8390629" y="765185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90" name="Titre 1"/>
          <p:cNvSpPr txBox="1">
            <a:spLocks/>
          </p:cNvSpPr>
          <p:nvPr/>
        </p:nvSpPr>
        <p:spPr>
          <a:xfrm>
            <a:off x="1439951" y="589959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41946" y="3483062"/>
            <a:ext cx="198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Stratégie de dialyse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555388" y="3476438"/>
            <a:ext cx="198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Détail séance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577728" y="3477416"/>
            <a:ext cx="1980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Complications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70251" y="1018990"/>
            <a:ext cx="3155083" cy="3781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600" b="1" u="sng" dirty="0" smtClean="0"/>
              <a:t>Bordereau séance </a:t>
            </a:r>
            <a:r>
              <a:rPr lang="fr-FR" sz="1600" b="1" u="sng" dirty="0"/>
              <a:t>d'hémodialyse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50197" y="1405292"/>
            <a:ext cx="9827493" cy="202852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dirty="0"/>
          </a:p>
        </p:txBody>
      </p:sp>
      <p:sp>
        <p:nvSpPr>
          <p:cNvPr id="102" name="Rectangle 101"/>
          <p:cNvSpPr/>
          <p:nvPr/>
        </p:nvSpPr>
        <p:spPr>
          <a:xfrm>
            <a:off x="5775107" y="2188165"/>
            <a:ext cx="150794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105" name="Titre 1"/>
          <p:cNvSpPr txBox="1">
            <a:spLocks/>
          </p:cNvSpPr>
          <p:nvPr/>
        </p:nvSpPr>
        <p:spPr>
          <a:xfrm>
            <a:off x="4975223" y="2201524"/>
            <a:ext cx="794439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Equipe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769663" y="1498629"/>
            <a:ext cx="1502095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107" name="Titre 1"/>
          <p:cNvSpPr txBox="1">
            <a:spLocks/>
          </p:cNvSpPr>
          <p:nvPr/>
        </p:nvSpPr>
        <p:spPr>
          <a:xfrm>
            <a:off x="4221980" y="1411841"/>
            <a:ext cx="1440000" cy="432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Nombre séances hebdomadaires 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397277" y="2954849"/>
            <a:ext cx="4910927" cy="39624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109" name="Rectangle 108"/>
          <p:cNvSpPr/>
          <p:nvPr/>
        </p:nvSpPr>
        <p:spPr>
          <a:xfrm>
            <a:off x="2385438" y="1464762"/>
            <a:ext cx="1502095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110" name="Titre 1"/>
          <p:cNvSpPr txBox="1">
            <a:spLocks/>
          </p:cNvSpPr>
          <p:nvPr/>
        </p:nvSpPr>
        <p:spPr>
          <a:xfrm>
            <a:off x="942111" y="1411120"/>
            <a:ext cx="1440000" cy="39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de 1</a:t>
            </a:r>
            <a:r>
              <a:rPr lang="fr-FR" sz="1400" baseline="30000" dirty="0" smtClean="0"/>
              <a:t>er</a:t>
            </a:r>
            <a:r>
              <a:rPr lang="fr-FR" sz="1400" dirty="0" smtClean="0"/>
              <a:t> prescription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5783531" y="2555882"/>
            <a:ext cx="1502095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118" name="Titre 1"/>
          <p:cNvSpPr txBox="1">
            <a:spLocks/>
          </p:cNvSpPr>
          <p:nvPr/>
        </p:nvSpPr>
        <p:spPr>
          <a:xfrm>
            <a:off x="5155400" y="2549158"/>
            <a:ext cx="648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IDE</a:t>
            </a:r>
          </a:p>
        </p:txBody>
      </p:sp>
      <p:sp>
        <p:nvSpPr>
          <p:cNvPr id="119" name="Titre 1"/>
          <p:cNvSpPr txBox="1">
            <a:spLocks/>
          </p:cNvSpPr>
          <p:nvPr/>
        </p:nvSpPr>
        <p:spPr>
          <a:xfrm>
            <a:off x="955675" y="2957887"/>
            <a:ext cx="1332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Transmission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648333" y="1458293"/>
            <a:ext cx="1502095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122" name="Triangle isocèle 121"/>
          <p:cNvSpPr/>
          <p:nvPr/>
        </p:nvSpPr>
        <p:spPr>
          <a:xfrm rot="10800000">
            <a:off x="9916470" y="1467840"/>
            <a:ext cx="216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123" name="Titre 1"/>
          <p:cNvSpPr txBox="1">
            <a:spLocks/>
          </p:cNvSpPr>
          <p:nvPr/>
        </p:nvSpPr>
        <p:spPr>
          <a:xfrm>
            <a:off x="7643540" y="1461154"/>
            <a:ext cx="967891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Groupage</a:t>
            </a:r>
            <a:endParaRPr lang="fr-FR" sz="1400" dirty="0"/>
          </a:p>
        </p:txBody>
      </p:sp>
      <p:sp>
        <p:nvSpPr>
          <p:cNvPr id="124" name="Rectangle 123"/>
          <p:cNvSpPr/>
          <p:nvPr/>
        </p:nvSpPr>
        <p:spPr>
          <a:xfrm>
            <a:off x="2388437" y="1838219"/>
            <a:ext cx="150794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125" name="Titre 1"/>
          <p:cNvSpPr txBox="1">
            <a:spLocks/>
          </p:cNvSpPr>
          <p:nvPr/>
        </p:nvSpPr>
        <p:spPr>
          <a:xfrm>
            <a:off x="869382" y="1851578"/>
            <a:ext cx="1332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1</a:t>
            </a:r>
            <a:r>
              <a:rPr lang="fr-FR" sz="1400" baseline="30000" dirty="0" smtClean="0"/>
              <a:t>er</a:t>
            </a:r>
            <a:r>
              <a:rPr lang="fr-FR" sz="1400" dirty="0" smtClean="0"/>
              <a:t> EPO</a:t>
            </a:r>
            <a:endParaRPr lang="fr-FR" sz="1400" dirty="0"/>
          </a:p>
        </p:txBody>
      </p:sp>
      <p:sp>
        <p:nvSpPr>
          <p:cNvPr id="126" name="Rectangle 125"/>
          <p:cNvSpPr/>
          <p:nvPr/>
        </p:nvSpPr>
        <p:spPr>
          <a:xfrm>
            <a:off x="5783951" y="1848540"/>
            <a:ext cx="1502095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2396861" y="2205934"/>
            <a:ext cx="150209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128" name="Titre 1"/>
          <p:cNvSpPr txBox="1">
            <a:spLocks/>
          </p:cNvSpPr>
          <p:nvPr/>
        </p:nvSpPr>
        <p:spPr>
          <a:xfrm>
            <a:off x="865613" y="2187921"/>
            <a:ext cx="1332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de séance</a:t>
            </a:r>
            <a:endParaRPr lang="fr-FR" sz="1400" dirty="0"/>
          </a:p>
        </p:txBody>
      </p:sp>
      <p:sp>
        <p:nvSpPr>
          <p:cNvPr id="129" name="Titre 1"/>
          <p:cNvSpPr txBox="1">
            <a:spLocks/>
          </p:cNvSpPr>
          <p:nvPr/>
        </p:nvSpPr>
        <p:spPr>
          <a:xfrm>
            <a:off x="3902080" y="1829000"/>
            <a:ext cx="1764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1</a:t>
            </a:r>
            <a:r>
              <a:rPr lang="fr-FR" sz="1400" baseline="30000" dirty="0" smtClean="0"/>
              <a:t>er</a:t>
            </a:r>
            <a:r>
              <a:rPr lang="fr-FR" sz="1400" dirty="0" smtClean="0"/>
              <a:t> fer injectable</a:t>
            </a:r>
            <a:endParaRPr lang="fr-FR" sz="1400" dirty="0"/>
          </a:p>
        </p:txBody>
      </p:sp>
      <p:sp>
        <p:nvSpPr>
          <p:cNvPr id="130" name="Rectangle 129"/>
          <p:cNvSpPr/>
          <p:nvPr/>
        </p:nvSpPr>
        <p:spPr>
          <a:xfrm>
            <a:off x="8673906" y="2198486"/>
            <a:ext cx="1502095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131" name="Titre 1"/>
          <p:cNvSpPr txBox="1">
            <a:spLocks/>
          </p:cNvSpPr>
          <p:nvPr/>
        </p:nvSpPr>
        <p:spPr>
          <a:xfrm>
            <a:off x="7956728" y="2190235"/>
            <a:ext cx="720466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Séance</a:t>
            </a:r>
            <a:endParaRPr lang="fr-FR" sz="1400" dirty="0"/>
          </a:p>
        </p:txBody>
      </p:sp>
      <p:sp>
        <p:nvSpPr>
          <p:cNvPr id="132" name="Rectangle 131"/>
          <p:cNvSpPr/>
          <p:nvPr/>
        </p:nvSpPr>
        <p:spPr>
          <a:xfrm>
            <a:off x="2397279" y="2571020"/>
            <a:ext cx="1502095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133" name="Rectangle 132"/>
          <p:cNvSpPr/>
          <p:nvPr/>
        </p:nvSpPr>
        <p:spPr>
          <a:xfrm>
            <a:off x="8650913" y="1844685"/>
            <a:ext cx="1502095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134" name="Titre 1"/>
          <p:cNvSpPr txBox="1">
            <a:spLocks/>
          </p:cNvSpPr>
          <p:nvPr/>
        </p:nvSpPr>
        <p:spPr>
          <a:xfrm>
            <a:off x="7896624" y="1837961"/>
            <a:ext cx="724376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Statut</a:t>
            </a:r>
          </a:p>
        </p:txBody>
      </p:sp>
      <p:sp>
        <p:nvSpPr>
          <p:cNvPr id="135" name="Titre 1"/>
          <p:cNvSpPr txBox="1">
            <a:spLocks/>
          </p:cNvSpPr>
          <p:nvPr/>
        </p:nvSpPr>
        <p:spPr>
          <a:xfrm>
            <a:off x="910522" y="2551480"/>
            <a:ext cx="1332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Forfait </a:t>
            </a:r>
            <a:r>
              <a:rPr lang="fr-FR" sz="1400" dirty="0" smtClean="0"/>
              <a:t>séance</a:t>
            </a:r>
            <a:endParaRPr lang="fr-FR" sz="1400" dirty="0"/>
          </a:p>
        </p:txBody>
      </p:sp>
      <p:sp>
        <p:nvSpPr>
          <p:cNvPr id="147" name="Rectangle 146"/>
          <p:cNvSpPr/>
          <p:nvPr/>
        </p:nvSpPr>
        <p:spPr>
          <a:xfrm>
            <a:off x="1710901" y="4049600"/>
            <a:ext cx="9986644" cy="972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52" name="Connecteur droit 151"/>
          <p:cNvCxnSpPr/>
          <p:nvPr/>
        </p:nvCxnSpPr>
        <p:spPr>
          <a:xfrm>
            <a:off x="1711966" y="4472452"/>
            <a:ext cx="9972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5" name="Connecteur droit 154"/>
          <p:cNvCxnSpPr/>
          <p:nvPr/>
        </p:nvCxnSpPr>
        <p:spPr>
          <a:xfrm>
            <a:off x="6025283" y="4055033"/>
            <a:ext cx="0" cy="972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7" name="Connecteur droit 156"/>
          <p:cNvCxnSpPr/>
          <p:nvPr/>
        </p:nvCxnSpPr>
        <p:spPr>
          <a:xfrm>
            <a:off x="10609147" y="4040745"/>
            <a:ext cx="0" cy="972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61" name="Rectangle 160"/>
          <p:cNvSpPr/>
          <p:nvPr/>
        </p:nvSpPr>
        <p:spPr>
          <a:xfrm>
            <a:off x="1837749" y="4569158"/>
            <a:ext cx="4076138" cy="308215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164" name="Rectangle 163"/>
          <p:cNvSpPr/>
          <p:nvPr/>
        </p:nvSpPr>
        <p:spPr>
          <a:xfrm>
            <a:off x="6199668" y="4553035"/>
            <a:ext cx="4275505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167" name="Plus 166"/>
          <p:cNvSpPr/>
          <p:nvPr/>
        </p:nvSpPr>
        <p:spPr>
          <a:xfrm>
            <a:off x="10961819" y="4533467"/>
            <a:ext cx="360000" cy="360000"/>
          </a:xfrm>
          <a:prstGeom prst="mathPlu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7" name="Triangle isocèle 136"/>
          <p:cNvSpPr/>
          <p:nvPr/>
        </p:nvSpPr>
        <p:spPr>
          <a:xfrm rot="10800000">
            <a:off x="9919558" y="1842227"/>
            <a:ext cx="216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138" name="Triangle isocèle 137"/>
          <p:cNvSpPr/>
          <p:nvPr/>
        </p:nvSpPr>
        <p:spPr>
          <a:xfrm rot="10800000">
            <a:off x="5665671" y="4582213"/>
            <a:ext cx="216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153" name="Rectangle 152"/>
          <p:cNvSpPr/>
          <p:nvPr/>
        </p:nvSpPr>
        <p:spPr>
          <a:xfrm>
            <a:off x="501733" y="5225385"/>
            <a:ext cx="1080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600" b="1" u="sng" dirty="0"/>
              <a:t>Technique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1579930" y="5204000"/>
            <a:ext cx="10260000" cy="1217208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168" name="Titre 1"/>
          <p:cNvSpPr txBox="1">
            <a:spLocks/>
          </p:cNvSpPr>
          <p:nvPr/>
        </p:nvSpPr>
        <p:spPr>
          <a:xfrm>
            <a:off x="6238084" y="5418922"/>
            <a:ext cx="1222512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  <a:lvl1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Commentaire</a:t>
            </a:r>
          </a:p>
        </p:txBody>
      </p:sp>
      <p:sp>
        <p:nvSpPr>
          <p:cNvPr id="169" name="Titre 1"/>
          <p:cNvSpPr txBox="1">
            <a:spLocks/>
          </p:cNvSpPr>
          <p:nvPr/>
        </p:nvSpPr>
        <p:spPr>
          <a:xfrm>
            <a:off x="1839577" y="5413030"/>
            <a:ext cx="720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Libelle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1705253" y="5353468"/>
            <a:ext cx="9986644" cy="972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71" name="Connecteur droit 170"/>
          <p:cNvCxnSpPr/>
          <p:nvPr/>
        </p:nvCxnSpPr>
        <p:spPr>
          <a:xfrm>
            <a:off x="1706318" y="5776320"/>
            <a:ext cx="9972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2" name="Connecteur droit 171"/>
          <p:cNvCxnSpPr/>
          <p:nvPr/>
        </p:nvCxnSpPr>
        <p:spPr>
          <a:xfrm>
            <a:off x="6019635" y="5358901"/>
            <a:ext cx="0" cy="972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3" name="Connecteur droit 172"/>
          <p:cNvCxnSpPr/>
          <p:nvPr/>
        </p:nvCxnSpPr>
        <p:spPr>
          <a:xfrm>
            <a:off x="10603499" y="5344613"/>
            <a:ext cx="0" cy="972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4" name="Rectangle 173"/>
          <p:cNvSpPr/>
          <p:nvPr/>
        </p:nvSpPr>
        <p:spPr>
          <a:xfrm>
            <a:off x="1832101" y="5873026"/>
            <a:ext cx="4076138" cy="308215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175" name="Rectangle 174"/>
          <p:cNvSpPr/>
          <p:nvPr/>
        </p:nvSpPr>
        <p:spPr>
          <a:xfrm>
            <a:off x="6194020" y="5856903"/>
            <a:ext cx="4275505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176" name="Plus 175"/>
          <p:cNvSpPr/>
          <p:nvPr/>
        </p:nvSpPr>
        <p:spPr>
          <a:xfrm>
            <a:off x="10956171" y="5837335"/>
            <a:ext cx="360000" cy="360000"/>
          </a:xfrm>
          <a:prstGeom prst="mathPlu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7" name="Triangle isocèle 176"/>
          <p:cNvSpPr/>
          <p:nvPr/>
        </p:nvSpPr>
        <p:spPr>
          <a:xfrm rot="10800000">
            <a:off x="5660023" y="5886081"/>
            <a:ext cx="216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178" name="Rectangle 177"/>
          <p:cNvSpPr/>
          <p:nvPr/>
        </p:nvSpPr>
        <p:spPr>
          <a:xfrm>
            <a:off x="10745194" y="6462710"/>
            <a:ext cx="108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Valider</a:t>
            </a:r>
          </a:p>
        </p:txBody>
      </p:sp>
    </p:spTree>
    <p:extLst>
      <p:ext uri="{BB962C8B-B14F-4D97-AF65-F5344CB8AC3E}">
        <p14:creationId xmlns:p14="http://schemas.microsoft.com/office/powerpoint/2010/main" val="2067047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83"/>
          <p:cNvSpPr/>
          <p:nvPr/>
        </p:nvSpPr>
        <p:spPr>
          <a:xfrm>
            <a:off x="191991" y="573516"/>
            <a:ext cx="11880000" cy="619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290574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69759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12540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-8916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38" name="Titre 1"/>
          <p:cNvSpPr txBox="1">
            <a:spLocks/>
          </p:cNvSpPr>
          <p:nvPr/>
        </p:nvSpPr>
        <p:spPr>
          <a:xfrm>
            <a:off x="2363472" y="59579"/>
            <a:ext cx="7385175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75 – Hémodialyse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Séance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d'hémodialyse /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Historique des séances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d'hémodialyse</a:t>
            </a:r>
            <a:endParaRPr lang="fr-FR" alt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51" name="Titre 1"/>
          <p:cNvSpPr txBox="1">
            <a:spLocks/>
          </p:cNvSpPr>
          <p:nvPr/>
        </p:nvSpPr>
        <p:spPr>
          <a:xfrm>
            <a:off x="2570132" y="685959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56" name="Titre 1"/>
          <p:cNvSpPr txBox="1">
            <a:spLocks/>
          </p:cNvSpPr>
          <p:nvPr/>
        </p:nvSpPr>
        <p:spPr>
          <a:xfrm>
            <a:off x="4960494" y="672854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57" name="Titre 1"/>
          <p:cNvSpPr txBox="1">
            <a:spLocks/>
          </p:cNvSpPr>
          <p:nvPr/>
        </p:nvSpPr>
        <p:spPr>
          <a:xfrm>
            <a:off x="7787861" y="692366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58" name="Rectangle 57"/>
          <p:cNvSpPr/>
          <p:nvPr/>
        </p:nvSpPr>
        <p:spPr>
          <a:xfrm>
            <a:off x="3757530" y="730985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9" name="Rectangle 58"/>
          <p:cNvSpPr/>
          <p:nvPr/>
        </p:nvSpPr>
        <p:spPr>
          <a:xfrm>
            <a:off x="5931716" y="686261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3" name="Rectangle 62"/>
          <p:cNvSpPr/>
          <p:nvPr/>
        </p:nvSpPr>
        <p:spPr>
          <a:xfrm>
            <a:off x="8341959" y="737613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4" name="Rectangle 63"/>
          <p:cNvSpPr/>
          <p:nvPr/>
        </p:nvSpPr>
        <p:spPr>
          <a:xfrm>
            <a:off x="2519541" y="627099"/>
            <a:ext cx="6892827" cy="4643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0" name="Titre 1"/>
          <p:cNvSpPr txBox="1">
            <a:spLocks/>
          </p:cNvSpPr>
          <p:nvPr/>
        </p:nvSpPr>
        <p:spPr>
          <a:xfrm>
            <a:off x="3950915" y="75673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82" name="Rectangle 81"/>
          <p:cNvSpPr/>
          <p:nvPr/>
        </p:nvSpPr>
        <p:spPr>
          <a:xfrm>
            <a:off x="6040364" y="740319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6704842" y="746360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8390629" y="765185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90" name="Titre 1"/>
          <p:cNvSpPr txBox="1">
            <a:spLocks/>
          </p:cNvSpPr>
          <p:nvPr/>
        </p:nvSpPr>
        <p:spPr>
          <a:xfrm>
            <a:off x="1439951" y="589959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780415" y="3094577"/>
            <a:ext cx="144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b="1" u="sng" dirty="0" smtClean="0">
                <a:latin typeface="+mj-lt"/>
                <a:ea typeface="+mj-ea"/>
                <a:cs typeface="+mj-cs"/>
              </a:rPr>
              <a:t>Liste des séances</a:t>
            </a:r>
            <a:endParaRPr lang="fr-FR" sz="1400" b="1" u="sng" dirty="0">
              <a:latin typeface="+mj-lt"/>
              <a:ea typeface="+mj-ea"/>
              <a:cs typeface="+mj-cs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8488647" y="2472261"/>
            <a:ext cx="126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Recherche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452849" y="1696793"/>
            <a:ext cx="1260000" cy="32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9" name="Rectangle 78"/>
          <p:cNvSpPr/>
          <p:nvPr/>
        </p:nvSpPr>
        <p:spPr>
          <a:xfrm>
            <a:off x="1027288" y="1462201"/>
            <a:ext cx="8839200" cy="1461621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0" name="Titre 1"/>
          <p:cNvSpPr txBox="1">
            <a:spLocks/>
          </p:cNvSpPr>
          <p:nvPr/>
        </p:nvSpPr>
        <p:spPr>
          <a:xfrm>
            <a:off x="1226398" y="1662647"/>
            <a:ext cx="72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  <a:lvl1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b="1" dirty="0"/>
              <a:t>Période </a:t>
            </a:r>
          </a:p>
        </p:txBody>
      </p:sp>
      <p:sp>
        <p:nvSpPr>
          <p:cNvPr id="81" name="Titre 1"/>
          <p:cNvSpPr txBox="1">
            <a:spLocks/>
          </p:cNvSpPr>
          <p:nvPr/>
        </p:nvSpPr>
        <p:spPr>
          <a:xfrm>
            <a:off x="1915092" y="1689394"/>
            <a:ext cx="540000" cy="3947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Du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1942837" y="1583285"/>
            <a:ext cx="4140000" cy="540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2" name="Rectangle 91"/>
          <p:cNvSpPr/>
          <p:nvPr/>
        </p:nvSpPr>
        <p:spPr>
          <a:xfrm>
            <a:off x="4693129" y="1681553"/>
            <a:ext cx="1260000" cy="32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3" name="Titre 1"/>
          <p:cNvSpPr txBox="1">
            <a:spLocks/>
          </p:cNvSpPr>
          <p:nvPr/>
        </p:nvSpPr>
        <p:spPr>
          <a:xfrm>
            <a:off x="4155372" y="1674154"/>
            <a:ext cx="540000" cy="3947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Au</a:t>
            </a:r>
            <a:endParaRPr lang="fr-FR" sz="1400" dirty="0"/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1355729" y="2440653"/>
            <a:ext cx="562037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  <a:lvl1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b="1" dirty="0" smtClean="0"/>
              <a:t>Nom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915092" y="2463579"/>
            <a:ext cx="1800000" cy="308215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99" name="Triangle isocèle 98"/>
          <p:cNvSpPr/>
          <p:nvPr/>
        </p:nvSpPr>
        <p:spPr>
          <a:xfrm rot="10800000">
            <a:off x="3489613" y="2472234"/>
            <a:ext cx="216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103" name="Titre 1"/>
          <p:cNvSpPr txBox="1">
            <a:spLocks/>
          </p:cNvSpPr>
          <p:nvPr/>
        </p:nvSpPr>
        <p:spPr>
          <a:xfrm>
            <a:off x="3797734" y="2429015"/>
            <a:ext cx="90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  <a:lvl1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b="1" dirty="0" smtClean="0"/>
              <a:t>N° Séance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707056" y="2451941"/>
            <a:ext cx="1800000" cy="308215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111" name="Triangle isocèle 110"/>
          <p:cNvSpPr/>
          <p:nvPr/>
        </p:nvSpPr>
        <p:spPr>
          <a:xfrm rot="10800000">
            <a:off x="6281577" y="2460596"/>
            <a:ext cx="216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112" name="Rectangle 111"/>
          <p:cNvSpPr/>
          <p:nvPr/>
        </p:nvSpPr>
        <p:spPr>
          <a:xfrm>
            <a:off x="6560150" y="1599074"/>
            <a:ext cx="648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Filtrer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13" name="Rectangle 112"/>
          <p:cNvSpPr/>
          <p:nvPr/>
        </p:nvSpPr>
        <p:spPr>
          <a:xfrm>
            <a:off x="6364923" y="1654333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 smtClean="0"/>
          </a:p>
          <a:p>
            <a:pPr algn="ctr"/>
            <a:endParaRPr lang="fr-FR" dirty="0"/>
          </a:p>
        </p:txBody>
      </p:sp>
      <p:sp>
        <p:nvSpPr>
          <p:cNvPr id="114" name="Rectangle 113"/>
          <p:cNvSpPr/>
          <p:nvPr/>
        </p:nvSpPr>
        <p:spPr>
          <a:xfrm>
            <a:off x="1024057" y="1107724"/>
            <a:ext cx="28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b="1" u="sng" dirty="0">
                <a:latin typeface="+mj-lt"/>
                <a:ea typeface="+mj-ea"/>
                <a:cs typeface="+mj-cs"/>
              </a:rPr>
              <a:t>Historique des séances d'hémodialyse</a:t>
            </a:r>
          </a:p>
        </p:txBody>
      </p:sp>
      <p:sp>
        <p:nvSpPr>
          <p:cNvPr id="115" name="Titre 1"/>
          <p:cNvSpPr txBox="1">
            <a:spLocks/>
          </p:cNvSpPr>
          <p:nvPr/>
        </p:nvSpPr>
        <p:spPr>
          <a:xfrm>
            <a:off x="4143142" y="3528868"/>
            <a:ext cx="126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Médecin</a:t>
            </a:r>
            <a:endParaRPr lang="fr-FR" sz="1400" dirty="0"/>
          </a:p>
        </p:txBody>
      </p:sp>
      <p:sp>
        <p:nvSpPr>
          <p:cNvPr id="116" name="Rectangle 115"/>
          <p:cNvSpPr/>
          <p:nvPr/>
        </p:nvSpPr>
        <p:spPr>
          <a:xfrm>
            <a:off x="3914632" y="4102690"/>
            <a:ext cx="180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0" name="Titre 1"/>
          <p:cNvSpPr txBox="1">
            <a:spLocks/>
          </p:cNvSpPr>
          <p:nvPr/>
        </p:nvSpPr>
        <p:spPr>
          <a:xfrm>
            <a:off x="2373818" y="3552511"/>
            <a:ext cx="720000" cy="324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Date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7809497" y="3552964"/>
            <a:ext cx="972000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Supprimer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9" name="Rectangle 138"/>
          <p:cNvSpPr/>
          <p:nvPr/>
        </p:nvSpPr>
        <p:spPr>
          <a:xfrm>
            <a:off x="1902126" y="4107692"/>
            <a:ext cx="180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0" name="Rectangle 139"/>
          <p:cNvSpPr/>
          <p:nvPr/>
        </p:nvSpPr>
        <p:spPr>
          <a:xfrm>
            <a:off x="1767173" y="3462585"/>
            <a:ext cx="7200000" cy="1188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1" name="Titre 1"/>
          <p:cNvSpPr txBox="1">
            <a:spLocks/>
          </p:cNvSpPr>
          <p:nvPr/>
        </p:nvSpPr>
        <p:spPr>
          <a:xfrm>
            <a:off x="5985102" y="3542508"/>
            <a:ext cx="90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Modifier</a:t>
            </a:r>
            <a:endParaRPr lang="fr-FR" sz="1400" dirty="0"/>
          </a:p>
        </p:txBody>
      </p:sp>
      <p:cxnSp>
        <p:nvCxnSpPr>
          <p:cNvPr id="142" name="Connecteur droit 141"/>
          <p:cNvCxnSpPr/>
          <p:nvPr/>
        </p:nvCxnSpPr>
        <p:spPr>
          <a:xfrm>
            <a:off x="3831967" y="3462585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3" name="Connecteur droit 142"/>
          <p:cNvCxnSpPr/>
          <p:nvPr/>
        </p:nvCxnSpPr>
        <p:spPr>
          <a:xfrm>
            <a:off x="5856311" y="3481635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4" name="Connecteur droit 143"/>
          <p:cNvCxnSpPr/>
          <p:nvPr/>
        </p:nvCxnSpPr>
        <p:spPr>
          <a:xfrm>
            <a:off x="6885039" y="3453730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5" name="Connecteur droit 144"/>
          <p:cNvCxnSpPr/>
          <p:nvPr/>
        </p:nvCxnSpPr>
        <p:spPr>
          <a:xfrm>
            <a:off x="1768238" y="3975749"/>
            <a:ext cx="7200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146" name="Image 14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6221" y="4048074"/>
            <a:ext cx="461787" cy="468000"/>
          </a:xfrm>
          <a:prstGeom prst="rect">
            <a:avLst/>
          </a:prstGeom>
        </p:spPr>
      </p:pic>
      <p:pic>
        <p:nvPicPr>
          <p:cNvPr id="148" name="Image 14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6748" y="4072601"/>
            <a:ext cx="468000" cy="468000"/>
          </a:xfrm>
          <a:prstGeom prst="rect">
            <a:avLst/>
          </a:prstGeom>
        </p:spPr>
      </p:pic>
      <p:cxnSp>
        <p:nvCxnSpPr>
          <p:cNvPr id="154" name="Connecteur droit 153"/>
          <p:cNvCxnSpPr/>
          <p:nvPr/>
        </p:nvCxnSpPr>
        <p:spPr>
          <a:xfrm>
            <a:off x="7798042" y="3453730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6" name="Titre 1"/>
          <p:cNvSpPr txBox="1">
            <a:spLocks/>
          </p:cNvSpPr>
          <p:nvPr/>
        </p:nvSpPr>
        <p:spPr>
          <a:xfrm>
            <a:off x="6898042" y="3543844"/>
            <a:ext cx="900000" cy="3947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Imprimer</a:t>
            </a:r>
            <a:endParaRPr lang="fr-FR" sz="1400" dirty="0"/>
          </a:p>
        </p:txBody>
      </p:sp>
      <p:pic>
        <p:nvPicPr>
          <p:cNvPr id="158" name="Image 15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6436" y="4036851"/>
            <a:ext cx="54000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116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83"/>
          <p:cNvSpPr/>
          <p:nvPr/>
        </p:nvSpPr>
        <p:spPr>
          <a:xfrm>
            <a:off x="191991" y="573516"/>
            <a:ext cx="11880000" cy="619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290574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69759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12540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-8916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38" name="Titre 1"/>
          <p:cNvSpPr txBox="1">
            <a:spLocks/>
          </p:cNvSpPr>
          <p:nvPr/>
        </p:nvSpPr>
        <p:spPr>
          <a:xfrm>
            <a:off x="2363472" y="59579"/>
            <a:ext cx="7385175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76 – Hémodialyse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Récapitulatifs / Etat de synthèse </a:t>
            </a:r>
            <a:endParaRPr lang="fr-FR" alt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51" name="Titre 1"/>
          <p:cNvSpPr txBox="1">
            <a:spLocks/>
          </p:cNvSpPr>
          <p:nvPr/>
        </p:nvSpPr>
        <p:spPr>
          <a:xfrm>
            <a:off x="2570132" y="685959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56" name="Titre 1"/>
          <p:cNvSpPr txBox="1">
            <a:spLocks/>
          </p:cNvSpPr>
          <p:nvPr/>
        </p:nvSpPr>
        <p:spPr>
          <a:xfrm>
            <a:off x="4960494" y="672854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57" name="Titre 1"/>
          <p:cNvSpPr txBox="1">
            <a:spLocks/>
          </p:cNvSpPr>
          <p:nvPr/>
        </p:nvSpPr>
        <p:spPr>
          <a:xfrm>
            <a:off x="7787861" y="692366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58" name="Rectangle 57"/>
          <p:cNvSpPr/>
          <p:nvPr/>
        </p:nvSpPr>
        <p:spPr>
          <a:xfrm>
            <a:off x="3757530" y="730985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9" name="Rectangle 58"/>
          <p:cNvSpPr/>
          <p:nvPr/>
        </p:nvSpPr>
        <p:spPr>
          <a:xfrm>
            <a:off x="5931716" y="686261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3" name="Rectangle 62"/>
          <p:cNvSpPr/>
          <p:nvPr/>
        </p:nvSpPr>
        <p:spPr>
          <a:xfrm>
            <a:off x="8341959" y="737613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4" name="Rectangle 63"/>
          <p:cNvSpPr/>
          <p:nvPr/>
        </p:nvSpPr>
        <p:spPr>
          <a:xfrm>
            <a:off x="2519541" y="627099"/>
            <a:ext cx="6892827" cy="4643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0" name="Titre 1"/>
          <p:cNvSpPr txBox="1">
            <a:spLocks/>
          </p:cNvSpPr>
          <p:nvPr/>
        </p:nvSpPr>
        <p:spPr>
          <a:xfrm>
            <a:off x="3950915" y="75673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82" name="Rectangle 81"/>
          <p:cNvSpPr/>
          <p:nvPr/>
        </p:nvSpPr>
        <p:spPr>
          <a:xfrm>
            <a:off x="6040364" y="740319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6704842" y="746360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8390629" y="765185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90" name="Titre 1"/>
          <p:cNvSpPr txBox="1">
            <a:spLocks/>
          </p:cNvSpPr>
          <p:nvPr/>
        </p:nvSpPr>
        <p:spPr>
          <a:xfrm>
            <a:off x="1439951" y="589959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704842" y="1579315"/>
            <a:ext cx="126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Imprimer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27288" y="1462201"/>
            <a:ext cx="8385080" cy="858789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2091180" y="1960990"/>
            <a:ext cx="2625907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  <a:lvl1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dirty="0" smtClean="0"/>
              <a:t>CNAS, CASNOS, CAISSE MILITAIRE</a:t>
            </a:r>
            <a:endParaRPr lang="fr-FR" b="1" dirty="0" smtClean="0"/>
          </a:p>
        </p:txBody>
      </p:sp>
      <p:sp>
        <p:nvSpPr>
          <p:cNvPr id="98" name="Rectangle 97"/>
          <p:cNvSpPr/>
          <p:nvPr/>
        </p:nvSpPr>
        <p:spPr>
          <a:xfrm>
            <a:off x="2366651" y="1605618"/>
            <a:ext cx="1800000" cy="308215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99" name="Triangle isocèle 98"/>
          <p:cNvSpPr/>
          <p:nvPr/>
        </p:nvSpPr>
        <p:spPr>
          <a:xfrm rot="10800000">
            <a:off x="3950914" y="1614272"/>
            <a:ext cx="206257" cy="387659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112" name="Rectangle 111"/>
          <p:cNvSpPr/>
          <p:nvPr/>
        </p:nvSpPr>
        <p:spPr>
          <a:xfrm>
            <a:off x="5373859" y="1602947"/>
            <a:ext cx="648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Tous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13" name="Rectangle 112"/>
          <p:cNvSpPr/>
          <p:nvPr/>
        </p:nvSpPr>
        <p:spPr>
          <a:xfrm>
            <a:off x="5178632" y="1658206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 smtClean="0"/>
          </a:p>
          <a:p>
            <a:pPr algn="ctr"/>
            <a:endParaRPr lang="fr-FR" dirty="0"/>
          </a:p>
        </p:txBody>
      </p:sp>
      <p:sp>
        <p:nvSpPr>
          <p:cNvPr id="114" name="Rectangle 113"/>
          <p:cNvSpPr/>
          <p:nvPr/>
        </p:nvSpPr>
        <p:spPr>
          <a:xfrm>
            <a:off x="1024056" y="1107724"/>
            <a:ext cx="3131315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b="1" u="sng" dirty="0">
                <a:latin typeface="+mj-lt"/>
                <a:ea typeface="+mj-ea"/>
                <a:cs typeface="+mj-cs"/>
              </a:rPr>
              <a:t>Fiche de synthèse des séances de dialyse</a:t>
            </a:r>
          </a:p>
        </p:txBody>
      </p:sp>
      <p:sp>
        <p:nvSpPr>
          <p:cNvPr id="54" name="Titre 1"/>
          <p:cNvSpPr txBox="1">
            <a:spLocks/>
          </p:cNvSpPr>
          <p:nvPr/>
        </p:nvSpPr>
        <p:spPr>
          <a:xfrm>
            <a:off x="1354670" y="1582692"/>
            <a:ext cx="1014655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  <a:lvl1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b="1" dirty="0"/>
              <a:t>Caisse d’assurance</a:t>
            </a: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 rotWithShape="1">
          <a:blip r:embed="rId2"/>
          <a:srcRect l="21389" t="8478" r="22870" b="44625"/>
          <a:stretch/>
        </p:blipFill>
        <p:spPr>
          <a:xfrm>
            <a:off x="1919112" y="2402440"/>
            <a:ext cx="6795911" cy="4340498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60" name="Rectangle 59"/>
          <p:cNvSpPr/>
          <p:nvPr/>
        </p:nvSpPr>
        <p:spPr>
          <a:xfrm>
            <a:off x="1052277" y="2366436"/>
            <a:ext cx="900701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b="1" u="sng" dirty="0" smtClean="0">
                <a:latin typeface="+mj-lt"/>
                <a:ea typeface="+mj-ea"/>
                <a:cs typeface="+mj-cs"/>
              </a:rPr>
              <a:t>Exemple</a:t>
            </a:r>
            <a:endParaRPr lang="fr-FR" sz="1400" b="1" u="sng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638972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83"/>
          <p:cNvSpPr/>
          <p:nvPr/>
        </p:nvSpPr>
        <p:spPr>
          <a:xfrm>
            <a:off x="191991" y="528360"/>
            <a:ext cx="11880000" cy="619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290574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69759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12540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-8916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38" name="Titre 1"/>
          <p:cNvSpPr txBox="1">
            <a:spLocks/>
          </p:cNvSpPr>
          <p:nvPr/>
        </p:nvSpPr>
        <p:spPr>
          <a:xfrm>
            <a:off x="2363472" y="59579"/>
            <a:ext cx="7385175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76 – Hémodialyse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Récapitulatifs / Etat de synthèse </a:t>
            </a:r>
            <a:endParaRPr lang="fr-FR" alt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51" name="Titre 1"/>
          <p:cNvSpPr txBox="1">
            <a:spLocks/>
          </p:cNvSpPr>
          <p:nvPr/>
        </p:nvSpPr>
        <p:spPr>
          <a:xfrm>
            <a:off x="2570132" y="685959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56" name="Titre 1"/>
          <p:cNvSpPr txBox="1">
            <a:spLocks/>
          </p:cNvSpPr>
          <p:nvPr/>
        </p:nvSpPr>
        <p:spPr>
          <a:xfrm>
            <a:off x="4960494" y="672854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57" name="Titre 1"/>
          <p:cNvSpPr txBox="1">
            <a:spLocks/>
          </p:cNvSpPr>
          <p:nvPr/>
        </p:nvSpPr>
        <p:spPr>
          <a:xfrm>
            <a:off x="7787861" y="692366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58" name="Rectangle 57"/>
          <p:cNvSpPr/>
          <p:nvPr/>
        </p:nvSpPr>
        <p:spPr>
          <a:xfrm>
            <a:off x="3757530" y="730985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9" name="Rectangle 58"/>
          <p:cNvSpPr/>
          <p:nvPr/>
        </p:nvSpPr>
        <p:spPr>
          <a:xfrm>
            <a:off x="5931716" y="686261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3" name="Rectangle 62"/>
          <p:cNvSpPr/>
          <p:nvPr/>
        </p:nvSpPr>
        <p:spPr>
          <a:xfrm>
            <a:off x="8341959" y="737613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4" name="Rectangle 63"/>
          <p:cNvSpPr/>
          <p:nvPr/>
        </p:nvSpPr>
        <p:spPr>
          <a:xfrm>
            <a:off x="2519541" y="627099"/>
            <a:ext cx="6892827" cy="4643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0" name="Titre 1"/>
          <p:cNvSpPr txBox="1">
            <a:spLocks/>
          </p:cNvSpPr>
          <p:nvPr/>
        </p:nvSpPr>
        <p:spPr>
          <a:xfrm>
            <a:off x="3950915" y="75673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82" name="Rectangle 81"/>
          <p:cNvSpPr/>
          <p:nvPr/>
        </p:nvSpPr>
        <p:spPr>
          <a:xfrm>
            <a:off x="6040364" y="740319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6704842" y="746360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8390629" y="765185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90" name="Titre 1"/>
          <p:cNvSpPr txBox="1">
            <a:spLocks/>
          </p:cNvSpPr>
          <p:nvPr/>
        </p:nvSpPr>
        <p:spPr>
          <a:xfrm>
            <a:off x="1439951" y="589959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704842" y="1579315"/>
            <a:ext cx="126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Imprimer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27288" y="1462201"/>
            <a:ext cx="8385080" cy="858789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2091180" y="1960990"/>
            <a:ext cx="2625907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  <a:lvl1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dirty="0" smtClean="0"/>
              <a:t>CNAS, CASNOS, CAISSE MILITAIRE</a:t>
            </a:r>
            <a:endParaRPr lang="fr-FR" b="1" dirty="0" smtClean="0"/>
          </a:p>
        </p:txBody>
      </p:sp>
      <p:sp>
        <p:nvSpPr>
          <p:cNvPr id="98" name="Rectangle 97"/>
          <p:cNvSpPr/>
          <p:nvPr/>
        </p:nvSpPr>
        <p:spPr>
          <a:xfrm>
            <a:off x="2366651" y="1605618"/>
            <a:ext cx="1800000" cy="308215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99" name="Triangle isocèle 98"/>
          <p:cNvSpPr/>
          <p:nvPr/>
        </p:nvSpPr>
        <p:spPr>
          <a:xfrm rot="10800000">
            <a:off x="3950914" y="1614272"/>
            <a:ext cx="206257" cy="387659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112" name="Rectangle 111"/>
          <p:cNvSpPr/>
          <p:nvPr/>
        </p:nvSpPr>
        <p:spPr>
          <a:xfrm>
            <a:off x="5373859" y="1602947"/>
            <a:ext cx="648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Tous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13" name="Rectangle 112"/>
          <p:cNvSpPr/>
          <p:nvPr/>
        </p:nvSpPr>
        <p:spPr>
          <a:xfrm>
            <a:off x="5178632" y="1658206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 smtClean="0"/>
          </a:p>
          <a:p>
            <a:pPr algn="ctr"/>
            <a:endParaRPr lang="fr-FR" dirty="0"/>
          </a:p>
        </p:txBody>
      </p:sp>
      <p:sp>
        <p:nvSpPr>
          <p:cNvPr id="114" name="Rectangle 113"/>
          <p:cNvSpPr/>
          <p:nvPr/>
        </p:nvSpPr>
        <p:spPr>
          <a:xfrm>
            <a:off x="1024056" y="1107724"/>
            <a:ext cx="3131315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b="1" u="sng" dirty="0">
                <a:latin typeface="+mj-lt"/>
                <a:ea typeface="+mj-ea"/>
                <a:cs typeface="+mj-cs"/>
              </a:rPr>
              <a:t>Fiche de synthèse des séances de dialyse</a:t>
            </a:r>
          </a:p>
        </p:txBody>
      </p:sp>
      <p:sp>
        <p:nvSpPr>
          <p:cNvPr id="54" name="Titre 1"/>
          <p:cNvSpPr txBox="1">
            <a:spLocks/>
          </p:cNvSpPr>
          <p:nvPr/>
        </p:nvSpPr>
        <p:spPr>
          <a:xfrm>
            <a:off x="1291290" y="1582692"/>
            <a:ext cx="1078035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  <a:lvl1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b="1" dirty="0"/>
              <a:t>Caisse d’assurance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2"/>
          <a:srcRect l="20926" t="10908" r="22963" b="43721"/>
          <a:stretch/>
        </p:blipFill>
        <p:spPr>
          <a:xfrm>
            <a:off x="1840088" y="2291644"/>
            <a:ext cx="6841067" cy="4425246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31" name="Rectangle 30"/>
          <p:cNvSpPr/>
          <p:nvPr/>
        </p:nvSpPr>
        <p:spPr>
          <a:xfrm>
            <a:off x="724488" y="2435958"/>
            <a:ext cx="1104856" cy="46528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b="1" u="sng" dirty="0" smtClean="0">
                <a:latin typeface="+mj-lt"/>
                <a:ea typeface="+mj-ea"/>
                <a:cs typeface="+mj-cs"/>
              </a:rPr>
              <a:t>Exemple fichier PDF</a:t>
            </a:r>
            <a:endParaRPr lang="fr-FR" sz="1400" b="1" u="sng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768066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83"/>
          <p:cNvSpPr/>
          <p:nvPr/>
        </p:nvSpPr>
        <p:spPr>
          <a:xfrm>
            <a:off x="191991" y="573516"/>
            <a:ext cx="11880000" cy="619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290574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10133563" y="269759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12540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10160309" y="-8916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51" name="Titre 1"/>
          <p:cNvSpPr txBox="1">
            <a:spLocks/>
          </p:cNvSpPr>
          <p:nvPr/>
        </p:nvSpPr>
        <p:spPr>
          <a:xfrm>
            <a:off x="2570132" y="685959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56" name="Titre 1"/>
          <p:cNvSpPr txBox="1">
            <a:spLocks/>
          </p:cNvSpPr>
          <p:nvPr/>
        </p:nvSpPr>
        <p:spPr>
          <a:xfrm>
            <a:off x="4960494" y="672854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57" name="Titre 1"/>
          <p:cNvSpPr txBox="1">
            <a:spLocks/>
          </p:cNvSpPr>
          <p:nvPr/>
        </p:nvSpPr>
        <p:spPr>
          <a:xfrm>
            <a:off x="7787861" y="692366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58" name="Rectangle 57"/>
          <p:cNvSpPr/>
          <p:nvPr/>
        </p:nvSpPr>
        <p:spPr>
          <a:xfrm>
            <a:off x="3757530" y="730985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9" name="Rectangle 58"/>
          <p:cNvSpPr/>
          <p:nvPr/>
        </p:nvSpPr>
        <p:spPr>
          <a:xfrm>
            <a:off x="5931716" y="686261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3" name="Rectangle 62"/>
          <p:cNvSpPr/>
          <p:nvPr/>
        </p:nvSpPr>
        <p:spPr>
          <a:xfrm>
            <a:off x="8341959" y="737613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4" name="Rectangle 63"/>
          <p:cNvSpPr/>
          <p:nvPr/>
        </p:nvSpPr>
        <p:spPr>
          <a:xfrm>
            <a:off x="2519541" y="627099"/>
            <a:ext cx="6892827" cy="4643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0" name="Titre 1"/>
          <p:cNvSpPr txBox="1">
            <a:spLocks/>
          </p:cNvSpPr>
          <p:nvPr/>
        </p:nvSpPr>
        <p:spPr>
          <a:xfrm>
            <a:off x="3950915" y="75673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82" name="Rectangle 81"/>
          <p:cNvSpPr/>
          <p:nvPr/>
        </p:nvSpPr>
        <p:spPr>
          <a:xfrm>
            <a:off x="6040364" y="740319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6704842" y="746360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8390629" y="765185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90" name="Titre 1"/>
          <p:cNvSpPr txBox="1">
            <a:spLocks/>
          </p:cNvSpPr>
          <p:nvPr/>
        </p:nvSpPr>
        <p:spPr>
          <a:xfrm>
            <a:off x="1439951" y="589959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416183" y="3186668"/>
            <a:ext cx="261395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Imprimer Historique Traitement</a:t>
            </a:r>
            <a:endParaRPr lang="fr-FR" sz="1400" dirty="0" smtClean="0"/>
          </a:p>
        </p:txBody>
      </p:sp>
      <p:sp>
        <p:nvSpPr>
          <p:cNvPr id="79" name="Rectangle 78"/>
          <p:cNvSpPr/>
          <p:nvPr/>
        </p:nvSpPr>
        <p:spPr>
          <a:xfrm>
            <a:off x="288669" y="1721845"/>
            <a:ext cx="3843063" cy="2026066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0" name="Titre 1"/>
          <p:cNvSpPr txBox="1">
            <a:spLocks/>
          </p:cNvSpPr>
          <p:nvPr/>
        </p:nvSpPr>
        <p:spPr>
          <a:xfrm>
            <a:off x="518383" y="2515414"/>
            <a:ext cx="114742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  <a:lvl1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b="1" dirty="0"/>
              <a:t>Récapitulatifs 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18383" y="2515415"/>
            <a:ext cx="3511750" cy="521146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599733" y="2014310"/>
            <a:ext cx="689631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  <a:lvl1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b="1" dirty="0" smtClean="0"/>
              <a:t>Service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289364" y="2034599"/>
            <a:ext cx="1800000" cy="30821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Triangle isocèle 98"/>
          <p:cNvSpPr/>
          <p:nvPr/>
        </p:nvSpPr>
        <p:spPr>
          <a:xfrm rot="10800000">
            <a:off x="2863885" y="2043254"/>
            <a:ext cx="216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112" name="Rectangle 111"/>
          <p:cNvSpPr/>
          <p:nvPr/>
        </p:nvSpPr>
        <p:spPr>
          <a:xfrm>
            <a:off x="3335319" y="2564731"/>
            <a:ext cx="648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Actif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13" name="Rectangle 112"/>
          <p:cNvSpPr/>
          <p:nvPr/>
        </p:nvSpPr>
        <p:spPr>
          <a:xfrm>
            <a:off x="3140092" y="2619990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 smtClean="0"/>
          </a:p>
          <a:p>
            <a:pPr algn="ctr"/>
            <a:endParaRPr lang="fr-FR" dirty="0"/>
          </a:p>
        </p:txBody>
      </p:sp>
      <p:sp>
        <p:nvSpPr>
          <p:cNvPr id="114" name="Rectangle 113"/>
          <p:cNvSpPr/>
          <p:nvPr/>
        </p:nvSpPr>
        <p:spPr>
          <a:xfrm>
            <a:off x="323184" y="1325464"/>
            <a:ext cx="2645787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b="1" u="sng" dirty="0">
                <a:latin typeface="+mj-lt"/>
                <a:ea typeface="+mj-ea"/>
                <a:cs typeface="+mj-cs"/>
              </a:rPr>
              <a:t>Récapitulatifs traitement d’anémie</a:t>
            </a:r>
          </a:p>
        </p:txBody>
      </p:sp>
      <p:sp>
        <p:nvSpPr>
          <p:cNvPr id="54" name="Titre 1"/>
          <p:cNvSpPr txBox="1">
            <a:spLocks/>
          </p:cNvSpPr>
          <p:nvPr/>
        </p:nvSpPr>
        <p:spPr>
          <a:xfrm>
            <a:off x="3853609" y="59579"/>
            <a:ext cx="4396892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77 – Hémodialyse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Récapitulatifs / Traitement d’anémie</a:t>
            </a:r>
            <a:endParaRPr lang="fr-FR" alt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2386443" y="2564731"/>
            <a:ext cx="648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Tous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2191216" y="2619990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 smtClean="0"/>
          </a:p>
          <a:p>
            <a:pPr algn="ctr"/>
            <a:endParaRPr lang="fr-FR" dirty="0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 rotWithShape="1">
          <a:blip r:embed="rId2"/>
          <a:srcRect l="18703" t="9056" r="20926" b="44300"/>
          <a:stretch/>
        </p:blipFill>
        <p:spPr>
          <a:xfrm>
            <a:off x="4310915" y="1721845"/>
            <a:ext cx="7360355" cy="4549422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61" name="Rectangle 60"/>
          <p:cNvSpPr/>
          <p:nvPr/>
        </p:nvSpPr>
        <p:spPr>
          <a:xfrm>
            <a:off x="4291233" y="1227596"/>
            <a:ext cx="1104856" cy="45222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b="1" u="sng" dirty="0" smtClean="0">
                <a:latin typeface="+mj-lt"/>
                <a:ea typeface="+mj-ea"/>
                <a:cs typeface="+mj-cs"/>
              </a:rPr>
              <a:t>Exemple fichier PDF</a:t>
            </a:r>
            <a:endParaRPr lang="fr-FR" sz="1400" b="1" u="sng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60408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83"/>
          <p:cNvSpPr/>
          <p:nvPr/>
        </p:nvSpPr>
        <p:spPr>
          <a:xfrm>
            <a:off x="191991" y="573516"/>
            <a:ext cx="11880000" cy="619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290574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10133563" y="269759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12540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10160309" y="-8916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51" name="Titre 1"/>
          <p:cNvSpPr txBox="1">
            <a:spLocks/>
          </p:cNvSpPr>
          <p:nvPr/>
        </p:nvSpPr>
        <p:spPr>
          <a:xfrm>
            <a:off x="2570132" y="685959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56" name="Titre 1"/>
          <p:cNvSpPr txBox="1">
            <a:spLocks/>
          </p:cNvSpPr>
          <p:nvPr/>
        </p:nvSpPr>
        <p:spPr>
          <a:xfrm>
            <a:off x="4960494" y="672854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57" name="Titre 1"/>
          <p:cNvSpPr txBox="1">
            <a:spLocks/>
          </p:cNvSpPr>
          <p:nvPr/>
        </p:nvSpPr>
        <p:spPr>
          <a:xfrm>
            <a:off x="7787861" y="692366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58" name="Rectangle 57"/>
          <p:cNvSpPr/>
          <p:nvPr/>
        </p:nvSpPr>
        <p:spPr>
          <a:xfrm>
            <a:off x="3757530" y="730985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9" name="Rectangle 58"/>
          <p:cNvSpPr/>
          <p:nvPr/>
        </p:nvSpPr>
        <p:spPr>
          <a:xfrm>
            <a:off x="5931716" y="686261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3" name="Rectangle 62"/>
          <p:cNvSpPr/>
          <p:nvPr/>
        </p:nvSpPr>
        <p:spPr>
          <a:xfrm>
            <a:off x="8341959" y="737613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4" name="Rectangle 63"/>
          <p:cNvSpPr/>
          <p:nvPr/>
        </p:nvSpPr>
        <p:spPr>
          <a:xfrm>
            <a:off x="2519541" y="627099"/>
            <a:ext cx="6892827" cy="4643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0" name="Titre 1"/>
          <p:cNvSpPr txBox="1">
            <a:spLocks/>
          </p:cNvSpPr>
          <p:nvPr/>
        </p:nvSpPr>
        <p:spPr>
          <a:xfrm>
            <a:off x="3950915" y="75673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82" name="Rectangle 81"/>
          <p:cNvSpPr/>
          <p:nvPr/>
        </p:nvSpPr>
        <p:spPr>
          <a:xfrm>
            <a:off x="6040364" y="740319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6704842" y="746360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8390629" y="765185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90" name="Titre 1"/>
          <p:cNvSpPr txBox="1">
            <a:spLocks/>
          </p:cNvSpPr>
          <p:nvPr/>
        </p:nvSpPr>
        <p:spPr>
          <a:xfrm>
            <a:off x="1439951" y="589959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087170" y="4100598"/>
            <a:ext cx="126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Imprimer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617461" y="1727910"/>
            <a:ext cx="5724497" cy="2268357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0" name="Titre 1"/>
          <p:cNvSpPr txBox="1">
            <a:spLocks/>
          </p:cNvSpPr>
          <p:nvPr/>
        </p:nvSpPr>
        <p:spPr>
          <a:xfrm>
            <a:off x="3622831" y="3271764"/>
            <a:ext cx="1157657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  <a:lvl1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b="1" dirty="0"/>
              <a:t>Récapitulatifs 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500704" y="3260136"/>
            <a:ext cx="3816000" cy="427394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2801066" y="1980443"/>
            <a:ext cx="689631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  <a:lvl1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b="1" dirty="0" smtClean="0"/>
              <a:t>Service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490697" y="2000732"/>
            <a:ext cx="1800000" cy="308215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Triangle isocèle 98"/>
          <p:cNvSpPr/>
          <p:nvPr/>
        </p:nvSpPr>
        <p:spPr>
          <a:xfrm rot="10800000">
            <a:off x="5065218" y="2009387"/>
            <a:ext cx="216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112" name="Rectangle 111"/>
          <p:cNvSpPr/>
          <p:nvPr/>
        </p:nvSpPr>
        <p:spPr>
          <a:xfrm>
            <a:off x="6535851" y="3309424"/>
            <a:ext cx="653781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Actif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13" name="Rectangle 112"/>
          <p:cNvSpPr/>
          <p:nvPr/>
        </p:nvSpPr>
        <p:spPr>
          <a:xfrm>
            <a:off x="6340625" y="3364683"/>
            <a:ext cx="181606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 smtClean="0"/>
          </a:p>
          <a:p>
            <a:pPr algn="ctr"/>
            <a:endParaRPr lang="fr-FR" dirty="0"/>
          </a:p>
        </p:txBody>
      </p:sp>
      <p:sp>
        <p:nvSpPr>
          <p:cNvPr id="114" name="Rectangle 113"/>
          <p:cNvSpPr/>
          <p:nvPr/>
        </p:nvSpPr>
        <p:spPr>
          <a:xfrm>
            <a:off x="323184" y="1325464"/>
            <a:ext cx="3627731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b="1" u="sng" dirty="0">
                <a:latin typeface="+mj-lt"/>
                <a:ea typeface="+mj-ea"/>
                <a:cs typeface="+mj-cs"/>
              </a:rPr>
              <a:t>Récapitulatifs Bilan hémoglobine </a:t>
            </a:r>
            <a:r>
              <a:rPr lang="fr-FR" sz="1400" b="1" u="sng" dirty="0" smtClean="0">
                <a:latin typeface="+mj-lt"/>
                <a:ea typeface="+mj-ea"/>
                <a:cs typeface="+mj-cs"/>
              </a:rPr>
              <a:t>/ Bilan </a:t>
            </a:r>
            <a:r>
              <a:rPr lang="fr-FR" sz="1400" b="1" u="sng" dirty="0">
                <a:latin typeface="+mj-lt"/>
                <a:ea typeface="+mj-ea"/>
                <a:cs typeface="+mj-cs"/>
              </a:rPr>
              <a:t>martial</a:t>
            </a:r>
          </a:p>
        </p:txBody>
      </p:sp>
      <p:sp>
        <p:nvSpPr>
          <p:cNvPr id="54" name="Titre 1"/>
          <p:cNvSpPr txBox="1">
            <a:spLocks/>
          </p:cNvSpPr>
          <p:nvPr/>
        </p:nvSpPr>
        <p:spPr>
          <a:xfrm>
            <a:off x="3239911" y="59579"/>
            <a:ext cx="5407378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78 – Hémodialyse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Récapitulatifs /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Bilan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hémoglobine -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Bilan martial</a:t>
            </a:r>
            <a:endParaRPr lang="fr-FR" sz="1800" dirty="0"/>
          </a:p>
        </p:txBody>
      </p:sp>
      <p:sp>
        <p:nvSpPr>
          <p:cNvPr id="55" name="Rectangle 54"/>
          <p:cNvSpPr/>
          <p:nvPr/>
        </p:nvSpPr>
        <p:spPr>
          <a:xfrm>
            <a:off x="5490891" y="3321081"/>
            <a:ext cx="653781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Tous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5295665" y="3376340"/>
            <a:ext cx="181606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 smtClean="0"/>
          </a:p>
          <a:p>
            <a:pPr algn="ctr"/>
            <a:endParaRPr lang="fr-FR" dirty="0"/>
          </a:p>
        </p:txBody>
      </p:sp>
      <p:sp>
        <p:nvSpPr>
          <p:cNvPr id="35" name="Rectangle 34"/>
          <p:cNvSpPr/>
          <p:nvPr/>
        </p:nvSpPr>
        <p:spPr>
          <a:xfrm>
            <a:off x="4067159" y="2622483"/>
            <a:ext cx="1260000" cy="32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6" name="Titre 1"/>
          <p:cNvSpPr txBox="1">
            <a:spLocks/>
          </p:cNvSpPr>
          <p:nvPr/>
        </p:nvSpPr>
        <p:spPr>
          <a:xfrm>
            <a:off x="2721767" y="2529026"/>
            <a:ext cx="72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  <a:lvl1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b="1" dirty="0"/>
              <a:t>Période </a:t>
            </a:r>
          </a:p>
        </p:txBody>
      </p:sp>
      <p:sp>
        <p:nvSpPr>
          <p:cNvPr id="37" name="Titre 1"/>
          <p:cNvSpPr txBox="1">
            <a:spLocks/>
          </p:cNvSpPr>
          <p:nvPr/>
        </p:nvSpPr>
        <p:spPr>
          <a:xfrm>
            <a:off x="3529402" y="2581217"/>
            <a:ext cx="540000" cy="3947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Du</a:t>
            </a:r>
            <a:endParaRPr lang="fr-FR" sz="1400" dirty="0"/>
          </a:p>
        </p:txBody>
      </p:sp>
      <p:sp>
        <p:nvSpPr>
          <p:cNvPr id="38" name="Rectangle 37"/>
          <p:cNvSpPr/>
          <p:nvPr/>
        </p:nvSpPr>
        <p:spPr>
          <a:xfrm>
            <a:off x="3466835" y="2508975"/>
            <a:ext cx="3816000" cy="540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9" name="Rectangle 38"/>
          <p:cNvSpPr/>
          <p:nvPr/>
        </p:nvSpPr>
        <p:spPr>
          <a:xfrm>
            <a:off x="5923613" y="2607243"/>
            <a:ext cx="1260000" cy="32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0" name="Titre 1"/>
          <p:cNvSpPr txBox="1">
            <a:spLocks/>
          </p:cNvSpPr>
          <p:nvPr/>
        </p:nvSpPr>
        <p:spPr>
          <a:xfrm>
            <a:off x="5385856" y="2599844"/>
            <a:ext cx="540000" cy="3947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Au</a:t>
            </a:r>
            <a:endParaRPr lang="fr-FR" sz="1400" dirty="0"/>
          </a:p>
        </p:txBody>
      </p:sp>
      <p:sp>
        <p:nvSpPr>
          <p:cNvPr id="41" name="Rectangle 40"/>
          <p:cNvSpPr/>
          <p:nvPr/>
        </p:nvSpPr>
        <p:spPr>
          <a:xfrm>
            <a:off x="5706179" y="4097142"/>
            <a:ext cx="126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Afficher</a:t>
            </a:r>
          </a:p>
        </p:txBody>
      </p:sp>
      <p:sp>
        <p:nvSpPr>
          <p:cNvPr id="42" name="Titre 1"/>
          <p:cNvSpPr txBox="1">
            <a:spLocks/>
          </p:cNvSpPr>
          <p:nvPr/>
        </p:nvSpPr>
        <p:spPr>
          <a:xfrm>
            <a:off x="3672472" y="4705195"/>
            <a:ext cx="1176155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Hémoglobine</a:t>
            </a:r>
          </a:p>
        </p:txBody>
      </p:sp>
      <p:sp>
        <p:nvSpPr>
          <p:cNvPr id="43" name="Titre 1"/>
          <p:cNvSpPr txBox="1">
            <a:spLocks/>
          </p:cNvSpPr>
          <p:nvPr/>
        </p:nvSpPr>
        <p:spPr>
          <a:xfrm>
            <a:off x="1598705" y="4708904"/>
            <a:ext cx="720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  <a:lvl1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1400"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Nom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86640" y="5076771"/>
            <a:ext cx="108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5" name="Titre 1"/>
          <p:cNvSpPr txBox="1">
            <a:spLocks/>
          </p:cNvSpPr>
          <p:nvPr/>
        </p:nvSpPr>
        <p:spPr>
          <a:xfrm>
            <a:off x="386993" y="4704049"/>
            <a:ext cx="1057969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  <a:lvl1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1400"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N° Dossier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596403" y="4692760"/>
            <a:ext cx="1487251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Date Fer sérique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97146" y="5090912"/>
            <a:ext cx="108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8" name="Rectangle 47"/>
          <p:cNvSpPr/>
          <p:nvPr/>
        </p:nvSpPr>
        <p:spPr>
          <a:xfrm>
            <a:off x="378807" y="4636623"/>
            <a:ext cx="11565355" cy="1512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9" name="Titre 1"/>
          <p:cNvSpPr txBox="1">
            <a:spLocks/>
          </p:cNvSpPr>
          <p:nvPr/>
        </p:nvSpPr>
        <p:spPr>
          <a:xfrm>
            <a:off x="4871205" y="4708256"/>
            <a:ext cx="1538305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Date Hémoglobine</a:t>
            </a:r>
          </a:p>
        </p:txBody>
      </p:sp>
      <p:cxnSp>
        <p:nvCxnSpPr>
          <p:cNvPr id="50" name="Connecteur droit 49"/>
          <p:cNvCxnSpPr/>
          <p:nvPr/>
        </p:nvCxnSpPr>
        <p:spPr>
          <a:xfrm>
            <a:off x="1449988" y="4636623"/>
            <a:ext cx="0" cy="1512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2" name="Connecteur droit 51"/>
          <p:cNvCxnSpPr/>
          <p:nvPr/>
        </p:nvCxnSpPr>
        <p:spPr>
          <a:xfrm>
            <a:off x="2527295" y="4655673"/>
            <a:ext cx="0" cy="1512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3" name="Connecteur droit 52"/>
          <p:cNvCxnSpPr/>
          <p:nvPr/>
        </p:nvCxnSpPr>
        <p:spPr>
          <a:xfrm>
            <a:off x="6374629" y="4636623"/>
            <a:ext cx="0" cy="1512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2" name="Connecteur droit 61"/>
          <p:cNvCxnSpPr/>
          <p:nvPr/>
        </p:nvCxnSpPr>
        <p:spPr>
          <a:xfrm>
            <a:off x="393452" y="5569135"/>
            <a:ext cx="1155071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5" name="Rectangle 64"/>
          <p:cNvSpPr/>
          <p:nvPr/>
        </p:nvSpPr>
        <p:spPr>
          <a:xfrm>
            <a:off x="2535985" y="4712967"/>
            <a:ext cx="1080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Prénom</a:t>
            </a:r>
          </a:p>
        </p:txBody>
      </p:sp>
      <p:cxnSp>
        <p:nvCxnSpPr>
          <p:cNvPr id="66" name="Connecteur droit 65"/>
          <p:cNvCxnSpPr/>
          <p:nvPr/>
        </p:nvCxnSpPr>
        <p:spPr>
          <a:xfrm>
            <a:off x="4871205" y="4636623"/>
            <a:ext cx="0" cy="1512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7" name="Rectangle 66"/>
          <p:cNvSpPr/>
          <p:nvPr/>
        </p:nvSpPr>
        <p:spPr>
          <a:xfrm>
            <a:off x="9272630" y="5086623"/>
            <a:ext cx="108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68" name="Connecteur droit 67"/>
          <p:cNvCxnSpPr/>
          <p:nvPr/>
        </p:nvCxnSpPr>
        <p:spPr>
          <a:xfrm>
            <a:off x="10456912" y="4651946"/>
            <a:ext cx="0" cy="1512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9" name="Titre 1"/>
          <p:cNvSpPr txBox="1">
            <a:spLocks/>
          </p:cNvSpPr>
          <p:nvPr/>
        </p:nvSpPr>
        <p:spPr>
          <a:xfrm>
            <a:off x="9316250" y="4706593"/>
            <a:ext cx="830669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Ferritine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712622" y="5076771"/>
            <a:ext cx="108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2" name="Rectangle 71"/>
          <p:cNvSpPr/>
          <p:nvPr/>
        </p:nvSpPr>
        <p:spPr>
          <a:xfrm>
            <a:off x="2628765" y="5089073"/>
            <a:ext cx="90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73" name="Connecteur droit 72"/>
          <p:cNvCxnSpPr/>
          <p:nvPr/>
        </p:nvCxnSpPr>
        <p:spPr>
          <a:xfrm>
            <a:off x="3617383" y="4642056"/>
            <a:ext cx="0" cy="1512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4" name="Rectangle 73"/>
          <p:cNvSpPr/>
          <p:nvPr/>
        </p:nvSpPr>
        <p:spPr>
          <a:xfrm>
            <a:off x="7898963" y="5086623"/>
            <a:ext cx="108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5" name="Rectangle 74"/>
          <p:cNvSpPr/>
          <p:nvPr/>
        </p:nvSpPr>
        <p:spPr>
          <a:xfrm>
            <a:off x="10659591" y="5101946"/>
            <a:ext cx="108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6" name="Titre 1"/>
          <p:cNvSpPr txBox="1">
            <a:spLocks/>
          </p:cNvSpPr>
          <p:nvPr/>
        </p:nvSpPr>
        <p:spPr>
          <a:xfrm>
            <a:off x="6494948" y="4697471"/>
            <a:ext cx="109427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Fer sérique</a:t>
            </a:r>
          </a:p>
        </p:txBody>
      </p:sp>
      <p:cxnSp>
        <p:nvCxnSpPr>
          <p:cNvPr id="78" name="Connecteur droit 77"/>
          <p:cNvCxnSpPr/>
          <p:nvPr/>
        </p:nvCxnSpPr>
        <p:spPr>
          <a:xfrm>
            <a:off x="7649682" y="4644998"/>
            <a:ext cx="0" cy="1512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2" name="Rectangle 91"/>
          <p:cNvSpPr/>
          <p:nvPr/>
        </p:nvSpPr>
        <p:spPr>
          <a:xfrm>
            <a:off x="10456912" y="4698777"/>
            <a:ext cx="1487251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Date Fer Ferritine</a:t>
            </a:r>
          </a:p>
        </p:txBody>
      </p:sp>
      <p:cxnSp>
        <p:nvCxnSpPr>
          <p:cNvPr id="93" name="Connecteur droit 92"/>
          <p:cNvCxnSpPr/>
          <p:nvPr/>
        </p:nvCxnSpPr>
        <p:spPr>
          <a:xfrm>
            <a:off x="9133959" y="4636623"/>
            <a:ext cx="0" cy="1512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5" name="Rectangle 94"/>
          <p:cNvSpPr/>
          <p:nvPr/>
        </p:nvSpPr>
        <p:spPr>
          <a:xfrm>
            <a:off x="1545029" y="5100362"/>
            <a:ext cx="90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6" name="Rectangle 95"/>
          <p:cNvSpPr/>
          <p:nvPr/>
        </p:nvSpPr>
        <p:spPr>
          <a:xfrm>
            <a:off x="472583" y="5100362"/>
            <a:ext cx="90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7" name="Rectangle 96"/>
          <p:cNvSpPr/>
          <p:nvPr/>
        </p:nvSpPr>
        <p:spPr>
          <a:xfrm>
            <a:off x="6492283" y="5646864"/>
            <a:ext cx="108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5102789" y="5661005"/>
            <a:ext cx="108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1" name="Rectangle 100"/>
          <p:cNvSpPr/>
          <p:nvPr/>
        </p:nvSpPr>
        <p:spPr>
          <a:xfrm>
            <a:off x="9278273" y="5656716"/>
            <a:ext cx="108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Rectangle 101"/>
          <p:cNvSpPr/>
          <p:nvPr/>
        </p:nvSpPr>
        <p:spPr>
          <a:xfrm>
            <a:off x="3718265" y="5646864"/>
            <a:ext cx="108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3" name="Rectangle 102"/>
          <p:cNvSpPr/>
          <p:nvPr/>
        </p:nvSpPr>
        <p:spPr>
          <a:xfrm>
            <a:off x="2634408" y="5659166"/>
            <a:ext cx="90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4" name="Rectangle 103"/>
          <p:cNvSpPr/>
          <p:nvPr/>
        </p:nvSpPr>
        <p:spPr>
          <a:xfrm>
            <a:off x="7904606" y="5656716"/>
            <a:ext cx="108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5" name="Rectangle 104"/>
          <p:cNvSpPr/>
          <p:nvPr/>
        </p:nvSpPr>
        <p:spPr>
          <a:xfrm>
            <a:off x="10665234" y="5672039"/>
            <a:ext cx="108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6" name="Rectangle 105"/>
          <p:cNvSpPr/>
          <p:nvPr/>
        </p:nvSpPr>
        <p:spPr>
          <a:xfrm>
            <a:off x="1550672" y="5670455"/>
            <a:ext cx="90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7" name="Rectangle 106"/>
          <p:cNvSpPr/>
          <p:nvPr/>
        </p:nvSpPr>
        <p:spPr>
          <a:xfrm>
            <a:off x="478226" y="5670455"/>
            <a:ext cx="90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08" name="Connecteur droit 107"/>
          <p:cNvCxnSpPr/>
          <p:nvPr/>
        </p:nvCxnSpPr>
        <p:spPr>
          <a:xfrm>
            <a:off x="393452" y="5027268"/>
            <a:ext cx="1155071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3562935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83"/>
          <p:cNvSpPr/>
          <p:nvPr/>
        </p:nvSpPr>
        <p:spPr>
          <a:xfrm>
            <a:off x="191991" y="573516"/>
            <a:ext cx="11880000" cy="619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290574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10133563" y="269759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12540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10160309" y="-8916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51" name="Titre 1"/>
          <p:cNvSpPr txBox="1">
            <a:spLocks/>
          </p:cNvSpPr>
          <p:nvPr/>
        </p:nvSpPr>
        <p:spPr>
          <a:xfrm>
            <a:off x="2570132" y="685959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56" name="Titre 1"/>
          <p:cNvSpPr txBox="1">
            <a:spLocks/>
          </p:cNvSpPr>
          <p:nvPr/>
        </p:nvSpPr>
        <p:spPr>
          <a:xfrm>
            <a:off x="4960494" y="672854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57" name="Titre 1"/>
          <p:cNvSpPr txBox="1">
            <a:spLocks/>
          </p:cNvSpPr>
          <p:nvPr/>
        </p:nvSpPr>
        <p:spPr>
          <a:xfrm>
            <a:off x="7787861" y="692366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58" name="Rectangle 57"/>
          <p:cNvSpPr/>
          <p:nvPr/>
        </p:nvSpPr>
        <p:spPr>
          <a:xfrm>
            <a:off x="3757530" y="730985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9" name="Rectangle 58"/>
          <p:cNvSpPr/>
          <p:nvPr/>
        </p:nvSpPr>
        <p:spPr>
          <a:xfrm>
            <a:off x="5931716" y="686261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3" name="Rectangle 62"/>
          <p:cNvSpPr/>
          <p:nvPr/>
        </p:nvSpPr>
        <p:spPr>
          <a:xfrm>
            <a:off x="8341959" y="737613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4" name="Rectangle 63"/>
          <p:cNvSpPr/>
          <p:nvPr/>
        </p:nvSpPr>
        <p:spPr>
          <a:xfrm>
            <a:off x="2519541" y="627099"/>
            <a:ext cx="6892827" cy="4643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0" name="Titre 1"/>
          <p:cNvSpPr txBox="1">
            <a:spLocks/>
          </p:cNvSpPr>
          <p:nvPr/>
        </p:nvSpPr>
        <p:spPr>
          <a:xfrm>
            <a:off x="3950915" y="75673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82" name="Rectangle 81"/>
          <p:cNvSpPr/>
          <p:nvPr/>
        </p:nvSpPr>
        <p:spPr>
          <a:xfrm>
            <a:off x="6040364" y="740319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6704842" y="746360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8390629" y="765185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90" name="Titre 1"/>
          <p:cNvSpPr txBox="1">
            <a:spLocks/>
          </p:cNvSpPr>
          <p:nvPr/>
        </p:nvSpPr>
        <p:spPr>
          <a:xfrm>
            <a:off x="1439951" y="589959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54" name="Titre 1"/>
          <p:cNvSpPr txBox="1">
            <a:spLocks/>
          </p:cNvSpPr>
          <p:nvPr/>
        </p:nvSpPr>
        <p:spPr>
          <a:xfrm>
            <a:off x="3239911" y="59579"/>
            <a:ext cx="5407378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78 – Hémodialyse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Récapitulatifs /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Bilan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hémoglobine -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Bilan martial</a:t>
            </a:r>
            <a:endParaRPr lang="fr-FR" sz="1800" dirty="0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 rotWithShape="1">
          <a:blip r:embed="rId2"/>
          <a:srcRect l="18797" t="11256" r="20093" b="39323"/>
          <a:stretch/>
        </p:blipFill>
        <p:spPr>
          <a:xfrm>
            <a:off x="945581" y="1693924"/>
            <a:ext cx="7450667" cy="4820356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sp>
        <p:nvSpPr>
          <p:cNvPr id="35" name="Rectangle 34"/>
          <p:cNvSpPr/>
          <p:nvPr/>
        </p:nvSpPr>
        <p:spPr>
          <a:xfrm>
            <a:off x="199849" y="992319"/>
            <a:ext cx="1104856" cy="45036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b="1" u="sng" dirty="0" smtClean="0">
                <a:latin typeface="+mj-lt"/>
                <a:ea typeface="+mj-ea"/>
                <a:cs typeface="+mj-cs"/>
              </a:rPr>
              <a:t>Exemple fichier PDF</a:t>
            </a:r>
            <a:endParaRPr lang="fr-FR" sz="1400" b="1" u="sng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44957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83"/>
          <p:cNvSpPr/>
          <p:nvPr/>
        </p:nvSpPr>
        <p:spPr>
          <a:xfrm>
            <a:off x="191991" y="573516"/>
            <a:ext cx="11880000" cy="619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290574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10133563" y="269759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12540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10160309" y="-8916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51" name="Titre 1"/>
          <p:cNvSpPr txBox="1">
            <a:spLocks/>
          </p:cNvSpPr>
          <p:nvPr/>
        </p:nvSpPr>
        <p:spPr>
          <a:xfrm>
            <a:off x="2570132" y="685959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56" name="Titre 1"/>
          <p:cNvSpPr txBox="1">
            <a:spLocks/>
          </p:cNvSpPr>
          <p:nvPr/>
        </p:nvSpPr>
        <p:spPr>
          <a:xfrm>
            <a:off x="4960494" y="672854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57" name="Titre 1"/>
          <p:cNvSpPr txBox="1">
            <a:spLocks/>
          </p:cNvSpPr>
          <p:nvPr/>
        </p:nvSpPr>
        <p:spPr>
          <a:xfrm>
            <a:off x="7787861" y="692366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58" name="Rectangle 57"/>
          <p:cNvSpPr/>
          <p:nvPr/>
        </p:nvSpPr>
        <p:spPr>
          <a:xfrm>
            <a:off x="3757530" y="730985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9" name="Rectangle 58"/>
          <p:cNvSpPr/>
          <p:nvPr/>
        </p:nvSpPr>
        <p:spPr>
          <a:xfrm>
            <a:off x="5931716" y="686261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3" name="Rectangle 62"/>
          <p:cNvSpPr/>
          <p:nvPr/>
        </p:nvSpPr>
        <p:spPr>
          <a:xfrm>
            <a:off x="8341959" y="737613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4" name="Rectangle 63"/>
          <p:cNvSpPr/>
          <p:nvPr/>
        </p:nvSpPr>
        <p:spPr>
          <a:xfrm>
            <a:off x="2519541" y="627099"/>
            <a:ext cx="6892827" cy="4643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0" name="Titre 1"/>
          <p:cNvSpPr txBox="1">
            <a:spLocks/>
          </p:cNvSpPr>
          <p:nvPr/>
        </p:nvSpPr>
        <p:spPr>
          <a:xfrm>
            <a:off x="3950915" y="75673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82" name="Rectangle 81"/>
          <p:cNvSpPr/>
          <p:nvPr/>
        </p:nvSpPr>
        <p:spPr>
          <a:xfrm>
            <a:off x="6040364" y="740319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6704842" y="746360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8390629" y="765185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90" name="Titre 1"/>
          <p:cNvSpPr txBox="1">
            <a:spLocks/>
          </p:cNvSpPr>
          <p:nvPr/>
        </p:nvSpPr>
        <p:spPr>
          <a:xfrm>
            <a:off x="1439951" y="589959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931378" y="4111361"/>
            <a:ext cx="1430038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Imprimer statu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617461" y="1727910"/>
            <a:ext cx="5724497" cy="2268357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2801066" y="1980443"/>
            <a:ext cx="689631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  <a:lvl1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b="1" dirty="0" smtClean="0"/>
              <a:t>Statu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490697" y="2000732"/>
            <a:ext cx="1800000" cy="308215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Triangle isocèle 98"/>
          <p:cNvSpPr/>
          <p:nvPr/>
        </p:nvSpPr>
        <p:spPr>
          <a:xfrm rot="10800000">
            <a:off x="5068710" y="2009387"/>
            <a:ext cx="212507" cy="349062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114" name="Rectangle 113"/>
          <p:cNvSpPr/>
          <p:nvPr/>
        </p:nvSpPr>
        <p:spPr>
          <a:xfrm>
            <a:off x="323184" y="1325464"/>
            <a:ext cx="3627731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b="1" u="sng" dirty="0">
                <a:latin typeface="+mj-lt"/>
                <a:ea typeface="+mj-ea"/>
                <a:cs typeface="+mj-cs"/>
              </a:rPr>
              <a:t>Récapitulatifs Bilan hémoglobine </a:t>
            </a:r>
            <a:r>
              <a:rPr lang="fr-FR" sz="1400" b="1" u="sng" dirty="0" smtClean="0">
                <a:latin typeface="+mj-lt"/>
                <a:ea typeface="+mj-ea"/>
                <a:cs typeface="+mj-cs"/>
              </a:rPr>
              <a:t>/ Bilan </a:t>
            </a:r>
            <a:r>
              <a:rPr lang="fr-FR" sz="1400" b="1" u="sng" dirty="0">
                <a:latin typeface="+mj-lt"/>
                <a:ea typeface="+mj-ea"/>
                <a:cs typeface="+mj-cs"/>
              </a:rPr>
              <a:t>martial</a:t>
            </a:r>
          </a:p>
        </p:txBody>
      </p:sp>
      <p:sp>
        <p:nvSpPr>
          <p:cNvPr id="54" name="Titre 1"/>
          <p:cNvSpPr txBox="1">
            <a:spLocks/>
          </p:cNvSpPr>
          <p:nvPr/>
        </p:nvSpPr>
        <p:spPr>
          <a:xfrm>
            <a:off x="3239911" y="59579"/>
            <a:ext cx="5407378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79 – Hémodialyse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Récapitulatifs / Statu des patients</a:t>
            </a:r>
            <a:endParaRPr lang="fr-FR" sz="1800" dirty="0"/>
          </a:p>
        </p:txBody>
      </p:sp>
      <p:sp>
        <p:nvSpPr>
          <p:cNvPr id="81" name="Titre 1"/>
          <p:cNvSpPr txBox="1">
            <a:spLocks/>
          </p:cNvSpPr>
          <p:nvPr/>
        </p:nvSpPr>
        <p:spPr>
          <a:xfrm>
            <a:off x="4915281" y="2352130"/>
            <a:ext cx="2219298" cy="162155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CH-CARD ADULTE</a:t>
            </a:r>
            <a:endParaRPr lang="fr-FR" sz="1400" dirty="0"/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CH-CARD </a:t>
            </a:r>
            <a:r>
              <a:rPr lang="fr-FR" sz="1400" dirty="0" smtClean="0"/>
              <a:t>INFANTILE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CH-CARD </a:t>
            </a:r>
            <a:r>
              <a:rPr lang="fr-FR" sz="1400" dirty="0" smtClean="0"/>
              <a:t>INTERVENIONELLE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IRA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IRC AL-AZHAR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IRC AUTRE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VACANCIER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278510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83"/>
          <p:cNvSpPr/>
          <p:nvPr/>
        </p:nvSpPr>
        <p:spPr>
          <a:xfrm>
            <a:off x="191991" y="573516"/>
            <a:ext cx="11880000" cy="619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290574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10133563" y="269759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12540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10160309" y="-8916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51" name="Titre 1"/>
          <p:cNvSpPr txBox="1">
            <a:spLocks/>
          </p:cNvSpPr>
          <p:nvPr/>
        </p:nvSpPr>
        <p:spPr>
          <a:xfrm>
            <a:off x="2570132" y="685959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56" name="Titre 1"/>
          <p:cNvSpPr txBox="1">
            <a:spLocks/>
          </p:cNvSpPr>
          <p:nvPr/>
        </p:nvSpPr>
        <p:spPr>
          <a:xfrm>
            <a:off x="4960494" y="672854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57" name="Titre 1"/>
          <p:cNvSpPr txBox="1">
            <a:spLocks/>
          </p:cNvSpPr>
          <p:nvPr/>
        </p:nvSpPr>
        <p:spPr>
          <a:xfrm>
            <a:off x="7787861" y="692366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58" name="Rectangle 57"/>
          <p:cNvSpPr/>
          <p:nvPr/>
        </p:nvSpPr>
        <p:spPr>
          <a:xfrm>
            <a:off x="3757530" y="730985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9" name="Rectangle 58"/>
          <p:cNvSpPr/>
          <p:nvPr/>
        </p:nvSpPr>
        <p:spPr>
          <a:xfrm>
            <a:off x="5931716" y="686261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3" name="Rectangle 62"/>
          <p:cNvSpPr/>
          <p:nvPr/>
        </p:nvSpPr>
        <p:spPr>
          <a:xfrm>
            <a:off x="8341959" y="737613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4" name="Rectangle 63"/>
          <p:cNvSpPr/>
          <p:nvPr/>
        </p:nvSpPr>
        <p:spPr>
          <a:xfrm>
            <a:off x="2519541" y="627099"/>
            <a:ext cx="6892827" cy="4643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0" name="Titre 1"/>
          <p:cNvSpPr txBox="1">
            <a:spLocks/>
          </p:cNvSpPr>
          <p:nvPr/>
        </p:nvSpPr>
        <p:spPr>
          <a:xfrm>
            <a:off x="3950915" y="75673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82" name="Rectangle 81"/>
          <p:cNvSpPr/>
          <p:nvPr/>
        </p:nvSpPr>
        <p:spPr>
          <a:xfrm>
            <a:off x="6040364" y="740319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6704842" y="746360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8390629" y="765185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90" name="Titre 1"/>
          <p:cNvSpPr txBox="1">
            <a:spLocks/>
          </p:cNvSpPr>
          <p:nvPr/>
        </p:nvSpPr>
        <p:spPr>
          <a:xfrm>
            <a:off x="1439951" y="589959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319457" y="4617243"/>
            <a:ext cx="10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Imprimer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6052269" y="2465864"/>
            <a:ext cx="689631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  <a:lvl1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b="1" dirty="0" smtClean="0"/>
              <a:t>Statu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741900" y="2486153"/>
            <a:ext cx="1800000" cy="308215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Triangle isocèle 98"/>
          <p:cNvSpPr/>
          <p:nvPr/>
        </p:nvSpPr>
        <p:spPr>
          <a:xfrm rot="10800000">
            <a:off x="8319913" y="2494808"/>
            <a:ext cx="212507" cy="349062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114" name="Rectangle 113"/>
          <p:cNvSpPr/>
          <p:nvPr/>
        </p:nvSpPr>
        <p:spPr>
          <a:xfrm>
            <a:off x="323184" y="1325464"/>
            <a:ext cx="4745526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b="1" u="sng" dirty="0">
                <a:latin typeface="+mj-lt"/>
                <a:ea typeface="+mj-ea"/>
                <a:cs typeface="+mj-cs"/>
              </a:rPr>
              <a:t>Récapitulatif des doses mensuelle reçues (EPO / FER injectable)</a:t>
            </a:r>
          </a:p>
        </p:txBody>
      </p:sp>
      <p:sp>
        <p:nvSpPr>
          <p:cNvPr id="54" name="Titre 1"/>
          <p:cNvSpPr txBox="1">
            <a:spLocks/>
          </p:cNvSpPr>
          <p:nvPr/>
        </p:nvSpPr>
        <p:spPr>
          <a:xfrm>
            <a:off x="2761944" y="59579"/>
            <a:ext cx="6650423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80 – Hémodialyse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Récapitulatifs /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Doses mensuelle reçues (EPO / Fer injectable)</a:t>
            </a:r>
            <a:endParaRPr lang="fr-FR" sz="1800" dirty="0"/>
          </a:p>
        </p:txBody>
      </p:sp>
      <p:sp>
        <p:nvSpPr>
          <p:cNvPr id="81" name="Titre 1"/>
          <p:cNvSpPr txBox="1">
            <a:spLocks/>
          </p:cNvSpPr>
          <p:nvPr/>
        </p:nvSpPr>
        <p:spPr>
          <a:xfrm>
            <a:off x="6744082" y="2837551"/>
            <a:ext cx="2219298" cy="162155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CH-CARD ADULTE</a:t>
            </a:r>
            <a:endParaRPr lang="fr-FR" sz="1400" dirty="0"/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CH-CARD </a:t>
            </a:r>
            <a:r>
              <a:rPr lang="fr-FR" sz="1400" dirty="0" smtClean="0"/>
              <a:t>INFANTILE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CH-CARD </a:t>
            </a:r>
            <a:r>
              <a:rPr lang="fr-FR" sz="1400" dirty="0" smtClean="0"/>
              <a:t>INTERVENIONELLE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IRA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IRC AL-AZHAR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IRC AUTRE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VACANCIER</a:t>
            </a:r>
            <a:endParaRPr lang="fr-FR" sz="1400" dirty="0"/>
          </a:p>
        </p:txBody>
      </p:sp>
      <p:sp>
        <p:nvSpPr>
          <p:cNvPr id="27" name="Rectangle 26"/>
          <p:cNvSpPr/>
          <p:nvPr/>
        </p:nvSpPr>
        <p:spPr>
          <a:xfrm>
            <a:off x="1532842" y="1672579"/>
            <a:ext cx="7879526" cy="2859751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8" name="Titre 1"/>
          <p:cNvSpPr txBox="1">
            <a:spLocks/>
          </p:cNvSpPr>
          <p:nvPr/>
        </p:nvSpPr>
        <p:spPr>
          <a:xfrm>
            <a:off x="2900341" y="3791052"/>
            <a:ext cx="1157657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  <a:lvl1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b="1" dirty="0"/>
              <a:t>Récapitulatifs 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78214" y="3779424"/>
            <a:ext cx="3816000" cy="427394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0" name="Titre 1"/>
          <p:cNvSpPr txBox="1">
            <a:spLocks/>
          </p:cNvSpPr>
          <p:nvPr/>
        </p:nvSpPr>
        <p:spPr>
          <a:xfrm>
            <a:off x="2078576" y="1822396"/>
            <a:ext cx="689631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  <a:lvl1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b="1" dirty="0" smtClean="0"/>
              <a:t>Service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68207" y="1842685"/>
            <a:ext cx="1800000" cy="308215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2" name="Triangle isocèle 31"/>
          <p:cNvSpPr/>
          <p:nvPr/>
        </p:nvSpPr>
        <p:spPr>
          <a:xfrm rot="10800000">
            <a:off x="4342728" y="1851340"/>
            <a:ext cx="216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33" name="Rectangle 32"/>
          <p:cNvSpPr/>
          <p:nvPr/>
        </p:nvSpPr>
        <p:spPr>
          <a:xfrm>
            <a:off x="5813361" y="3839998"/>
            <a:ext cx="653781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Actif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618135" y="3883971"/>
            <a:ext cx="181606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 smtClean="0"/>
          </a:p>
          <a:p>
            <a:pPr algn="ctr"/>
            <a:endParaRPr lang="fr-FR" dirty="0"/>
          </a:p>
        </p:txBody>
      </p:sp>
      <p:sp>
        <p:nvSpPr>
          <p:cNvPr id="35" name="Rectangle 34"/>
          <p:cNvSpPr/>
          <p:nvPr/>
        </p:nvSpPr>
        <p:spPr>
          <a:xfrm>
            <a:off x="4768401" y="3840369"/>
            <a:ext cx="653781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Tous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4573175" y="3895628"/>
            <a:ext cx="181606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 smtClean="0"/>
          </a:p>
          <a:p>
            <a:pPr algn="ctr"/>
            <a:endParaRPr lang="fr-FR" dirty="0"/>
          </a:p>
        </p:txBody>
      </p:sp>
      <p:sp>
        <p:nvSpPr>
          <p:cNvPr id="37" name="Rectangle 36"/>
          <p:cNvSpPr/>
          <p:nvPr/>
        </p:nvSpPr>
        <p:spPr>
          <a:xfrm>
            <a:off x="3344669" y="3141771"/>
            <a:ext cx="1260000" cy="32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8" name="Titre 1"/>
          <p:cNvSpPr txBox="1">
            <a:spLocks/>
          </p:cNvSpPr>
          <p:nvPr/>
        </p:nvSpPr>
        <p:spPr>
          <a:xfrm>
            <a:off x="1999277" y="3048314"/>
            <a:ext cx="72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  <a:lvl1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b="1" dirty="0"/>
              <a:t>Période </a:t>
            </a:r>
          </a:p>
        </p:txBody>
      </p:sp>
      <p:sp>
        <p:nvSpPr>
          <p:cNvPr id="39" name="Titre 1"/>
          <p:cNvSpPr txBox="1">
            <a:spLocks/>
          </p:cNvSpPr>
          <p:nvPr/>
        </p:nvSpPr>
        <p:spPr>
          <a:xfrm>
            <a:off x="2806912" y="3100505"/>
            <a:ext cx="540000" cy="3947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Du</a:t>
            </a:r>
            <a:endParaRPr lang="fr-FR" sz="1400" dirty="0"/>
          </a:p>
        </p:txBody>
      </p:sp>
      <p:sp>
        <p:nvSpPr>
          <p:cNvPr id="40" name="Rectangle 39"/>
          <p:cNvSpPr/>
          <p:nvPr/>
        </p:nvSpPr>
        <p:spPr>
          <a:xfrm>
            <a:off x="2744345" y="3028263"/>
            <a:ext cx="3816000" cy="540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1" name="Rectangle 40"/>
          <p:cNvSpPr/>
          <p:nvPr/>
        </p:nvSpPr>
        <p:spPr>
          <a:xfrm>
            <a:off x="5201123" y="3126531"/>
            <a:ext cx="1260000" cy="32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2" name="Titre 1"/>
          <p:cNvSpPr txBox="1">
            <a:spLocks/>
          </p:cNvSpPr>
          <p:nvPr/>
        </p:nvSpPr>
        <p:spPr>
          <a:xfrm>
            <a:off x="4663366" y="3119132"/>
            <a:ext cx="540000" cy="3947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Au</a:t>
            </a:r>
            <a:endParaRPr lang="fr-FR" sz="1400" dirty="0"/>
          </a:p>
        </p:txBody>
      </p:sp>
      <p:sp>
        <p:nvSpPr>
          <p:cNvPr id="44" name="Rectangle 43"/>
          <p:cNvSpPr/>
          <p:nvPr/>
        </p:nvSpPr>
        <p:spPr>
          <a:xfrm>
            <a:off x="2773049" y="2429706"/>
            <a:ext cx="1800000" cy="308215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45" name="Triangle isocèle 44"/>
          <p:cNvSpPr/>
          <p:nvPr/>
        </p:nvSpPr>
        <p:spPr>
          <a:xfrm rot="10800000">
            <a:off x="4357312" y="2438360"/>
            <a:ext cx="206257" cy="387659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46" name="Titre 1"/>
          <p:cNvSpPr txBox="1">
            <a:spLocks/>
          </p:cNvSpPr>
          <p:nvPr/>
        </p:nvSpPr>
        <p:spPr>
          <a:xfrm>
            <a:off x="1761068" y="2406780"/>
            <a:ext cx="1014655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  <a:lvl1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b="1" dirty="0"/>
              <a:t>Caisse d’assurance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179736" y="4617215"/>
            <a:ext cx="10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Afficher</a:t>
            </a:r>
          </a:p>
        </p:txBody>
      </p:sp>
      <p:sp>
        <p:nvSpPr>
          <p:cNvPr id="48" name="Titre 1"/>
          <p:cNvSpPr txBox="1">
            <a:spLocks/>
          </p:cNvSpPr>
          <p:nvPr/>
        </p:nvSpPr>
        <p:spPr>
          <a:xfrm>
            <a:off x="5106157" y="5201911"/>
            <a:ext cx="1176155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EPO</a:t>
            </a:r>
          </a:p>
        </p:txBody>
      </p:sp>
      <p:sp>
        <p:nvSpPr>
          <p:cNvPr id="49" name="Titre 1"/>
          <p:cNvSpPr txBox="1">
            <a:spLocks/>
          </p:cNvSpPr>
          <p:nvPr/>
        </p:nvSpPr>
        <p:spPr>
          <a:xfrm>
            <a:off x="3032390" y="5205620"/>
            <a:ext cx="720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  <a:lvl1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1400"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Nom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20325" y="5573487"/>
            <a:ext cx="108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2" name="Titre 1"/>
          <p:cNvSpPr txBox="1">
            <a:spLocks/>
          </p:cNvSpPr>
          <p:nvPr/>
        </p:nvSpPr>
        <p:spPr>
          <a:xfrm>
            <a:off x="1820678" y="5200765"/>
            <a:ext cx="1057969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  <a:lvl1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1400"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N° Dossier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530831" y="5587628"/>
            <a:ext cx="108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0" name="Rectangle 59"/>
          <p:cNvSpPr/>
          <p:nvPr/>
        </p:nvSpPr>
        <p:spPr>
          <a:xfrm>
            <a:off x="1812492" y="5133339"/>
            <a:ext cx="7308000" cy="1512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1" name="Titre 1"/>
          <p:cNvSpPr txBox="1">
            <a:spLocks/>
          </p:cNvSpPr>
          <p:nvPr/>
        </p:nvSpPr>
        <p:spPr>
          <a:xfrm>
            <a:off x="6304890" y="5204972"/>
            <a:ext cx="1538305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FER </a:t>
            </a:r>
            <a:r>
              <a:rPr lang="fr-FR" sz="1400" dirty="0" smtClean="0"/>
              <a:t>injectable</a:t>
            </a:r>
            <a:endParaRPr lang="fr-FR" sz="1400" dirty="0"/>
          </a:p>
        </p:txBody>
      </p:sp>
      <p:cxnSp>
        <p:nvCxnSpPr>
          <p:cNvPr id="62" name="Connecteur droit 61"/>
          <p:cNvCxnSpPr/>
          <p:nvPr/>
        </p:nvCxnSpPr>
        <p:spPr>
          <a:xfrm>
            <a:off x="2883673" y="5133339"/>
            <a:ext cx="0" cy="1512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5" name="Connecteur droit 64"/>
          <p:cNvCxnSpPr/>
          <p:nvPr/>
        </p:nvCxnSpPr>
        <p:spPr>
          <a:xfrm>
            <a:off x="3960980" y="5152389"/>
            <a:ext cx="0" cy="1512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6" name="Connecteur droit 65"/>
          <p:cNvCxnSpPr/>
          <p:nvPr/>
        </p:nvCxnSpPr>
        <p:spPr>
          <a:xfrm>
            <a:off x="7808314" y="5133339"/>
            <a:ext cx="0" cy="1512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7" name="Connecteur droit 66"/>
          <p:cNvCxnSpPr/>
          <p:nvPr/>
        </p:nvCxnSpPr>
        <p:spPr>
          <a:xfrm>
            <a:off x="1827137" y="6065851"/>
            <a:ext cx="7308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8" name="Rectangle 67"/>
          <p:cNvSpPr/>
          <p:nvPr/>
        </p:nvSpPr>
        <p:spPr>
          <a:xfrm>
            <a:off x="3969670" y="5209683"/>
            <a:ext cx="1080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Prénom</a:t>
            </a:r>
          </a:p>
        </p:txBody>
      </p:sp>
      <p:cxnSp>
        <p:nvCxnSpPr>
          <p:cNvPr id="69" name="Connecteur droit 68"/>
          <p:cNvCxnSpPr/>
          <p:nvPr/>
        </p:nvCxnSpPr>
        <p:spPr>
          <a:xfrm>
            <a:off x="6304890" y="5133339"/>
            <a:ext cx="0" cy="1512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4" name="Rectangle 73"/>
          <p:cNvSpPr/>
          <p:nvPr/>
        </p:nvSpPr>
        <p:spPr>
          <a:xfrm>
            <a:off x="5146307" y="5573487"/>
            <a:ext cx="108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5" name="Rectangle 74"/>
          <p:cNvSpPr/>
          <p:nvPr/>
        </p:nvSpPr>
        <p:spPr>
          <a:xfrm>
            <a:off x="4062450" y="5585789"/>
            <a:ext cx="90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76" name="Connecteur droit 75"/>
          <p:cNvCxnSpPr/>
          <p:nvPr/>
        </p:nvCxnSpPr>
        <p:spPr>
          <a:xfrm>
            <a:off x="5051068" y="5138772"/>
            <a:ext cx="0" cy="1512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1" name="Titre 1"/>
          <p:cNvSpPr txBox="1">
            <a:spLocks/>
          </p:cNvSpPr>
          <p:nvPr/>
        </p:nvSpPr>
        <p:spPr>
          <a:xfrm>
            <a:off x="7928633" y="5194187"/>
            <a:ext cx="109427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6" name="Rectangle 95"/>
          <p:cNvSpPr/>
          <p:nvPr/>
        </p:nvSpPr>
        <p:spPr>
          <a:xfrm>
            <a:off x="2978714" y="5597078"/>
            <a:ext cx="90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7" name="Rectangle 96"/>
          <p:cNvSpPr/>
          <p:nvPr/>
        </p:nvSpPr>
        <p:spPr>
          <a:xfrm>
            <a:off x="1906268" y="5597078"/>
            <a:ext cx="90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7925968" y="6143580"/>
            <a:ext cx="108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1" name="Rectangle 100"/>
          <p:cNvSpPr/>
          <p:nvPr/>
        </p:nvSpPr>
        <p:spPr>
          <a:xfrm>
            <a:off x="6536474" y="6157721"/>
            <a:ext cx="108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3" name="Rectangle 102"/>
          <p:cNvSpPr/>
          <p:nvPr/>
        </p:nvSpPr>
        <p:spPr>
          <a:xfrm>
            <a:off x="5151950" y="6143580"/>
            <a:ext cx="108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4" name="Rectangle 103"/>
          <p:cNvSpPr/>
          <p:nvPr/>
        </p:nvSpPr>
        <p:spPr>
          <a:xfrm>
            <a:off x="4068093" y="6155882"/>
            <a:ext cx="90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7" name="Rectangle 106"/>
          <p:cNvSpPr/>
          <p:nvPr/>
        </p:nvSpPr>
        <p:spPr>
          <a:xfrm>
            <a:off x="2984357" y="6167171"/>
            <a:ext cx="90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8" name="Rectangle 107"/>
          <p:cNvSpPr/>
          <p:nvPr/>
        </p:nvSpPr>
        <p:spPr>
          <a:xfrm>
            <a:off x="1911911" y="6167171"/>
            <a:ext cx="90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09" name="Connecteur droit 108"/>
          <p:cNvCxnSpPr/>
          <p:nvPr/>
        </p:nvCxnSpPr>
        <p:spPr>
          <a:xfrm>
            <a:off x="1827137" y="5523984"/>
            <a:ext cx="7308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1134698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83"/>
          <p:cNvSpPr/>
          <p:nvPr/>
        </p:nvSpPr>
        <p:spPr>
          <a:xfrm>
            <a:off x="191991" y="573516"/>
            <a:ext cx="11880000" cy="619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290574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10133563" y="269759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12540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10160309" y="-8916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51" name="Titre 1"/>
          <p:cNvSpPr txBox="1">
            <a:spLocks/>
          </p:cNvSpPr>
          <p:nvPr/>
        </p:nvSpPr>
        <p:spPr>
          <a:xfrm>
            <a:off x="2570132" y="685959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56" name="Titre 1"/>
          <p:cNvSpPr txBox="1">
            <a:spLocks/>
          </p:cNvSpPr>
          <p:nvPr/>
        </p:nvSpPr>
        <p:spPr>
          <a:xfrm>
            <a:off x="4960494" y="672854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57" name="Titre 1"/>
          <p:cNvSpPr txBox="1">
            <a:spLocks/>
          </p:cNvSpPr>
          <p:nvPr/>
        </p:nvSpPr>
        <p:spPr>
          <a:xfrm>
            <a:off x="7787861" y="692366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58" name="Rectangle 57"/>
          <p:cNvSpPr/>
          <p:nvPr/>
        </p:nvSpPr>
        <p:spPr>
          <a:xfrm>
            <a:off x="3757530" y="730985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9" name="Rectangle 58"/>
          <p:cNvSpPr/>
          <p:nvPr/>
        </p:nvSpPr>
        <p:spPr>
          <a:xfrm>
            <a:off x="5931716" y="686261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3" name="Rectangle 62"/>
          <p:cNvSpPr/>
          <p:nvPr/>
        </p:nvSpPr>
        <p:spPr>
          <a:xfrm>
            <a:off x="8341959" y="737613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4" name="Rectangle 63"/>
          <p:cNvSpPr/>
          <p:nvPr/>
        </p:nvSpPr>
        <p:spPr>
          <a:xfrm>
            <a:off x="2519541" y="627099"/>
            <a:ext cx="6892827" cy="4643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0" name="Titre 1"/>
          <p:cNvSpPr txBox="1">
            <a:spLocks/>
          </p:cNvSpPr>
          <p:nvPr/>
        </p:nvSpPr>
        <p:spPr>
          <a:xfrm>
            <a:off x="3950915" y="75673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82" name="Rectangle 81"/>
          <p:cNvSpPr/>
          <p:nvPr/>
        </p:nvSpPr>
        <p:spPr>
          <a:xfrm>
            <a:off x="6040364" y="740319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6704842" y="746360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8390629" y="765185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90" name="Titre 1"/>
          <p:cNvSpPr txBox="1">
            <a:spLocks/>
          </p:cNvSpPr>
          <p:nvPr/>
        </p:nvSpPr>
        <p:spPr>
          <a:xfrm>
            <a:off x="1439951" y="589959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860364" y="5561403"/>
            <a:ext cx="10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Imprimer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2055996" y="3312527"/>
            <a:ext cx="689631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  <a:lvl1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b="1" dirty="0" smtClean="0"/>
              <a:t>Statu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745627" y="3332816"/>
            <a:ext cx="1800000" cy="308215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Triangle isocèle 98"/>
          <p:cNvSpPr/>
          <p:nvPr/>
        </p:nvSpPr>
        <p:spPr>
          <a:xfrm rot="10800000">
            <a:off x="4323640" y="3341471"/>
            <a:ext cx="212507" cy="349062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114" name="Rectangle 113"/>
          <p:cNvSpPr/>
          <p:nvPr/>
        </p:nvSpPr>
        <p:spPr>
          <a:xfrm>
            <a:off x="323184" y="1325464"/>
            <a:ext cx="3021485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b="1" u="sng" dirty="0">
                <a:latin typeface="+mj-lt"/>
                <a:ea typeface="+mj-ea"/>
                <a:cs typeface="+mj-cs"/>
              </a:rPr>
              <a:t>Récapitulatif des Patients/Néphropathie</a:t>
            </a:r>
          </a:p>
        </p:txBody>
      </p:sp>
      <p:sp>
        <p:nvSpPr>
          <p:cNvPr id="54" name="Titre 1"/>
          <p:cNvSpPr txBox="1">
            <a:spLocks/>
          </p:cNvSpPr>
          <p:nvPr/>
        </p:nvSpPr>
        <p:spPr>
          <a:xfrm>
            <a:off x="2761944" y="59579"/>
            <a:ext cx="6650423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81 – Hémodialyse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Récapitulatifs /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Récapitulatif des Patients/Néphropathie</a:t>
            </a:r>
            <a:endParaRPr lang="fr-FR" sz="1800" dirty="0"/>
          </a:p>
        </p:txBody>
      </p:sp>
      <p:sp>
        <p:nvSpPr>
          <p:cNvPr id="81" name="Titre 1"/>
          <p:cNvSpPr txBox="1">
            <a:spLocks/>
          </p:cNvSpPr>
          <p:nvPr/>
        </p:nvSpPr>
        <p:spPr>
          <a:xfrm>
            <a:off x="2747809" y="3684214"/>
            <a:ext cx="2219298" cy="162155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CH-CARD ADULTE</a:t>
            </a:r>
            <a:endParaRPr lang="fr-FR" sz="1400" dirty="0"/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CH-CARD </a:t>
            </a:r>
            <a:r>
              <a:rPr lang="fr-FR" sz="1400" dirty="0" smtClean="0"/>
              <a:t>INFANTILE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CH-CARD </a:t>
            </a:r>
            <a:r>
              <a:rPr lang="fr-FR" sz="1400" dirty="0" smtClean="0"/>
              <a:t>INTERVENIONELLE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IRA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IRC AL-AZHAR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IRC AUTRE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VACANCIER</a:t>
            </a:r>
            <a:endParaRPr lang="fr-FR" sz="1400" dirty="0"/>
          </a:p>
        </p:txBody>
      </p:sp>
      <p:sp>
        <p:nvSpPr>
          <p:cNvPr id="27" name="Rectangle 26"/>
          <p:cNvSpPr/>
          <p:nvPr/>
        </p:nvSpPr>
        <p:spPr>
          <a:xfrm>
            <a:off x="1713466" y="1695159"/>
            <a:ext cx="5206623" cy="3734797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0" name="Titre 1"/>
          <p:cNvSpPr txBox="1">
            <a:spLocks/>
          </p:cNvSpPr>
          <p:nvPr/>
        </p:nvSpPr>
        <p:spPr>
          <a:xfrm>
            <a:off x="2055997" y="2736792"/>
            <a:ext cx="689631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  <a:lvl1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b="1" dirty="0" smtClean="0"/>
              <a:t>Service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5628" y="2757081"/>
            <a:ext cx="1800000" cy="308215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2" name="Triangle isocèle 31"/>
          <p:cNvSpPr/>
          <p:nvPr/>
        </p:nvSpPr>
        <p:spPr>
          <a:xfrm rot="10800000">
            <a:off x="4320149" y="2765736"/>
            <a:ext cx="216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37" name="Rectangle 36"/>
          <p:cNvSpPr/>
          <p:nvPr/>
        </p:nvSpPr>
        <p:spPr>
          <a:xfrm>
            <a:off x="3344669" y="2114479"/>
            <a:ext cx="1260000" cy="32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8" name="Titre 1"/>
          <p:cNvSpPr txBox="1">
            <a:spLocks/>
          </p:cNvSpPr>
          <p:nvPr/>
        </p:nvSpPr>
        <p:spPr>
          <a:xfrm>
            <a:off x="1999277" y="2021022"/>
            <a:ext cx="72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  <a:lvl1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b="1" dirty="0"/>
              <a:t>Période </a:t>
            </a:r>
          </a:p>
        </p:txBody>
      </p:sp>
      <p:sp>
        <p:nvSpPr>
          <p:cNvPr id="39" name="Titre 1"/>
          <p:cNvSpPr txBox="1">
            <a:spLocks/>
          </p:cNvSpPr>
          <p:nvPr/>
        </p:nvSpPr>
        <p:spPr>
          <a:xfrm>
            <a:off x="2806912" y="2073213"/>
            <a:ext cx="540000" cy="3947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Du</a:t>
            </a:r>
            <a:endParaRPr lang="fr-FR" sz="1400" dirty="0"/>
          </a:p>
        </p:txBody>
      </p:sp>
      <p:sp>
        <p:nvSpPr>
          <p:cNvPr id="40" name="Rectangle 39"/>
          <p:cNvSpPr/>
          <p:nvPr/>
        </p:nvSpPr>
        <p:spPr>
          <a:xfrm>
            <a:off x="2744345" y="2000971"/>
            <a:ext cx="3816000" cy="540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1" name="Rectangle 40"/>
          <p:cNvSpPr/>
          <p:nvPr/>
        </p:nvSpPr>
        <p:spPr>
          <a:xfrm>
            <a:off x="5201123" y="2099239"/>
            <a:ext cx="1260000" cy="32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2" name="Titre 1"/>
          <p:cNvSpPr txBox="1">
            <a:spLocks/>
          </p:cNvSpPr>
          <p:nvPr/>
        </p:nvSpPr>
        <p:spPr>
          <a:xfrm>
            <a:off x="4663366" y="2091840"/>
            <a:ext cx="540000" cy="3947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Au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1439435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83"/>
          <p:cNvSpPr/>
          <p:nvPr/>
        </p:nvSpPr>
        <p:spPr>
          <a:xfrm>
            <a:off x="191991" y="573516"/>
            <a:ext cx="11880000" cy="619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290574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10133563" y="269759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12540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10160309" y="-8916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51" name="Titre 1"/>
          <p:cNvSpPr txBox="1">
            <a:spLocks/>
          </p:cNvSpPr>
          <p:nvPr/>
        </p:nvSpPr>
        <p:spPr>
          <a:xfrm>
            <a:off x="2570132" y="685959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56" name="Titre 1"/>
          <p:cNvSpPr txBox="1">
            <a:spLocks/>
          </p:cNvSpPr>
          <p:nvPr/>
        </p:nvSpPr>
        <p:spPr>
          <a:xfrm>
            <a:off x="4960494" y="672854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57" name="Titre 1"/>
          <p:cNvSpPr txBox="1">
            <a:spLocks/>
          </p:cNvSpPr>
          <p:nvPr/>
        </p:nvSpPr>
        <p:spPr>
          <a:xfrm>
            <a:off x="7787861" y="692366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58" name="Rectangle 57"/>
          <p:cNvSpPr/>
          <p:nvPr/>
        </p:nvSpPr>
        <p:spPr>
          <a:xfrm>
            <a:off x="3757530" y="730985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9" name="Rectangle 58"/>
          <p:cNvSpPr/>
          <p:nvPr/>
        </p:nvSpPr>
        <p:spPr>
          <a:xfrm>
            <a:off x="5931716" y="686261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3" name="Rectangle 62"/>
          <p:cNvSpPr/>
          <p:nvPr/>
        </p:nvSpPr>
        <p:spPr>
          <a:xfrm>
            <a:off x="8341959" y="737613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4" name="Rectangle 63"/>
          <p:cNvSpPr/>
          <p:nvPr/>
        </p:nvSpPr>
        <p:spPr>
          <a:xfrm>
            <a:off x="2519541" y="627099"/>
            <a:ext cx="6892827" cy="4643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0" name="Titre 1"/>
          <p:cNvSpPr txBox="1">
            <a:spLocks/>
          </p:cNvSpPr>
          <p:nvPr/>
        </p:nvSpPr>
        <p:spPr>
          <a:xfrm>
            <a:off x="3950915" y="75673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82" name="Rectangle 81"/>
          <p:cNvSpPr/>
          <p:nvPr/>
        </p:nvSpPr>
        <p:spPr>
          <a:xfrm>
            <a:off x="6040364" y="740319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6704842" y="746360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8390629" y="765185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90" name="Titre 1"/>
          <p:cNvSpPr txBox="1">
            <a:spLocks/>
          </p:cNvSpPr>
          <p:nvPr/>
        </p:nvSpPr>
        <p:spPr>
          <a:xfrm>
            <a:off x="1439951" y="589959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23185" y="1144840"/>
            <a:ext cx="839572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b="1" u="sng" dirty="0" smtClean="0">
                <a:latin typeface="+mj-lt"/>
                <a:ea typeface="+mj-ea"/>
                <a:cs typeface="+mj-cs"/>
              </a:rPr>
              <a:t>Exemple</a:t>
            </a:r>
            <a:endParaRPr lang="fr-FR" sz="1400" b="1" u="sng" dirty="0">
              <a:latin typeface="+mj-lt"/>
              <a:ea typeface="+mj-ea"/>
              <a:cs typeface="+mj-cs"/>
            </a:endParaRPr>
          </a:p>
        </p:txBody>
      </p:sp>
      <p:sp>
        <p:nvSpPr>
          <p:cNvPr id="54" name="Titre 1"/>
          <p:cNvSpPr txBox="1">
            <a:spLocks/>
          </p:cNvSpPr>
          <p:nvPr/>
        </p:nvSpPr>
        <p:spPr>
          <a:xfrm>
            <a:off x="2761944" y="59579"/>
            <a:ext cx="6650423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81 – Hémodialyse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Récapitulatifs /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Récapitulatif des Patients/Néphropathie</a:t>
            </a:r>
            <a:endParaRPr lang="fr-FR" sz="1800" dirty="0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 rotWithShape="1">
          <a:blip r:embed="rId2"/>
          <a:srcRect l="7685" t="10098" r="6204" b="34810"/>
          <a:stretch/>
        </p:blipFill>
        <p:spPr>
          <a:xfrm>
            <a:off x="1196625" y="1162755"/>
            <a:ext cx="10498666" cy="5373512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99565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83"/>
          <p:cNvSpPr/>
          <p:nvPr/>
        </p:nvSpPr>
        <p:spPr>
          <a:xfrm>
            <a:off x="191991" y="573516"/>
            <a:ext cx="11880000" cy="619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290574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10133563" y="269759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12540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10160309" y="-8916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51" name="Titre 1"/>
          <p:cNvSpPr txBox="1">
            <a:spLocks/>
          </p:cNvSpPr>
          <p:nvPr/>
        </p:nvSpPr>
        <p:spPr>
          <a:xfrm>
            <a:off x="2899651" y="2084979"/>
            <a:ext cx="1872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56" name="Titre 1"/>
          <p:cNvSpPr txBox="1">
            <a:spLocks/>
          </p:cNvSpPr>
          <p:nvPr/>
        </p:nvSpPr>
        <p:spPr>
          <a:xfrm>
            <a:off x="4960494" y="672854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57" name="Titre 1"/>
          <p:cNvSpPr txBox="1">
            <a:spLocks/>
          </p:cNvSpPr>
          <p:nvPr/>
        </p:nvSpPr>
        <p:spPr>
          <a:xfrm>
            <a:off x="7787861" y="692366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58" name="Rectangle 57"/>
          <p:cNvSpPr/>
          <p:nvPr/>
        </p:nvSpPr>
        <p:spPr>
          <a:xfrm>
            <a:off x="3757530" y="730985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9" name="Rectangle 58"/>
          <p:cNvSpPr/>
          <p:nvPr/>
        </p:nvSpPr>
        <p:spPr>
          <a:xfrm>
            <a:off x="5931716" y="686261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3" name="Rectangle 62"/>
          <p:cNvSpPr/>
          <p:nvPr/>
        </p:nvSpPr>
        <p:spPr>
          <a:xfrm>
            <a:off x="8341959" y="737613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4" name="Rectangle 63"/>
          <p:cNvSpPr/>
          <p:nvPr/>
        </p:nvSpPr>
        <p:spPr>
          <a:xfrm>
            <a:off x="2519541" y="627099"/>
            <a:ext cx="6892827" cy="4643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0" name="Titre 1"/>
          <p:cNvSpPr txBox="1">
            <a:spLocks/>
          </p:cNvSpPr>
          <p:nvPr/>
        </p:nvSpPr>
        <p:spPr>
          <a:xfrm>
            <a:off x="3950915" y="75673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82" name="Rectangle 81"/>
          <p:cNvSpPr/>
          <p:nvPr/>
        </p:nvSpPr>
        <p:spPr>
          <a:xfrm>
            <a:off x="6040364" y="740319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6704842" y="746360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8390629" y="765185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90" name="Titre 1"/>
          <p:cNvSpPr txBox="1">
            <a:spLocks/>
          </p:cNvSpPr>
          <p:nvPr/>
        </p:nvSpPr>
        <p:spPr>
          <a:xfrm>
            <a:off x="1439951" y="589959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54" name="Titre 1"/>
          <p:cNvSpPr txBox="1">
            <a:spLocks/>
          </p:cNvSpPr>
          <p:nvPr/>
        </p:nvSpPr>
        <p:spPr>
          <a:xfrm>
            <a:off x="2761944" y="59579"/>
            <a:ext cx="6650423" cy="40432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82 – Mouvement – Nouvelle hospitalisation</a:t>
            </a:r>
            <a:endParaRPr lang="fr-FR" sz="1800" dirty="0"/>
          </a:p>
        </p:txBody>
      </p:sp>
      <p:sp>
        <p:nvSpPr>
          <p:cNvPr id="22" name="Rectangle 21"/>
          <p:cNvSpPr/>
          <p:nvPr/>
        </p:nvSpPr>
        <p:spPr>
          <a:xfrm>
            <a:off x="1638961" y="1472426"/>
            <a:ext cx="839572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b="1" u="sng" dirty="0" smtClean="0">
                <a:latin typeface="+mj-lt"/>
                <a:ea typeface="+mj-ea"/>
                <a:cs typeface="+mj-cs"/>
              </a:rPr>
              <a:t>Message </a:t>
            </a:r>
            <a:endParaRPr lang="fr-FR" sz="1400" b="1" u="sng" dirty="0">
              <a:latin typeface="+mj-lt"/>
              <a:ea typeface="+mj-ea"/>
              <a:cs typeface="+mj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486494" y="1464346"/>
            <a:ext cx="4648088" cy="5162232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lt1"/>
              </a:solidFill>
            </a:endParaRPr>
          </a:p>
        </p:txBody>
      </p:sp>
      <p:sp>
        <p:nvSpPr>
          <p:cNvPr id="24" name="Titre 1"/>
          <p:cNvSpPr txBox="1">
            <a:spLocks/>
          </p:cNvSpPr>
          <p:nvPr/>
        </p:nvSpPr>
        <p:spPr>
          <a:xfrm>
            <a:off x="2905577" y="1629848"/>
            <a:ext cx="1872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Statu du patient</a:t>
            </a:r>
            <a:endParaRPr lang="fr-FR" sz="1400" dirty="0"/>
          </a:p>
        </p:txBody>
      </p:sp>
      <p:sp>
        <p:nvSpPr>
          <p:cNvPr id="25" name="Titre 1"/>
          <p:cNvSpPr txBox="1">
            <a:spLocks/>
          </p:cNvSpPr>
          <p:nvPr/>
        </p:nvSpPr>
        <p:spPr>
          <a:xfrm>
            <a:off x="2570132" y="685959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26" name="Titre 1"/>
          <p:cNvSpPr txBox="1">
            <a:spLocks/>
          </p:cNvSpPr>
          <p:nvPr/>
        </p:nvSpPr>
        <p:spPr>
          <a:xfrm>
            <a:off x="2904782" y="2540339"/>
            <a:ext cx="1872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d’admission</a:t>
            </a:r>
            <a:endParaRPr lang="fr-FR" sz="1400" dirty="0"/>
          </a:p>
        </p:txBody>
      </p:sp>
      <p:sp>
        <p:nvSpPr>
          <p:cNvPr id="27" name="Titre 1"/>
          <p:cNvSpPr txBox="1">
            <a:spLocks/>
          </p:cNvSpPr>
          <p:nvPr/>
        </p:nvSpPr>
        <p:spPr>
          <a:xfrm>
            <a:off x="2899651" y="2995699"/>
            <a:ext cx="1872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d’entré</a:t>
            </a:r>
            <a:endParaRPr lang="fr-FR" sz="1400" dirty="0"/>
          </a:p>
        </p:txBody>
      </p:sp>
      <p:sp>
        <p:nvSpPr>
          <p:cNvPr id="28" name="Titre 1"/>
          <p:cNvSpPr txBox="1">
            <a:spLocks/>
          </p:cNvSpPr>
          <p:nvPr/>
        </p:nvSpPr>
        <p:spPr>
          <a:xfrm>
            <a:off x="2895636" y="3368631"/>
            <a:ext cx="1872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Nom</a:t>
            </a:r>
            <a:endParaRPr lang="fr-FR" sz="1400" dirty="0"/>
          </a:p>
        </p:txBody>
      </p:sp>
      <p:sp>
        <p:nvSpPr>
          <p:cNvPr id="29" name="Titre 1"/>
          <p:cNvSpPr txBox="1">
            <a:spLocks/>
          </p:cNvSpPr>
          <p:nvPr/>
        </p:nvSpPr>
        <p:spPr>
          <a:xfrm>
            <a:off x="2895636" y="3819480"/>
            <a:ext cx="1872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Prénom</a:t>
            </a:r>
          </a:p>
        </p:txBody>
      </p:sp>
      <p:sp>
        <p:nvSpPr>
          <p:cNvPr id="30" name="Titre 1"/>
          <p:cNvSpPr txBox="1">
            <a:spLocks/>
          </p:cNvSpPr>
          <p:nvPr/>
        </p:nvSpPr>
        <p:spPr>
          <a:xfrm>
            <a:off x="2895636" y="4283915"/>
            <a:ext cx="1872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Sexe</a:t>
            </a:r>
            <a:endParaRPr lang="fr-FR" sz="1400" dirty="0"/>
          </a:p>
        </p:txBody>
      </p:sp>
      <p:sp>
        <p:nvSpPr>
          <p:cNvPr id="31" name="Titre 1"/>
          <p:cNvSpPr txBox="1">
            <a:spLocks/>
          </p:cNvSpPr>
          <p:nvPr/>
        </p:nvSpPr>
        <p:spPr>
          <a:xfrm>
            <a:off x="2903089" y="4740471"/>
            <a:ext cx="1872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de naissance</a:t>
            </a:r>
            <a:endParaRPr lang="fr-FR" sz="1400" dirty="0"/>
          </a:p>
        </p:txBody>
      </p:sp>
      <p:sp>
        <p:nvSpPr>
          <p:cNvPr id="32" name="Titre 1"/>
          <p:cNvSpPr txBox="1">
            <a:spLocks/>
          </p:cNvSpPr>
          <p:nvPr/>
        </p:nvSpPr>
        <p:spPr>
          <a:xfrm>
            <a:off x="2895636" y="5189333"/>
            <a:ext cx="1872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Mode d’hospitalisation</a:t>
            </a:r>
            <a:endParaRPr lang="fr-FR" sz="1400" dirty="0"/>
          </a:p>
        </p:txBody>
      </p:sp>
      <p:sp>
        <p:nvSpPr>
          <p:cNvPr id="33" name="Titre 1"/>
          <p:cNvSpPr txBox="1">
            <a:spLocks/>
          </p:cNvSpPr>
          <p:nvPr/>
        </p:nvSpPr>
        <p:spPr>
          <a:xfrm>
            <a:off x="2903090" y="5660903"/>
            <a:ext cx="1872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de lit</a:t>
            </a:r>
            <a:endParaRPr lang="fr-FR" sz="1400" dirty="0"/>
          </a:p>
        </p:txBody>
      </p:sp>
      <p:sp>
        <p:nvSpPr>
          <p:cNvPr id="34" name="Titre 1"/>
          <p:cNvSpPr txBox="1">
            <a:spLocks/>
          </p:cNvSpPr>
          <p:nvPr/>
        </p:nvSpPr>
        <p:spPr>
          <a:xfrm>
            <a:off x="2903090" y="6121133"/>
            <a:ext cx="1872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Groupe sanguine</a:t>
            </a:r>
            <a:endParaRPr lang="fr-FR" sz="1400" dirty="0"/>
          </a:p>
        </p:txBody>
      </p:sp>
      <p:sp>
        <p:nvSpPr>
          <p:cNvPr id="36" name="Rectangle 35"/>
          <p:cNvSpPr/>
          <p:nvPr/>
        </p:nvSpPr>
        <p:spPr>
          <a:xfrm>
            <a:off x="4856093" y="4308071"/>
            <a:ext cx="1641189" cy="35303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7" name="Rectangle 36"/>
          <p:cNvSpPr/>
          <p:nvPr/>
        </p:nvSpPr>
        <p:spPr>
          <a:xfrm>
            <a:off x="4849628" y="3860089"/>
            <a:ext cx="1641189" cy="35303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8" name="Rectangle 37"/>
          <p:cNvSpPr/>
          <p:nvPr/>
        </p:nvSpPr>
        <p:spPr>
          <a:xfrm>
            <a:off x="4849628" y="3432778"/>
            <a:ext cx="1641189" cy="35303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9" name="Rectangle 38"/>
          <p:cNvSpPr/>
          <p:nvPr/>
        </p:nvSpPr>
        <p:spPr>
          <a:xfrm>
            <a:off x="4849628" y="2993562"/>
            <a:ext cx="1641189" cy="35303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0" name="Rectangle 39"/>
          <p:cNvSpPr/>
          <p:nvPr/>
        </p:nvSpPr>
        <p:spPr>
          <a:xfrm>
            <a:off x="4849629" y="2565074"/>
            <a:ext cx="1641189" cy="35303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1" name="Rectangle 40"/>
          <p:cNvSpPr/>
          <p:nvPr/>
        </p:nvSpPr>
        <p:spPr>
          <a:xfrm>
            <a:off x="4854029" y="2103985"/>
            <a:ext cx="1641189" cy="35303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2" name="Rectangle 41"/>
          <p:cNvSpPr/>
          <p:nvPr/>
        </p:nvSpPr>
        <p:spPr>
          <a:xfrm>
            <a:off x="4849630" y="1641339"/>
            <a:ext cx="1641189" cy="35303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3" name="Rectangle 42"/>
          <p:cNvSpPr/>
          <p:nvPr/>
        </p:nvSpPr>
        <p:spPr>
          <a:xfrm>
            <a:off x="4856093" y="5640985"/>
            <a:ext cx="1641189" cy="35303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4" name="Rectangle 43"/>
          <p:cNvSpPr/>
          <p:nvPr/>
        </p:nvSpPr>
        <p:spPr>
          <a:xfrm>
            <a:off x="4849628" y="5224314"/>
            <a:ext cx="1641189" cy="35303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5" name="Rectangle 44"/>
          <p:cNvSpPr/>
          <p:nvPr/>
        </p:nvSpPr>
        <p:spPr>
          <a:xfrm>
            <a:off x="4856093" y="4762700"/>
            <a:ext cx="1641189" cy="35303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7" name="Rectangle 46"/>
          <p:cNvSpPr/>
          <p:nvPr/>
        </p:nvSpPr>
        <p:spPr>
          <a:xfrm>
            <a:off x="4861736" y="6086899"/>
            <a:ext cx="1641189" cy="35303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8" name="Titre 1"/>
          <p:cNvSpPr txBox="1">
            <a:spLocks/>
          </p:cNvSpPr>
          <p:nvPr/>
        </p:nvSpPr>
        <p:spPr>
          <a:xfrm>
            <a:off x="7572905" y="1480253"/>
            <a:ext cx="3907267" cy="108482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Cet écran permet de donner des renseignement sur le patient.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Le message s’affiche quand en sélectionne sur la nouvelle hospitalisation. 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1091209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83"/>
          <p:cNvSpPr/>
          <p:nvPr/>
        </p:nvSpPr>
        <p:spPr>
          <a:xfrm>
            <a:off x="191991" y="573516"/>
            <a:ext cx="11880000" cy="619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290574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10133563" y="269759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12540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10160309" y="-8916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51" name="Titre 1"/>
          <p:cNvSpPr txBox="1">
            <a:spLocks/>
          </p:cNvSpPr>
          <p:nvPr/>
        </p:nvSpPr>
        <p:spPr>
          <a:xfrm>
            <a:off x="2899651" y="2084979"/>
            <a:ext cx="1872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Modalité </a:t>
            </a:r>
            <a:r>
              <a:rPr lang="fr-FR" sz="1400" dirty="0" smtClean="0"/>
              <a:t>sortie</a:t>
            </a:r>
            <a:endParaRPr lang="fr-FR" sz="1400" dirty="0"/>
          </a:p>
        </p:txBody>
      </p:sp>
      <p:sp>
        <p:nvSpPr>
          <p:cNvPr id="56" name="Titre 1"/>
          <p:cNvSpPr txBox="1">
            <a:spLocks/>
          </p:cNvSpPr>
          <p:nvPr/>
        </p:nvSpPr>
        <p:spPr>
          <a:xfrm>
            <a:off x="4960494" y="672854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57" name="Titre 1"/>
          <p:cNvSpPr txBox="1">
            <a:spLocks/>
          </p:cNvSpPr>
          <p:nvPr/>
        </p:nvSpPr>
        <p:spPr>
          <a:xfrm>
            <a:off x="7787861" y="692366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58" name="Rectangle 57"/>
          <p:cNvSpPr/>
          <p:nvPr/>
        </p:nvSpPr>
        <p:spPr>
          <a:xfrm>
            <a:off x="3757530" y="730985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9" name="Rectangle 58"/>
          <p:cNvSpPr/>
          <p:nvPr/>
        </p:nvSpPr>
        <p:spPr>
          <a:xfrm>
            <a:off x="5931716" y="686261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3" name="Rectangle 62"/>
          <p:cNvSpPr/>
          <p:nvPr/>
        </p:nvSpPr>
        <p:spPr>
          <a:xfrm>
            <a:off x="8341959" y="737613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4" name="Rectangle 63"/>
          <p:cNvSpPr/>
          <p:nvPr/>
        </p:nvSpPr>
        <p:spPr>
          <a:xfrm>
            <a:off x="2519541" y="627099"/>
            <a:ext cx="6892827" cy="4643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0" name="Titre 1"/>
          <p:cNvSpPr txBox="1">
            <a:spLocks/>
          </p:cNvSpPr>
          <p:nvPr/>
        </p:nvSpPr>
        <p:spPr>
          <a:xfrm>
            <a:off x="3950915" y="75673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82" name="Rectangle 81"/>
          <p:cNvSpPr/>
          <p:nvPr/>
        </p:nvSpPr>
        <p:spPr>
          <a:xfrm>
            <a:off x="6040364" y="740319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6704842" y="746360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8390629" y="765185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90" name="Titre 1"/>
          <p:cNvSpPr txBox="1">
            <a:spLocks/>
          </p:cNvSpPr>
          <p:nvPr/>
        </p:nvSpPr>
        <p:spPr>
          <a:xfrm>
            <a:off x="1439951" y="589959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54" name="Titre 1"/>
          <p:cNvSpPr txBox="1">
            <a:spLocks/>
          </p:cNvSpPr>
          <p:nvPr/>
        </p:nvSpPr>
        <p:spPr>
          <a:xfrm>
            <a:off x="2761944" y="90294"/>
            <a:ext cx="6650423" cy="37361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82 – Mouvement – Sortie</a:t>
            </a:r>
            <a:endParaRPr lang="fr-FR" sz="1800" dirty="0"/>
          </a:p>
        </p:txBody>
      </p:sp>
      <p:sp>
        <p:nvSpPr>
          <p:cNvPr id="22" name="Rectangle 21"/>
          <p:cNvSpPr/>
          <p:nvPr/>
        </p:nvSpPr>
        <p:spPr>
          <a:xfrm>
            <a:off x="948267" y="1472426"/>
            <a:ext cx="1530266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b="1" u="sng" dirty="0" smtClean="0">
                <a:latin typeface="+mj-lt"/>
                <a:ea typeface="+mj-ea"/>
                <a:cs typeface="+mj-cs"/>
              </a:rPr>
              <a:t>Sortie du patient</a:t>
            </a:r>
            <a:endParaRPr lang="fr-FR" sz="1400" b="1" u="sng" dirty="0">
              <a:latin typeface="+mj-lt"/>
              <a:ea typeface="+mj-ea"/>
              <a:cs typeface="+mj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486493" y="1464346"/>
            <a:ext cx="6826840" cy="3435032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lt1"/>
              </a:solidFill>
            </a:endParaRPr>
          </a:p>
        </p:txBody>
      </p:sp>
      <p:sp>
        <p:nvSpPr>
          <p:cNvPr id="24" name="Titre 1"/>
          <p:cNvSpPr txBox="1">
            <a:spLocks/>
          </p:cNvSpPr>
          <p:nvPr/>
        </p:nvSpPr>
        <p:spPr>
          <a:xfrm>
            <a:off x="2905577" y="1629848"/>
            <a:ext cx="1872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Type </a:t>
            </a:r>
            <a:r>
              <a:rPr lang="fr-FR" sz="1400" dirty="0" smtClean="0"/>
              <a:t>sortie</a:t>
            </a:r>
            <a:endParaRPr lang="fr-FR" sz="1400" dirty="0"/>
          </a:p>
        </p:txBody>
      </p:sp>
      <p:sp>
        <p:nvSpPr>
          <p:cNvPr id="25" name="Titre 1"/>
          <p:cNvSpPr txBox="1">
            <a:spLocks/>
          </p:cNvSpPr>
          <p:nvPr/>
        </p:nvSpPr>
        <p:spPr>
          <a:xfrm>
            <a:off x="2570132" y="685959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26" name="Titre 1"/>
          <p:cNvSpPr txBox="1">
            <a:spLocks/>
          </p:cNvSpPr>
          <p:nvPr/>
        </p:nvSpPr>
        <p:spPr>
          <a:xfrm>
            <a:off x="2904782" y="2540339"/>
            <a:ext cx="1872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Médecin</a:t>
            </a:r>
          </a:p>
        </p:txBody>
      </p:sp>
      <p:sp>
        <p:nvSpPr>
          <p:cNvPr id="27" name="Titre 1"/>
          <p:cNvSpPr txBox="1">
            <a:spLocks/>
          </p:cNvSpPr>
          <p:nvPr/>
        </p:nvSpPr>
        <p:spPr>
          <a:xfrm>
            <a:off x="2899651" y="2995699"/>
            <a:ext cx="1872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Date </a:t>
            </a:r>
            <a:r>
              <a:rPr lang="fr-FR" sz="1400" dirty="0" smtClean="0"/>
              <a:t>sortie</a:t>
            </a:r>
            <a:endParaRPr lang="fr-FR" sz="1400" dirty="0"/>
          </a:p>
        </p:txBody>
      </p:sp>
      <p:sp>
        <p:nvSpPr>
          <p:cNvPr id="28" name="Titre 1"/>
          <p:cNvSpPr txBox="1">
            <a:spLocks/>
          </p:cNvSpPr>
          <p:nvPr/>
        </p:nvSpPr>
        <p:spPr>
          <a:xfrm>
            <a:off x="2895636" y="3413787"/>
            <a:ext cx="1872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Heure sortie	</a:t>
            </a:r>
          </a:p>
        </p:txBody>
      </p:sp>
      <p:sp>
        <p:nvSpPr>
          <p:cNvPr id="29" name="Titre 1"/>
          <p:cNvSpPr txBox="1">
            <a:spLocks/>
          </p:cNvSpPr>
          <p:nvPr/>
        </p:nvSpPr>
        <p:spPr>
          <a:xfrm>
            <a:off x="2895636" y="3819480"/>
            <a:ext cx="1872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Commentaire</a:t>
            </a:r>
          </a:p>
        </p:txBody>
      </p:sp>
      <p:sp>
        <p:nvSpPr>
          <p:cNvPr id="30" name="Titre 1"/>
          <p:cNvSpPr txBox="1">
            <a:spLocks/>
          </p:cNvSpPr>
          <p:nvPr/>
        </p:nvSpPr>
        <p:spPr>
          <a:xfrm>
            <a:off x="6506123" y="3413787"/>
            <a:ext cx="1281738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Heure : Minute</a:t>
            </a:r>
            <a:endParaRPr lang="fr-FR" sz="1400" dirty="0"/>
          </a:p>
        </p:txBody>
      </p:sp>
      <p:sp>
        <p:nvSpPr>
          <p:cNvPr id="37" name="Rectangle 36"/>
          <p:cNvSpPr/>
          <p:nvPr/>
        </p:nvSpPr>
        <p:spPr>
          <a:xfrm>
            <a:off x="4849628" y="3860089"/>
            <a:ext cx="4284331" cy="79990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8" name="Rectangle 37"/>
          <p:cNvSpPr/>
          <p:nvPr/>
        </p:nvSpPr>
        <p:spPr>
          <a:xfrm>
            <a:off x="4849628" y="3432778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9" name="Rectangle 38"/>
          <p:cNvSpPr/>
          <p:nvPr/>
        </p:nvSpPr>
        <p:spPr>
          <a:xfrm>
            <a:off x="4849628" y="2993562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0" name="Rectangle 39"/>
          <p:cNvSpPr/>
          <p:nvPr/>
        </p:nvSpPr>
        <p:spPr>
          <a:xfrm>
            <a:off x="4849629" y="2565074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1" name="Rectangle 40"/>
          <p:cNvSpPr/>
          <p:nvPr/>
        </p:nvSpPr>
        <p:spPr>
          <a:xfrm>
            <a:off x="4854029" y="2103985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2" name="Rectangle 41"/>
          <p:cNvSpPr/>
          <p:nvPr/>
        </p:nvSpPr>
        <p:spPr>
          <a:xfrm>
            <a:off x="4849630" y="1641339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8" name="Titre 1"/>
          <p:cNvSpPr txBox="1">
            <a:spLocks/>
          </p:cNvSpPr>
          <p:nvPr/>
        </p:nvSpPr>
        <p:spPr>
          <a:xfrm>
            <a:off x="231585" y="5622462"/>
            <a:ext cx="3907267" cy="108482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Cet écran permet de donner des renseignement sur le patient.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Le message s’affiche quand en sélectionne sur la nouvelle hospitalisation. </a:t>
            </a:r>
            <a:endParaRPr lang="fr-FR" sz="1400" dirty="0"/>
          </a:p>
        </p:txBody>
      </p:sp>
      <p:sp>
        <p:nvSpPr>
          <p:cNvPr id="46" name="Triangle isocèle 45"/>
          <p:cNvSpPr/>
          <p:nvPr/>
        </p:nvSpPr>
        <p:spPr>
          <a:xfrm rot="10800000">
            <a:off x="6274817" y="1670480"/>
            <a:ext cx="216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2" name="Accolade ouvrante 1"/>
          <p:cNvSpPr/>
          <p:nvPr/>
        </p:nvSpPr>
        <p:spPr>
          <a:xfrm>
            <a:off x="6526529" y="1641338"/>
            <a:ext cx="539624" cy="769825"/>
          </a:xfrm>
          <a:prstGeom prst="leftBrace">
            <a:avLst>
              <a:gd name="adj1" fmla="val 8333"/>
              <a:gd name="adj2" fmla="val 2360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Titre 1"/>
          <p:cNvSpPr txBox="1">
            <a:spLocks/>
          </p:cNvSpPr>
          <p:nvPr/>
        </p:nvSpPr>
        <p:spPr>
          <a:xfrm>
            <a:off x="6935897" y="1557020"/>
            <a:ext cx="1002685" cy="94945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Décès</a:t>
            </a:r>
            <a:endParaRPr lang="fr-FR" sz="1400" dirty="0"/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Transfert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Définitive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Permission</a:t>
            </a:r>
          </a:p>
        </p:txBody>
      </p:sp>
      <p:sp>
        <p:nvSpPr>
          <p:cNvPr id="50" name="Triangle isocèle 49"/>
          <p:cNvSpPr/>
          <p:nvPr/>
        </p:nvSpPr>
        <p:spPr>
          <a:xfrm rot="10800000">
            <a:off x="6257882" y="2138972"/>
            <a:ext cx="216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52" name="Rectangle 51"/>
          <p:cNvSpPr/>
          <p:nvPr/>
        </p:nvSpPr>
        <p:spPr>
          <a:xfrm>
            <a:off x="8233333" y="5092310"/>
            <a:ext cx="10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Valider</a:t>
            </a:r>
          </a:p>
        </p:txBody>
      </p:sp>
    </p:spTree>
    <p:extLst>
      <p:ext uri="{BB962C8B-B14F-4D97-AF65-F5344CB8AC3E}">
        <p14:creationId xmlns:p14="http://schemas.microsoft.com/office/powerpoint/2010/main" val="3661875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83"/>
          <p:cNvSpPr/>
          <p:nvPr/>
        </p:nvSpPr>
        <p:spPr>
          <a:xfrm>
            <a:off x="191991" y="573516"/>
            <a:ext cx="11880000" cy="619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290574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10133563" y="269759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12540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10160309" y="-8916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51" name="Titre 1"/>
          <p:cNvSpPr txBox="1">
            <a:spLocks/>
          </p:cNvSpPr>
          <p:nvPr/>
        </p:nvSpPr>
        <p:spPr>
          <a:xfrm>
            <a:off x="7515260" y="1407257"/>
            <a:ext cx="72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56" name="Titre 1"/>
          <p:cNvSpPr txBox="1">
            <a:spLocks/>
          </p:cNvSpPr>
          <p:nvPr/>
        </p:nvSpPr>
        <p:spPr>
          <a:xfrm>
            <a:off x="4960494" y="672854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57" name="Titre 1"/>
          <p:cNvSpPr txBox="1">
            <a:spLocks/>
          </p:cNvSpPr>
          <p:nvPr/>
        </p:nvSpPr>
        <p:spPr>
          <a:xfrm>
            <a:off x="7787861" y="692366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58" name="Rectangle 57"/>
          <p:cNvSpPr/>
          <p:nvPr/>
        </p:nvSpPr>
        <p:spPr>
          <a:xfrm>
            <a:off x="3757530" y="730985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9" name="Rectangle 58"/>
          <p:cNvSpPr/>
          <p:nvPr/>
        </p:nvSpPr>
        <p:spPr>
          <a:xfrm>
            <a:off x="5931716" y="686261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3" name="Rectangle 62"/>
          <p:cNvSpPr/>
          <p:nvPr/>
        </p:nvSpPr>
        <p:spPr>
          <a:xfrm>
            <a:off x="8341959" y="737613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4" name="Rectangle 63"/>
          <p:cNvSpPr/>
          <p:nvPr/>
        </p:nvSpPr>
        <p:spPr>
          <a:xfrm>
            <a:off x="2519541" y="627099"/>
            <a:ext cx="6892827" cy="4643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0" name="Titre 1"/>
          <p:cNvSpPr txBox="1">
            <a:spLocks/>
          </p:cNvSpPr>
          <p:nvPr/>
        </p:nvSpPr>
        <p:spPr>
          <a:xfrm>
            <a:off x="3950915" y="75673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82" name="Rectangle 81"/>
          <p:cNvSpPr/>
          <p:nvPr/>
        </p:nvSpPr>
        <p:spPr>
          <a:xfrm>
            <a:off x="6040364" y="740319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6704842" y="746360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8390629" y="765185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90" name="Titre 1"/>
          <p:cNvSpPr txBox="1">
            <a:spLocks/>
          </p:cNvSpPr>
          <p:nvPr/>
        </p:nvSpPr>
        <p:spPr>
          <a:xfrm>
            <a:off x="1439951" y="589959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54" name="Titre 1"/>
          <p:cNvSpPr txBox="1">
            <a:spLocks/>
          </p:cNvSpPr>
          <p:nvPr/>
        </p:nvSpPr>
        <p:spPr>
          <a:xfrm>
            <a:off x="2761944" y="90294"/>
            <a:ext cx="6650423" cy="37361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82 – Mouvement – Statistique</a:t>
            </a:r>
            <a:endParaRPr lang="fr-FR" sz="1800" dirty="0"/>
          </a:p>
        </p:txBody>
      </p:sp>
      <p:sp>
        <p:nvSpPr>
          <p:cNvPr id="22" name="Rectangle 21"/>
          <p:cNvSpPr/>
          <p:nvPr/>
        </p:nvSpPr>
        <p:spPr>
          <a:xfrm>
            <a:off x="429774" y="1257935"/>
            <a:ext cx="360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b="1" u="sng" dirty="0">
                <a:latin typeface="+mj-lt"/>
                <a:ea typeface="+mj-ea"/>
                <a:cs typeface="+mj-cs"/>
              </a:rPr>
              <a:t>Etat journalier (ENTRÉES / SORTIES / SERVICE)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33067" y="1253206"/>
            <a:ext cx="7684799" cy="641016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lt1"/>
              </a:solidFill>
            </a:endParaRPr>
          </a:p>
        </p:txBody>
      </p:sp>
      <p:sp>
        <p:nvSpPr>
          <p:cNvPr id="24" name="Titre 1"/>
          <p:cNvSpPr txBox="1">
            <a:spLocks/>
          </p:cNvSpPr>
          <p:nvPr/>
        </p:nvSpPr>
        <p:spPr>
          <a:xfrm>
            <a:off x="4531175" y="1392779"/>
            <a:ext cx="72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</a:t>
            </a:r>
            <a:endParaRPr lang="fr-FR" sz="1400" dirty="0"/>
          </a:p>
        </p:txBody>
      </p:sp>
      <p:sp>
        <p:nvSpPr>
          <p:cNvPr id="25" name="Titre 1"/>
          <p:cNvSpPr txBox="1">
            <a:spLocks/>
          </p:cNvSpPr>
          <p:nvPr/>
        </p:nvSpPr>
        <p:spPr>
          <a:xfrm>
            <a:off x="2570132" y="685959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41" name="Rectangle 40"/>
          <p:cNvSpPr/>
          <p:nvPr/>
        </p:nvSpPr>
        <p:spPr>
          <a:xfrm>
            <a:off x="8239149" y="1414974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2" name="Rectangle 41"/>
          <p:cNvSpPr/>
          <p:nvPr/>
        </p:nvSpPr>
        <p:spPr>
          <a:xfrm>
            <a:off x="5244737" y="1392981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2" name="Rectangle 51"/>
          <p:cNvSpPr/>
          <p:nvPr/>
        </p:nvSpPr>
        <p:spPr>
          <a:xfrm>
            <a:off x="10511879" y="1415357"/>
            <a:ext cx="10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Imprimer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5417" y="2019941"/>
            <a:ext cx="360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b="1" u="sng" dirty="0">
                <a:latin typeface="+mj-lt"/>
                <a:ea typeface="+mj-ea"/>
                <a:cs typeface="+mj-cs"/>
              </a:rPr>
              <a:t>Nombre de consultation (EXTERNE / SPÉCIALITÉ)</a:t>
            </a:r>
          </a:p>
        </p:txBody>
      </p:sp>
      <p:sp>
        <p:nvSpPr>
          <p:cNvPr id="3" name="Rectangle 2"/>
          <p:cNvSpPr/>
          <p:nvPr/>
        </p:nvSpPr>
        <p:spPr>
          <a:xfrm>
            <a:off x="424542" y="3227081"/>
            <a:ext cx="360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b="1" u="sng" dirty="0">
                <a:latin typeface="+mj-lt"/>
                <a:ea typeface="+mj-ea"/>
                <a:cs typeface="+mj-cs"/>
              </a:rPr>
              <a:t>Nombre </a:t>
            </a:r>
            <a:r>
              <a:rPr lang="fr-FR" sz="1400" b="1" u="sng" dirty="0" smtClean="0">
                <a:latin typeface="+mj-lt"/>
                <a:ea typeface="+mj-ea"/>
                <a:cs typeface="+mj-cs"/>
              </a:rPr>
              <a:t>d‘(HOSPITALISATION </a:t>
            </a:r>
            <a:r>
              <a:rPr lang="fr-FR" sz="1400" b="1" u="sng" dirty="0">
                <a:latin typeface="+mj-lt"/>
                <a:ea typeface="+mj-ea"/>
                <a:cs typeface="+mj-cs"/>
              </a:rPr>
              <a:t>/ </a:t>
            </a:r>
            <a:r>
              <a:rPr lang="fr-FR" sz="1400" b="1" u="sng" dirty="0" smtClean="0">
                <a:latin typeface="+mj-lt"/>
                <a:ea typeface="+mj-ea"/>
                <a:cs typeface="+mj-cs"/>
              </a:rPr>
              <a:t>SERVICE)</a:t>
            </a:r>
            <a:endParaRPr lang="fr-FR" sz="1400" b="1" u="sng" dirty="0">
              <a:latin typeface="+mj-lt"/>
              <a:ea typeface="+mj-ea"/>
              <a:cs typeface="+mj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35416" y="4419708"/>
            <a:ext cx="360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b="1" u="sng" dirty="0">
                <a:latin typeface="+mj-lt"/>
                <a:ea typeface="+mj-ea"/>
                <a:cs typeface="+mj-cs"/>
              </a:rPr>
              <a:t>Nombre de (NUITÉES / PÉRIODE / SERVICE)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730" y="5615655"/>
            <a:ext cx="360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b="1" u="sng" dirty="0">
                <a:latin typeface="+mj-lt"/>
                <a:ea typeface="+mj-ea"/>
                <a:cs typeface="+mj-cs"/>
              </a:rPr>
              <a:t>Nombre de (SORTIES / PÉRIODE / SERVICE)</a:t>
            </a:r>
          </a:p>
        </p:txBody>
      </p:sp>
      <p:sp>
        <p:nvSpPr>
          <p:cNvPr id="45" name="Titre 1"/>
          <p:cNvSpPr txBox="1">
            <a:spLocks/>
          </p:cNvSpPr>
          <p:nvPr/>
        </p:nvSpPr>
        <p:spPr>
          <a:xfrm>
            <a:off x="7498325" y="2157973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Date fin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027420" y="2003922"/>
            <a:ext cx="7704000" cy="1075888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lt1"/>
              </a:solidFill>
            </a:endParaRPr>
          </a:p>
        </p:txBody>
      </p:sp>
      <p:sp>
        <p:nvSpPr>
          <p:cNvPr id="53" name="Titre 1"/>
          <p:cNvSpPr txBox="1">
            <a:spLocks/>
          </p:cNvSpPr>
          <p:nvPr/>
        </p:nvSpPr>
        <p:spPr>
          <a:xfrm>
            <a:off x="4141703" y="2143495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Date début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222214" y="2165690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0" name="Rectangle 59"/>
          <p:cNvSpPr/>
          <p:nvPr/>
        </p:nvSpPr>
        <p:spPr>
          <a:xfrm>
            <a:off x="5227802" y="2143697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1" name="Rectangle 60"/>
          <p:cNvSpPr/>
          <p:nvPr/>
        </p:nvSpPr>
        <p:spPr>
          <a:xfrm>
            <a:off x="10500590" y="2181866"/>
            <a:ext cx="10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Imprimer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148336" y="2636049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Spécialité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222156" y="2634767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5" name="Triangle isocèle 64"/>
          <p:cNvSpPr/>
          <p:nvPr/>
        </p:nvSpPr>
        <p:spPr>
          <a:xfrm rot="10800000">
            <a:off x="6633021" y="2644952"/>
            <a:ext cx="216000" cy="324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66" name="Titre 1"/>
          <p:cNvSpPr txBox="1">
            <a:spLocks/>
          </p:cNvSpPr>
          <p:nvPr/>
        </p:nvSpPr>
        <p:spPr>
          <a:xfrm>
            <a:off x="7503968" y="3360245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Date fin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021774" y="3206194"/>
            <a:ext cx="7704000" cy="1075888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lt1"/>
              </a:solidFill>
            </a:endParaRPr>
          </a:p>
        </p:txBody>
      </p:sp>
      <p:sp>
        <p:nvSpPr>
          <p:cNvPr id="68" name="Titre 1"/>
          <p:cNvSpPr txBox="1">
            <a:spLocks/>
          </p:cNvSpPr>
          <p:nvPr/>
        </p:nvSpPr>
        <p:spPr>
          <a:xfrm>
            <a:off x="4147346" y="3345767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Date début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227857" y="3367962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1" name="Rectangle 70"/>
          <p:cNvSpPr/>
          <p:nvPr/>
        </p:nvSpPr>
        <p:spPr>
          <a:xfrm>
            <a:off x="5233445" y="3345969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2" name="Rectangle 71"/>
          <p:cNvSpPr/>
          <p:nvPr/>
        </p:nvSpPr>
        <p:spPr>
          <a:xfrm>
            <a:off x="10506233" y="3384138"/>
            <a:ext cx="10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Imprimer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153979" y="3838321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Spécialité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227799" y="3837039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5" name="Triangle isocèle 74"/>
          <p:cNvSpPr/>
          <p:nvPr/>
        </p:nvSpPr>
        <p:spPr>
          <a:xfrm rot="10800000">
            <a:off x="6638664" y="3847224"/>
            <a:ext cx="216000" cy="324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76" name="Titre 1"/>
          <p:cNvSpPr txBox="1">
            <a:spLocks/>
          </p:cNvSpPr>
          <p:nvPr/>
        </p:nvSpPr>
        <p:spPr>
          <a:xfrm>
            <a:off x="7515257" y="4568154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Date fin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033063" y="4414103"/>
            <a:ext cx="7704000" cy="1075888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lt1"/>
              </a:solidFill>
            </a:endParaRPr>
          </a:p>
        </p:txBody>
      </p:sp>
      <p:sp>
        <p:nvSpPr>
          <p:cNvPr id="78" name="Titre 1"/>
          <p:cNvSpPr txBox="1">
            <a:spLocks/>
          </p:cNvSpPr>
          <p:nvPr/>
        </p:nvSpPr>
        <p:spPr>
          <a:xfrm>
            <a:off x="4158635" y="455367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Date début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239146" y="4575871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0" name="Rectangle 79"/>
          <p:cNvSpPr/>
          <p:nvPr/>
        </p:nvSpPr>
        <p:spPr>
          <a:xfrm>
            <a:off x="5244734" y="4553878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1" name="Rectangle 80"/>
          <p:cNvSpPr/>
          <p:nvPr/>
        </p:nvSpPr>
        <p:spPr>
          <a:xfrm>
            <a:off x="10517522" y="4592047"/>
            <a:ext cx="10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Imprimer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165268" y="5046230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Spécialité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239088" y="5044948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3" name="Triangle isocèle 92"/>
          <p:cNvSpPr/>
          <p:nvPr/>
        </p:nvSpPr>
        <p:spPr>
          <a:xfrm rot="10800000">
            <a:off x="6649953" y="5055133"/>
            <a:ext cx="216000" cy="324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7515257" y="5753490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Date fin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033063" y="5599439"/>
            <a:ext cx="7704000" cy="1075888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lt1"/>
              </a:solidFill>
            </a:endParaRPr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4158635" y="5739012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Date début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239146" y="5761207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244734" y="5739214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10517522" y="5777383"/>
            <a:ext cx="10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Imprimer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165268" y="623156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Spécialité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239088" y="6230284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Triangle isocèle 101"/>
          <p:cNvSpPr/>
          <p:nvPr/>
        </p:nvSpPr>
        <p:spPr>
          <a:xfrm rot="10800000">
            <a:off x="6649953" y="6240469"/>
            <a:ext cx="216000" cy="324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49160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83"/>
          <p:cNvSpPr/>
          <p:nvPr/>
        </p:nvSpPr>
        <p:spPr>
          <a:xfrm>
            <a:off x="191991" y="573516"/>
            <a:ext cx="11880000" cy="619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290574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10133563" y="269759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12540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10160309" y="-8916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56" name="Titre 1"/>
          <p:cNvSpPr txBox="1">
            <a:spLocks/>
          </p:cNvSpPr>
          <p:nvPr/>
        </p:nvSpPr>
        <p:spPr>
          <a:xfrm>
            <a:off x="4960494" y="672854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57" name="Titre 1"/>
          <p:cNvSpPr txBox="1">
            <a:spLocks/>
          </p:cNvSpPr>
          <p:nvPr/>
        </p:nvSpPr>
        <p:spPr>
          <a:xfrm>
            <a:off x="7787861" y="692366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58" name="Rectangle 57"/>
          <p:cNvSpPr/>
          <p:nvPr/>
        </p:nvSpPr>
        <p:spPr>
          <a:xfrm>
            <a:off x="3757530" y="730985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9" name="Rectangle 58"/>
          <p:cNvSpPr/>
          <p:nvPr/>
        </p:nvSpPr>
        <p:spPr>
          <a:xfrm>
            <a:off x="5931716" y="686261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3" name="Rectangle 62"/>
          <p:cNvSpPr/>
          <p:nvPr/>
        </p:nvSpPr>
        <p:spPr>
          <a:xfrm>
            <a:off x="8341959" y="737613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4" name="Rectangle 63"/>
          <p:cNvSpPr/>
          <p:nvPr/>
        </p:nvSpPr>
        <p:spPr>
          <a:xfrm>
            <a:off x="2519541" y="627099"/>
            <a:ext cx="6892827" cy="4643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0" name="Titre 1"/>
          <p:cNvSpPr txBox="1">
            <a:spLocks/>
          </p:cNvSpPr>
          <p:nvPr/>
        </p:nvSpPr>
        <p:spPr>
          <a:xfrm>
            <a:off x="3950915" y="75673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82" name="Rectangle 81"/>
          <p:cNvSpPr/>
          <p:nvPr/>
        </p:nvSpPr>
        <p:spPr>
          <a:xfrm>
            <a:off x="6040364" y="740319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6704842" y="746360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8390629" y="765185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90" name="Titre 1"/>
          <p:cNvSpPr txBox="1">
            <a:spLocks/>
          </p:cNvSpPr>
          <p:nvPr/>
        </p:nvSpPr>
        <p:spPr>
          <a:xfrm>
            <a:off x="1439951" y="589959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54" name="Titre 1"/>
          <p:cNvSpPr txBox="1">
            <a:spLocks/>
          </p:cNvSpPr>
          <p:nvPr/>
        </p:nvSpPr>
        <p:spPr>
          <a:xfrm>
            <a:off x="2761944" y="-8916"/>
            <a:ext cx="6650423" cy="58571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82 – Mouvement – Statistique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Etat journalier (ENTRÉES / SORTIES / SERVICE)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74" y="1257935"/>
            <a:ext cx="360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b="1" u="sng" dirty="0" smtClean="0">
                <a:latin typeface="+mj-lt"/>
                <a:ea typeface="+mj-ea"/>
                <a:cs typeface="+mj-cs"/>
              </a:rPr>
              <a:t>Exemple </a:t>
            </a:r>
          </a:p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b="1" u="sng" dirty="0" smtClean="0">
                <a:latin typeface="+mj-lt"/>
                <a:ea typeface="+mj-ea"/>
                <a:cs typeface="+mj-cs"/>
              </a:rPr>
              <a:t>Etat </a:t>
            </a:r>
            <a:r>
              <a:rPr lang="fr-FR" sz="1400" b="1" u="sng" dirty="0">
                <a:latin typeface="+mj-lt"/>
                <a:ea typeface="+mj-ea"/>
                <a:cs typeface="+mj-cs"/>
              </a:rPr>
              <a:t>journalier (ENTRÉES / SORTIES / SERVICE)</a:t>
            </a:r>
          </a:p>
        </p:txBody>
      </p:sp>
      <p:sp>
        <p:nvSpPr>
          <p:cNvPr id="25" name="Titre 1"/>
          <p:cNvSpPr txBox="1">
            <a:spLocks/>
          </p:cNvSpPr>
          <p:nvPr/>
        </p:nvSpPr>
        <p:spPr>
          <a:xfrm>
            <a:off x="2570132" y="685959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 rotWithShape="1">
          <a:blip r:embed="rId2"/>
          <a:srcRect l="19260" t="17018" r="19814" b="26582"/>
          <a:stretch/>
        </p:blipFill>
        <p:spPr>
          <a:xfrm>
            <a:off x="4233335" y="1140178"/>
            <a:ext cx="7428090" cy="5508977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78021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83"/>
          <p:cNvSpPr/>
          <p:nvPr/>
        </p:nvSpPr>
        <p:spPr>
          <a:xfrm>
            <a:off x="191991" y="573516"/>
            <a:ext cx="11880000" cy="619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290574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10133563" y="269759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12540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10160309" y="-8916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56" name="Titre 1"/>
          <p:cNvSpPr txBox="1">
            <a:spLocks/>
          </p:cNvSpPr>
          <p:nvPr/>
        </p:nvSpPr>
        <p:spPr>
          <a:xfrm>
            <a:off x="4960494" y="672854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57" name="Titre 1"/>
          <p:cNvSpPr txBox="1">
            <a:spLocks/>
          </p:cNvSpPr>
          <p:nvPr/>
        </p:nvSpPr>
        <p:spPr>
          <a:xfrm>
            <a:off x="7787861" y="692366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58" name="Rectangle 57"/>
          <p:cNvSpPr/>
          <p:nvPr/>
        </p:nvSpPr>
        <p:spPr>
          <a:xfrm>
            <a:off x="3757530" y="730985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9" name="Rectangle 58"/>
          <p:cNvSpPr/>
          <p:nvPr/>
        </p:nvSpPr>
        <p:spPr>
          <a:xfrm>
            <a:off x="5931716" y="686261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3" name="Rectangle 62"/>
          <p:cNvSpPr/>
          <p:nvPr/>
        </p:nvSpPr>
        <p:spPr>
          <a:xfrm>
            <a:off x="8341959" y="737613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4" name="Rectangle 63"/>
          <p:cNvSpPr/>
          <p:nvPr/>
        </p:nvSpPr>
        <p:spPr>
          <a:xfrm>
            <a:off x="2519541" y="627099"/>
            <a:ext cx="6892827" cy="4643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0" name="Titre 1"/>
          <p:cNvSpPr txBox="1">
            <a:spLocks/>
          </p:cNvSpPr>
          <p:nvPr/>
        </p:nvSpPr>
        <p:spPr>
          <a:xfrm>
            <a:off x="3950915" y="75673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82" name="Rectangle 81"/>
          <p:cNvSpPr/>
          <p:nvPr/>
        </p:nvSpPr>
        <p:spPr>
          <a:xfrm>
            <a:off x="6040364" y="740319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6704842" y="746360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8390629" y="765185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90" name="Titre 1"/>
          <p:cNvSpPr txBox="1">
            <a:spLocks/>
          </p:cNvSpPr>
          <p:nvPr/>
        </p:nvSpPr>
        <p:spPr>
          <a:xfrm>
            <a:off x="1439951" y="589959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54" name="Titre 1"/>
          <p:cNvSpPr txBox="1">
            <a:spLocks/>
          </p:cNvSpPr>
          <p:nvPr/>
        </p:nvSpPr>
        <p:spPr>
          <a:xfrm>
            <a:off x="2761944" y="-56443"/>
            <a:ext cx="6650423" cy="62195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82 – Mouvement – Statistique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Nombre de consultation (EXTERNE / SPÉCIALITÉ)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74" y="1257935"/>
            <a:ext cx="360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b="1" u="sng" dirty="0" smtClean="0">
                <a:latin typeface="+mj-lt"/>
                <a:ea typeface="+mj-ea"/>
                <a:cs typeface="+mj-cs"/>
              </a:rPr>
              <a:t>Exemple </a:t>
            </a:r>
          </a:p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b="1" u="sng" dirty="0">
                <a:latin typeface="+mj-lt"/>
                <a:ea typeface="+mj-ea"/>
                <a:cs typeface="+mj-cs"/>
              </a:rPr>
              <a:t>Nombre de consultation (EXTERNE / SPÉCIALITÉ)</a:t>
            </a:r>
          </a:p>
        </p:txBody>
      </p:sp>
      <p:sp>
        <p:nvSpPr>
          <p:cNvPr id="25" name="Titre 1"/>
          <p:cNvSpPr txBox="1">
            <a:spLocks/>
          </p:cNvSpPr>
          <p:nvPr/>
        </p:nvSpPr>
        <p:spPr>
          <a:xfrm>
            <a:off x="2570132" y="685959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 rotWithShape="1">
          <a:blip r:embed="rId2"/>
          <a:srcRect l="19630" t="20747" r="19630" b="12471"/>
          <a:stretch/>
        </p:blipFill>
        <p:spPr>
          <a:xfrm>
            <a:off x="4029774" y="1149813"/>
            <a:ext cx="7405512" cy="5533209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03085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83"/>
          <p:cNvSpPr/>
          <p:nvPr/>
        </p:nvSpPr>
        <p:spPr>
          <a:xfrm>
            <a:off x="191991" y="573516"/>
            <a:ext cx="11880000" cy="619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290574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10133563" y="269759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12540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10160309" y="-8916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56" name="Titre 1"/>
          <p:cNvSpPr txBox="1">
            <a:spLocks/>
          </p:cNvSpPr>
          <p:nvPr/>
        </p:nvSpPr>
        <p:spPr>
          <a:xfrm>
            <a:off x="4960494" y="672854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57" name="Titre 1"/>
          <p:cNvSpPr txBox="1">
            <a:spLocks/>
          </p:cNvSpPr>
          <p:nvPr/>
        </p:nvSpPr>
        <p:spPr>
          <a:xfrm>
            <a:off x="7787861" y="692366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58" name="Rectangle 57"/>
          <p:cNvSpPr/>
          <p:nvPr/>
        </p:nvSpPr>
        <p:spPr>
          <a:xfrm>
            <a:off x="3757530" y="730985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9" name="Rectangle 58"/>
          <p:cNvSpPr/>
          <p:nvPr/>
        </p:nvSpPr>
        <p:spPr>
          <a:xfrm>
            <a:off x="5931716" y="686261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3" name="Rectangle 62"/>
          <p:cNvSpPr/>
          <p:nvPr/>
        </p:nvSpPr>
        <p:spPr>
          <a:xfrm>
            <a:off x="8341959" y="737613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4" name="Rectangle 63"/>
          <p:cNvSpPr/>
          <p:nvPr/>
        </p:nvSpPr>
        <p:spPr>
          <a:xfrm>
            <a:off x="2519541" y="627099"/>
            <a:ext cx="6892827" cy="4643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0" name="Titre 1"/>
          <p:cNvSpPr txBox="1">
            <a:spLocks/>
          </p:cNvSpPr>
          <p:nvPr/>
        </p:nvSpPr>
        <p:spPr>
          <a:xfrm>
            <a:off x="3950915" y="75673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82" name="Rectangle 81"/>
          <p:cNvSpPr/>
          <p:nvPr/>
        </p:nvSpPr>
        <p:spPr>
          <a:xfrm>
            <a:off x="6040364" y="740319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6704842" y="746360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8390629" y="765185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90" name="Titre 1"/>
          <p:cNvSpPr txBox="1">
            <a:spLocks/>
          </p:cNvSpPr>
          <p:nvPr/>
        </p:nvSpPr>
        <p:spPr>
          <a:xfrm>
            <a:off x="1439951" y="589959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54" name="Titre 1"/>
          <p:cNvSpPr txBox="1">
            <a:spLocks/>
          </p:cNvSpPr>
          <p:nvPr/>
        </p:nvSpPr>
        <p:spPr>
          <a:xfrm>
            <a:off x="2761944" y="-8917"/>
            <a:ext cx="6650423" cy="56136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82 – Mouvement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– Statistique </a:t>
            </a:r>
            <a:endParaRPr lang="fr-FR" altLang="fr-FR" sz="1800" b="1" dirty="0" smtClean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Nombre d‘(HOSPITALISATION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/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SERVICE)</a:t>
            </a:r>
            <a:endParaRPr lang="fr-FR" alt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29774" y="1257935"/>
            <a:ext cx="360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b="1" u="sng" dirty="0" smtClean="0">
                <a:latin typeface="+mj-lt"/>
                <a:ea typeface="+mj-ea"/>
                <a:cs typeface="+mj-cs"/>
              </a:rPr>
              <a:t>Exemple </a:t>
            </a:r>
          </a:p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b="1" u="sng" dirty="0">
                <a:latin typeface="+mj-lt"/>
                <a:ea typeface="+mj-ea"/>
                <a:cs typeface="+mj-cs"/>
              </a:rPr>
              <a:t>Nombre </a:t>
            </a:r>
            <a:r>
              <a:rPr lang="fr-FR" sz="1400" b="1" u="sng" dirty="0" smtClean="0">
                <a:latin typeface="+mj-lt"/>
                <a:ea typeface="+mj-ea"/>
                <a:cs typeface="+mj-cs"/>
              </a:rPr>
              <a:t>d‘(HOSPITALISATION </a:t>
            </a:r>
            <a:r>
              <a:rPr lang="fr-FR" sz="1400" b="1" u="sng" dirty="0">
                <a:latin typeface="+mj-lt"/>
                <a:ea typeface="+mj-ea"/>
                <a:cs typeface="+mj-cs"/>
              </a:rPr>
              <a:t>/ </a:t>
            </a:r>
            <a:r>
              <a:rPr lang="fr-FR" sz="1400" b="1" u="sng" dirty="0" smtClean="0">
                <a:latin typeface="+mj-lt"/>
                <a:ea typeface="+mj-ea"/>
                <a:cs typeface="+mj-cs"/>
              </a:rPr>
              <a:t>SERVICE)</a:t>
            </a:r>
            <a:endParaRPr lang="fr-FR" sz="1400" b="1" u="sng" dirty="0">
              <a:latin typeface="+mj-lt"/>
              <a:ea typeface="+mj-ea"/>
              <a:cs typeface="+mj-cs"/>
            </a:endParaRPr>
          </a:p>
        </p:txBody>
      </p:sp>
      <p:sp>
        <p:nvSpPr>
          <p:cNvPr id="25" name="Titre 1"/>
          <p:cNvSpPr txBox="1">
            <a:spLocks/>
          </p:cNvSpPr>
          <p:nvPr/>
        </p:nvSpPr>
        <p:spPr>
          <a:xfrm>
            <a:off x="2570132" y="685959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 rotWithShape="1">
          <a:blip r:embed="rId2"/>
          <a:srcRect l="18981" t="11256" r="20649" b="28790"/>
          <a:stretch/>
        </p:blipFill>
        <p:spPr>
          <a:xfrm>
            <a:off x="3597078" y="1141564"/>
            <a:ext cx="7360356" cy="5552747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02011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83"/>
          <p:cNvSpPr/>
          <p:nvPr/>
        </p:nvSpPr>
        <p:spPr>
          <a:xfrm>
            <a:off x="191991" y="573516"/>
            <a:ext cx="11880000" cy="619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290574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10133563" y="269759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12540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10160309" y="-8916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56" name="Titre 1"/>
          <p:cNvSpPr txBox="1">
            <a:spLocks/>
          </p:cNvSpPr>
          <p:nvPr/>
        </p:nvSpPr>
        <p:spPr>
          <a:xfrm>
            <a:off x="4960494" y="672854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57" name="Titre 1"/>
          <p:cNvSpPr txBox="1">
            <a:spLocks/>
          </p:cNvSpPr>
          <p:nvPr/>
        </p:nvSpPr>
        <p:spPr>
          <a:xfrm>
            <a:off x="7787861" y="692366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58" name="Rectangle 57"/>
          <p:cNvSpPr/>
          <p:nvPr/>
        </p:nvSpPr>
        <p:spPr>
          <a:xfrm>
            <a:off x="3757530" y="730985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9" name="Rectangle 58"/>
          <p:cNvSpPr/>
          <p:nvPr/>
        </p:nvSpPr>
        <p:spPr>
          <a:xfrm>
            <a:off x="5931716" y="686261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3" name="Rectangle 62"/>
          <p:cNvSpPr/>
          <p:nvPr/>
        </p:nvSpPr>
        <p:spPr>
          <a:xfrm>
            <a:off x="8341959" y="737613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4" name="Rectangle 63"/>
          <p:cNvSpPr/>
          <p:nvPr/>
        </p:nvSpPr>
        <p:spPr>
          <a:xfrm>
            <a:off x="2519541" y="627099"/>
            <a:ext cx="6892827" cy="4643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0" name="Titre 1"/>
          <p:cNvSpPr txBox="1">
            <a:spLocks/>
          </p:cNvSpPr>
          <p:nvPr/>
        </p:nvSpPr>
        <p:spPr>
          <a:xfrm>
            <a:off x="3950915" y="75673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82" name="Rectangle 81"/>
          <p:cNvSpPr/>
          <p:nvPr/>
        </p:nvSpPr>
        <p:spPr>
          <a:xfrm>
            <a:off x="6040364" y="740319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6704842" y="746360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8390629" y="765185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90" name="Titre 1"/>
          <p:cNvSpPr txBox="1">
            <a:spLocks/>
          </p:cNvSpPr>
          <p:nvPr/>
        </p:nvSpPr>
        <p:spPr>
          <a:xfrm>
            <a:off x="1439951" y="589959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54" name="Titre 1"/>
          <p:cNvSpPr txBox="1">
            <a:spLocks/>
          </p:cNvSpPr>
          <p:nvPr/>
        </p:nvSpPr>
        <p:spPr>
          <a:xfrm>
            <a:off x="2761944" y="22560"/>
            <a:ext cx="6650423" cy="576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82 – Mouvement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– Statistique </a:t>
            </a:r>
            <a:endParaRPr lang="fr-FR" altLang="fr-FR" sz="1800" b="1" dirty="0" smtClean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Nombre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de (NUITÉES / PÉRIODE / SERVICE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)</a:t>
            </a:r>
            <a:endParaRPr lang="fr-FR" alt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29774" y="1257935"/>
            <a:ext cx="360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b="1" u="sng" dirty="0" smtClean="0">
                <a:latin typeface="+mj-lt"/>
                <a:ea typeface="+mj-ea"/>
                <a:cs typeface="+mj-cs"/>
              </a:rPr>
              <a:t>Exemple </a:t>
            </a:r>
          </a:p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b="1" u="sng" dirty="0">
                <a:latin typeface="+mj-lt"/>
                <a:ea typeface="+mj-ea"/>
                <a:cs typeface="+mj-cs"/>
              </a:rPr>
              <a:t>Nombre de (NUITÉES / PÉRIODE / SERVICE)</a:t>
            </a:r>
          </a:p>
        </p:txBody>
      </p:sp>
      <p:sp>
        <p:nvSpPr>
          <p:cNvPr id="25" name="Titre 1"/>
          <p:cNvSpPr txBox="1">
            <a:spLocks/>
          </p:cNvSpPr>
          <p:nvPr/>
        </p:nvSpPr>
        <p:spPr>
          <a:xfrm>
            <a:off x="2570132" y="685959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 rotWithShape="1">
          <a:blip r:embed="rId2"/>
          <a:srcRect l="20093" t="10908" r="20000" b="28559"/>
          <a:stretch/>
        </p:blipFill>
        <p:spPr>
          <a:xfrm>
            <a:off x="3710614" y="1156681"/>
            <a:ext cx="7303911" cy="5503763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09802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83"/>
          <p:cNvSpPr/>
          <p:nvPr/>
        </p:nvSpPr>
        <p:spPr>
          <a:xfrm>
            <a:off x="191991" y="573516"/>
            <a:ext cx="11880000" cy="619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290574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10133563" y="269759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12540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10160309" y="-8916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56" name="Titre 1"/>
          <p:cNvSpPr txBox="1">
            <a:spLocks/>
          </p:cNvSpPr>
          <p:nvPr/>
        </p:nvSpPr>
        <p:spPr>
          <a:xfrm>
            <a:off x="4960494" y="672854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57" name="Titre 1"/>
          <p:cNvSpPr txBox="1">
            <a:spLocks/>
          </p:cNvSpPr>
          <p:nvPr/>
        </p:nvSpPr>
        <p:spPr>
          <a:xfrm>
            <a:off x="7787861" y="692366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58" name="Rectangle 57"/>
          <p:cNvSpPr/>
          <p:nvPr/>
        </p:nvSpPr>
        <p:spPr>
          <a:xfrm>
            <a:off x="3757530" y="730985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9" name="Rectangle 58"/>
          <p:cNvSpPr/>
          <p:nvPr/>
        </p:nvSpPr>
        <p:spPr>
          <a:xfrm>
            <a:off x="5931716" y="686261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3" name="Rectangle 62"/>
          <p:cNvSpPr/>
          <p:nvPr/>
        </p:nvSpPr>
        <p:spPr>
          <a:xfrm>
            <a:off x="8341959" y="737613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4" name="Rectangle 63"/>
          <p:cNvSpPr/>
          <p:nvPr/>
        </p:nvSpPr>
        <p:spPr>
          <a:xfrm>
            <a:off x="2519541" y="627099"/>
            <a:ext cx="6892827" cy="4643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0" name="Titre 1"/>
          <p:cNvSpPr txBox="1">
            <a:spLocks/>
          </p:cNvSpPr>
          <p:nvPr/>
        </p:nvSpPr>
        <p:spPr>
          <a:xfrm>
            <a:off x="3950915" y="75673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82" name="Rectangle 81"/>
          <p:cNvSpPr/>
          <p:nvPr/>
        </p:nvSpPr>
        <p:spPr>
          <a:xfrm>
            <a:off x="6040364" y="740319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6704842" y="746360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8390629" y="765185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90" name="Titre 1"/>
          <p:cNvSpPr txBox="1">
            <a:spLocks/>
          </p:cNvSpPr>
          <p:nvPr/>
        </p:nvSpPr>
        <p:spPr>
          <a:xfrm>
            <a:off x="1439951" y="589959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54" name="Titre 1"/>
          <p:cNvSpPr txBox="1">
            <a:spLocks/>
          </p:cNvSpPr>
          <p:nvPr/>
        </p:nvSpPr>
        <p:spPr>
          <a:xfrm>
            <a:off x="2761944" y="-8917"/>
            <a:ext cx="6650423" cy="54149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82 – Mouvement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– Statistique </a:t>
            </a:r>
            <a:endParaRPr lang="fr-FR" altLang="fr-FR" sz="1800" b="1" dirty="0" smtClean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Nombre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de (SORTIES / PÉRIODE / SERVICE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)</a:t>
            </a:r>
            <a:endParaRPr lang="fr-FR" alt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29774" y="1257935"/>
            <a:ext cx="360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b="1" u="sng" dirty="0" smtClean="0">
                <a:latin typeface="+mj-lt"/>
                <a:ea typeface="+mj-ea"/>
                <a:cs typeface="+mj-cs"/>
              </a:rPr>
              <a:t>Exemple </a:t>
            </a:r>
          </a:p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b="1" u="sng" dirty="0">
                <a:latin typeface="+mj-lt"/>
                <a:ea typeface="+mj-ea"/>
                <a:cs typeface="+mj-cs"/>
              </a:rPr>
              <a:t>Nombre de (SORTIES / PÉRIODE / SERVICE)</a:t>
            </a:r>
          </a:p>
        </p:txBody>
      </p:sp>
      <p:sp>
        <p:nvSpPr>
          <p:cNvPr id="25" name="Titre 1"/>
          <p:cNvSpPr txBox="1">
            <a:spLocks/>
          </p:cNvSpPr>
          <p:nvPr/>
        </p:nvSpPr>
        <p:spPr>
          <a:xfrm>
            <a:off x="2570132" y="685959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 rotWithShape="1">
          <a:blip r:embed="rId2"/>
          <a:srcRect l="19629" t="11024" r="20000" b="29254"/>
          <a:stretch/>
        </p:blipFill>
        <p:spPr>
          <a:xfrm>
            <a:off x="3723583" y="1142667"/>
            <a:ext cx="7360356" cy="550649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00938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83"/>
          <p:cNvSpPr/>
          <p:nvPr/>
        </p:nvSpPr>
        <p:spPr>
          <a:xfrm>
            <a:off x="239958" y="518952"/>
            <a:ext cx="11880000" cy="619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290574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10133563" y="269759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12540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10160309" y="-8916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56" name="Titre 1"/>
          <p:cNvSpPr txBox="1">
            <a:spLocks/>
          </p:cNvSpPr>
          <p:nvPr/>
        </p:nvSpPr>
        <p:spPr>
          <a:xfrm>
            <a:off x="4960494" y="672854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57" name="Titre 1"/>
          <p:cNvSpPr txBox="1">
            <a:spLocks/>
          </p:cNvSpPr>
          <p:nvPr/>
        </p:nvSpPr>
        <p:spPr>
          <a:xfrm>
            <a:off x="7787861" y="692366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58" name="Rectangle 57"/>
          <p:cNvSpPr/>
          <p:nvPr/>
        </p:nvSpPr>
        <p:spPr>
          <a:xfrm>
            <a:off x="3757530" y="730985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9" name="Rectangle 58"/>
          <p:cNvSpPr/>
          <p:nvPr/>
        </p:nvSpPr>
        <p:spPr>
          <a:xfrm>
            <a:off x="5931716" y="686261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3" name="Rectangle 62"/>
          <p:cNvSpPr/>
          <p:nvPr/>
        </p:nvSpPr>
        <p:spPr>
          <a:xfrm>
            <a:off x="8341959" y="737613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4" name="Rectangle 63"/>
          <p:cNvSpPr/>
          <p:nvPr/>
        </p:nvSpPr>
        <p:spPr>
          <a:xfrm>
            <a:off x="2519541" y="627099"/>
            <a:ext cx="6892827" cy="4643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0" name="Titre 1"/>
          <p:cNvSpPr txBox="1">
            <a:spLocks/>
          </p:cNvSpPr>
          <p:nvPr/>
        </p:nvSpPr>
        <p:spPr>
          <a:xfrm>
            <a:off x="3950915" y="75673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82" name="Rectangle 81"/>
          <p:cNvSpPr/>
          <p:nvPr/>
        </p:nvSpPr>
        <p:spPr>
          <a:xfrm>
            <a:off x="6040364" y="740319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6704842" y="746360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8390629" y="765185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90" name="Titre 1"/>
          <p:cNvSpPr txBox="1">
            <a:spLocks/>
          </p:cNvSpPr>
          <p:nvPr/>
        </p:nvSpPr>
        <p:spPr>
          <a:xfrm>
            <a:off x="1439951" y="589959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54" name="Titre 1"/>
          <p:cNvSpPr txBox="1">
            <a:spLocks/>
          </p:cNvSpPr>
          <p:nvPr/>
        </p:nvSpPr>
        <p:spPr>
          <a:xfrm>
            <a:off x="2761944" y="-8917"/>
            <a:ext cx="6650423" cy="54149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83 – Caisse – Encaissement – </a:t>
            </a:r>
            <a:endParaRPr lang="fr-FR" alt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927554" y="3357316"/>
            <a:ext cx="1240982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b="1" u="sng" dirty="0">
                <a:latin typeface="+mj-lt"/>
                <a:ea typeface="+mj-ea"/>
                <a:cs typeface="+mj-cs"/>
              </a:rPr>
              <a:t>Encaissement</a:t>
            </a:r>
          </a:p>
        </p:txBody>
      </p:sp>
      <p:sp>
        <p:nvSpPr>
          <p:cNvPr id="25" name="Titre 1"/>
          <p:cNvSpPr txBox="1">
            <a:spLocks/>
          </p:cNvSpPr>
          <p:nvPr/>
        </p:nvSpPr>
        <p:spPr>
          <a:xfrm>
            <a:off x="2570132" y="685959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23" name="Rectangle 22"/>
          <p:cNvSpPr/>
          <p:nvPr/>
        </p:nvSpPr>
        <p:spPr>
          <a:xfrm>
            <a:off x="8444993" y="2298083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Recherche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51319" y="2327627"/>
            <a:ext cx="1080000" cy="32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6" name="Titre 1"/>
          <p:cNvSpPr txBox="1">
            <a:spLocks/>
          </p:cNvSpPr>
          <p:nvPr/>
        </p:nvSpPr>
        <p:spPr>
          <a:xfrm>
            <a:off x="1034297" y="2311051"/>
            <a:ext cx="1720777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Critère de recherche</a:t>
            </a:r>
            <a:endParaRPr lang="fr-FR" sz="1400" dirty="0"/>
          </a:p>
        </p:txBody>
      </p:sp>
      <p:sp>
        <p:nvSpPr>
          <p:cNvPr id="27" name="Rectangle 26"/>
          <p:cNvSpPr/>
          <p:nvPr/>
        </p:nvSpPr>
        <p:spPr>
          <a:xfrm>
            <a:off x="4150632" y="2311965"/>
            <a:ext cx="4021515" cy="32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8" name="Triangle isocèle 27"/>
          <p:cNvSpPr/>
          <p:nvPr/>
        </p:nvSpPr>
        <p:spPr>
          <a:xfrm rot="10800000">
            <a:off x="3600688" y="2328191"/>
            <a:ext cx="216000" cy="394544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9" name="Rectangle 28"/>
          <p:cNvSpPr/>
          <p:nvPr/>
        </p:nvSpPr>
        <p:spPr>
          <a:xfrm>
            <a:off x="909986" y="1671248"/>
            <a:ext cx="9013524" cy="1523508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2" name="Titre 1"/>
          <p:cNvSpPr txBox="1">
            <a:spLocks/>
          </p:cNvSpPr>
          <p:nvPr/>
        </p:nvSpPr>
        <p:spPr>
          <a:xfrm>
            <a:off x="2750210" y="2713794"/>
            <a:ext cx="2592000" cy="34977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Nom, Prénom, N° dossier, Service</a:t>
            </a:r>
            <a:endParaRPr lang="fr-FR" sz="1400" dirty="0"/>
          </a:p>
        </p:txBody>
      </p:sp>
      <p:sp>
        <p:nvSpPr>
          <p:cNvPr id="33" name="Rectangle 32"/>
          <p:cNvSpPr/>
          <p:nvPr/>
        </p:nvSpPr>
        <p:spPr>
          <a:xfrm>
            <a:off x="2756962" y="1836557"/>
            <a:ext cx="1080000" cy="32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4" name="Titre 1"/>
          <p:cNvSpPr txBox="1">
            <a:spLocks/>
          </p:cNvSpPr>
          <p:nvPr/>
        </p:nvSpPr>
        <p:spPr>
          <a:xfrm>
            <a:off x="1039940" y="1819981"/>
            <a:ext cx="1710715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</a:t>
            </a:r>
            <a:endParaRPr lang="fr-FR" sz="1400" dirty="0"/>
          </a:p>
        </p:txBody>
      </p:sp>
      <p:sp>
        <p:nvSpPr>
          <p:cNvPr id="35" name="Titre 1"/>
          <p:cNvSpPr txBox="1">
            <a:spLocks/>
          </p:cNvSpPr>
          <p:nvPr/>
        </p:nvSpPr>
        <p:spPr>
          <a:xfrm>
            <a:off x="6472113" y="3790799"/>
            <a:ext cx="1260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Date </a:t>
            </a:r>
            <a:r>
              <a:rPr lang="fr-FR" sz="1400" dirty="0" smtClean="0"/>
              <a:t>naissance</a:t>
            </a:r>
            <a:endParaRPr lang="fr-FR" sz="1400" dirty="0"/>
          </a:p>
        </p:txBody>
      </p:sp>
      <p:sp>
        <p:nvSpPr>
          <p:cNvPr id="36" name="Titre 1"/>
          <p:cNvSpPr txBox="1">
            <a:spLocks/>
          </p:cNvSpPr>
          <p:nvPr/>
        </p:nvSpPr>
        <p:spPr>
          <a:xfrm>
            <a:off x="3122707" y="3794508"/>
            <a:ext cx="720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  <a:lvl1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1400"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Nom</a:t>
            </a:r>
          </a:p>
        </p:txBody>
      </p:sp>
      <p:sp>
        <p:nvSpPr>
          <p:cNvPr id="38" name="Titre 1"/>
          <p:cNvSpPr txBox="1">
            <a:spLocks/>
          </p:cNvSpPr>
          <p:nvPr/>
        </p:nvSpPr>
        <p:spPr>
          <a:xfrm>
            <a:off x="1199792" y="3778364"/>
            <a:ext cx="1057969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  <a:lvl1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1400"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N° Dossier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14487" y="4199094"/>
            <a:ext cx="144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0" name="Rectangle 39"/>
          <p:cNvSpPr/>
          <p:nvPr/>
        </p:nvSpPr>
        <p:spPr>
          <a:xfrm>
            <a:off x="909383" y="3733516"/>
            <a:ext cx="9036000" cy="1512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1" name="Titre 1"/>
          <p:cNvSpPr txBox="1">
            <a:spLocks/>
          </p:cNvSpPr>
          <p:nvPr/>
        </p:nvSpPr>
        <p:spPr>
          <a:xfrm>
            <a:off x="8283561" y="3781074"/>
            <a:ext cx="1476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Date </a:t>
            </a:r>
            <a:r>
              <a:rPr lang="fr-FR" sz="1400" dirty="0" smtClean="0"/>
              <a:t>facturation</a:t>
            </a:r>
            <a:endParaRPr lang="fr-FR" sz="1400" dirty="0"/>
          </a:p>
        </p:txBody>
      </p:sp>
      <p:cxnSp>
        <p:nvCxnSpPr>
          <p:cNvPr id="42" name="Connecteur droit 41"/>
          <p:cNvCxnSpPr/>
          <p:nvPr/>
        </p:nvCxnSpPr>
        <p:spPr>
          <a:xfrm>
            <a:off x="2635319" y="3733516"/>
            <a:ext cx="0" cy="1512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3" name="Connecteur droit 42"/>
          <p:cNvCxnSpPr/>
          <p:nvPr/>
        </p:nvCxnSpPr>
        <p:spPr>
          <a:xfrm>
            <a:off x="8058855" y="3752566"/>
            <a:ext cx="0" cy="1512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5" name="Connecteur droit 44"/>
          <p:cNvCxnSpPr/>
          <p:nvPr/>
        </p:nvCxnSpPr>
        <p:spPr>
          <a:xfrm>
            <a:off x="924028" y="4666028"/>
            <a:ext cx="9036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6" name="Rectangle 45"/>
          <p:cNvSpPr/>
          <p:nvPr/>
        </p:nvSpPr>
        <p:spPr>
          <a:xfrm>
            <a:off x="4771189" y="3798571"/>
            <a:ext cx="1080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Prénom</a:t>
            </a:r>
          </a:p>
        </p:txBody>
      </p:sp>
      <p:cxnSp>
        <p:nvCxnSpPr>
          <p:cNvPr id="47" name="Connecteur droit 46"/>
          <p:cNvCxnSpPr/>
          <p:nvPr/>
        </p:nvCxnSpPr>
        <p:spPr>
          <a:xfrm>
            <a:off x="4374491" y="3733516"/>
            <a:ext cx="0" cy="1512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8" name="Rectangle 47"/>
          <p:cNvSpPr/>
          <p:nvPr/>
        </p:nvSpPr>
        <p:spPr>
          <a:xfrm>
            <a:off x="6376803" y="4184953"/>
            <a:ext cx="144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9" name="Rectangle 48"/>
          <p:cNvSpPr/>
          <p:nvPr/>
        </p:nvSpPr>
        <p:spPr>
          <a:xfrm>
            <a:off x="4559170" y="4185966"/>
            <a:ext cx="144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50" name="Connecteur droit 49"/>
          <p:cNvCxnSpPr/>
          <p:nvPr/>
        </p:nvCxnSpPr>
        <p:spPr>
          <a:xfrm>
            <a:off x="6179958" y="3738949"/>
            <a:ext cx="0" cy="1512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2" name="Rectangle 51"/>
          <p:cNvSpPr/>
          <p:nvPr/>
        </p:nvSpPr>
        <p:spPr>
          <a:xfrm>
            <a:off x="2775519" y="4197255"/>
            <a:ext cx="144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3" name="Rectangle 52"/>
          <p:cNvSpPr/>
          <p:nvPr/>
        </p:nvSpPr>
        <p:spPr>
          <a:xfrm>
            <a:off x="1003159" y="4197255"/>
            <a:ext cx="144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0" name="Rectangle 59"/>
          <p:cNvSpPr/>
          <p:nvPr/>
        </p:nvSpPr>
        <p:spPr>
          <a:xfrm>
            <a:off x="8320130" y="4769187"/>
            <a:ext cx="144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1" name="Rectangle 60"/>
          <p:cNvSpPr/>
          <p:nvPr/>
        </p:nvSpPr>
        <p:spPr>
          <a:xfrm>
            <a:off x="6382446" y="4755046"/>
            <a:ext cx="144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2" name="Rectangle 61"/>
          <p:cNvSpPr/>
          <p:nvPr/>
        </p:nvSpPr>
        <p:spPr>
          <a:xfrm>
            <a:off x="4564813" y="4756059"/>
            <a:ext cx="144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5" name="Rectangle 64"/>
          <p:cNvSpPr/>
          <p:nvPr/>
        </p:nvSpPr>
        <p:spPr>
          <a:xfrm>
            <a:off x="2781162" y="4767348"/>
            <a:ext cx="144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6" name="Rectangle 65"/>
          <p:cNvSpPr/>
          <p:nvPr/>
        </p:nvSpPr>
        <p:spPr>
          <a:xfrm>
            <a:off x="1008802" y="4767348"/>
            <a:ext cx="144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67" name="Connecteur droit 66"/>
          <p:cNvCxnSpPr/>
          <p:nvPr/>
        </p:nvCxnSpPr>
        <p:spPr>
          <a:xfrm>
            <a:off x="924028" y="4124161"/>
            <a:ext cx="9036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176090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83"/>
          <p:cNvSpPr/>
          <p:nvPr/>
        </p:nvSpPr>
        <p:spPr>
          <a:xfrm>
            <a:off x="239958" y="518952"/>
            <a:ext cx="11880000" cy="619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290574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10133563" y="269759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12540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10160309" y="-8916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56" name="Titre 1"/>
          <p:cNvSpPr txBox="1">
            <a:spLocks/>
          </p:cNvSpPr>
          <p:nvPr/>
        </p:nvSpPr>
        <p:spPr>
          <a:xfrm>
            <a:off x="4960494" y="672854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57" name="Titre 1"/>
          <p:cNvSpPr txBox="1">
            <a:spLocks/>
          </p:cNvSpPr>
          <p:nvPr/>
        </p:nvSpPr>
        <p:spPr>
          <a:xfrm>
            <a:off x="7787861" y="692366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58" name="Rectangle 57"/>
          <p:cNvSpPr/>
          <p:nvPr/>
        </p:nvSpPr>
        <p:spPr>
          <a:xfrm>
            <a:off x="3757530" y="730985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9" name="Rectangle 58"/>
          <p:cNvSpPr/>
          <p:nvPr/>
        </p:nvSpPr>
        <p:spPr>
          <a:xfrm>
            <a:off x="5931716" y="686261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3" name="Rectangle 62"/>
          <p:cNvSpPr/>
          <p:nvPr/>
        </p:nvSpPr>
        <p:spPr>
          <a:xfrm>
            <a:off x="8341959" y="737613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4" name="Rectangle 63"/>
          <p:cNvSpPr/>
          <p:nvPr/>
        </p:nvSpPr>
        <p:spPr>
          <a:xfrm>
            <a:off x="2519541" y="627099"/>
            <a:ext cx="6892827" cy="4643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0" name="Titre 1"/>
          <p:cNvSpPr txBox="1">
            <a:spLocks/>
          </p:cNvSpPr>
          <p:nvPr/>
        </p:nvSpPr>
        <p:spPr>
          <a:xfrm>
            <a:off x="3950915" y="75673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82" name="Rectangle 81"/>
          <p:cNvSpPr/>
          <p:nvPr/>
        </p:nvSpPr>
        <p:spPr>
          <a:xfrm>
            <a:off x="6040364" y="740319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6704842" y="746360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8390629" y="765185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90" name="Titre 1"/>
          <p:cNvSpPr txBox="1">
            <a:spLocks/>
          </p:cNvSpPr>
          <p:nvPr/>
        </p:nvSpPr>
        <p:spPr>
          <a:xfrm>
            <a:off x="1439951" y="589959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54" name="Titre 1"/>
          <p:cNvSpPr txBox="1">
            <a:spLocks/>
          </p:cNvSpPr>
          <p:nvPr/>
        </p:nvSpPr>
        <p:spPr>
          <a:xfrm>
            <a:off x="2761944" y="-8917"/>
            <a:ext cx="6650423" cy="54149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84 – Caisse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L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iste des factures – </a:t>
            </a:r>
            <a:endParaRPr lang="fr-FR" alt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927554" y="3357316"/>
            <a:ext cx="144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b="1" u="sng" dirty="0" smtClean="0">
                <a:latin typeface="+mj-lt"/>
                <a:ea typeface="+mj-ea"/>
                <a:cs typeface="+mj-cs"/>
              </a:rPr>
              <a:t>Liste des factures</a:t>
            </a:r>
            <a:endParaRPr lang="fr-FR" sz="1400" b="1" u="sng" dirty="0">
              <a:latin typeface="+mj-lt"/>
              <a:ea typeface="+mj-ea"/>
              <a:cs typeface="+mj-cs"/>
            </a:endParaRPr>
          </a:p>
        </p:txBody>
      </p:sp>
      <p:sp>
        <p:nvSpPr>
          <p:cNvPr id="25" name="Titre 1"/>
          <p:cNvSpPr txBox="1">
            <a:spLocks/>
          </p:cNvSpPr>
          <p:nvPr/>
        </p:nvSpPr>
        <p:spPr>
          <a:xfrm>
            <a:off x="2570132" y="685959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23" name="Rectangle 22"/>
          <p:cNvSpPr/>
          <p:nvPr/>
        </p:nvSpPr>
        <p:spPr>
          <a:xfrm>
            <a:off x="8444993" y="2298083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Recherche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51319" y="2327627"/>
            <a:ext cx="1080000" cy="32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6" name="Titre 1"/>
          <p:cNvSpPr txBox="1">
            <a:spLocks/>
          </p:cNvSpPr>
          <p:nvPr/>
        </p:nvSpPr>
        <p:spPr>
          <a:xfrm>
            <a:off x="1034297" y="2311051"/>
            <a:ext cx="1720777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Critère de recherche</a:t>
            </a:r>
            <a:endParaRPr lang="fr-FR" sz="1400" dirty="0"/>
          </a:p>
        </p:txBody>
      </p:sp>
      <p:sp>
        <p:nvSpPr>
          <p:cNvPr id="27" name="Rectangle 26"/>
          <p:cNvSpPr/>
          <p:nvPr/>
        </p:nvSpPr>
        <p:spPr>
          <a:xfrm>
            <a:off x="4150632" y="2323254"/>
            <a:ext cx="4021515" cy="32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8" name="Triangle isocèle 27"/>
          <p:cNvSpPr/>
          <p:nvPr/>
        </p:nvSpPr>
        <p:spPr>
          <a:xfrm rot="10800000">
            <a:off x="3600688" y="2328191"/>
            <a:ext cx="216000" cy="394544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9" name="Rectangle 28"/>
          <p:cNvSpPr/>
          <p:nvPr/>
        </p:nvSpPr>
        <p:spPr>
          <a:xfrm>
            <a:off x="909986" y="1671248"/>
            <a:ext cx="9013524" cy="1523508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3" name="Rectangle 32"/>
          <p:cNvSpPr/>
          <p:nvPr/>
        </p:nvSpPr>
        <p:spPr>
          <a:xfrm>
            <a:off x="2756962" y="1836557"/>
            <a:ext cx="1080000" cy="32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4" name="Titre 1"/>
          <p:cNvSpPr txBox="1">
            <a:spLocks/>
          </p:cNvSpPr>
          <p:nvPr/>
        </p:nvSpPr>
        <p:spPr>
          <a:xfrm>
            <a:off x="1039940" y="1819981"/>
            <a:ext cx="1710715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</a:t>
            </a:r>
            <a:endParaRPr lang="fr-FR" sz="1400" dirty="0"/>
          </a:p>
        </p:txBody>
      </p:sp>
      <p:sp>
        <p:nvSpPr>
          <p:cNvPr id="35" name="Titre 1"/>
          <p:cNvSpPr txBox="1">
            <a:spLocks/>
          </p:cNvSpPr>
          <p:nvPr/>
        </p:nvSpPr>
        <p:spPr>
          <a:xfrm>
            <a:off x="6472113" y="3790799"/>
            <a:ext cx="1260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Date </a:t>
            </a:r>
            <a:r>
              <a:rPr lang="fr-FR" sz="1400" dirty="0" smtClean="0"/>
              <a:t>naissance</a:t>
            </a:r>
            <a:endParaRPr lang="fr-FR" sz="1400" dirty="0"/>
          </a:p>
        </p:txBody>
      </p:sp>
      <p:sp>
        <p:nvSpPr>
          <p:cNvPr id="36" name="Titre 1"/>
          <p:cNvSpPr txBox="1">
            <a:spLocks/>
          </p:cNvSpPr>
          <p:nvPr/>
        </p:nvSpPr>
        <p:spPr>
          <a:xfrm>
            <a:off x="3122707" y="3794508"/>
            <a:ext cx="720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  <a:lvl1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1400"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Nom</a:t>
            </a:r>
          </a:p>
        </p:txBody>
      </p:sp>
      <p:sp>
        <p:nvSpPr>
          <p:cNvPr id="38" name="Titre 1"/>
          <p:cNvSpPr txBox="1">
            <a:spLocks/>
          </p:cNvSpPr>
          <p:nvPr/>
        </p:nvSpPr>
        <p:spPr>
          <a:xfrm>
            <a:off x="1199792" y="3778364"/>
            <a:ext cx="1057969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  <a:lvl1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1400"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N° Dossier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14487" y="4199094"/>
            <a:ext cx="144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0" name="Rectangle 39"/>
          <p:cNvSpPr/>
          <p:nvPr/>
        </p:nvSpPr>
        <p:spPr>
          <a:xfrm>
            <a:off x="909383" y="3733516"/>
            <a:ext cx="9036000" cy="1512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1" name="Titre 1"/>
          <p:cNvSpPr txBox="1">
            <a:spLocks/>
          </p:cNvSpPr>
          <p:nvPr/>
        </p:nvSpPr>
        <p:spPr>
          <a:xfrm>
            <a:off x="8283561" y="3781074"/>
            <a:ext cx="1476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Date </a:t>
            </a:r>
            <a:r>
              <a:rPr lang="fr-FR" sz="1400" dirty="0" smtClean="0"/>
              <a:t>facturation</a:t>
            </a:r>
            <a:endParaRPr lang="fr-FR" sz="1400" dirty="0"/>
          </a:p>
        </p:txBody>
      </p:sp>
      <p:cxnSp>
        <p:nvCxnSpPr>
          <p:cNvPr id="42" name="Connecteur droit 41"/>
          <p:cNvCxnSpPr/>
          <p:nvPr/>
        </p:nvCxnSpPr>
        <p:spPr>
          <a:xfrm>
            <a:off x="2635319" y="3733516"/>
            <a:ext cx="0" cy="1512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3" name="Connecteur droit 42"/>
          <p:cNvCxnSpPr/>
          <p:nvPr/>
        </p:nvCxnSpPr>
        <p:spPr>
          <a:xfrm>
            <a:off x="8058855" y="3752566"/>
            <a:ext cx="0" cy="1512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5" name="Connecteur droit 44"/>
          <p:cNvCxnSpPr/>
          <p:nvPr/>
        </p:nvCxnSpPr>
        <p:spPr>
          <a:xfrm>
            <a:off x="924028" y="4666028"/>
            <a:ext cx="9036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6" name="Rectangle 45"/>
          <p:cNvSpPr/>
          <p:nvPr/>
        </p:nvSpPr>
        <p:spPr>
          <a:xfrm>
            <a:off x="4771189" y="3798571"/>
            <a:ext cx="1080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Prénom</a:t>
            </a:r>
          </a:p>
        </p:txBody>
      </p:sp>
      <p:cxnSp>
        <p:nvCxnSpPr>
          <p:cNvPr id="47" name="Connecteur droit 46"/>
          <p:cNvCxnSpPr/>
          <p:nvPr/>
        </p:nvCxnSpPr>
        <p:spPr>
          <a:xfrm>
            <a:off x="4374491" y="3733516"/>
            <a:ext cx="0" cy="1512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8" name="Rectangle 47"/>
          <p:cNvSpPr/>
          <p:nvPr/>
        </p:nvSpPr>
        <p:spPr>
          <a:xfrm>
            <a:off x="6376803" y="4184953"/>
            <a:ext cx="144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9" name="Rectangle 48"/>
          <p:cNvSpPr/>
          <p:nvPr/>
        </p:nvSpPr>
        <p:spPr>
          <a:xfrm>
            <a:off x="4559170" y="4185966"/>
            <a:ext cx="144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50" name="Connecteur droit 49"/>
          <p:cNvCxnSpPr/>
          <p:nvPr/>
        </p:nvCxnSpPr>
        <p:spPr>
          <a:xfrm>
            <a:off x="6179958" y="3738949"/>
            <a:ext cx="0" cy="1512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2" name="Rectangle 51"/>
          <p:cNvSpPr/>
          <p:nvPr/>
        </p:nvSpPr>
        <p:spPr>
          <a:xfrm>
            <a:off x="2775519" y="4197255"/>
            <a:ext cx="144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3" name="Rectangle 52"/>
          <p:cNvSpPr/>
          <p:nvPr/>
        </p:nvSpPr>
        <p:spPr>
          <a:xfrm>
            <a:off x="1003159" y="4197255"/>
            <a:ext cx="144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0" name="Rectangle 59"/>
          <p:cNvSpPr/>
          <p:nvPr/>
        </p:nvSpPr>
        <p:spPr>
          <a:xfrm>
            <a:off x="8320130" y="4769187"/>
            <a:ext cx="144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1" name="Rectangle 60"/>
          <p:cNvSpPr/>
          <p:nvPr/>
        </p:nvSpPr>
        <p:spPr>
          <a:xfrm>
            <a:off x="6382446" y="4755046"/>
            <a:ext cx="144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2" name="Rectangle 61"/>
          <p:cNvSpPr/>
          <p:nvPr/>
        </p:nvSpPr>
        <p:spPr>
          <a:xfrm>
            <a:off x="4564813" y="4756059"/>
            <a:ext cx="144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5" name="Rectangle 64"/>
          <p:cNvSpPr/>
          <p:nvPr/>
        </p:nvSpPr>
        <p:spPr>
          <a:xfrm>
            <a:off x="2781162" y="4767348"/>
            <a:ext cx="144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6" name="Rectangle 65"/>
          <p:cNvSpPr/>
          <p:nvPr/>
        </p:nvSpPr>
        <p:spPr>
          <a:xfrm>
            <a:off x="1008802" y="4767348"/>
            <a:ext cx="144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67" name="Connecteur droit 66"/>
          <p:cNvCxnSpPr/>
          <p:nvPr/>
        </p:nvCxnSpPr>
        <p:spPr>
          <a:xfrm>
            <a:off x="924028" y="4124161"/>
            <a:ext cx="9036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5" name="Titre 1"/>
          <p:cNvSpPr txBox="1">
            <a:spLocks/>
          </p:cNvSpPr>
          <p:nvPr/>
        </p:nvSpPr>
        <p:spPr>
          <a:xfrm>
            <a:off x="2761499" y="2713794"/>
            <a:ext cx="2592000" cy="34977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Nom, Prénom, N° dossier, Service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205846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83"/>
          <p:cNvSpPr/>
          <p:nvPr/>
        </p:nvSpPr>
        <p:spPr>
          <a:xfrm>
            <a:off x="160935" y="564108"/>
            <a:ext cx="11880000" cy="619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290574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10133563" y="269759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12540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10160309" y="-8916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56" name="Titre 1"/>
          <p:cNvSpPr txBox="1">
            <a:spLocks/>
          </p:cNvSpPr>
          <p:nvPr/>
        </p:nvSpPr>
        <p:spPr>
          <a:xfrm>
            <a:off x="4960494" y="672854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57" name="Titre 1"/>
          <p:cNvSpPr txBox="1">
            <a:spLocks/>
          </p:cNvSpPr>
          <p:nvPr/>
        </p:nvSpPr>
        <p:spPr>
          <a:xfrm>
            <a:off x="7787861" y="692366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58" name="Rectangle 57"/>
          <p:cNvSpPr/>
          <p:nvPr/>
        </p:nvSpPr>
        <p:spPr>
          <a:xfrm>
            <a:off x="3757530" y="730985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9" name="Rectangle 58"/>
          <p:cNvSpPr/>
          <p:nvPr/>
        </p:nvSpPr>
        <p:spPr>
          <a:xfrm>
            <a:off x="5931716" y="686261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3" name="Rectangle 62"/>
          <p:cNvSpPr/>
          <p:nvPr/>
        </p:nvSpPr>
        <p:spPr>
          <a:xfrm>
            <a:off x="8341959" y="737613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4" name="Rectangle 63"/>
          <p:cNvSpPr/>
          <p:nvPr/>
        </p:nvSpPr>
        <p:spPr>
          <a:xfrm>
            <a:off x="2519541" y="627099"/>
            <a:ext cx="6892827" cy="4643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0" name="Titre 1"/>
          <p:cNvSpPr txBox="1">
            <a:spLocks/>
          </p:cNvSpPr>
          <p:nvPr/>
        </p:nvSpPr>
        <p:spPr>
          <a:xfrm>
            <a:off x="3950915" y="75673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82" name="Rectangle 81"/>
          <p:cNvSpPr/>
          <p:nvPr/>
        </p:nvSpPr>
        <p:spPr>
          <a:xfrm>
            <a:off x="6040364" y="740319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6704842" y="746360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8390629" y="765185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90" name="Titre 1"/>
          <p:cNvSpPr txBox="1">
            <a:spLocks/>
          </p:cNvSpPr>
          <p:nvPr/>
        </p:nvSpPr>
        <p:spPr>
          <a:xfrm>
            <a:off x="1439951" y="589959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54" name="Titre 1"/>
          <p:cNvSpPr txBox="1">
            <a:spLocks/>
          </p:cNvSpPr>
          <p:nvPr/>
        </p:nvSpPr>
        <p:spPr>
          <a:xfrm>
            <a:off x="2761944" y="-8917"/>
            <a:ext cx="6650423" cy="54149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85 – Demande – Demande pharmacie – </a:t>
            </a:r>
            <a:endParaRPr lang="fr-FR" alt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25" name="Titre 1"/>
          <p:cNvSpPr txBox="1">
            <a:spLocks/>
          </p:cNvSpPr>
          <p:nvPr/>
        </p:nvSpPr>
        <p:spPr>
          <a:xfrm>
            <a:off x="2570132" y="685959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23" name="Rectangle 22"/>
          <p:cNvSpPr/>
          <p:nvPr/>
        </p:nvSpPr>
        <p:spPr>
          <a:xfrm>
            <a:off x="8467959" y="3150713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Enregistrer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51319" y="2327627"/>
            <a:ext cx="1620000" cy="32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6" name="Titre 1"/>
          <p:cNvSpPr txBox="1">
            <a:spLocks/>
          </p:cNvSpPr>
          <p:nvPr/>
        </p:nvSpPr>
        <p:spPr>
          <a:xfrm>
            <a:off x="1648178" y="2311051"/>
            <a:ext cx="1106896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Prescripteur</a:t>
            </a:r>
            <a:endParaRPr lang="fr-FR" sz="1400" dirty="0"/>
          </a:p>
        </p:txBody>
      </p:sp>
      <p:sp>
        <p:nvSpPr>
          <p:cNvPr id="27" name="Rectangle 26"/>
          <p:cNvSpPr/>
          <p:nvPr/>
        </p:nvSpPr>
        <p:spPr>
          <a:xfrm>
            <a:off x="2738849" y="2831508"/>
            <a:ext cx="4021515" cy="679335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8" name="Triangle isocèle 27"/>
          <p:cNvSpPr/>
          <p:nvPr/>
        </p:nvSpPr>
        <p:spPr>
          <a:xfrm rot="10800000">
            <a:off x="4165134" y="2319712"/>
            <a:ext cx="216000" cy="324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9" name="Rectangle 28"/>
          <p:cNvSpPr/>
          <p:nvPr/>
        </p:nvSpPr>
        <p:spPr>
          <a:xfrm>
            <a:off x="909986" y="1671248"/>
            <a:ext cx="9013524" cy="195248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3" name="Rectangle 32"/>
          <p:cNvSpPr/>
          <p:nvPr/>
        </p:nvSpPr>
        <p:spPr>
          <a:xfrm>
            <a:off x="2756962" y="1836557"/>
            <a:ext cx="1620000" cy="32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4" name="Titre 1"/>
          <p:cNvSpPr txBox="1">
            <a:spLocks/>
          </p:cNvSpPr>
          <p:nvPr/>
        </p:nvSpPr>
        <p:spPr>
          <a:xfrm>
            <a:off x="1039940" y="1819981"/>
            <a:ext cx="1710715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</a:t>
            </a:r>
            <a:endParaRPr lang="fr-FR" sz="1400" dirty="0"/>
          </a:p>
        </p:txBody>
      </p:sp>
      <p:sp>
        <p:nvSpPr>
          <p:cNvPr id="68" name="Titre 1"/>
          <p:cNvSpPr txBox="1">
            <a:spLocks/>
          </p:cNvSpPr>
          <p:nvPr/>
        </p:nvSpPr>
        <p:spPr>
          <a:xfrm>
            <a:off x="2123380" y="2779543"/>
            <a:ext cx="626047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 C I</a:t>
            </a:r>
            <a:endParaRPr lang="fr-FR" sz="1400" dirty="0"/>
          </a:p>
        </p:txBody>
      </p:sp>
      <p:sp>
        <p:nvSpPr>
          <p:cNvPr id="2" name="Rectangle 1"/>
          <p:cNvSpPr/>
          <p:nvPr/>
        </p:nvSpPr>
        <p:spPr>
          <a:xfrm>
            <a:off x="836048" y="1290590"/>
            <a:ext cx="2004075" cy="3262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altLang="fr-FR" sz="1600" b="1" u="sng" dirty="0"/>
              <a:t>Demande pharmacie </a:t>
            </a:r>
            <a:endParaRPr lang="fr-FR" sz="1600" b="1" u="sng" dirty="0"/>
          </a:p>
        </p:txBody>
      </p:sp>
    </p:spTree>
    <p:extLst>
      <p:ext uri="{BB962C8B-B14F-4D97-AF65-F5344CB8AC3E}">
        <p14:creationId xmlns:p14="http://schemas.microsoft.com/office/powerpoint/2010/main" val="2789727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3890</TotalTime>
  <Words>7023</Words>
  <Application>Microsoft Office PowerPoint</Application>
  <PresentationFormat>Grand écran</PresentationFormat>
  <Paragraphs>3305</Paragraphs>
  <Slides>109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109</vt:i4>
      </vt:variant>
    </vt:vector>
  </HeadingPairs>
  <TitlesOfParts>
    <vt:vector size="115" baseType="lpstr">
      <vt:lpstr>Microsoft YaHei</vt:lpstr>
      <vt:lpstr>Arial</vt:lpstr>
      <vt:lpstr>Calibri</vt:lpstr>
      <vt:lpstr>Calibri Light</vt:lpstr>
      <vt:lpstr>Times New Roman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Dev</dc:creator>
  <cp:lastModifiedBy>LEADER</cp:lastModifiedBy>
  <cp:revision>607</cp:revision>
  <dcterms:created xsi:type="dcterms:W3CDTF">2015-11-11T08:16:33Z</dcterms:created>
  <dcterms:modified xsi:type="dcterms:W3CDTF">2015-12-10T12:11:25Z</dcterms:modified>
</cp:coreProperties>
</file>