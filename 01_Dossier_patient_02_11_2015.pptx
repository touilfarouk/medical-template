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12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08/11/2015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8097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08/11/2015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0967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08/11/2015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0360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08/11/2015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6057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08/11/2015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686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08/11/2015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2788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08/11/2015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9016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08/11/2015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7267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08/11/2015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5602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08/11/2015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9930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08/11/2015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695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8A928-183C-4690-9136-775541D7E77E}" type="datetimeFigureOut">
              <a:rPr lang="fr-FR" smtClean="0"/>
              <a:t>08/11/2015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0780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530810" y="59579"/>
            <a:ext cx="3298193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01 – Patient 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Identification patient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1949179" y="1959812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363113" y="1865043"/>
            <a:ext cx="161995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 *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4816578" y="1966414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3944303" y="1937309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 *</a:t>
            </a:r>
            <a:endParaRPr lang="fr-FR" sz="1400" dirty="0"/>
          </a:p>
        </p:txBody>
      </p:sp>
      <p:sp>
        <p:nvSpPr>
          <p:cNvPr id="7" name="Rectangle 6"/>
          <p:cNvSpPr/>
          <p:nvPr/>
        </p:nvSpPr>
        <p:spPr>
          <a:xfrm>
            <a:off x="1949178" y="2356640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341566" y="2287069"/>
            <a:ext cx="1678782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 naissance *</a:t>
            </a:r>
            <a:endParaRPr lang="fr-FR" sz="1400" dirty="0"/>
          </a:p>
        </p:txBody>
      </p:sp>
      <p:sp>
        <p:nvSpPr>
          <p:cNvPr id="9" name="Rectangle 8"/>
          <p:cNvSpPr/>
          <p:nvPr/>
        </p:nvSpPr>
        <p:spPr>
          <a:xfrm>
            <a:off x="1932172" y="2771551"/>
            <a:ext cx="1708252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293195" y="2673450"/>
            <a:ext cx="178030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Wilaya de  naissance</a:t>
            </a:r>
            <a:endParaRPr lang="fr-FR" sz="1400" dirty="0"/>
          </a:p>
        </p:txBody>
      </p:sp>
      <p:sp>
        <p:nvSpPr>
          <p:cNvPr id="11" name="Rectangle 10"/>
          <p:cNvSpPr/>
          <p:nvPr/>
        </p:nvSpPr>
        <p:spPr>
          <a:xfrm>
            <a:off x="8189188" y="2410296"/>
            <a:ext cx="828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Titre 1"/>
          <p:cNvSpPr txBox="1">
            <a:spLocks/>
          </p:cNvSpPr>
          <p:nvPr/>
        </p:nvSpPr>
        <p:spPr>
          <a:xfrm>
            <a:off x="6623300" y="2301178"/>
            <a:ext cx="161272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Situation familiale</a:t>
            </a:r>
            <a:endParaRPr lang="fr-FR" sz="1400" dirty="0"/>
          </a:p>
        </p:txBody>
      </p:sp>
      <p:sp>
        <p:nvSpPr>
          <p:cNvPr id="13" name="Rectangle 12"/>
          <p:cNvSpPr/>
          <p:nvPr/>
        </p:nvSpPr>
        <p:spPr>
          <a:xfrm>
            <a:off x="4839317" y="2390150"/>
            <a:ext cx="144893" cy="20856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itre 1"/>
          <p:cNvSpPr txBox="1">
            <a:spLocks/>
          </p:cNvSpPr>
          <p:nvPr/>
        </p:nvSpPr>
        <p:spPr>
          <a:xfrm>
            <a:off x="3987672" y="2312526"/>
            <a:ext cx="1009334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Présumé</a:t>
            </a:r>
            <a:endParaRPr lang="fr-FR" sz="1400" dirty="0"/>
          </a:p>
        </p:txBody>
      </p:sp>
      <p:sp>
        <p:nvSpPr>
          <p:cNvPr id="15" name="Triangle isocèle 14"/>
          <p:cNvSpPr/>
          <p:nvPr/>
        </p:nvSpPr>
        <p:spPr>
          <a:xfrm rot="10800000">
            <a:off x="8838787" y="2432415"/>
            <a:ext cx="175159" cy="237507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Rectangle 15"/>
          <p:cNvSpPr/>
          <p:nvPr/>
        </p:nvSpPr>
        <p:spPr>
          <a:xfrm>
            <a:off x="8189188" y="1959812"/>
            <a:ext cx="828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Titre 1"/>
          <p:cNvSpPr txBox="1">
            <a:spLocks/>
          </p:cNvSpPr>
          <p:nvPr/>
        </p:nvSpPr>
        <p:spPr>
          <a:xfrm>
            <a:off x="6978276" y="1937299"/>
            <a:ext cx="58288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Sexe</a:t>
            </a:r>
            <a:endParaRPr lang="fr-FR" sz="1400" dirty="0"/>
          </a:p>
        </p:txBody>
      </p:sp>
      <p:sp>
        <p:nvSpPr>
          <p:cNvPr id="18" name="Triangle isocèle 17"/>
          <p:cNvSpPr/>
          <p:nvPr/>
        </p:nvSpPr>
        <p:spPr>
          <a:xfrm rot="10800000">
            <a:off x="8817880" y="1992545"/>
            <a:ext cx="175159" cy="237507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Rectangle 18"/>
          <p:cNvSpPr/>
          <p:nvPr/>
        </p:nvSpPr>
        <p:spPr>
          <a:xfrm>
            <a:off x="10262303" y="2393238"/>
            <a:ext cx="987416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Titre 1"/>
          <p:cNvSpPr txBox="1">
            <a:spLocks/>
          </p:cNvSpPr>
          <p:nvPr/>
        </p:nvSpPr>
        <p:spPr>
          <a:xfrm>
            <a:off x="9101130" y="2375238"/>
            <a:ext cx="1494142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marital</a:t>
            </a:r>
            <a:endParaRPr lang="fr-FR" sz="1400" dirty="0"/>
          </a:p>
        </p:txBody>
      </p:sp>
      <p:sp>
        <p:nvSpPr>
          <p:cNvPr id="21" name="Rectangle 20"/>
          <p:cNvSpPr/>
          <p:nvPr/>
        </p:nvSpPr>
        <p:spPr>
          <a:xfrm>
            <a:off x="6018521" y="2397693"/>
            <a:ext cx="479631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itre 1"/>
          <p:cNvSpPr txBox="1">
            <a:spLocks/>
          </p:cNvSpPr>
          <p:nvPr/>
        </p:nvSpPr>
        <p:spPr>
          <a:xfrm>
            <a:off x="5550932" y="2308414"/>
            <a:ext cx="50941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Âge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53557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185127" y="5964589"/>
            <a:ext cx="11812634" cy="7970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Type </a:t>
            </a:r>
            <a:r>
              <a:rPr lang="fr-FR" sz="1000" dirty="0"/>
              <a:t>de </a:t>
            </a:r>
            <a:r>
              <a:rPr lang="fr-FR" sz="1000" dirty="0" smtClean="0"/>
              <a:t>patient (catégorie des patients) : Hospitalisation – Patient externe – Prise en charge. </a:t>
            </a:r>
            <a:endParaRPr lang="fr-FR" sz="1000" dirty="0"/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/>
              <a:t>Type </a:t>
            </a:r>
            <a:r>
              <a:rPr lang="fr-FR" sz="1000" dirty="0" smtClean="0"/>
              <a:t>Pièce d’identité (P,I)  : Carte d’identité (CI) – Permis de conduire (PC)  – passeport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Mode de facturation : Normale – Garde – Férie.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Si le sexe = Homme ne pas afficher le champs  ‘’nom marital’’.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Si le patient existe déjà dans la base de donnée affiché un message d’alerte «</a:t>
            </a:r>
            <a:r>
              <a:rPr lang="fr-FR" sz="1000" dirty="0"/>
              <a:t> </a:t>
            </a:r>
            <a:r>
              <a:rPr lang="fr-FR" sz="1000" dirty="0" smtClean="0"/>
              <a:t>patient existe 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43" name="Rectangle 42"/>
          <p:cNvSpPr/>
          <p:nvPr/>
        </p:nvSpPr>
        <p:spPr>
          <a:xfrm>
            <a:off x="5721259" y="2778206"/>
            <a:ext cx="783524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Titre 1"/>
          <p:cNvSpPr txBox="1">
            <a:spLocks/>
          </p:cNvSpPr>
          <p:nvPr/>
        </p:nvSpPr>
        <p:spPr>
          <a:xfrm>
            <a:off x="3716837" y="2722818"/>
            <a:ext cx="20452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 de  naissance</a:t>
            </a:r>
            <a:endParaRPr lang="fr-FR" sz="1400" dirty="0"/>
          </a:p>
        </p:txBody>
      </p:sp>
      <p:sp>
        <p:nvSpPr>
          <p:cNvPr id="45" name="Triangle isocèle 44"/>
          <p:cNvSpPr/>
          <p:nvPr/>
        </p:nvSpPr>
        <p:spPr>
          <a:xfrm rot="10800000">
            <a:off x="3484752" y="2783591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Triangle isocèle 45"/>
          <p:cNvSpPr/>
          <p:nvPr/>
        </p:nvSpPr>
        <p:spPr>
          <a:xfrm rot="10800000">
            <a:off x="6311671" y="2803678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Rectangle 55"/>
          <p:cNvSpPr/>
          <p:nvPr/>
        </p:nvSpPr>
        <p:spPr>
          <a:xfrm>
            <a:off x="8279842" y="551782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 </a:t>
            </a:r>
            <a:endParaRPr lang="fr-FR" sz="1400" dirty="0"/>
          </a:p>
        </p:txBody>
      </p:sp>
      <p:sp>
        <p:nvSpPr>
          <p:cNvPr id="67" name="Titre 1"/>
          <p:cNvSpPr txBox="1">
            <a:spLocks/>
          </p:cNvSpPr>
          <p:nvPr/>
        </p:nvSpPr>
        <p:spPr>
          <a:xfrm>
            <a:off x="4984210" y="3165467"/>
            <a:ext cx="76481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dirty="0" smtClean="0"/>
              <a:t>Wilaya </a:t>
            </a:r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1940930" y="3188326"/>
            <a:ext cx="28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Titre 1"/>
          <p:cNvSpPr txBox="1">
            <a:spLocks/>
          </p:cNvSpPr>
          <p:nvPr/>
        </p:nvSpPr>
        <p:spPr>
          <a:xfrm>
            <a:off x="1140028" y="3150626"/>
            <a:ext cx="92947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 * 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5720369" y="3196696"/>
            <a:ext cx="133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7156453" y="3118271"/>
            <a:ext cx="1099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</a:t>
            </a:r>
            <a:endParaRPr lang="fr-FR" sz="1200" dirty="0" smtClean="0"/>
          </a:p>
        </p:txBody>
      </p:sp>
      <p:sp>
        <p:nvSpPr>
          <p:cNvPr id="74" name="Rectangle 73"/>
          <p:cNvSpPr/>
          <p:nvPr/>
        </p:nvSpPr>
        <p:spPr>
          <a:xfrm>
            <a:off x="8194031" y="3171385"/>
            <a:ext cx="109055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9459203" y="3103833"/>
            <a:ext cx="108300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Postal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560745" y="3041279"/>
            <a:ext cx="671988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6" name="Triangle isocèle 85"/>
          <p:cNvSpPr/>
          <p:nvPr/>
        </p:nvSpPr>
        <p:spPr>
          <a:xfrm rot="10800000">
            <a:off x="9085448" y="3195219"/>
            <a:ext cx="175159" cy="237507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Triangle isocèle 87"/>
          <p:cNvSpPr/>
          <p:nvPr/>
        </p:nvSpPr>
        <p:spPr>
          <a:xfrm rot="10800000">
            <a:off x="6863958" y="3219502"/>
            <a:ext cx="175159" cy="237507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1240161" y="3573020"/>
            <a:ext cx="1519033" cy="2692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E-mail</a:t>
            </a:r>
            <a:endParaRPr lang="fr-FR" sz="1400" dirty="0"/>
          </a:p>
        </p:txBody>
      </p:sp>
      <p:sp>
        <p:nvSpPr>
          <p:cNvPr id="93" name="Rectangle 92"/>
          <p:cNvSpPr/>
          <p:nvPr/>
        </p:nvSpPr>
        <p:spPr>
          <a:xfrm>
            <a:off x="1951662" y="3584644"/>
            <a:ext cx="1660572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773307" y="3581907"/>
            <a:ext cx="106371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</a:t>
            </a:r>
            <a:endParaRPr lang="fr-FR" sz="1400" dirty="0"/>
          </a:p>
        </p:txBody>
      </p:sp>
      <p:sp>
        <p:nvSpPr>
          <p:cNvPr id="95" name="Rectangle 94"/>
          <p:cNvSpPr/>
          <p:nvPr/>
        </p:nvSpPr>
        <p:spPr>
          <a:xfrm>
            <a:off x="5721259" y="3581907"/>
            <a:ext cx="133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311736" y="1786507"/>
            <a:ext cx="11160000" cy="224506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10158438" y="5521382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  <a:endParaRPr lang="fr-FR" sz="1400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708698" y="795288"/>
            <a:ext cx="1175322" cy="29700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 dossier 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1947031" y="774301"/>
            <a:ext cx="1151809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341566" y="692172"/>
            <a:ext cx="11160000" cy="90449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397196" y="1126643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Date </a:t>
            </a:r>
            <a:r>
              <a:rPr lang="fr-FR" dirty="0" smtClean="0"/>
              <a:t>d'admission *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1978903" y="1155893"/>
            <a:ext cx="1125858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5" name="Triangle isocèle 104"/>
          <p:cNvSpPr/>
          <p:nvPr/>
        </p:nvSpPr>
        <p:spPr>
          <a:xfrm rot="10800000">
            <a:off x="5792320" y="1142676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3266290" y="1120018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Type de patient</a:t>
            </a:r>
            <a:endParaRPr lang="fr-FR" dirty="0"/>
          </a:p>
        </p:txBody>
      </p:sp>
      <p:sp>
        <p:nvSpPr>
          <p:cNvPr id="111" name="Rectangle 110"/>
          <p:cNvSpPr/>
          <p:nvPr/>
        </p:nvSpPr>
        <p:spPr>
          <a:xfrm>
            <a:off x="4834745" y="1122764"/>
            <a:ext cx="1125858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2" name="Titre 1"/>
          <p:cNvSpPr txBox="1">
            <a:spLocks/>
          </p:cNvSpPr>
          <p:nvPr/>
        </p:nvSpPr>
        <p:spPr>
          <a:xfrm>
            <a:off x="6461216" y="1120262"/>
            <a:ext cx="836337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Service</a:t>
            </a:r>
            <a:endParaRPr lang="fr-FR" dirty="0"/>
          </a:p>
        </p:txBody>
      </p:sp>
      <p:sp>
        <p:nvSpPr>
          <p:cNvPr id="113" name="Rectangle 112"/>
          <p:cNvSpPr/>
          <p:nvPr/>
        </p:nvSpPr>
        <p:spPr>
          <a:xfrm>
            <a:off x="7246646" y="1122764"/>
            <a:ext cx="1125858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riangle isocèle 113"/>
          <p:cNvSpPr/>
          <p:nvPr/>
        </p:nvSpPr>
        <p:spPr>
          <a:xfrm rot="10800000">
            <a:off x="11067149" y="1122782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5" name="Titre 1"/>
          <p:cNvSpPr txBox="1">
            <a:spLocks/>
          </p:cNvSpPr>
          <p:nvPr/>
        </p:nvSpPr>
        <p:spPr>
          <a:xfrm>
            <a:off x="8534033" y="1113393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Médecin traitant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115740" y="1116139"/>
            <a:ext cx="1125858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riangle isocèle 116"/>
          <p:cNvSpPr/>
          <p:nvPr/>
        </p:nvSpPr>
        <p:spPr>
          <a:xfrm rot="10800000">
            <a:off x="8184796" y="1142662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1939109" y="443060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1146160" y="4374798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Type </a:t>
            </a:r>
            <a:r>
              <a:rPr lang="fr-FR" sz="1400" dirty="0" smtClean="0"/>
              <a:t>P.I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6749004" y="439043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3" name="Rectangle 122"/>
          <p:cNvSpPr/>
          <p:nvPr/>
        </p:nvSpPr>
        <p:spPr>
          <a:xfrm>
            <a:off x="4071626" y="442131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3383247" y="4388568"/>
            <a:ext cx="60442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P.I</a:t>
            </a:r>
            <a:endParaRPr lang="fr-FR" sz="1400" dirty="0"/>
          </a:p>
        </p:txBody>
      </p:sp>
      <p:sp>
        <p:nvSpPr>
          <p:cNvPr id="125" name="Triangle isocèle 124"/>
          <p:cNvSpPr/>
          <p:nvPr/>
        </p:nvSpPr>
        <p:spPr>
          <a:xfrm rot="10800000">
            <a:off x="2829320" y="444140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9136376" y="4388170"/>
            <a:ext cx="987416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Titre 1"/>
          <p:cNvSpPr txBox="1">
            <a:spLocks/>
          </p:cNvSpPr>
          <p:nvPr/>
        </p:nvSpPr>
        <p:spPr>
          <a:xfrm>
            <a:off x="8117700" y="4354433"/>
            <a:ext cx="1494142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le</a:t>
            </a:r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5663576" y="4382378"/>
            <a:ext cx="107236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</a:t>
            </a:r>
            <a:r>
              <a:rPr lang="fr-FR" sz="1400" dirty="0" smtClean="0"/>
              <a:t>par</a:t>
            </a:r>
            <a:endParaRPr lang="fr-FR" sz="1400" dirty="0"/>
          </a:p>
        </p:txBody>
      </p:sp>
      <p:sp>
        <p:nvSpPr>
          <p:cNvPr id="141" name="Rectangle 140"/>
          <p:cNvSpPr/>
          <p:nvPr/>
        </p:nvSpPr>
        <p:spPr>
          <a:xfrm>
            <a:off x="1919233" y="4940807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436235" y="4898616"/>
            <a:ext cx="1476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Mode facturation</a:t>
            </a:r>
            <a:endParaRPr lang="fr-FR" sz="1400" dirty="0"/>
          </a:p>
        </p:txBody>
      </p:sp>
      <p:sp>
        <p:nvSpPr>
          <p:cNvPr id="143" name="Triangle isocèle 142"/>
          <p:cNvSpPr/>
          <p:nvPr/>
        </p:nvSpPr>
        <p:spPr>
          <a:xfrm rot="10800000">
            <a:off x="2809444" y="495161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4" name="Rectangle 143"/>
          <p:cNvSpPr/>
          <p:nvPr/>
        </p:nvSpPr>
        <p:spPr>
          <a:xfrm>
            <a:off x="5178336" y="491393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5" name="Titre 1"/>
          <p:cNvSpPr txBox="1">
            <a:spLocks/>
          </p:cNvSpPr>
          <p:nvPr/>
        </p:nvSpPr>
        <p:spPr>
          <a:xfrm>
            <a:off x="4181191" y="4870590"/>
            <a:ext cx="1044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Convention</a:t>
            </a:r>
            <a:endParaRPr lang="fr-FR" sz="1400" dirty="0"/>
          </a:p>
        </p:txBody>
      </p:sp>
      <p:sp>
        <p:nvSpPr>
          <p:cNvPr id="146" name="Triangle isocèle 145"/>
          <p:cNvSpPr/>
          <p:nvPr/>
        </p:nvSpPr>
        <p:spPr>
          <a:xfrm rot="10800000">
            <a:off x="6071107" y="491165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348194" y="4250381"/>
            <a:ext cx="11160000" cy="116339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4072744" y="4967879"/>
            <a:ext cx="144893" cy="20856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8112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530811" y="59579"/>
            <a:ext cx="3298193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02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Acte médical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1949179" y="1959812"/>
            <a:ext cx="169124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363113" y="1865043"/>
            <a:ext cx="161995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 *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4816578" y="1966414"/>
            <a:ext cx="169124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3944303" y="1937309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 *</a:t>
            </a:r>
            <a:endParaRPr lang="fr-FR" sz="1400" dirty="0"/>
          </a:p>
        </p:txBody>
      </p:sp>
      <p:sp>
        <p:nvSpPr>
          <p:cNvPr id="7" name="Rectangle 6"/>
          <p:cNvSpPr/>
          <p:nvPr/>
        </p:nvSpPr>
        <p:spPr>
          <a:xfrm>
            <a:off x="1949178" y="2356640"/>
            <a:ext cx="169124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341566" y="2287069"/>
            <a:ext cx="1678782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 naissance *</a:t>
            </a:r>
            <a:endParaRPr lang="fr-FR" sz="1400" dirty="0"/>
          </a:p>
        </p:txBody>
      </p:sp>
      <p:sp>
        <p:nvSpPr>
          <p:cNvPr id="9" name="Rectangle 8"/>
          <p:cNvSpPr/>
          <p:nvPr/>
        </p:nvSpPr>
        <p:spPr>
          <a:xfrm>
            <a:off x="1932172" y="2771551"/>
            <a:ext cx="1708252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293195" y="2673450"/>
            <a:ext cx="178030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Wilaya de  naissance</a:t>
            </a:r>
            <a:endParaRPr lang="fr-FR" sz="1400" dirty="0"/>
          </a:p>
        </p:txBody>
      </p:sp>
      <p:sp>
        <p:nvSpPr>
          <p:cNvPr id="11" name="Rectangle 10"/>
          <p:cNvSpPr/>
          <p:nvPr/>
        </p:nvSpPr>
        <p:spPr>
          <a:xfrm>
            <a:off x="8189188" y="2410296"/>
            <a:ext cx="828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Titre 1"/>
          <p:cNvSpPr txBox="1">
            <a:spLocks/>
          </p:cNvSpPr>
          <p:nvPr/>
        </p:nvSpPr>
        <p:spPr>
          <a:xfrm>
            <a:off x="6623300" y="2301178"/>
            <a:ext cx="161272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Situation familiale</a:t>
            </a:r>
            <a:endParaRPr lang="fr-FR" sz="1400" dirty="0"/>
          </a:p>
        </p:txBody>
      </p:sp>
      <p:sp>
        <p:nvSpPr>
          <p:cNvPr id="13" name="Rectangle 12"/>
          <p:cNvSpPr/>
          <p:nvPr/>
        </p:nvSpPr>
        <p:spPr>
          <a:xfrm>
            <a:off x="4839317" y="2390150"/>
            <a:ext cx="144893" cy="20856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itre 1"/>
          <p:cNvSpPr txBox="1">
            <a:spLocks/>
          </p:cNvSpPr>
          <p:nvPr/>
        </p:nvSpPr>
        <p:spPr>
          <a:xfrm>
            <a:off x="3987672" y="2312526"/>
            <a:ext cx="1009334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Présumé</a:t>
            </a:r>
            <a:endParaRPr lang="fr-FR" sz="1400" dirty="0"/>
          </a:p>
        </p:txBody>
      </p:sp>
      <p:sp>
        <p:nvSpPr>
          <p:cNvPr id="16" name="Rectangle 15"/>
          <p:cNvSpPr/>
          <p:nvPr/>
        </p:nvSpPr>
        <p:spPr>
          <a:xfrm>
            <a:off x="8189188" y="1959812"/>
            <a:ext cx="828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Titre 1"/>
          <p:cNvSpPr txBox="1">
            <a:spLocks/>
          </p:cNvSpPr>
          <p:nvPr/>
        </p:nvSpPr>
        <p:spPr>
          <a:xfrm>
            <a:off x="6978276" y="1937299"/>
            <a:ext cx="58288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Sexe</a:t>
            </a:r>
            <a:endParaRPr lang="fr-FR" sz="1400" dirty="0"/>
          </a:p>
        </p:txBody>
      </p:sp>
      <p:sp>
        <p:nvSpPr>
          <p:cNvPr id="19" name="Rectangle 18"/>
          <p:cNvSpPr/>
          <p:nvPr/>
        </p:nvSpPr>
        <p:spPr>
          <a:xfrm>
            <a:off x="10262303" y="2393238"/>
            <a:ext cx="987416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Titre 1"/>
          <p:cNvSpPr txBox="1">
            <a:spLocks/>
          </p:cNvSpPr>
          <p:nvPr/>
        </p:nvSpPr>
        <p:spPr>
          <a:xfrm>
            <a:off x="9101130" y="2375238"/>
            <a:ext cx="1494142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marital</a:t>
            </a:r>
            <a:endParaRPr lang="fr-FR" sz="1400" dirty="0"/>
          </a:p>
        </p:txBody>
      </p:sp>
      <p:sp>
        <p:nvSpPr>
          <p:cNvPr id="21" name="Rectangle 20"/>
          <p:cNvSpPr/>
          <p:nvPr/>
        </p:nvSpPr>
        <p:spPr>
          <a:xfrm>
            <a:off x="6018521" y="2397693"/>
            <a:ext cx="479631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itre 1"/>
          <p:cNvSpPr txBox="1">
            <a:spLocks/>
          </p:cNvSpPr>
          <p:nvPr/>
        </p:nvSpPr>
        <p:spPr>
          <a:xfrm>
            <a:off x="5550932" y="2308414"/>
            <a:ext cx="50941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Âge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53557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185127" y="5964589"/>
            <a:ext cx="11812634" cy="7970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Type </a:t>
            </a:r>
            <a:r>
              <a:rPr lang="fr-FR" sz="1000" dirty="0"/>
              <a:t>de </a:t>
            </a:r>
            <a:r>
              <a:rPr lang="fr-FR" sz="1000" dirty="0" smtClean="0"/>
              <a:t>patient (catégorie des patients) : Hospitalisation – Patient externe – Prise en charge. </a:t>
            </a:r>
            <a:endParaRPr lang="fr-FR" sz="1000" dirty="0"/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/>
              <a:t>Type </a:t>
            </a:r>
            <a:r>
              <a:rPr lang="fr-FR" sz="1000" dirty="0" smtClean="0"/>
              <a:t>Pièce d’identité (P,I)  : Carte d’identité (CI) – Permis de conduire (PC)  – passeport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Mode de facturation : Normale – Garde – Férie.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Si le sexe = Homme ne pas afficher le champs  ‘’nom marital’’.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Si le patient existe déjà dans la base de donnée affiché un message d’alerte «</a:t>
            </a:r>
            <a:r>
              <a:rPr lang="fr-FR" sz="1000" dirty="0"/>
              <a:t> </a:t>
            </a:r>
            <a:r>
              <a:rPr lang="fr-FR" sz="1000" dirty="0" smtClean="0"/>
              <a:t>patient existe 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43" name="Rectangle 42"/>
          <p:cNvSpPr/>
          <p:nvPr/>
        </p:nvSpPr>
        <p:spPr>
          <a:xfrm>
            <a:off x="5721259" y="2778206"/>
            <a:ext cx="783524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Titre 1"/>
          <p:cNvSpPr txBox="1">
            <a:spLocks/>
          </p:cNvSpPr>
          <p:nvPr/>
        </p:nvSpPr>
        <p:spPr>
          <a:xfrm>
            <a:off x="3716837" y="2722818"/>
            <a:ext cx="20452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 de  naissance</a:t>
            </a:r>
            <a:endParaRPr lang="fr-FR" sz="1400" dirty="0"/>
          </a:p>
        </p:txBody>
      </p:sp>
      <p:sp>
        <p:nvSpPr>
          <p:cNvPr id="67" name="Titre 1"/>
          <p:cNvSpPr txBox="1">
            <a:spLocks/>
          </p:cNvSpPr>
          <p:nvPr/>
        </p:nvSpPr>
        <p:spPr>
          <a:xfrm>
            <a:off x="4984210" y="3165467"/>
            <a:ext cx="76481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dirty="0" smtClean="0"/>
              <a:t>Wilaya </a:t>
            </a:r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1940930" y="3188326"/>
            <a:ext cx="28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Titre 1"/>
          <p:cNvSpPr txBox="1">
            <a:spLocks/>
          </p:cNvSpPr>
          <p:nvPr/>
        </p:nvSpPr>
        <p:spPr>
          <a:xfrm>
            <a:off x="1140028" y="3150626"/>
            <a:ext cx="92947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 * 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5720369" y="3196696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7156453" y="3118271"/>
            <a:ext cx="1099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</a:t>
            </a:r>
            <a:endParaRPr lang="fr-FR" sz="1200" dirty="0" smtClean="0"/>
          </a:p>
        </p:txBody>
      </p:sp>
      <p:sp>
        <p:nvSpPr>
          <p:cNvPr id="74" name="Rectangle 73"/>
          <p:cNvSpPr/>
          <p:nvPr/>
        </p:nvSpPr>
        <p:spPr>
          <a:xfrm>
            <a:off x="8194031" y="3171385"/>
            <a:ext cx="109055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9459203" y="3103833"/>
            <a:ext cx="108300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Postal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560745" y="3041279"/>
            <a:ext cx="67198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1240162" y="3573020"/>
            <a:ext cx="679072" cy="337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E-mail</a:t>
            </a:r>
            <a:endParaRPr lang="fr-FR" sz="1400" dirty="0"/>
          </a:p>
        </p:txBody>
      </p:sp>
      <p:sp>
        <p:nvSpPr>
          <p:cNvPr id="93" name="Rectangle 92"/>
          <p:cNvSpPr/>
          <p:nvPr/>
        </p:nvSpPr>
        <p:spPr>
          <a:xfrm>
            <a:off x="1951662" y="3584644"/>
            <a:ext cx="1660572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773307" y="3581907"/>
            <a:ext cx="106371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</a:t>
            </a:r>
            <a:endParaRPr lang="fr-FR" sz="1400" dirty="0"/>
          </a:p>
        </p:txBody>
      </p:sp>
      <p:sp>
        <p:nvSpPr>
          <p:cNvPr id="95" name="Rectangle 94"/>
          <p:cNvSpPr/>
          <p:nvPr/>
        </p:nvSpPr>
        <p:spPr>
          <a:xfrm>
            <a:off x="5721259" y="3581907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311736" y="1786507"/>
            <a:ext cx="11160000" cy="224506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708698" y="795288"/>
            <a:ext cx="1175322" cy="29700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 dossier 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1947031" y="774301"/>
            <a:ext cx="1151809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341566" y="692172"/>
            <a:ext cx="11160000" cy="90449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397196" y="1126643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Date </a:t>
            </a:r>
            <a:r>
              <a:rPr lang="fr-FR" dirty="0" smtClean="0"/>
              <a:t>d'admission *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1978903" y="1155893"/>
            <a:ext cx="112585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3266290" y="1120018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Type de patient</a:t>
            </a:r>
            <a:endParaRPr lang="fr-FR" dirty="0"/>
          </a:p>
        </p:txBody>
      </p:sp>
      <p:sp>
        <p:nvSpPr>
          <p:cNvPr id="111" name="Rectangle 110"/>
          <p:cNvSpPr/>
          <p:nvPr/>
        </p:nvSpPr>
        <p:spPr>
          <a:xfrm>
            <a:off x="4834745" y="1122764"/>
            <a:ext cx="112585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2" name="Titre 1"/>
          <p:cNvSpPr txBox="1">
            <a:spLocks/>
          </p:cNvSpPr>
          <p:nvPr/>
        </p:nvSpPr>
        <p:spPr>
          <a:xfrm>
            <a:off x="6461216" y="1120262"/>
            <a:ext cx="836337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Service</a:t>
            </a:r>
            <a:endParaRPr lang="fr-FR" dirty="0"/>
          </a:p>
        </p:txBody>
      </p:sp>
      <p:sp>
        <p:nvSpPr>
          <p:cNvPr id="113" name="Rectangle 112"/>
          <p:cNvSpPr/>
          <p:nvPr/>
        </p:nvSpPr>
        <p:spPr>
          <a:xfrm>
            <a:off x="7246646" y="1122764"/>
            <a:ext cx="112585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5" name="Titre 1"/>
          <p:cNvSpPr txBox="1">
            <a:spLocks/>
          </p:cNvSpPr>
          <p:nvPr/>
        </p:nvSpPr>
        <p:spPr>
          <a:xfrm>
            <a:off x="8534033" y="1113393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Médecin traitant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115740" y="1116139"/>
            <a:ext cx="112585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1939109" y="4430603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1146160" y="4374798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Type </a:t>
            </a:r>
            <a:r>
              <a:rPr lang="fr-FR" sz="1400" dirty="0" smtClean="0"/>
              <a:t>P.I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6749004" y="4390433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3" name="Rectangle 122"/>
          <p:cNvSpPr/>
          <p:nvPr/>
        </p:nvSpPr>
        <p:spPr>
          <a:xfrm>
            <a:off x="4071626" y="4421314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3383247" y="4388568"/>
            <a:ext cx="60442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P.I</a:t>
            </a:r>
            <a:endParaRPr lang="fr-FR" sz="1400" dirty="0"/>
          </a:p>
        </p:txBody>
      </p:sp>
      <p:sp>
        <p:nvSpPr>
          <p:cNvPr id="125" name="Triangle isocèle 124"/>
          <p:cNvSpPr/>
          <p:nvPr/>
        </p:nvSpPr>
        <p:spPr>
          <a:xfrm rot="10800000">
            <a:off x="2829320" y="444140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9136376" y="4388170"/>
            <a:ext cx="987416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Titre 1"/>
          <p:cNvSpPr txBox="1">
            <a:spLocks/>
          </p:cNvSpPr>
          <p:nvPr/>
        </p:nvSpPr>
        <p:spPr>
          <a:xfrm>
            <a:off x="8117700" y="4354433"/>
            <a:ext cx="1494142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le</a:t>
            </a:r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5663576" y="4382378"/>
            <a:ext cx="107236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</a:t>
            </a:r>
            <a:r>
              <a:rPr lang="fr-FR" sz="1400" dirty="0" smtClean="0"/>
              <a:t>par</a:t>
            </a:r>
            <a:endParaRPr lang="fr-FR" sz="1400" dirty="0"/>
          </a:p>
        </p:txBody>
      </p:sp>
      <p:sp>
        <p:nvSpPr>
          <p:cNvPr id="141" name="Rectangle 140"/>
          <p:cNvSpPr/>
          <p:nvPr/>
        </p:nvSpPr>
        <p:spPr>
          <a:xfrm>
            <a:off x="1919233" y="4940807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436235" y="4898616"/>
            <a:ext cx="1476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Mode facturation</a:t>
            </a:r>
            <a:endParaRPr lang="fr-FR" sz="1400" dirty="0"/>
          </a:p>
        </p:txBody>
      </p:sp>
      <p:sp>
        <p:nvSpPr>
          <p:cNvPr id="143" name="Triangle isocèle 142"/>
          <p:cNvSpPr/>
          <p:nvPr/>
        </p:nvSpPr>
        <p:spPr>
          <a:xfrm rot="10800000">
            <a:off x="2809444" y="495161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4" name="Rectangle 143"/>
          <p:cNvSpPr/>
          <p:nvPr/>
        </p:nvSpPr>
        <p:spPr>
          <a:xfrm>
            <a:off x="5178336" y="4913933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5" name="Titre 1"/>
          <p:cNvSpPr txBox="1">
            <a:spLocks/>
          </p:cNvSpPr>
          <p:nvPr/>
        </p:nvSpPr>
        <p:spPr>
          <a:xfrm>
            <a:off x="4181191" y="4870590"/>
            <a:ext cx="1044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Convention</a:t>
            </a:r>
            <a:endParaRPr lang="fr-FR" sz="1400" dirty="0"/>
          </a:p>
        </p:txBody>
      </p:sp>
      <p:sp>
        <p:nvSpPr>
          <p:cNvPr id="146" name="Triangle isocèle 145"/>
          <p:cNvSpPr/>
          <p:nvPr/>
        </p:nvSpPr>
        <p:spPr>
          <a:xfrm rot="10800000">
            <a:off x="6071107" y="491165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348194" y="4250381"/>
            <a:ext cx="11160000" cy="116339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4072744" y="4967879"/>
            <a:ext cx="144893" cy="2085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0154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273579" y="59579"/>
            <a:ext cx="323101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03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Acte médical - biologie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1949179" y="1588752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42318" y="1509127"/>
            <a:ext cx="77691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5452682" y="1595354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4580407" y="1566249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14" name="Titre 1"/>
          <p:cNvSpPr txBox="1">
            <a:spLocks/>
          </p:cNvSpPr>
          <p:nvPr/>
        </p:nvSpPr>
        <p:spPr>
          <a:xfrm>
            <a:off x="9098700" y="1476728"/>
            <a:ext cx="126036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Bilan standard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6184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6396747" y="5517827"/>
            <a:ext cx="3519899" cy="10412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50" dirty="0"/>
              <a:t>Chaque famille d'analyse contient </a:t>
            </a:r>
            <a:r>
              <a:rPr lang="fr-FR" sz="1050" dirty="0" smtClean="0"/>
              <a:t>des groupes des analyses biologiques.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50" dirty="0" smtClean="0"/>
              <a:t>Quand on choisir le groupe d’analyse un tableau s’affiche pour choisir l’analyse </a:t>
            </a:r>
            <a:r>
              <a:rPr lang="fr-FR" sz="1050" dirty="0"/>
              <a:t>biologique correspondante au choix de </a:t>
            </a:r>
            <a:r>
              <a:rPr lang="fr-FR" sz="1050" dirty="0" smtClean="0"/>
              <a:t>patient, ou bien on peut coché le choix ‘’ Bilan standard’’ pour choisir un analyse standard.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56" name="Rectangle 55"/>
          <p:cNvSpPr/>
          <p:nvPr/>
        </p:nvSpPr>
        <p:spPr>
          <a:xfrm>
            <a:off x="4729267" y="6199087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1736" y="1415446"/>
            <a:ext cx="11160000" cy="404608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1270248" y="567581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77299" y="5620008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123" name="Rectangle 122"/>
          <p:cNvSpPr/>
          <p:nvPr/>
        </p:nvSpPr>
        <p:spPr>
          <a:xfrm>
            <a:off x="3402765" y="566652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2651501" y="5646361"/>
            <a:ext cx="73663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125" name="Triangle isocèle 124"/>
          <p:cNvSpPr/>
          <p:nvPr/>
        </p:nvSpPr>
        <p:spPr>
          <a:xfrm rot="10800000">
            <a:off x="2160459" y="568661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758102" y="6167483"/>
            <a:ext cx="124216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Bilan standard</a:t>
            </a:r>
            <a:endParaRPr lang="fr-FR" sz="1400" dirty="0"/>
          </a:p>
        </p:txBody>
      </p:sp>
      <p:sp>
        <p:nvSpPr>
          <p:cNvPr id="141" name="Rectangle 140"/>
          <p:cNvSpPr/>
          <p:nvPr/>
        </p:nvSpPr>
        <p:spPr>
          <a:xfrm>
            <a:off x="3396639" y="619913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2192532" y="6167073"/>
            <a:ext cx="121023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Alphabétique</a:t>
            </a:r>
            <a:endParaRPr lang="fr-FR" sz="1400" dirty="0"/>
          </a:p>
        </p:txBody>
      </p:sp>
      <p:sp>
        <p:nvSpPr>
          <p:cNvPr id="143" name="Triangle isocèle 142"/>
          <p:cNvSpPr/>
          <p:nvPr/>
        </p:nvSpPr>
        <p:spPr>
          <a:xfrm rot="10800000">
            <a:off x="4292919" y="6223104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330438" y="5519329"/>
            <a:ext cx="11160000" cy="116339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3" name="Rectangle 82"/>
          <p:cNvSpPr/>
          <p:nvPr/>
        </p:nvSpPr>
        <p:spPr>
          <a:xfrm>
            <a:off x="396479" y="753011"/>
            <a:ext cx="133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Biologie</a:t>
            </a:r>
            <a:endParaRPr lang="fr-FR" sz="1400" dirty="0"/>
          </a:p>
        </p:txBody>
      </p:sp>
      <p:sp>
        <p:nvSpPr>
          <p:cNvPr id="84" name="Rectangle 83"/>
          <p:cNvSpPr/>
          <p:nvPr/>
        </p:nvSpPr>
        <p:spPr>
          <a:xfrm>
            <a:off x="1834340" y="759639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Radiologie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62914" y="752659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Spécialité médicale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56358" y="758528"/>
            <a:ext cx="230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Actes </a:t>
            </a:r>
            <a:r>
              <a:rPr lang="fr-FR" sz="1400" dirty="0" smtClean="0"/>
              <a:t>Médicaux-chirurgicaux</a:t>
            </a:r>
            <a:endParaRPr lang="fr-FR" sz="1400" dirty="0"/>
          </a:p>
        </p:txBody>
      </p:sp>
      <p:sp>
        <p:nvSpPr>
          <p:cNvPr id="89" name="Triangle isocèle 88"/>
          <p:cNvSpPr/>
          <p:nvPr/>
        </p:nvSpPr>
        <p:spPr>
          <a:xfrm rot="10800000">
            <a:off x="3465777" y="1597521"/>
            <a:ext cx="161002" cy="452535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7004575" y="1604146"/>
            <a:ext cx="127406" cy="44591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Rectangle 76"/>
          <p:cNvSpPr/>
          <p:nvPr/>
        </p:nvSpPr>
        <p:spPr>
          <a:xfrm>
            <a:off x="930137" y="2054944"/>
            <a:ext cx="2762320" cy="327799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1047705" y="2072949"/>
            <a:ext cx="2328338" cy="32376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Biochimie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Bactériologie / Parasitologie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Hématologie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Toxicologie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Immunologie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Auto immunité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Vitamines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Sérologie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Pharmacologie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Marqueurs Tumoraux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Métaux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Pasteur </a:t>
            </a:r>
            <a:r>
              <a:rPr lang="fr-FR" sz="1400" dirty="0"/>
              <a:t>C</a:t>
            </a:r>
            <a:r>
              <a:rPr lang="fr-FR" sz="1400" dirty="0" smtClean="0"/>
              <a:t>erba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Hormonologie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Allergie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Hémostase</a:t>
            </a:r>
          </a:p>
        </p:txBody>
      </p:sp>
      <p:sp>
        <p:nvSpPr>
          <p:cNvPr id="17" name="Accolade ouvrante 16"/>
          <p:cNvSpPr/>
          <p:nvPr/>
        </p:nvSpPr>
        <p:spPr>
          <a:xfrm rot="16200000">
            <a:off x="9439333" y="1094696"/>
            <a:ext cx="321621" cy="1466481"/>
          </a:xfrm>
          <a:prstGeom prst="leftBrace">
            <a:avLst>
              <a:gd name="adj1" fmla="val 8333"/>
              <a:gd name="adj2" fmla="val 4863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Rectangle 80"/>
          <p:cNvSpPr/>
          <p:nvPr/>
        </p:nvSpPr>
        <p:spPr>
          <a:xfrm>
            <a:off x="8519502" y="2019505"/>
            <a:ext cx="2762320" cy="327799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8585180" y="2024427"/>
            <a:ext cx="2328338" cy="32376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400" dirty="0"/>
              <a:t>Anticorps anti HBS</a:t>
            </a:r>
          </a:p>
          <a:p>
            <a:r>
              <a:rPr lang="fr-FR" sz="1400" dirty="0"/>
              <a:t>Anticorps anti HCV</a:t>
            </a:r>
          </a:p>
          <a:p>
            <a:r>
              <a:rPr lang="fr-FR" sz="1400" dirty="0"/>
              <a:t>Anticorps anti HIV (1+2)</a:t>
            </a:r>
          </a:p>
          <a:p>
            <a:r>
              <a:rPr lang="fr-FR" sz="1400" dirty="0"/>
              <a:t>Créatinine</a:t>
            </a:r>
          </a:p>
          <a:p>
            <a:r>
              <a:rPr lang="fr-FR" sz="1400" dirty="0"/>
              <a:t>CRP = </a:t>
            </a:r>
            <a:r>
              <a:rPr lang="fr-FR" sz="1400" dirty="0" smtClean="0"/>
              <a:t>C-Réactive </a:t>
            </a:r>
            <a:r>
              <a:rPr lang="fr-FR" sz="1400" dirty="0"/>
              <a:t>Protéine</a:t>
            </a:r>
          </a:p>
          <a:p>
            <a:r>
              <a:rPr lang="fr-FR" sz="1400" dirty="0"/>
              <a:t>FNS</a:t>
            </a:r>
          </a:p>
          <a:p>
            <a:r>
              <a:rPr lang="fr-FR" sz="1400" dirty="0"/>
              <a:t>Glycémie</a:t>
            </a:r>
          </a:p>
          <a:p>
            <a:r>
              <a:rPr lang="fr-FR" sz="1400" dirty="0"/>
              <a:t>Groupage sanguin ABO /Rhésus D</a:t>
            </a:r>
          </a:p>
          <a:p>
            <a:r>
              <a:rPr lang="fr-FR" sz="1400" dirty="0"/>
              <a:t>INR</a:t>
            </a:r>
          </a:p>
          <a:p>
            <a:r>
              <a:rPr lang="fr-FR" sz="1400" dirty="0"/>
              <a:t>Ionogramme sanguin</a:t>
            </a:r>
          </a:p>
          <a:p>
            <a:r>
              <a:rPr lang="fr-FR" sz="1400" dirty="0"/>
              <a:t>TCA /TCK</a:t>
            </a:r>
          </a:p>
          <a:p>
            <a:r>
              <a:rPr lang="fr-FR" sz="1400" dirty="0"/>
              <a:t>Temps de Quick</a:t>
            </a:r>
          </a:p>
          <a:p>
            <a:r>
              <a:rPr lang="fr-FR" sz="1400" dirty="0"/>
              <a:t>TP</a:t>
            </a:r>
          </a:p>
          <a:p>
            <a:r>
              <a:rPr lang="fr-FR" sz="1400" dirty="0"/>
              <a:t>Troponine</a:t>
            </a:r>
          </a:p>
          <a:p>
            <a:r>
              <a:rPr lang="fr-FR" sz="1400" dirty="0"/>
              <a:t>Urée sanguine</a:t>
            </a:r>
          </a:p>
          <a:p>
            <a:r>
              <a:rPr lang="fr-FR" sz="1400" dirty="0"/>
              <a:t>VS (vitesse de sédimentation</a:t>
            </a:r>
            <a:r>
              <a:rPr lang="fr-FR" sz="1400" dirty="0" smtClean="0"/>
              <a:t>)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4123282" y="2047578"/>
            <a:ext cx="3479495" cy="327799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riangle isocèle 99"/>
          <p:cNvSpPr/>
          <p:nvPr/>
        </p:nvSpPr>
        <p:spPr>
          <a:xfrm rot="10800000">
            <a:off x="4273579" y="569388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5" name="Connecteur droit 24"/>
          <p:cNvCxnSpPr/>
          <p:nvPr/>
        </p:nvCxnSpPr>
        <p:spPr>
          <a:xfrm>
            <a:off x="6208358" y="5531483"/>
            <a:ext cx="0" cy="115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Connecteur droit avec flèche 26"/>
          <p:cNvCxnSpPr/>
          <p:nvPr/>
        </p:nvCxnSpPr>
        <p:spPr>
          <a:xfrm>
            <a:off x="2123380" y="2663687"/>
            <a:ext cx="23253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ccolade ouvrante 27"/>
          <p:cNvSpPr/>
          <p:nvPr/>
        </p:nvSpPr>
        <p:spPr>
          <a:xfrm>
            <a:off x="4568482" y="2218455"/>
            <a:ext cx="360844" cy="1266868"/>
          </a:xfrm>
          <a:prstGeom prst="leftBrace">
            <a:avLst>
              <a:gd name="adj1" fmla="val 8333"/>
              <a:gd name="adj2" fmla="val 255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/>
          <p:cNvSpPr/>
          <p:nvPr/>
        </p:nvSpPr>
        <p:spPr>
          <a:xfrm>
            <a:off x="4847314" y="2185788"/>
            <a:ext cx="2694175" cy="14718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Cytologie	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Biologie	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Hémostase	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Groupage sanguins et anticorps irréguliers	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Formule numération sanguine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73578" y="3795388"/>
            <a:ext cx="2911907" cy="144027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32" name="Connecteur droit avec flèche 31"/>
          <p:cNvCxnSpPr/>
          <p:nvPr/>
        </p:nvCxnSpPr>
        <p:spPr>
          <a:xfrm>
            <a:off x="5817705" y="3485323"/>
            <a:ext cx="390653" cy="303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671668" y="3878666"/>
            <a:ext cx="2996787" cy="1318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Equilibre </a:t>
            </a:r>
            <a:r>
              <a:rPr lang="fr-FR" sz="1400" dirty="0" smtClean="0">
                <a:latin typeface="+mj-lt"/>
                <a:ea typeface="+mj-ea"/>
                <a:cs typeface="+mj-cs"/>
              </a:rPr>
              <a:t>leucocytaire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fr-FR" sz="500" dirty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FNS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fr-FR" sz="500" dirty="0" smtClean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Myélogramme</a:t>
            </a:r>
            <a:endParaRPr lang="fr-FR" sz="1400" dirty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fr-FR" sz="500" dirty="0" smtClean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Réticulocytes</a:t>
            </a:r>
            <a:endParaRPr lang="fr-FR" sz="1400" dirty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fr-FR" sz="500" dirty="0" smtClean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VS </a:t>
            </a:r>
            <a:r>
              <a:rPr lang="fr-FR" sz="1400" dirty="0">
                <a:latin typeface="+mj-lt"/>
                <a:ea typeface="+mj-ea"/>
                <a:cs typeface="+mj-cs"/>
              </a:rPr>
              <a:t>(vitesse de sédimentation)</a:t>
            </a:r>
          </a:p>
        </p:txBody>
      </p:sp>
      <p:sp>
        <p:nvSpPr>
          <p:cNvPr id="38" name="Ellipse 37"/>
          <p:cNvSpPr/>
          <p:nvPr/>
        </p:nvSpPr>
        <p:spPr>
          <a:xfrm flipV="1">
            <a:off x="4473247" y="391585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8" name="Ellipse 107"/>
          <p:cNvSpPr/>
          <p:nvPr/>
        </p:nvSpPr>
        <p:spPr>
          <a:xfrm flipV="1">
            <a:off x="4468078" y="417423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9" name="Ellipse 108"/>
          <p:cNvSpPr/>
          <p:nvPr/>
        </p:nvSpPr>
        <p:spPr>
          <a:xfrm flipV="1">
            <a:off x="4466151" y="4435031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0" name="Ellipse 109"/>
          <p:cNvSpPr/>
          <p:nvPr/>
        </p:nvSpPr>
        <p:spPr>
          <a:xfrm flipV="1">
            <a:off x="4461990" y="4722330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1" name="Ellipse 110"/>
          <p:cNvSpPr/>
          <p:nvPr/>
        </p:nvSpPr>
        <p:spPr>
          <a:xfrm flipV="1">
            <a:off x="4465638" y="500255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2" name="Ellipse 111"/>
          <p:cNvSpPr/>
          <p:nvPr/>
        </p:nvSpPr>
        <p:spPr>
          <a:xfrm flipV="1">
            <a:off x="616859" y="6243913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3" name="Ellipse 112"/>
          <p:cNvSpPr/>
          <p:nvPr/>
        </p:nvSpPr>
        <p:spPr>
          <a:xfrm flipV="1">
            <a:off x="8892857" y="1559267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4" name="Ellipse 113"/>
          <p:cNvSpPr/>
          <p:nvPr/>
        </p:nvSpPr>
        <p:spPr>
          <a:xfrm flipV="1">
            <a:off x="8945853" y="1603348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5" name="Rectangle 114"/>
          <p:cNvSpPr/>
          <p:nvPr/>
        </p:nvSpPr>
        <p:spPr>
          <a:xfrm>
            <a:off x="9930750" y="560936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</p:spTree>
    <p:extLst>
      <p:ext uri="{BB962C8B-B14F-4D97-AF65-F5344CB8AC3E}">
        <p14:creationId xmlns:p14="http://schemas.microsoft.com/office/powerpoint/2010/main" val="1153492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273579" y="59579"/>
            <a:ext cx="323101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04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Acte médical - radiologie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1949179" y="1588752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42318" y="1509127"/>
            <a:ext cx="77691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5452682" y="1595354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4580407" y="1566249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6184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6295196" y="5881791"/>
            <a:ext cx="3380916" cy="796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/>
              <a:t>Chaque famille de radiologie contient </a:t>
            </a:r>
            <a:r>
              <a:rPr lang="fr-FR" sz="1000" dirty="0" smtClean="0"/>
              <a:t>des groupes des examens radiologies.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Quand </a:t>
            </a:r>
            <a:r>
              <a:rPr lang="fr-FR" sz="1000" dirty="0"/>
              <a:t>on choisir le groupe </a:t>
            </a:r>
            <a:r>
              <a:rPr lang="fr-FR" sz="1000" dirty="0" smtClean="0"/>
              <a:t>d’examen un </a:t>
            </a:r>
            <a:r>
              <a:rPr lang="fr-FR" sz="1000" dirty="0"/>
              <a:t>tableau s’affiche pour choisir </a:t>
            </a:r>
            <a:r>
              <a:rPr lang="fr-FR" sz="1000" dirty="0" smtClean="0"/>
              <a:t>l’examens </a:t>
            </a:r>
            <a:r>
              <a:rPr lang="fr-FR" sz="1000" dirty="0"/>
              <a:t>radiologique </a:t>
            </a:r>
            <a:r>
              <a:rPr lang="fr-FR" sz="1000" dirty="0" smtClean="0"/>
              <a:t>correspondant </a:t>
            </a:r>
            <a:r>
              <a:rPr lang="fr-FR" sz="1000" dirty="0"/>
              <a:t>au choix de </a:t>
            </a:r>
            <a:r>
              <a:rPr lang="fr-FR" sz="1000" dirty="0" smtClean="0"/>
              <a:t>patient.</a:t>
            </a:r>
            <a:endParaRPr lang="fr-FR" sz="1000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56" name="Rectangle 55"/>
          <p:cNvSpPr/>
          <p:nvPr/>
        </p:nvSpPr>
        <p:spPr>
          <a:xfrm>
            <a:off x="4729267" y="6199087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1736" y="1415446"/>
            <a:ext cx="11160000" cy="404608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1270248" y="567581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77299" y="5620008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123" name="Rectangle 122"/>
          <p:cNvSpPr/>
          <p:nvPr/>
        </p:nvSpPr>
        <p:spPr>
          <a:xfrm>
            <a:off x="3402765" y="566652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2651501" y="5646361"/>
            <a:ext cx="73663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125" name="Triangle isocèle 124"/>
          <p:cNvSpPr/>
          <p:nvPr/>
        </p:nvSpPr>
        <p:spPr>
          <a:xfrm rot="10800000">
            <a:off x="2160459" y="568661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1" name="Rectangle 140"/>
          <p:cNvSpPr/>
          <p:nvPr/>
        </p:nvSpPr>
        <p:spPr>
          <a:xfrm>
            <a:off x="1660605" y="619913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456498" y="6167073"/>
            <a:ext cx="121023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Alphabétique</a:t>
            </a:r>
            <a:endParaRPr lang="fr-FR" sz="1400" dirty="0"/>
          </a:p>
        </p:txBody>
      </p:sp>
      <p:sp>
        <p:nvSpPr>
          <p:cNvPr id="143" name="Triangle isocèle 142"/>
          <p:cNvSpPr/>
          <p:nvPr/>
        </p:nvSpPr>
        <p:spPr>
          <a:xfrm rot="10800000">
            <a:off x="2556885" y="6223104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330438" y="5519329"/>
            <a:ext cx="11160000" cy="116339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3" name="Rectangle 82"/>
          <p:cNvSpPr/>
          <p:nvPr/>
        </p:nvSpPr>
        <p:spPr>
          <a:xfrm>
            <a:off x="396479" y="753011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Biologie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34340" y="759639"/>
            <a:ext cx="133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Radiologie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62914" y="752659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Spécialité médicale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56358" y="758528"/>
            <a:ext cx="230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Actes </a:t>
            </a:r>
            <a:r>
              <a:rPr lang="fr-FR" sz="1400" dirty="0" smtClean="0"/>
              <a:t>Médicaux-chirurgicaux</a:t>
            </a:r>
            <a:endParaRPr lang="fr-FR" sz="1400" dirty="0"/>
          </a:p>
        </p:txBody>
      </p:sp>
      <p:sp>
        <p:nvSpPr>
          <p:cNvPr id="89" name="Triangle isocèle 88"/>
          <p:cNvSpPr/>
          <p:nvPr/>
        </p:nvSpPr>
        <p:spPr>
          <a:xfrm rot="10800000">
            <a:off x="3465777" y="1597521"/>
            <a:ext cx="161002" cy="452535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7004575" y="1604146"/>
            <a:ext cx="127406" cy="44591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Rectangle 76"/>
          <p:cNvSpPr/>
          <p:nvPr/>
        </p:nvSpPr>
        <p:spPr>
          <a:xfrm>
            <a:off x="453179" y="2000305"/>
            <a:ext cx="3469463" cy="202055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517379" y="2091647"/>
            <a:ext cx="3220531" cy="19292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Examens spécialisés avec opacification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Radiographie standard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Scintigraphie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Radiologie interventionnelle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Echographie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Echo-doppler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IRM ‘’Imagerie Résonance Magnétique’’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scannographie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201747" y="2047372"/>
            <a:ext cx="2495442" cy="41553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riangle isocèle 99"/>
          <p:cNvSpPr/>
          <p:nvPr/>
        </p:nvSpPr>
        <p:spPr>
          <a:xfrm rot="10800000">
            <a:off x="4273579" y="569388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5" name="Connecteur droit 24"/>
          <p:cNvCxnSpPr/>
          <p:nvPr/>
        </p:nvCxnSpPr>
        <p:spPr>
          <a:xfrm>
            <a:off x="6208358" y="5531483"/>
            <a:ext cx="0" cy="122119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350813" y="2105127"/>
            <a:ext cx="938077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Radiologie</a:t>
            </a:r>
          </a:p>
        </p:txBody>
      </p:sp>
      <p:cxnSp>
        <p:nvCxnSpPr>
          <p:cNvPr id="16" name="Connecteur droit avec flèche 15"/>
          <p:cNvCxnSpPr/>
          <p:nvPr/>
        </p:nvCxnSpPr>
        <p:spPr>
          <a:xfrm flipH="1">
            <a:off x="5819851" y="2455506"/>
            <a:ext cx="1" cy="43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840178" y="3683031"/>
            <a:ext cx="3362459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Echo-Doppler artériel abdominal et rénal	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48661" y="2877999"/>
            <a:ext cx="938077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Choix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cxnSp>
        <p:nvCxnSpPr>
          <p:cNvPr id="58" name="Connecteur droit avec flèche 57"/>
          <p:cNvCxnSpPr>
            <a:stCxn id="18" idx="2"/>
            <a:endCxn id="59" idx="0"/>
          </p:cNvCxnSpPr>
          <p:nvPr/>
        </p:nvCxnSpPr>
        <p:spPr>
          <a:xfrm flipH="1">
            <a:off x="6443697" y="3980035"/>
            <a:ext cx="1077711" cy="356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5705697" y="4336587"/>
            <a:ext cx="1476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Médecin traitant 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0" name="Ellipse 59"/>
          <p:cNvSpPr/>
          <p:nvPr/>
        </p:nvSpPr>
        <p:spPr>
          <a:xfrm flipV="1">
            <a:off x="5705697" y="3770085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Rectangle 61"/>
          <p:cNvSpPr/>
          <p:nvPr/>
        </p:nvSpPr>
        <p:spPr>
          <a:xfrm>
            <a:off x="7148837" y="4365175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fr-FR" sz="1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983758" y="499976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cxnSp>
        <p:nvCxnSpPr>
          <p:cNvPr id="9" name="Connecteur en angle 8"/>
          <p:cNvCxnSpPr>
            <a:endCxn id="6" idx="1"/>
          </p:cNvCxnSpPr>
          <p:nvPr/>
        </p:nvCxnSpPr>
        <p:spPr>
          <a:xfrm flipV="1">
            <a:off x="1660605" y="1741134"/>
            <a:ext cx="2919802" cy="1624918"/>
          </a:xfrm>
          <a:prstGeom prst="bentConnector3">
            <a:avLst>
              <a:gd name="adj1" fmla="val 876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avec flèche 49"/>
          <p:cNvCxnSpPr/>
          <p:nvPr/>
        </p:nvCxnSpPr>
        <p:spPr>
          <a:xfrm flipH="1">
            <a:off x="5799975" y="3204256"/>
            <a:ext cx="1" cy="43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riangle isocèle 52"/>
          <p:cNvSpPr/>
          <p:nvPr/>
        </p:nvSpPr>
        <p:spPr>
          <a:xfrm rot="10800000">
            <a:off x="8634998" y="4372739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56606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530811" y="59579"/>
            <a:ext cx="3579519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05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Acte médical – spécialité médicale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1236692" y="4332983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429831" y="4253358"/>
            <a:ext cx="77691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4896087" y="1794137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4023812" y="1765032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6184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6295195" y="5675813"/>
            <a:ext cx="5100697" cy="10021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Chaque spécialité médicale ayant des familles de spécialité et chaque famille contient des groupes des spécialités médicales.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/>
              <a:t>Quand on choisir </a:t>
            </a:r>
            <a:r>
              <a:rPr lang="fr-FR" sz="1000" dirty="0" smtClean="0"/>
              <a:t>la spécialité un choix des familles s’affiche, pour sélectionner une, et quand on choisir la famille un choix des groupe de spécialité s’affiche aussi pour donner la main un </a:t>
            </a:r>
            <a:r>
              <a:rPr lang="fr-FR" sz="1000" dirty="0"/>
              <a:t>tableau </a:t>
            </a:r>
            <a:r>
              <a:rPr lang="fr-FR" sz="1000" dirty="0" smtClean="0"/>
              <a:t>qui s’affiche </a:t>
            </a:r>
            <a:r>
              <a:rPr lang="fr-FR" sz="1000" dirty="0"/>
              <a:t>pour choisir </a:t>
            </a:r>
            <a:r>
              <a:rPr lang="fr-FR" sz="1000" dirty="0" smtClean="0"/>
              <a:t>la spécialité médicales correspondante au choix de patient.</a:t>
            </a:r>
            <a:endParaRPr lang="fr-FR" sz="1000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56" name="Rectangle 55"/>
          <p:cNvSpPr/>
          <p:nvPr/>
        </p:nvSpPr>
        <p:spPr>
          <a:xfrm>
            <a:off x="4729267" y="6199087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1736" y="1273370"/>
            <a:ext cx="11160000" cy="403808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3496614" y="555654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2703665" y="5500741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123" name="Rectangle 122"/>
          <p:cNvSpPr/>
          <p:nvPr/>
        </p:nvSpPr>
        <p:spPr>
          <a:xfrm>
            <a:off x="1269161" y="609059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517897" y="6070432"/>
            <a:ext cx="73663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125" name="Triangle isocèle 124"/>
          <p:cNvSpPr/>
          <p:nvPr/>
        </p:nvSpPr>
        <p:spPr>
          <a:xfrm rot="10800000">
            <a:off x="4386825" y="5567352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1" name="Rectangle 140"/>
          <p:cNvSpPr/>
          <p:nvPr/>
        </p:nvSpPr>
        <p:spPr>
          <a:xfrm>
            <a:off x="3502655" y="607986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2298548" y="6047805"/>
            <a:ext cx="121023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Alphabétique</a:t>
            </a:r>
            <a:endParaRPr lang="fr-FR" sz="1400" dirty="0"/>
          </a:p>
        </p:txBody>
      </p:sp>
      <p:sp>
        <p:nvSpPr>
          <p:cNvPr id="143" name="Triangle isocèle 142"/>
          <p:cNvSpPr/>
          <p:nvPr/>
        </p:nvSpPr>
        <p:spPr>
          <a:xfrm rot="10800000">
            <a:off x="4398935" y="6103836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330438" y="5422303"/>
            <a:ext cx="11160000" cy="126042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3" name="Rectangle 82"/>
          <p:cNvSpPr/>
          <p:nvPr/>
        </p:nvSpPr>
        <p:spPr>
          <a:xfrm>
            <a:off x="396479" y="753011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Biologie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34340" y="759639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Radiologie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62914" y="752659"/>
            <a:ext cx="168154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Spécialité médicale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56358" y="758528"/>
            <a:ext cx="230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Actes </a:t>
            </a:r>
            <a:r>
              <a:rPr lang="fr-FR" sz="1400" dirty="0" smtClean="0"/>
              <a:t>Médicaux-chirurgicaux</a:t>
            </a:r>
            <a:endParaRPr lang="fr-FR" sz="1400" dirty="0"/>
          </a:p>
        </p:txBody>
      </p:sp>
      <p:sp>
        <p:nvSpPr>
          <p:cNvPr id="89" name="Triangle isocèle 88"/>
          <p:cNvSpPr/>
          <p:nvPr/>
        </p:nvSpPr>
        <p:spPr>
          <a:xfrm rot="10800000">
            <a:off x="2753290" y="4341752"/>
            <a:ext cx="161002" cy="452535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6447980" y="1802929"/>
            <a:ext cx="127406" cy="44591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Rectangle 76"/>
          <p:cNvSpPr/>
          <p:nvPr/>
        </p:nvSpPr>
        <p:spPr>
          <a:xfrm>
            <a:off x="988151" y="2251732"/>
            <a:ext cx="2163484" cy="194505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1070836" y="2326869"/>
            <a:ext cx="1975612" cy="18699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Anatomo-pathologie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Biologie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Cardiologie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Gastro-entérologie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Neurologie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Ophtalmologie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Pneumologie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Radiologie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vasculaire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26300" y="4824985"/>
            <a:ext cx="2453333" cy="40949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riangle isocèle 99"/>
          <p:cNvSpPr/>
          <p:nvPr/>
        </p:nvSpPr>
        <p:spPr>
          <a:xfrm rot="10800000">
            <a:off x="2153227" y="6091447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5" name="Connecteur droit 24"/>
          <p:cNvCxnSpPr/>
          <p:nvPr/>
        </p:nvCxnSpPr>
        <p:spPr>
          <a:xfrm>
            <a:off x="6208358" y="5412214"/>
            <a:ext cx="0" cy="126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Rectangle 11"/>
          <p:cNvSpPr/>
          <p:nvPr/>
        </p:nvSpPr>
        <p:spPr>
          <a:xfrm>
            <a:off x="1206746" y="4872880"/>
            <a:ext cx="1862165" cy="3292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Examen endoscopique</a:t>
            </a:r>
          </a:p>
        </p:txBody>
      </p:sp>
      <p:sp>
        <p:nvSpPr>
          <p:cNvPr id="60" name="Ellipse 59"/>
          <p:cNvSpPr/>
          <p:nvPr/>
        </p:nvSpPr>
        <p:spPr>
          <a:xfrm flipV="1">
            <a:off x="3912072" y="245478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/>
          <p:cNvSpPr/>
          <p:nvPr/>
        </p:nvSpPr>
        <p:spPr>
          <a:xfrm>
            <a:off x="6006342" y="4899981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1708" y="1411265"/>
            <a:ext cx="216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/>
              <a:t>Exploration </a:t>
            </a:r>
            <a:r>
              <a:rPr lang="fr-FR" sz="1400" dirty="0" smtClean="0"/>
              <a:t>spécialisée</a:t>
            </a:r>
            <a:endParaRPr lang="fr-FR" sz="1400" dirty="0"/>
          </a:p>
        </p:txBody>
      </p:sp>
      <p:sp>
        <p:nvSpPr>
          <p:cNvPr id="48" name="Ellipse 47"/>
          <p:cNvSpPr/>
          <p:nvPr/>
        </p:nvSpPr>
        <p:spPr>
          <a:xfrm flipV="1">
            <a:off x="587227" y="1498319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/>
          <p:cNvSpPr/>
          <p:nvPr/>
        </p:nvSpPr>
        <p:spPr>
          <a:xfrm>
            <a:off x="7638757" y="1430630"/>
            <a:ext cx="216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/>
              <a:t>Consultation spécialisée</a:t>
            </a:r>
          </a:p>
        </p:txBody>
      </p:sp>
      <p:sp>
        <p:nvSpPr>
          <p:cNvPr id="50" name="Ellipse 49"/>
          <p:cNvSpPr/>
          <p:nvPr/>
        </p:nvSpPr>
        <p:spPr>
          <a:xfrm flipV="1">
            <a:off x="7504276" y="1517684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/>
          <p:cNvSpPr/>
          <p:nvPr/>
        </p:nvSpPr>
        <p:spPr>
          <a:xfrm>
            <a:off x="1452223" y="1807415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2" name="Titre 1"/>
          <p:cNvSpPr txBox="1">
            <a:spLocks/>
          </p:cNvSpPr>
          <p:nvPr/>
        </p:nvSpPr>
        <p:spPr>
          <a:xfrm>
            <a:off x="486337" y="1727790"/>
            <a:ext cx="972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Spécialité</a:t>
            </a:r>
            <a:endParaRPr lang="fr-FR" sz="1400" dirty="0"/>
          </a:p>
        </p:txBody>
      </p:sp>
      <p:sp>
        <p:nvSpPr>
          <p:cNvPr id="53" name="Triangle isocèle 52"/>
          <p:cNvSpPr/>
          <p:nvPr/>
        </p:nvSpPr>
        <p:spPr>
          <a:xfrm rot="10800000">
            <a:off x="2968821" y="1816184"/>
            <a:ext cx="161002" cy="452535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1" name="Rectangle 60"/>
          <p:cNvSpPr/>
          <p:nvPr/>
        </p:nvSpPr>
        <p:spPr>
          <a:xfrm>
            <a:off x="3798524" y="2232970"/>
            <a:ext cx="3291389" cy="25920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Ellipse 63"/>
          <p:cNvSpPr/>
          <p:nvPr/>
        </p:nvSpPr>
        <p:spPr>
          <a:xfrm flipV="1">
            <a:off x="3912072" y="3023785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Ellipse 64"/>
          <p:cNvSpPr/>
          <p:nvPr/>
        </p:nvSpPr>
        <p:spPr>
          <a:xfrm flipV="1">
            <a:off x="3915091" y="3653120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Ellipse 65"/>
          <p:cNvSpPr/>
          <p:nvPr/>
        </p:nvSpPr>
        <p:spPr>
          <a:xfrm flipV="1">
            <a:off x="3915739" y="4330845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/>
          <p:cNvSpPr/>
          <p:nvPr/>
        </p:nvSpPr>
        <p:spPr>
          <a:xfrm>
            <a:off x="1263622" y="556317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391160" y="5533873"/>
            <a:ext cx="1008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Spécialité médicale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2153833" y="557398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Ellipse 69"/>
          <p:cNvSpPr/>
          <p:nvPr/>
        </p:nvSpPr>
        <p:spPr>
          <a:xfrm flipV="1">
            <a:off x="620359" y="1531451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Connecteur en angle 16"/>
          <p:cNvCxnSpPr/>
          <p:nvPr/>
        </p:nvCxnSpPr>
        <p:spPr>
          <a:xfrm rot="5400000">
            <a:off x="305001" y="3556980"/>
            <a:ext cx="1320770" cy="307113"/>
          </a:xfrm>
          <a:prstGeom prst="bentConnector3">
            <a:avLst>
              <a:gd name="adj1" fmla="val -1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en angle 91"/>
          <p:cNvCxnSpPr>
            <a:stCxn id="97" idx="3"/>
            <a:endCxn id="6" idx="1"/>
          </p:cNvCxnSpPr>
          <p:nvPr/>
        </p:nvCxnSpPr>
        <p:spPr>
          <a:xfrm flipV="1">
            <a:off x="3279633" y="1939917"/>
            <a:ext cx="744179" cy="3089816"/>
          </a:xfrm>
          <a:prstGeom prst="bentConnector3">
            <a:avLst>
              <a:gd name="adj1" fmla="val 250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4233506" y="2347079"/>
            <a:ext cx="2700000" cy="3383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 smtClean="0"/>
              <a:t>CPRE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42080" y="2818485"/>
            <a:ext cx="2700000" cy="5190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 smtClean="0"/>
              <a:t>Fibroscopie </a:t>
            </a:r>
            <a:r>
              <a:rPr lang="fr-FR" sz="1400" dirty="0"/>
              <a:t>Œsogastroduodénale </a:t>
            </a:r>
            <a:endParaRPr lang="fr-FR" sz="1400" dirty="0" smtClean="0"/>
          </a:p>
          <a:p>
            <a:r>
              <a:rPr lang="fr-FR" sz="1400" dirty="0" smtClean="0"/>
              <a:t>FOGD </a:t>
            </a:r>
            <a:r>
              <a:rPr lang="fr-FR" sz="1400" dirty="0"/>
              <a:t>sous </a:t>
            </a:r>
            <a:r>
              <a:rPr lang="fr-FR" sz="1400" dirty="0" smtClean="0"/>
              <a:t>AG</a:t>
            </a:r>
            <a:endParaRPr lang="fr-FR" sz="1400" dirty="0"/>
          </a:p>
        </p:txBody>
      </p:sp>
      <p:sp>
        <p:nvSpPr>
          <p:cNvPr id="102" name="Rectangle 101"/>
          <p:cNvSpPr/>
          <p:nvPr/>
        </p:nvSpPr>
        <p:spPr>
          <a:xfrm>
            <a:off x="4238100" y="3446709"/>
            <a:ext cx="2700000" cy="5645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 smtClean="0"/>
              <a:t>FOGD </a:t>
            </a:r>
            <a:r>
              <a:rPr lang="fr-FR" sz="1400" dirty="0"/>
              <a:t>sous AG avec Ligature </a:t>
            </a:r>
            <a:endParaRPr lang="fr-FR" sz="1400" dirty="0" smtClean="0"/>
          </a:p>
          <a:p>
            <a:r>
              <a:rPr lang="fr-FR" sz="1400" dirty="0" smtClean="0"/>
              <a:t>ou </a:t>
            </a:r>
            <a:r>
              <a:rPr lang="fr-FR" sz="1400" dirty="0"/>
              <a:t>Sclérose Varices </a:t>
            </a:r>
            <a:r>
              <a:rPr lang="fr-FR" sz="1400" dirty="0" err="1" smtClean="0"/>
              <a:t>oes</a:t>
            </a:r>
            <a:endParaRPr lang="fr-FR" sz="1400" dirty="0"/>
          </a:p>
        </p:txBody>
      </p:sp>
      <p:sp>
        <p:nvSpPr>
          <p:cNvPr id="103" name="Rectangle 102"/>
          <p:cNvSpPr/>
          <p:nvPr/>
        </p:nvSpPr>
        <p:spPr>
          <a:xfrm>
            <a:off x="4258880" y="4067595"/>
            <a:ext cx="2700000" cy="6362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>
                <a:solidFill>
                  <a:schemeClr val="dk1"/>
                </a:solidFill>
              </a:rPr>
              <a:t>Ponction d'Ascite </a:t>
            </a:r>
          </a:p>
          <a:p>
            <a:r>
              <a:rPr lang="fr-FR" sz="1400" dirty="0">
                <a:solidFill>
                  <a:schemeClr val="dk1"/>
                </a:solidFill>
              </a:rPr>
              <a:t>/Prise en </a:t>
            </a:r>
            <a:r>
              <a:rPr lang="fr-FR" sz="1400" dirty="0" smtClean="0">
                <a:solidFill>
                  <a:schemeClr val="dk1"/>
                </a:solidFill>
              </a:rPr>
              <a:t>charge</a:t>
            </a:r>
          </a:p>
          <a:p>
            <a:r>
              <a:rPr lang="fr-FR" sz="1400" dirty="0" smtClean="0">
                <a:solidFill>
                  <a:schemeClr val="dk1"/>
                </a:solidFill>
              </a:rPr>
              <a:t>/</a:t>
            </a:r>
            <a:r>
              <a:rPr lang="fr-FR" sz="1400" dirty="0">
                <a:solidFill>
                  <a:schemeClr val="dk1"/>
                </a:solidFill>
              </a:rPr>
              <a:t>injection Album</a:t>
            </a:r>
          </a:p>
        </p:txBody>
      </p:sp>
      <p:cxnSp>
        <p:nvCxnSpPr>
          <p:cNvPr id="104" name="Connecteur droit 103"/>
          <p:cNvCxnSpPr/>
          <p:nvPr/>
        </p:nvCxnSpPr>
        <p:spPr>
          <a:xfrm>
            <a:off x="7261906" y="1284155"/>
            <a:ext cx="11946" cy="3588725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Rectangle 104"/>
          <p:cNvSpPr/>
          <p:nvPr/>
        </p:nvSpPr>
        <p:spPr>
          <a:xfrm>
            <a:off x="8533809" y="1946537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7273852" y="1917432"/>
            <a:ext cx="127463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Consultation spécialisée</a:t>
            </a:r>
            <a:endParaRPr lang="fr-FR" sz="1400" dirty="0"/>
          </a:p>
        </p:txBody>
      </p:sp>
      <p:sp>
        <p:nvSpPr>
          <p:cNvPr id="109" name="Triangle isocèle 108"/>
          <p:cNvSpPr/>
          <p:nvPr/>
        </p:nvSpPr>
        <p:spPr>
          <a:xfrm rot="10800000">
            <a:off x="10085702" y="1955329"/>
            <a:ext cx="127406" cy="44591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Rectangle 80"/>
          <p:cNvSpPr/>
          <p:nvPr/>
        </p:nvSpPr>
        <p:spPr>
          <a:xfrm>
            <a:off x="7608081" y="2420375"/>
            <a:ext cx="2719926" cy="23687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/>
              <a:t>Allergologie / Anatomo-pathologie</a:t>
            </a:r>
          </a:p>
          <a:p>
            <a:r>
              <a:rPr lang="fr-FR" sz="1400" dirty="0"/>
              <a:t>Anesthésie / </a:t>
            </a:r>
            <a:r>
              <a:rPr lang="fr-FR" sz="1400" dirty="0" smtClean="0"/>
              <a:t>Cancérologie</a:t>
            </a:r>
            <a:endParaRPr lang="fr-FR" sz="1400" dirty="0"/>
          </a:p>
          <a:p>
            <a:r>
              <a:rPr lang="fr-FR" sz="1400" dirty="0"/>
              <a:t>Cardiologie / Dentaire	</a:t>
            </a:r>
          </a:p>
          <a:p>
            <a:r>
              <a:rPr lang="fr-FR" sz="1400" dirty="0"/>
              <a:t>Dermatologie  / </a:t>
            </a:r>
            <a:r>
              <a:rPr lang="fr-FR" sz="1400" dirty="0" smtClean="0"/>
              <a:t>Endocrinologie</a:t>
            </a:r>
            <a:endParaRPr lang="fr-FR" sz="1400" dirty="0"/>
          </a:p>
          <a:p>
            <a:r>
              <a:rPr lang="fr-FR" sz="1400" dirty="0"/>
              <a:t>Gastro-entérologie / Gynécologie</a:t>
            </a:r>
          </a:p>
          <a:p>
            <a:r>
              <a:rPr lang="fr-FR" sz="1400" dirty="0"/>
              <a:t>Néphrologie / </a:t>
            </a:r>
            <a:r>
              <a:rPr lang="fr-FR" sz="1400" dirty="0" smtClean="0"/>
              <a:t>Neurologie</a:t>
            </a:r>
            <a:endParaRPr lang="fr-FR" sz="1400" dirty="0"/>
          </a:p>
          <a:p>
            <a:r>
              <a:rPr lang="fr-FR" sz="1400" dirty="0"/>
              <a:t>Ophtalmologie / ORL	</a:t>
            </a:r>
          </a:p>
          <a:p>
            <a:r>
              <a:rPr lang="fr-FR" sz="1400" dirty="0"/>
              <a:t>Orthopédie / Pédiatrie	</a:t>
            </a:r>
          </a:p>
          <a:p>
            <a:r>
              <a:rPr lang="fr-FR" sz="1400" dirty="0"/>
              <a:t>Pneumologie / </a:t>
            </a:r>
            <a:r>
              <a:rPr lang="fr-FR" sz="1400" dirty="0" smtClean="0"/>
              <a:t>Psychiatrie</a:t>
            </a:r>
            <a:endParaRPr lang="fr-FR" sz="1400" dirty="0"/>
          </a:p>
          <a:p>
            <a:r>
              <a:rPr lang="fr-FR" sz="1400" dirty="0"/>
              <a:t>Rhumatologie / </a:t>
            </a:r>
            <a:r>
              <a:rPr lang="fr-FR" sz="1400" dirty="0" smtClean="0"/>
              <a:t>Stomatologie</a:t>
            </a:r>
            <a:endParaRPr lang="fr-FR" sz="1400" dirty="0"/>
          </a:p>
          <a:p>
            <a:r>
              <a:rPr lang="fr-FR" sz="1400" dirty="0"/>
              <a:t>Urologie / Vasculaire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070520" y="4881893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itre 1"/>
          <p:cNvSpPr txBox="1">
            <a:spLocks/>
          </p:cNvSpPr>
          <p:nvPr/>
        </p:nvSpPr>
        <p:spPr>
          <a:xfrm>
            <a:off x="7625034" y="4852788"/>
            <a:ext cx="141841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 traitant</a:t>
            </a:r>
            <a:endParaRPr lang="fr-FR" sz="1400" dirty="0"/>
          </a:p>
        </p:txBody>
      </p:sp>
      <p:sp>
        <p:nvSpPr>
          <p:cNvPr id="115" name="Triangle isocèle 114"/>
          <p:cNvSpPr/>
          <p:nvPr/>
        </p:nvSpPr>
        <p:spPr>
          <a:xfrm rot="10800000">
            <a:off x="10556564" y="4889572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86" name="Connecteur en angle 85"/>
          <p:cNvCxnSpPr>
            <a:stCxn id="81" idx="3"/>
            <a:endCxn id="113" idx="3"/>
          </p:cNvCxnSpPr>
          <p:nvPr/>
        </p:nvCxnSpPr>
        <p:spPr>
          <a:xfrm>
            <a:off x="10328007" y="3604756"/>
            <a:ext cx="433758" cy="1421137"/>
          </a:xfrm>
          <a:prstGeom prst="bentConnector3">
            <a:avLst>
              <a:gd name="adj1" fmla="val 15270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694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06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Acte médical – Actes médicaux chirurgicaux</a:t>
            </a:r>
            <a:endParaRPr lang="fr-FR" sz="1800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2494747" y="1311271"/>
            <a:ext cx="77691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Libellé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4131787" y="1833999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6184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6295195" y="5675813"/>
            <a:ext cx="5100697" cy="10021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Chaque spécialité médicale ayant des familles de spécialité et chaque famille contient des groupes des spécialités médicales.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/>
              <a:t>Quand on choisir </a:t>
            </a:r>
            <a:r>
              <a:rPr lang="fr-FR" sz="1000" dirty="0" smtClean="0"/>
              <a:t>la spécialité un choix des familles s’affiche, pour sélectionner une, et quand on choisir la famille un choix des groupe de spécialité s’affiche aussi pour donner la main un </a:t>
            </a:r>
            <a:r>
              <a:rPr lang="fr-FR" sz="1000" dirty="0"/>
              <a:t>tableau </a:t>
            </a:r>
            <a:r>
              <a:rPr lang="fr-FR" sz="1000" dirty="0" smtClean="0"/>
              <a:t>qui s’affiche </a:t>
            </a:r>
            <a:r>
              <a:rPr lang="fr-FR" sz="1000" dirty="0"/>
              <a:t>pour choisir </a:t>
            </a:r>
            <a:r>
              <a:rPr lang="fr-FR" sz="1000" dirty="0" smtClean="0"/>
              <a:t>la spécialité médicales correspondante au choix de patient.</a:t>
            </a:r>
            <a:endParaRPr lang="fr-FR" sz="1000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56" name="Rectangle 55"/>
          <p:cNvSpPr/>
          <p:nvPr/>
        </p:nvSpPr>
        <p:spPr>
          <a:xfrm>
            <a:off x="4488013" y="6065317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1736" y="1273370"/>
            <a:ext cx="7956000" cy="349771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3" name="Rectangle 122"/>
          <p:cNvSpPr/>
          <p:nvPr/>
        </p:nvSpPr>
        <p:spPr>
          <a:xfrm>
            <a:off x="1269161" y="609059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332369" y="6070432"/>
            <a:ext cx="99608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acte</a:t>
            </a:r>
            <a:endParaRPr lang="fr-FR" sz="1400" dirty="0"/>
          </a:p>
        </p:txBody>
      </p:sp>
      <p:sp>
        <p:nvSpPr>
          <p:cNvPr id="147" name="Rectangle 146"/>
          <p:cNvSpPr/>
          <p:nvPr/>
        </p:nvSpPr>
        <p:spPr>
          <a:xfrm>
            <a:off x="330438" y="5422303"/>
            <a:ext cx="11160000" cy="126042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3" name="Rectangle 82"/>
          <p:cNvSpPr/>
          <p:nvPr/>
        </p:nvSpPr>
        <p:spPr>
          <a:xfrm>
            <a:off x="396479" y="753011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Biologie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34340" y="759639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Radiologie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62914" y="752659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Spécialité médicale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56358" y="758528"/>
            <a:ext cx="2304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Actes Médicaux-chirurgicaux</a:t>
            </a:r>
          </a:p>
        </p:txBody>
      </p:sp>
      <p:sp>
        <p:nvSpPr>
          <p:cNvPr id="96" name="Triangle isocèle 95"/>
          <p:cNvSpPr/>
          <p:nvPr/>
        </p:nvSpPr>
        <p:spPr>
          <a:xfrm rot="10800000">
            <a:off x="5613507" y="1858579"/>
            <a:ext cx="180000" cy="32400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riangle isocèle 99"/>
          <p:cNvSpPr/>
          <p:nvPr/>
        </p:nvSpPr>
        <p:spPr>
          <a:xfrm rot="10800000">
            <a:off x="2153227" y="6091447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5" name="Connecteur droit 24"/>
          <p:cNvCxnSpPr/>
          <p:nvPr/>
        </p:nvCxnSpPr>
        <p:spPr>
          <a:xfrm>
            <a:off x="6208358" y="5412214"/>
            <a:ext cx="0" cy="126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" name="Ellipse 59"/>
          <p:cNvSpPr/>
          <p:nvPr/>
        </p:nvSpPr>
        <p:spPr>
          <a:xfrm flipV="1">
            <a:off x="571399" y="2070128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/>
          <p:cNvSpPr/>
          <p:nvPr/>
        </p:nvSpPr>
        <p:spPr>
          <a:xfrm>
            <a:off x="6935736" y="4924112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52" name="Titre 1"/>
          <p:cNvSpPr txBox="1">
            <a:spLocks/>
          </p:cNvSpPr>
          <p:nvPr/>
        </p:nvSpPr>
        <p:spPr>
          <a:xfrm>
            <a:off x="1005772" y="1330461"/>
            <a:ext cx="614229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</a:t>
            </a:r>
            <a:endParaRPr lang="fr-FR" sz="1400" dirty="0"/>
          </a:p>
        </p:txBody>
      </p:sp>
      <p:sp>
        <p:nvSpPr>
          <p:cNvPr id="61" name="Rectangle 60"/>
          <p:cNvSpPr/>
          <p:nvPr/>
        </p:nvSpPr>
        <p:spPr>
          <a:xfrm>
            <a:off x="4099433" y="2219718"/>
            <a:ext cx="1694074" cy="157040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Ellipse 63"/>
          <p:cNvSpPr/>
          <p:nvPr/>
        </p:nvSpPr>
        <p:spPr>
          <a:xfrm flipV="1">
            <a:off x="571399" y="2611619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Ellipse 64"/>
          <p:cNvSpPr/>
          <p:nvPr/>
        </p:nvSpPr>
        <p:spPr>
          <a:xfrm flipV="1">
            <a:off x="576231" y="3256172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Ellipse 65"/>
          <p:cNvSpPr/>
          <p:nvPr/>
        </p:nvSpPr>
        <p:spPr>
          <a:xfrm flipV="1">
            <a:off x="576231" y="3877714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/>
          <p:cNvSpPr/>
          <p:nvPr/>
        </p:nvSpPr>
        <p:spPr>
          <a:xfrm>
            <a:off x="1263622" y="556317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391160" y="5533873"/>
            <a:ext cx="1008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Spécialité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2153833" y="557398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4233506" y="2347078"/>
            <a:ext cx="1080000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 smtClean="0"/>
              <a:t>C 1 (100 %)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42080" y="2818485"/>
            <a:ext cx="1080000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/>
              <a:t>C </a:t>
            </a:r>
            <a:r>
              <a:rPr lang="fr-FR" sz="1400" dirty="0" smtClean="0"/>
              <a:t>2 (</a:t>
            </a:r>
            <a:r>
              <a:rPr lang="fr-FR" sz="1400" dirty="0"/>
              <a:t>5</a:t>
            </a:r>
            <a:r>
              <a:rPr lang="fr-FR" sz="1400" dirty="0" smtClean="0"/>
              <a:t>0 </a:t>
            </a:r>
            <a:r>
              <a:rPr lang="fr-FR" sz="1400" dirty="0"/>
              <a:t>%)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238100" y="3314189"/>
            <a:ext cx="1080000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/>
              <a:t>C </a:t>
            </a:r>
            <a:r>
              <a:rPr lang="fr-FR" sz="1400" dirty="0" smtClean="0"/>
              <a:t>3 (</a:t>
            </a:r>
            <a:r>
              <a:rPr lang="fr-FR" sz="1400" dirty="0"/>
              <a:t>3</a:t>
            </a:r>
            <a:r>
              <a:rPr lang="fr-FR" sz="1400" dirty="0" smtClean="0"/>
              <a:t>0 </a:t>
            </a:r>
            <a:r>
              <a:rPr lang="fr-FR" sz="1400" dirty="0"/>
              <a:t>%)</a:t>
            </a:r>
            <a:endParaRPr lang="fr-FR" sz="1400" dirty="0" smtClean="0"/>
          </a:p>
        </p:txBody>
      </p:sp>
      <p:cxnSp>
        <p:nvCxnSpPr>
          <p:cNvPr id="104" name="Connecteur droit 103"/>
          <p:cNvCxnSpPr/>
          <p:nvPr/>
        </p:nvCxnSpPr>
        <p:spPr>
          <a:xfrm>
            <a:off x="5923437" y="1284154"/>
            <a:ext cx="0" cy="349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Rectangle 104"/>
          <p:cNvSpPr/>
          <p:nvPr/>
        </p:nvSpPr>
        <p:spPr>
          <a:xfrm>
            <a:off x="6055495" y="1867254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itre 1"/>
          <p:cNvSpPr txBox="1">
            <a:spLocks/>
          </p:cNvSpPr>
          <p:nvPr/>
        </p:nvSpPr>
        <p:spPr>
          <a:xfrm>
            <a:off x="6197866" y="1328178"/>
            <a:ext cx="141841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 traitant</a:t>
            </a:r>
            <a:endParaRPr lang="fr-FR" sz="1400" dirty="0"/>
          </a:p>
        </p:txBody>
      </p:sp>
      <p:cxnSp>
        <p:nvCxnSpPr>
          <p:cNvPr id="71" name="Connecteur droit 70"/>
          <p:cNvCxnSpPr/>
          <p:nvPr/>
        </p:nvCxnSpPr>
        <p:spPr>
          <a:xfrm>
            <a:off x="1616470" y="1297406"/>
            <a:ext cx="0" cy="349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necteur droit 71"/>
          <p:cNvCxnSpPr/>
          <p:nvPr/>
        </p:nvCxnSpPr>
        <p:spPr>
          <a:xfrm flipH="1" flipV="1">
            <a:off x="349226" y="1777201"/>
            <a:ext cx="792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Connecteur droit 73"/>
          <p:cNvCxnSpPr/>
          <p:nvPr/>
        </p:nvCxnSpPr>
        <p:spPr>
          <a:xfrm>
            <a:off x="947236" y="1290782"/>
            <a:ext cx="0" cy="349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5" name="Titre 1"/>
          <p:cNvSpPr txBox="1">
            <a:spLocks/>
          </p:cNvSpPr>
          <p:nvPr/>
        </p:nvSpPr>
        <p:spPr>
          <a:xfrm>
            <a:off x="336539" y="1323837"/>
            <a:ext cx="614229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Sélect</a:t>
            </a:r>
            <a:endParaRPr lang="fr-FR" sz="1400" dirty="0"/>
          </a:p>
        </p:txBody>
      </p:sp>
      <p:cxnSp>
        <p:nvCxnSpPr>
          <p:cNvPr id="76" name="Connecteur droit 75"/>
          <p:cNvCxnSpPr/>
          <p:nvPr/>
        </p:nvCxnSpPr>
        <p:spPr>
          <a:xfrm>
            <a:off x="4021744" y="1277530"/>
            <a:ext cx="0" cy="349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Titre 1"/>
          <p:cNvSpPr txBox="1">
            <a:spLocks/>
          </p:cNvSpPr>
          <p:nvPr/>
        </p:nvSpPr>
        <p:spPr>
          <a:xfrm>
            <a:off x="4330173" y="1344403"/>
            <a:ext cx="1258754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Pourcentage %</a:t>
            </a:r>
            <a:endParaRPr lang="fr-FR" sz="1400" dirty="0"/>
          </a:p>
        </p:txBody>
      </p:sp>
      <p:sp>
        <p:nvSpPr>
          <p:cNvPr id="80" name="Triangle isocèle 79"/>
          <p:cNvSpPr/>
          <p:nvPr/>
        </p:nvSpPr>
        <p:spPr>
          <a:xfrm rot="10800000">
            <a:off x="7554953" y="1887955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82" name="Connecteur droit 81"/>
          <p:cNvCxnSpPr/>
          <p:nvPr/>
        </p:nvCxnSpPr>
        <p:spPr>
          <a:xfrm flipH="1" flipV="1">
            <a:off x="329349" y="2393425"/>
            <a:ext cx="3672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Connecteur droit 87"/>
          <p:cNvCxnSpPr/>
          <p:nvPr/>
        </p:nvCxnSpPr>
        <p:spPr>
          <a:xfrm flipH="1" flipV="1">
            <a:off x="5928395" y="2400053"/>
            <a:ext cx="23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3" name="Connecteur droit 92"/>
          <p:cNvCxnSpPr/>
          <p:nvPr/>
        </p:nvCxnSpPr>
        <p:spPr>
          <a:xfrm flipH="1" flipV="1">
            <a:off x="349229" y="2969895"/>
            <a:ext cx="3672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4" name="Connecteur droit 93"/>
          <p:cNvCxnSpPr/>
          <p:nvPr/>
        </p:nvCxnSpPr>
        <p:spPr>
          <a:xfrm flipH="1" flipV="1">
            <a:off x="5948275" y="2976523"/>
            <a:ext cx="23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5" name="Connecteur droit 94"/>
          <p:cNvCxnSpPr/>
          <p:nvPr/>
        </p:nvCxnSpPr>
        <p:spPr>
          <a:xfrm flipH="1" flipV="1">
            <a:off x="349229" y="3645757"/>
            <a:ext cx="3672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Connecteur droit 109"/>
          <p:cNvCxnSpPr/>
          <p:nvPr/>
        </p:nvCxnSpPr>
        <p:spPr>
          <a:xfrm flipH="1" flipV="1">
            <a:off x="5948275" y="3652385"/>
            <a:ext cx="23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Connecteur droit 110"/>
          <p:cNvCxnSpPr/>
          <p:nvPr/>
        </p:nvCxnSpPr>
        <p:spPr>
          <a:xfrm flipH="1" flipV="1">
            <a:off x="316097" y="4222228"/>
            <a:ext cx="795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2" name="Rectangle 111"/>
          <p:cNvSpPr/>
          <p:nvPr/>
        </p:nvSpPr>
        <p:spPr>
          <a:xfrm>
            <a:off x="4151667" y="3841706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Rectangle 116"/>
          <p:cNvSpPr/>
          <p:nvPr/>
        </p:nvSpPr>
        <p:spPr>
          <a:xfrm>
            <a:off x="6075375" y="3835205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7574833" y="3842654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Ellipse 120"/>
          <p:cNvSpPr/>
          <p:nvPr/>
        </p:nvSpPr>
        <p:spPr>
          <a:xfrm flipV="1">
            <a:off x="557486" y="4431639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2" name="Rectangle 121"/>
          <p:cNvSpPr/>
          <p:nvPr/>
        </p:nvSpPr>
        <p:spPr>
          <a:xfrm>
            <a:off x="6075375" y="2562992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Triangle isocèle 125"/>
          <p:cNvSpPr/>
          <p:nvPr/>
        </p:nvSpPr>
        <p:spPr>
          <a:xfrm rot="10800000">
            <a:off x="7574833" y="2570441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6088625" y="4365288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Triangle isocèle 127"/>
          <p:cNvSpPr/>
          <p:nvPr/>
        </p:nvSpPr>
        <p:spPr>
          <a:xfrm rot="10800000">
            <a:off x="7588083" y="4372737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9" name="Rectangle 128"/>
          <p:cNvSpPr/>
          <p:nvPr/>
        </p:nvSpPr>
        <p:spPr>
          <a:xfrm>
            <a:off x="6088627" y="3159339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Triangle isocèle 129"/>
          <p:cNvSpPr/>
          <p:nvPr/>
        </p:nvSpPr>
        <p:spPr>
          <a:xfrm rot="10800000">
            <a:off x="7588085" y="3166788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1" name="Triangle isocèle 130"/>
          <p:cNvSpPr/>
          <p:nvPr/>
        </p:nvSpPr>
        <p:spPr>
          <a:xfrm rot="10800000">
            <a:off x="5646639" y="3862528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2" name="Rectangle 131"/>
          <p:cNvSpPr/>
          <p:nvPr/>
        </p:nvSpPr>
        <p:spPr>
          <a:xfrm>
            <a:off x="4145041" y="4351911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3" name="Triangle isocèle 132"/>
          <p:cNvSpPr/>
          <p:nvPr/>
        </p:nvSpPr>
        <p:spPr>
          <a:xfrm rot="10800000">
            <a:off x="5640013" y="4359481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4" name="Titre 1"/>
          <p:cNvSpPr txBox="1">
            <a:spLocks/>
          </p:cNvSpPr>
          <p:nvPr/>
        </p:nvSpPr>
        <p:spPr>
          <a:xfrm>
            <a:off x="999149" y="1920180"/>
            <a:ext cx="452132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 9</a:t>
            </a:r>
            <a:endParaRPr lang="fr-FR" sz="1400" dirty="0"/>
          </a:p>
        </p:txBody>
      </p:sp>
      <p:sp>
        <p:nvSpPr>
          <p:cNvPr id="135" name="Ellipse 134"/>
          <p:cNvSpPr/>
          <p:nvPr/>
        </p:nvSpPr>
        <p:spPr>
          <a:xfrm flipV="1">
            <a:off x="607107" y="2101296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810084" y="1893538"/>
            <a:ext cx="1750094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Dilatation pulmonaire</a:t>
            </a:r>
          </a:p>
        </p:txBody>
      </p:sp>
    </p:spTree>
    <p:extLst>
      <p:ext uri="{BB962C8B-B14F-4D97-AF65-F5344CB8AC3E}">
        <p14:creationId xmlns:p14="http://schemas.microsoft.com/office/powerpoint/2010/main" val="27167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07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Gestion des patients/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Liste des patients</a:t>
            </a:r>
            <a:endParaRPr lang="fr-FR" sz="1800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328478" y="2040141"/>
            <a:ext cx="126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d’entrée 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2"/>
            <a:ext cx="11758269" cy="54223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56" name="Rectangle 55"/>
          <p:cNvSpPr/>
          <p:nvPr/>
        </p:nvSpPr>
        <p:spPr>
          <a:xfrm>
            <a:off x="8190594" y="935112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1736" y="1975736"/>
            <a:ext cx="9972000" cy="270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3" name="Rectangle 122"/>
          <p:cNvSpPr/>
          <p:nvPr/>
        </p:nvSpPr>
        <p:spPr>
          <a:xfrm>
            <a:off x="3525849" y="958070"/>
            <a:ext cx="4507766" cy="30504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290682" y="757541"/>
            <a:ext cx="9936000" cy="71465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0" name="Ellipse 59"/>
          <p:cNvSpPr/>
          <p:nvPr/>
        </p:nvSpPr>
        <p:spPr>
          <a:xfrm flipV="1">
            <a:off x="8469709" y="2613470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Titre 1"/>
          <p:cNvSpPr txBox="1">
            <a:spLocks/>
          </p:cNvSpPr>
          <p:nvPr/>
        </p:nvSpPr>
        <p:spPr>
          <a:xfrm>
            <a:off x="288260" y="2032827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2297295" y="951420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629702" y="922119"/>
            <a:ext cx="169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Critère de recherche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3187506" y="962226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4" name="Connecteur droit 103"/>
          <p:cNvCxnSpPr/>
          <p:nvPr/>
        </p:nvCxnSpPr>
        <p:spPr>
          <a:xfrm>
            <a:off x="4384053" y="1999772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Titre 1"/>
          <p:cNvSpPr txBox="1">
            <a:spLocks/>
          </p:cNvSpPr>
          <p:nvPr/>
        </p:nvSpPr>
        <p:spPr>
          <a:xfrm>
            <a:off x="4436560" y="2058568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</a:t>
            </a:r>
            <a:endParaRPr lang="fr-FR" sz="1400" dirty="0"/>
          </a:p>
        </p:txBody>
      </p:sp>
      <p:cxnSp>
        <p:nvCxnSpPr>
          <p:cNvPr id="71" name="Connecteur droit 70"/>
          <p:cNvCxnSpPr/>
          <p:nvPr/>
        </p:nvCxnSpPr>
        <p:spPr>
          <a:xfrm>
            <a:off x="1285167" y="1999772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necteur droit 71"/>
          <p:cNvCxnSpPr/>
          <p:nvPr/>
        </p:nvCxnSpPr>
        <p:spPr>
          <a:xfrm flipH="1" flipV="1">
            <a:off x="349226" y="2479567"/>
            <a:ext cx="993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Connecteur droit 73"/>
          <p:cNvCxnSpPr/>
          <p:nvPr/>
        </p:nvCxnSpPr>
        <p:spPr>
          <a:xfrm>
            <a:off x="9110588" y="1993148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5" name="Titre 1"/>
          <p:cNvSpPr txBox="1">
            <a:spLocks/>
          </p:cNvSpPr>
          <p:nvPr/>
        </p:nvSpPr>
        <p:spPr>
          <a:xfrm>
            <a:off x="8073371" y="2039455"/>
            <a:ext cx="88172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Sélection</a:t>
            </a:r>
            <a:endParaRPr lang="fr-FR" sz="1400" dirty="0"/>
          </a:p>
        </p:txBody>
      </p:sp>
      <p:cxnSp>
        <p:nvCxnSpPr>
          <p:cNvPr id="76" name="Connecteur droit 75"/>
          <p:cNvCxnSpPr/>
          <p:nvPr/>
        </p:nvCxnSpPr>
        <p:spPr>
          <a:xfrm>
            <a:off x="2683275" y="1979896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Titre 1"/>
          <p:cNvSpPr txBox="1">
            <a:spLocks/>
          </p:cNvSpPr>
          <p:nvPr/>
        </p:nvSpPr>
        <p:spPr>
          <a:xfrm>
            <a:off x="2729055" y="2046769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</a:t>
            </a:r>
            <a:endParaRPr lang="fr-FR" sz="1400" dirty="0"/>
          </a:p>
        </p:txBody>
      </p:sp>
      <p:sp>
        <p:nvSpPr>
          <p:cNvPr id="134" name="Titre 1"/>
          <p:cNvSpPr txBox="1">
            <a:spLocks/>
          </p:cNvSpPr>
          <p:nvPr/>
        </p:nvSpPr>
        <p:spPr>
          <a:xfrm>
            <a:off x="449262" y="2515482"/>
            <a:ext cx="67071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9" name="Rectangle 8"/>
          <p:cNvSpPr/>
          <p:nvPr/>
        </p:nvSpPr>
        <p:spPr>
          <a:xfrm>
            <a:off x="1359068" y="2581742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14/05/2013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73" name="Ellipse 72"/>
          <p:cNvSpPr/>
          <p:nvPr/>
        </p:nvSpPr>
        <p:spPr>
          <a:xfrm flipV="1">
            <a:off x="9576263" y="260684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6" name="Connecteur droit 85"/>
          <p:cNvCxnSpPr/>
          <p:nvPr/>
        </p:nvCxnSpPr>
        <p:spPr>
          <a:xfrm>
            <a:off x="6110568" y="1973272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9" name="Titre 1"/>
          <p:cNvSpPr txBox="1">
            <a:spLocks/>
          </p:cNvSpPr>
          <p:nvPr/>
        </p:nvSpPr>
        <p:spPr>
          <a:xfrm>
            <a:off x="9261849" y="2032827"/>
            <a:ext cx="889001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Supprime </a:t>
            </a:r>
            <a:endParaRPr lang="fr-FR" sz="1400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6179524" y="2026770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naissance</a:t>
            </a:r>
            <a:endParaRPr lang="fr-FR" sz="1400" dirty="0"/>
          </a:p>
        </p:txBody>
      </p:sp>
      <p:cxnSp>
        <p:nvCxnSpPr>
          <p:cNvPr id="108" name="Connecteur droit 107"/>
          <p:cNvCxnSpPr/>
          <p:nvPr/>
        </p:nvCxnSpPr>
        <p:spPr>
          <a:xfrm>
            <a:off x="7884760" y="1973272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9" name="Rectangle 108"/>
          <p:cNvSpPr/>
          <p:nvPr/>
        </p:nvSpPr>
        <p:spPr>
          <a:xfrm>
            <a:off x="2902947" y="2575118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4645605" y="2581746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6441278" y="2588370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22/04/1972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6" name="Titre 1"/>
          <p:cNvSpPr txBox="1">
            <a:spLocks/>
          </p:cNvSpPr>
          <p:nvPr/>
        </p:nvSpPr>
        <p:spPr>
          <a:xfrm>
            <a:off x="329351" y="1518537"/>
            <a:ext cx="2501672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/>
              <a:t>Liste des </a:t>
            </a:r>
            <a:r>
              <a:rPr lang="fr-FR" sz="1600" b="1" u="sng" dirty="0" smtClean="0"/>
              <a:t>patients </a:t>
            </a:r>
            <a:r>
              <a:rPr lang="fr-FR" sz="1600" dirty="0" smtClean="0"/>
              <a:t>  </a:t>
            </a:r>
            <a:r>
              <a:rPr lang="fr-FR" sz="1600" b="1" u="sng" dirty="0" smtClean="0"/>
              <a:t>Exemple</a:t>
            </a:r>
            <a:endParaRPr lang="fr-FR" sz="1600" b="1" u="sng" dirty="0"/>
          </a:p>
        </p:txBody>
      </p:sp>
      <p:sp>
        <p:nvSpPr>
          <p:cNvPr id="119" name="Ellipse 118"/>
          <p:cNvSpPr/>
          <p:nvPr/>
        </p:nvSpPr>
        <p:spPr>
          <a:xfrm flipV="1">
            <a:off x="8436579" y="3123678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0" name="Connecteur droit 119"/>
          <p:cNvCxnSpPr/>
          <p:nvPr/>
        </p:nvCxnSpPr>
        <p:spPr>
          <a:xfrm flipH="1" flipV="1">
            <a:off x="316096" y="2936767"/>
            <a:ext cx="993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6" name="Ellipse 135"/>
          <p:cNvSpPr/>
          <p:nvPr/>
        </p:nvSpPr>
        <p:spPr>
          <a:xfrm flipV="1">
            <a:off x="9543133" y="313030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0" name="Ellipse 139"/>
          <p:cNvSpPr/>
          <p:nvPr/>
        </p:nvSpPr>
        <p:spPr>
          <a:xfrm flipV="1">
            <a:off x="8449833" y="3706774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1" name="Connecteur droit 140"/>
          <p:cNvCxnSpPr/>
          <p:nvPr/>
        </p:nvCxnSpPr>
        <p:spPr>
          <a:xfrm flipH="1" flipV="1">
            <a:off x="329350" y="3506611"/>
            <a:ext cx="993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3" name="Ellipse 142"/>
          <p:cNvSpPr/>
          <p:nvPr/>
        </p:nvSpPr>
        <p:spPr>
          <a:xfrm flipV="1">
            <a:off x="9556387" y="3700150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8" name="Ellipse 147"/>
          <p:cNvSpPr/>
          <p:nvPr/>
        </p:nvSpPr>
        <p:spPr>
          <a:xfrm flipV="1">
            <a:off x="8449833" y="4316372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9" name="Connecteur droit 148"/>
          <p:cNvCxnSpPr/>
          <p:nvPr/>
        </p:nvCxnSpPr>
        <p:spPr>
          <a:xfrm flipH="1" flipV="1">
            <a:off x="329350" y="4076453"/>
            <a:ext cx="993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1" name="Ellipse 150"/>
          <p:cNvSpPr/>
          <p:nvPr/>
        </p:nvSpPr>
        <p:spPr>
          <a:xfrm flipV="1">
            <a:off x="9556387" y="4309748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Titre 1"/>
          <p:cNvSpPr txBox="1">
            <a:spLocks/>
          </p:cNvSpPr>
          <p:nvPr/>
        </p:nvSpPr>
        <p:spPr>
          <a:xfrm>
            <a:off x="469142" y="2992212"/>
            <a:ext cx="67071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</a:t>
            </a:r>
            <a:endParaRPr lang="fr-FR" sz="1800" b="1" dirty="0"/>
          </a:p>
        </p:txBody>
      </p:sp>
      <p:sp>
        <p:nvSpPr>
          <p:cNvPr id="157" name="Titre 1"/>
          <p:cNvSpPr txBox="1">
            <a:spLocks/>
          </p:cNvSpPr>
          <p:nvPr/>
        </p:nvSpPr>
        <p:spPr>
          <a:xfrm>
            <a:off x="462518" y="3568679"/>
            <a:ext cx="67071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</a:t>
            </a:r>
            <a:endParaRPr lang="fr-FR" sz="1800" b="1" dirty="0"/>
          </a:p>
        </p:txBody>
      </p:sp>
      <p:sp>
        <p:nvSpPr>
          <p:cNvPr id="158" name="Titre 1"/>
          <p:cNvSpPr txBox="1">
            <a:spLocks/>
          </p:cNvSpPr>
          <p:nvPr/>
        </p:nvSpPr>
        <p:spPr>
          <a:xfrm>
            <a:off x="469142" y="4131895"/>
            <a:ext cx="67071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</a:t>
            </a:r>
            <a:endParaRPr lang="fr-FR" sz="1800" b="1" dirty="0"/>
          </a:p>
        </p:txBody>
      </p:sp>
      <p:sp>
        <p:nvSpPr>
          <p:cNvPr id="159" name="Titre 1"/>
          <p:cNvSpPr txBox="1">
            <a:spLocks/>
          </p:cNvSpPr>
          <p:nvPr/>
        </p:nvSpPr>
        <p:spPr>
          <a:xfrm>
            <a:off x="1410047" y="2978960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0" name="Titre 1"/>
          <p:cNvSpPr txBox="1">
            <a:spLocks/>
          </p:cNvSpPr>
          <p:nvPr/>
        </p:nvSpPr>
        <p:spPr>
          <a:xfrm>
            <a:off x="1403423" y="3581935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1" name="Titre 1"/>
          <p:cNvSpPr txBox="1">
            <a:spLocks/>
          </p:cNvSpPr>
          <p:nvPr/>
        </p:nvSpPr>
        <p:spPr>
          <a:xfrm>
            <a:off x="1390170" y="4138524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2" name="Titre 1"/>
          <p:cNvSpPr txBox="1">
            <a:spLocks/>
          </p:cNvSpPr>
          <p:nvPr/>
        </p:nvSpPr>
        <p:spPr>
          <a:xfrm>
            <a:off x="2940671" y="2972336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3" name="Titre 1"/>
          <p:cNvSpPr txBox="1">
            <a:spLocks/>
          </p:cNvSpPr>
          <p:nvPr/>
        </p:nvSpPr>
        <p:spPr>
          <a:xfrm>
            <a:off x="2934047" y="3575311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4" name="Titre 1"/>
          <p:cNvSpPr txBox="1">
            <a:spLocks/>
          </p:cNvSpPr>
          <p:nvPr/>
        </p:nvSpPr>
        <p:spPr>
          <a:xfrm>
            <a:off x="2920794" y="4131900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5" name="Titre 1"/>
          <p:cNvSpPr txBox="1">
            <a:spLocks/>
          </p:cNvSpPr>
          <p:nvPr/>
        </p:nvSpPr>
        <p:spPr>
          <a:xfrm>
            <a:off x="4636953" y="2998840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6" name="Titre 1"/>
          <p:cNvSpPr txBox="1">
            <a:spLocks/>
          </p:cNvSpPr>
          <p:nvPr/>
        </p:nvSpPr>
        <p:spPr>
          <a:xfrm>
            <a:off x="4630329" y="3601815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7" name="Titre 1"/>
          <p:cNvSpPr txBox="1">
            <a:spLocks/>
          </p:cNvSpPr>
          <p:nvPr/>
        </p:nvSpPr>
        <p:spPr>
          <a:xfrm>
            <a:off x="4617076" y="4158404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8" name="Titre 1"/>
          <p:cNvSpPr txBox="1">
            <a:spLocks/>
          </p:cNvSpPr>
          <p:nvPr/>
        </p:nvSpPr>
        <p:spPr>
          <a:xfrm>
            <a:off x="6439250" y="2985586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9" name="Titre 1"/>
          <p:cNvSpPr txBox="1">
            <a:spLocks/>
          </p:cNvSpPr>
          <p:nvPr/>
        </p:nvSpPr>
        <p:spPr>
          <a:xfrm>
            <a:off x="6432626" y="3588561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70" name="Titre 1"/>
          <p:cNvSpPr txBox="1">
            <a:spLocks/>
          </p:cNvSpPr>
          <p:nvPr/>
        </p:nvSpPr>
        <p:spPr>
          <a:xfrm>
            <a:off x="6419373" y="4145150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72" name="Titre 1"/>
          <p:cNvSpPr txBox="1">
            <a:spLocks/>
          </p:cNvSpPr>
          <p:nvPr/>
        </p:nvSpPr>
        <p:spPr>
          <a:xfrm>
            <a:off x="440660" y="5312738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2831022" y="5299633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175" name="Titre 1"/>
          <p:cNvSpPr txBox="1">
            <a:spLocks/>
          </p:cNvSpPr>
          <p:nvPr/>
        </p:nvSpPr>
        <p:spPr>
          <a:xfrm>
            <a:off x="1821443" y="5290752"/>
            <a:ext cx="67071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77" name="Titre 1"/>
          <p:cNvSpPr txBox="1">
            <a:spLocks/>
          </p:cNvSpPr>
          <p:nvPr/>
        </p:nvSpPr>
        <p:spPr>
          <a:xfrm>
            <a:off x="5658389" y="5319145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178" name="Rectangle 177"/>
          <p:cNvSpPr/>
          <p:nvPr/>
        </p:nvSpPr>
        <p:spPr>
          <a:xfrm>
            <a:off x="3691406" y="5365442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79" name="Rectangle 178"/>
          <p:cNvSpPr/>
          <p:nvPr/>
        </p:nvSpPr>
        <p:spPr>
          <a:xfrm>
            <a:off x="4355884" y="5371483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6003571" y="5378712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1628058" y="535776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2" name="Rectangle 181"/>
          <p:cNvSpPr/>
          <p:nvPr/>
        </p:nvSpPr>
        <p:spPr>
          <a:xfrm>
            <a:off x="3821294" y="5351140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3" name="Rectangle 182"/>
          <p:cNvSpPr/>
          <p:nvPr/>
        </p:nvSpPr>
        <p:spPr>
          <a:xfrm>
            <a:off x="6193437" y="5364392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4" name="Rectangle 183"/>
          <p:cNvSpPr/>
          <p:nvPr/>
        </p:nvSpPr>
        <p:spPr>
          <a:xfrm>
            <a:off x="350318" y="5150633"/>
            <a:ext cx="9936000" cy="71465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5" name="Titre 1"/>
          <p:cNvSpPr txBox="1">
            <a:spLocks/>
          </p:cNvSpPr>
          <p:nvPr/>
        </p:nvSpPr>
        <p:spPr>
          <a:xfrm>
            <a:off x="294888" y="4746692"/>
            <a:ext cx="1828492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r>
              <a:rPr lang="fr-FR" sz="1600" dirty="0"/>
              <a:t> </a:t>
            </a:r>
            <a:r>
              <a:rPr lang="fr-FR" sz="1600" dirty="0" smtClean="0"/>
              <a:t>  </a:t>
            </a:r>
            <a:r>
              <a:rPr lang="fr-FR" sz="1600" b="1" u="sng" dirty="0" smtClean="0"/>
              <a:t>Exemple</a:t>
            </a:r>
            <a:endParaRPr lang="fr-FR" sz="1600" b="1" u="sng" dirty="0"/>
          </a:p>
        </p:txBody>
      </p:sp>
      <p:sp>
        <p:nvSpPr>
          <p:cNvPr id="186" name="Titre 1"/>
          <p:cNvSpPr txBox="1">
            <a:spLocks/>
          </p:cNvSpPr>
          <p:nvPr/>
        </p:nvSpPr>
        <p:spPr>
          <a:xfrm>
            <a:off x="86068" y="6277866"/>
            <a:ext cx="9814594" cy="4239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Critère de recherche</a:t>
            </a:r>
            <a:r>
              <a:rPr lang="fr-FR" sz="1400" b="1" dirty="0"/>
              <a:t> </a:t>
            </a:r>
            <a:r>
              <a:rPr lang="fr-FR" sz="1400" b="1" dirty="0" smtClean="0"/>
              <a:t>: </a:t>
            </a:r>
            <a:r>
              <a:rPr lang="fr-FR" sz="1400" dirty="0" smtClean="0"/>
              <a:t>Nom de naissance, prénom, service, N° dossier</a:t>
            </a:r>
          </a:p>
        </p:txBody>
      </p:sp>
    </p:spTree>
    <p:extLst>
      <p:ext uri="{BB962C8B-B14F-4D97-AF65-F5344CB8AC3E}">
        <p14:creationId xmlns:p14="http://schemas.microsoft.com/office/powerpoint/2010/main" val="861691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08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Fiche patient/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Etat civil</a:t>
            </a:r>
            <a:endParaRPr lang="fr-FR" sz="18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0"/>
            <a:ext cx="11758269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892310" y="1845105"/>
            <a:ext cx="180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1920696" y="1297413"/>
            <a:ext cx="9936000" cy="133732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43016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768325" y="1410495"/>
            <a:ext cx="1191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Provenance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4801558" y="1426004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7009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6878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3345444" y="7717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7073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5453943" y="7934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118421" y="7994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766108" y="7802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3152059" y="7460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7393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7526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6316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776035" y="81780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87049" y="1480037"/>
            <a:ext cx="144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Fiche d’identification</a:t>
            </a:r>
            <a:endParaRPr lang="fr-FR" sz="1600" b="1" u="sng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1911649" y="1813849"/>
            <a:ext cx="205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d’hospitalisation</a:t>
            </a:r>
            <a:endParaRPr lang="fr-FR" sz="1400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5510711" y="1859698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Titre 1"/>
          <p:cNvSpPr txBox="1">
            <a:spLocks/>
          </p:cNvSpPr>
          <p:nvPr/>
        </p:nvSpPr>
        <p:spPr>
          <a:xfrm>
            <a:off x="2412186" y="2215180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d’accueil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892310" y="2262549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5804035" y="1793420"/>
            <a:ext cx="151992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d’admission</a:t>
            </a:r>
            <a:endParaRPr lang="fr-FR" sz="1400" dirty="0"/>
          </a:p>
        </p:txBody>
      </p:sp>
      <p:sp>
        <p:nvSpPr>
          <p:cNvPr id="105" name="Triangle isocèle 104"/>
          <p:cNvSpPr/>
          <p:nvPr/>
        </p:nvSpPr>
        <p:spPr>
          <a:xfrm rot="10800000">
            <a:off x="5510710" y="2262146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5665777" y="2198473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dépôt</a:t>
            </a:r>
            <a:endParaRPr lang="fr-FR" sz="1400" dirty="0"/>
          </a:p>
        </p:txBody>
      </p:sp>
      <p:sp>
        <p:nvSpPr>
          <p:cNvPr id="117" name="Rectangle 116"/>
          <p:cNvSpPr/>
          <p:nvPr/>
        </p:nvSpPr>
        <p:spPr>
          <a:xfrm>
            <a:off x="7344512" y="1838481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Rectangle 120"/>
          <p:cNvSpPr/>
          <p:nvPr/>
        </p:nvSpPr>
        <p:spPr>
          <a:xfrm>
            <a:off x="10210593" y="2217711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Triangle isocèle 121"/>
          <p:cNvSpPr/>
          <p:nvPr/>
        </p:nvSpPr>
        <p:spPr>
          <a:xfrm rot="10800000">
            <a:off x="11449157" y="221785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9241353" y="1800632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125" name="Rectangle 124"/>
          <p:cNvSpPr/>
          <p:nvPr/>
        </p:nvSpPr>
        <p:spPr>
          <a:xfrm>
            <a:off x="10210593" y="1804450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7354749" y="2224339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9247981" y="2204823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Statut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526185" y="3205523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1940119" y="3110754"/>
            <a:ext cx="161995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 *</a:t>
            </a:r>
            <a:endParaRPr lang="fr-FR" sz="1400" dirty="0"/>
          </a:p>
        </p:txBody>
      </p:sp>
      <p:sp>
        <p:nvSpPr>
          <p:cNvPr id="110" name="Rectangle 109"/>
          <p:cNvSpPr/>
          <p:nvPr/>
        </p:nvSpPr>
        <p:spPr>
          <a:xfrm>
            <a:off x="6393584" y="3212125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2" name="Titre 1"/>
          <p:cNvSpPr txBox="1">
            <a:spLocks/>
          </p:cNvSpPr>
          <p:nvPr/>
        </p:nvSpPr>
        <p:spPr>
          <a:xfrm>
            <a:off x="5521309" y="3183020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 *</a:t>
            </a:r>
            <a:endParaRPr lang="fr-FR" sz="1400" dirty="0"/>
          </a:p>
        </p:txBody>
      </p:sp>
      <p:sp>
        <p:nvSpPr>
          <p:cNvPr id="116" name="Rectangle 115"/>
          <p:cNvSpPr/>
          <p:nvPr/>
        </p:nvSpPr>
        <p:spPr>
          <a:xfrm>
            <a:off x="3526184" y="3602351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itre 1"/>
          <p:cNvSpPr txBox="1">
            <a:spLocks/>
          </p:cNvSpPr>
          <p:nvPr/>
        </p:nvSpPr>
        <p:spPr>
          <a:xfrm>
            <a:off x="1918572" y="3532780"/>
            <a:ext cx="1678782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 naissance *</a:t>
            </a:r>
            <a:endParaRPr lang="fr-FR" sz="1400" dirty="0"/>
          </a:p>
        </p:txBody>
      </p:sp>
      <p:sp>
        <p:nvSpPr>
          <p:cNvPr id="126" name="Rectangle 125"/>
          <p:cNvSpPr/>
          <p:nvPr/>
        </p:nvSpPr>
        <p:spPr>
          <a:xfrm>
            <a:off x="6399277" y="3605302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5408537" y="3574604"/>
            <a:ext cx="97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Wilaya de  naissance</a:t>
            </a:r>
            <a:endParaRPr lang="fr-FR" sz="1400" dirty="0"/>
          </a:p>
        </p:txBody>
      </p:sp>
      <p:sp>
        <p:nvSpPr>
          <p:cNvPr id="135" name="Rectangle 134"/>
          <p:cNvSpPr/>
          <p:nvPr/>
        </p:nvSpPr>
        <p:spPr>
          <a:xfrm>
            <a:off x="9395135" y="3205523"/>
            <a:ext cx="90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7" name="Titre 1"/>
          <p:cNvSpPr txBox="1">
            <a:spLocks/>
          </p:cNvSpPr>
          <p:nvPr/>
        </p:nvSpPr>
        <p:spPr>
          <a:xfrm>
            <a:off x="8740812" y="3183010"/>
            <a:ext cx="58288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Sexe</a:t>
            </a:r>
            <a:endParaRPr lang="fr-FR" sz="1400" dirty="0"/>
          </a:p>
        </p:txBody>
      </p:sp>
      <p:sp>
        <p:nvSpPr>
          <p:cNvPr id="145" name="Rectangle 144"/>
          <p:cNvSpPr/>
          <p:nvPr/>
        </p:nvSpPr>
        <p:spPr>
          <a:xfrm>
            <a:off x="9393907" y="3630558"/>
            <a:ext cx="144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6" name="Titre 1"/>
          <p:cNvSpPr txBox="1">
            <a:spLocks/>
          </p:cNvSpPr>
          <p:nvPr/>
        </p:nvSpPr>
        <p:spPr>
          <a:xfrm>
            <a:off x="8196079" y="3597468"/>
            <a:ext cx="126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 de  naissance</a:t>
            </a:r>
            <a:endParaRPr lang="fr-FR" sz="1400" dirty="0"/>
          </a:p>
        </p:txBody>
      </p:sp>
      <p:sp>
        <p:nvSpPr>
          <p:cNvPr id="150" name="Titre 1"/>
          <p:cNvSpPr txBox="1">
            <a:spLocks/>
          </p:cNvSpPr>
          <p:nvPr/>
        </p:nvSpPr>
        <p:spPr>
          <a:xfrm>
            <a:off x="6480516" y="4741583"/>
            <a:ext cx="76481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Wilaya </a:t>
            </a:r>
            <a:endParaRPr lang="fr-FR" sz="1200" dirty="0"/>
          </a:p>
        </p:txBody>
      </p:sp>
      <p:sp>
        <p:nvSpPr>
          <p:cNvPr id="152" name="Rectangle 151"/>
          <p:cNvSpPr/>
          <p:nvPr/>
        </p:nvSpPr>
        <p:spPr>
          <a:xfrm>
            <a:off x="3544438" y="4791841"/>
            <a:ext cx="2808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3" name="Titre 1"/>
          <p:cNvSpPr txBox="1">
            <a:spLocks/>
          </p:cNvSpPr>
          <p:nvPr/>
        </p:nvSpPr>
        <p:spPr>
          <a:xfrm>
            <a:off x="2703780" y="4754141"/>
            <a:ext cx="92947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 * </a:t>
            </a:r>
            <a:endParaRPr lang="fr-FR" sz="1400" dirty="0"/>
          </a:p>
        </p:txBody>
      </p:sp>
      <p:sp>
        <p:nvSpPr>
          <p:cNvPr id="154" name="Rectangle 153"/>
          <p:cNvSpPr/>
          <p:nvPr/>
        </p:nvSpPr>
        <p:spPr>
          <a:xfrm>
            <a:off x="7184879" y="4774641"/>
            <a:ext cx="90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6" name="Titre 1"/>
          <p:cNvSpPr txBox="1">
            <a:spLocks/>
          </p:cNvSpPr>
          <p:nvPr/>
        </p:nvSpPr>
        <p:spPr>
          <a:xfrm>
            <a:off x="8041883" y="4732086"/>
            <a:ext cx="97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</a:t>
            </a:r>
            <a:endParaRPr lang="fr-FR" sz="1200" dirty="0" smtClean="0"/>
          </a:p>
        </p:txBody>
      </p:sp>
      <p:sp>
        <p:nvSpPr>
          <p:cNvPr id="171" name="Rectangle 170"/>
          <p:cNvSpPr/>
          <p:nvPr/>
        </p:nvSpPr>
        <p:spPr>
          <a:xfrm>
            <a:off x="8972082" y="4762509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2" name="Titre 1"/>
          <p:cNvSpPr txBox="1">
            <a:spLocks/>
          </p:cNvSpPr>
          <p:nvPr/>
        </p:nvSpPr>
        <p:spPr>
          <a:xfrm>
            <a:off x="10095309" y="4747104"/>
            <a:ext cx="108300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Postal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1077044" y="4762971"/>
            <a:ext cx="67198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5648661" y="5177416"/>
            <a:ext cx="679072" cy="337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E-mail</a:t>
            </a:r>
            <a:endParaRPr lang="fr-FR" sz="1400" dirty="0"/>
          </a:p>
        </p:txBody>
      </p:sp>
      <p:sp>
        <p:nvSpPr>
          <p:cNvPr id="175" name="Rectangle 174"/>
          <p:cNvSpPr/>
          <p:nvPr/>
        </p:nvSpPr>
        <p:spPr>
          <a:xfrm>
            <a:off x="6400925" y="5160104"/>
            <a:ext cx="1660572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6" name="Titre 1"/>
          <p:cNvSpPr txBox="1">
            <a:spLocks/>
          </p:cNvSpPr>
          <p:nvPr/>
        </p:nvSpPr>
        <p:spPr>
          <a:xfrm>
            <a:off x="2613783" y="5185725"/>
            <a:ext cx="106371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</a:t>
            </a:r>
            <a:endParaRPr lang="fr-FR" sz="1400" dirty="0"/>
          </a:p>
        </p:txBody>
      </p:sp>
      <p:sp>
        <p:nvSpPr>
          <p:cNvPr id="177" name="Rectangle 176"/>
          <p:cNvSpPr/>
          <p:nvPr/>
        </p:nvSpPr>
        <p:spPr>
          <a:xfrm>
            <a:off x="3550917" y="5183124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8" name="Rectangle 177"/>
          <p:cNvSpPr/>
          <p:nvPr/>
        </p:nvSpPr>
        <p:spPr>
          <a:xfrm>
            <a:off x="1888742" y="3124982"/>
            <a:ext cx="9972000" cy="320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9" name="Rectangle 178"/>
          <p:cNvSpPr/>
          <p:nvPr/>
        </p:nvSpPr>
        <p:spPr>
          <a:xfrm>
            <a:off x="3555871" y="5941349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0" name="Titre 1"/>
          <p:cNvSpPr txBox="1">
            <a:spLocks/>
          </p:cNvSpPr>
          <p:nvPr/>
        </p:nvSpPr>
        <p:spPr>
          <a:xfrm>
            <a:off x="2776174" y="5885544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Type </a:t>
            </a:r>
            <a:r>
              <a:rPr lang="fr-FR" sz="1400" dirty="0" smtClean="0"/>
              <a:t>P.I</a:t>
            </a:r>
            <a:endParaRPr lang="fr-FR" sz="1400" dirty="0"/>
          </a:p>
        </p:txBody>
      </p:sp>
      <p:sp>
        <p:nvSpPr>
          <p:cNvPr id="181" name="Rectangle 180"/>
          <p:cNvSpPr/>
          <p:nvPr/>
        </p:nvSpPr>
        <p:spPr>
          <a:xfrm>
            <a:off x="8776585" y="5940935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2" name="Rectangle 181"/>
          <p:cNvSpPr/>
          <p:nvPr/>
        </p:nvSpPr>
        <p:spPr>
          <a:xfrm>
            <a:off x="6390754" y="5932060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3" name="Titre 1"/>
          <p:cNvSpPr txBox="1">
            <a:spLocks/>
          </p:cNvSpPr>
          <p:nvPr/>
        </p:nvSpPr>
        <p:spPr>
          <a:xfrm>
            <a:off x="5702375" y="5899314"/>
            <a:ext cx="60442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P.I</a:t>
            </a:r>
            <a:endParaRPr lang="fr-FR" sz="1400" dirty="0"/>
          </a:p>
        </p:txBody>
      </p:sp>
      <p:sp>
        <p:nvSpPr>
          <p:cNvPr id="184" name="Triangle isocèle 183"/>
          <p:cNvSpPr/>
          <p:nvPr/>
        </p:nvSpPr>
        <p:spPr>
          <a:xfrm rot="10800000">
            <a:off x="4693029" y="5952155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5" name="Rectangle 184"/>
          <p:cNvSpPr/>
          <p:nvPr/>
        </p:nvSpPr>
        <p:spPr>
          <a:xfrm>
            <a:off x="10779649" y="5925420"/>
            <a:ext cx="987416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7" name="Titre 1"/>
          <p:cNvSpPr txBox="1">
            <a:spLocks/>
          </p:cNvSpPr>
          <p:nvPr/>
        </p:nvSpPr>
        <p:spPr>
          <a:xfrm>
            <a:off x="9919997" y="5904935"/>
            <a:ext cx="900000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le</a:t>
            </a:r>
          </a:p>
        </p:txBody>
      </p:sp>
      <p:sp>
        <p:nvSpPr>
          <p:cNvPr id="188" name="Titre 1"/>
          <p:cNvSpPr txBox="1">
            <a:spLocks/>
          </p:cNvSpPr>
          <p:nvPr/>
        </p:nvSpPr>
        <p:spPr>
          <a:xfrm>
            <a:off x="7823677" y="5906376"/>
            <a:ext cx="97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</a:t>
            </a:r>
            <a:r>
              <a:rPr lang="fr-FR" sz="1400" dirty="0" smtClean="0"/>
              <a:t>par</a:t>
            </a:r>
            <a:endParaRPr lang="fr-FR" sz="1400" dirty="0"/>
          </a:p>
        </p:txBody>
      </p:sp>
      <p:sp>
        <p:nvSpPr>
          <p:cNvPr id="197" name="Rectangle 196"/>
          <p:cNvSpPr/>
          <p:nvPr/>
        </p:nvSpPr>
        <p:spPr>
          <a:xfrm>
            <a:off x="3537665" y="4000567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8" name="Titre 1"/>
          <p:cNvSpPr txBox="1">
            <a:spLocks/>
          </p:cNvSpPr>
          <p:nvPr/>
        </p:nvSpPr>
        <p:spPr>
          <a:xfrm>
            <a:off x="2064541" y="3931205"/>
            <a:ext cx="151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Situation familiale</a:t>
            </a:r>
            <a:endParaRPr lang="fr-FR" sz="1400" dirty="0"/>
          </a:p>
        </p:txBody>
      </p:sp>
      <p:sp>
        <p:nvSpPr>
          <p:cNvPr id="199" name="Rectangle 198"/>
          <p:cNvSpPr/>
          <p:nvPr/>
        </p:nvSpPr>
        <p:spPr>
          <a:xfrm>
            <a:off x="6406306" y="3997317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0" name="Titre 1"/>
          <p:cNvSpPr txBox="1">
            <a:spLocks/>
          </p:cNvSpPr>
          <p:nvPr/>
        </p:nvSpPr>
        <p:spPr>
          <a:xfrm>
            <a:off x="5289681" y="4004860"/>
            <a:ext cx="1080000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marital</a:t>
            </a:r>
            <a:endParaRPr lang="fr-FR" sz="1400" dirty="0"/>
          </a:p>
        </p:txBody>
      </p:sp>
      <p:sp>
        <p:nvSpPr>
          <p:cNvPr id="201" name="Rectangle 200"/>
          <p:cNvSpPr/>
          <p:nvPr/>
        </p:nvSpPr>
        <p:spPr>
          <a:xfrm>
            <a:off x="3549247" y="4397473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2" name="Titre 1"/>
          <p:cNvSpPr txBox="1">
            <a:spLocks/>
          </p:cNvSpPr>
          <p:nvPr/>
        </p:nvSpPr>
        <p:spPr>
          <a:xfrm>
            <a:off x="2225273" y="4368534"/>
            <a:ext cx="133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Niveau scolaire</a:t>
            </a:r>
            <a:endParaRPr lang="fr-FR" sz="1400" dirty="0"/>
          </a:p>
        </p:txBody>
      </p:sp>
      <p:sp>
        <p:nvSpPr>
          <p:cNvPr id="203" name="Triangle isocèle 202"/>
          <p:cNvSpPr/>
          <p:nvPr/>
        </p:nvSpPr>
        <p:spPr>
          <a:xfrm rot="10800000">
            <a:off x="4687993" y="4410355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4" name="Rectangle 203"/>
          <p:cNvSpPr/>
          <p:nvPr/>
        </p:nvSpPr>
        <p:spPr>
          <a:xfrm>
            <a:off x="6387840" y="4382780"/>
            <a:ext cx="1625743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5" name="Titre 1"/>
          <p:cNvSpPr txBox="1">
            <a:spLocks/>
          </p:cNvSpPr>
          <p:nvPr/>
        </p:nvSpPr>
        <p:spPr>
          <a:xfrm>
            <a:off x="5428566" y="4366218"/>
            <a:ext cx="1044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Profession </a:t>
            </a:r>
            <a:endParaRPr lang="fr-FR" sz="1400" dirty="0"/>
          </a:p>
        </p:txBody>
      </p:sp>
      <p:sp>
        <p:nvSpPr>
          <p:cNvPr id="208" name="Rectangle 207"/>
          <p:cNvSpPr/>
          <p:nvPr/>
        </p:nvSpPr>
        <p:spPr>
          <a:xfrm>
            <a:off x="3549245" y="5563665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9" name="Titre 1"/>
          <p:cNvSpPr txBox="1">
            <a:spLocks/>
          </p:cNvSpPr>
          <p:nvPr/>
        </p:nvSpPr>
        <p:spPr>
          <a:xfrm>
            <a:off x="2862312" y="5507860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Parent</a:t>
            </a:r>
            <a:endParaRPr lang="fr-FR" sz="1400" dirty="0"/>
          </a:p>
        </p:txBody>
      </p:sp>
      <p:sp>
        <p:nvSpPr>
          <p:cNvPr id="210" name="Rectangle 209"/>
          <p:cNvSpPr/>
          <p:nvPr/>
        </p:nvSpPr>
        <p:spPr>
          <a:xfrm>
            <a:off x="6383447" y="5542541"/>
            <a:ext cx="1512000" cy="29587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1" name="Titre 1"/>
          <p:cNvSpPr txBox="1">
            <a:spLocks/>
          </p:cNvSpPr>
          <p:nvPr/>
        </p:nvSpPr>
        <p:spPr>
          <a:xfrm>
            <a:off x="5455623" y="5507860"/>
            <a:ext cx="100463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 </a:t>
            </a:r>
            <a:endParaRPr lang="fr-FR" sz="1400" dirty="0"/>
          </a:p>
        </p:txBody>
      </p:sp>
      <p:sp>
        <p:nvSpPr>
          <p:cNvPr id="212" name="Triangle isocèle 211"/>
          <p:cNvSpPr/>
          <p:nvPr/>
        </p:nvSpPr>
        <p:spPr>
          <a:xfrm rot="10800000">
            <a:off x="4699655" y="5574471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3" name="Titre 1"/>
          <p:cNvSpPr txBox="1">
            <a:spLocks/>
          </p:cNvSpPr>
          <p:nvPr/>
        </p:nvSpPr>
        <p:spPr>
          <a:xfrm>
            <a:off x="8432822" y="3983340"/>
            <a:ext cx="900000" cy="4177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 sanguine</a:t>
            </a:r>
            <a:endParaRPr lang="fr-FR" sz="1200" dirty="0" smtClean="0"/>
          </a:p>
        </p:txBody>
      </p:sp>
      <p:sp>
        <p:nvSpPr>
          <p:cNvPr id="214" name="Rectangle 213"/>
          <p:cNvSpPr/>
          <p:nvPr/>
        </p:nvSpPr>
        <p:spPr>
          <a:xfrm>
            <a:off x="9393907" y="4051900"/>
            <a:ext cx="90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5" name="Rectangle 214"/>
          <p:cNvSpPr/>
          <p:nvPr/>
        </p:nvSpPr>
        <p:spPr>
          <a:xfrm>
            <a:off x="9939877" y="6395016"/>
            <a:ext cx="19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code barre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502016" y="640164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Annuler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077403" y="639501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Modifier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2967401" y="2701077"/>
            <a:ext cx="133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Etat civil</a:t>
            </a:r>
            <a:endParaRPr lang="fr-FR" sz="1400" dirty="0"/>
          </a:p>
        </p:txBody>
      </p:sp>
      <p:sp>
        <p:nvSpPr>
          <p:cNvPr id="220" name="Rectangle 219"/>
          <p:cNvSpPr/>
          <p:nvPr/>
        </p:nvSpPr>
        <p:spPr>
          <a:xfrm>
            <a:off x="4405262" y="2707705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Sécurité sociale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833836" y="2700725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Mode de transport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7627280" y="2706594"/>
            <a:ext cx="31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Personne à prévenir en cas de nécessité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914275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09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Fiche patient/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Sécurité sociale</a:t>
            </a:r>
            <a:endParaRPr lang="fr-FR" sz="18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0"/>
            <a:ext cx="11758269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892310" y="1871612"/>
            <a:ext cx="180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1920696" y="1323920"/>
            <a:ext cx="9936000" cy="133732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456671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768325" y="1437002"/>
            <a:ext cx="1191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Provenance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4801558" y="1452511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727493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714388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733900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5" name="Rectangle 84"/>
          <p:cNvSpPr/>
          <p:nvPr/>
        </p:nvSpPr>
        <p:spPr>
          <a:xfrm>
            <a:off x="3152059" y="772519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765895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779147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658151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776035" y="75154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87049" y="1347517"/>
            <a:ext cx="144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Fiche d’identification</a:t>
            </a:r>
            <a:endParaRPr lang="fr-FR" sz="1600" b="1" u="sng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1911649" y="1840356"/>
            <a:ext cx="205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d’hospitalisation</a:t>
            </a:r>
            <a:endParaRPr lang="fr-FR" sz="1400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5510711" y="1886205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Titre 1"/>
          <p:cNvSpPr txBox="1">
            <a:spLocks/>
          </p:cNvSpPr>
          <p:nvPr/>
        </p:nvSpPr>
        <p:spPr>
          <a:xfrm>
            <a:off x="2412186" y="2241687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d’accueil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892310" y="2289056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5804035" y="1819927"/>
            <a:ext cx="151992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d’admission</a:t>
            </a:r>
            <a:endParaRPr lang="fr-FR" sz="1400" dirty="0"/>
          </a:p>
        </p:txBody>
      </p:sp>
      <p:sp>
        <p:nvSpPr>
          <p:cNvPr id="105" name="Triangle isocèle 104"/>
          <p:cNvSpPr/>
          <p:nvPr/>
        </p:nvSpPr>
        <p:spPr>
          <a:xfrm rot="10800000">
            <a:off x="5510710" y="228865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5983827" y="2224980"/>
            <a:ext cx="133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dépôt</a:t>
            </a:r>
            <a:endParaRPr lang="fr-FR" sz="1400" dirty="0"/>
          </a:p>
        </p:txBody>
      </p:sp>
      <p:sp>
        <p:nvSpPr>
          <p:cNvPr id="117" name="Rectangle 116"/>
          <p:cNvSpPr/>
          <p:nvPr/>
        </p:nvSpPr>
        <p:spPr>
          <a:xfrm>
            <a:off x="7344512" y="1864988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Rectangle 120"/>
          <p:cNvSpPr/>
          <p:nvPr/>
        </p:nvSpPr>
        <p:spPr>
          <a:xfrm>
            <a:off x="10210593" y="2244218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Triangle isocèle 121"/>
          <p:cNvSpPr/>
          <p:nvPr/>
        </p:nvSpPr>
        <p:spPr>
          <a:xfrm rot="10800000">
            <a:off x="11449157" y="2244357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9241353" y="1827139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125" name="Rectangle 124"/>
          <p:cNvSpPr/>
          <p:nvPr/>
        </p:nvSpPr>
        <p:spPr>
          <a:xfrm>
            <a:off x="10210593" y="1830957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7354749" y="2250846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9247981" y="2231330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Statut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889654" y="3220669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2906231" y="316415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Organisme</a:t>
            </a:r>
            <a:endParaRPr lang="fr-FR" sz="1400" dirty="0"/>
          </a:p>
        </p:txBody>
      </p:sp>
      <p:sp>
        <p:nvSpPr>
          <p:cNvPr id="116" name="Rectangle 115"/>
          <p:cNvSpPr/>
          <p:nvPr/>
        </p:nvSpPr>
        <p:spPr>
          <a:xfrm>
            <a:off x="3896717" y="3669546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itre 1"/>
          <p:cNvSpPr txBox="1">
            <a:spLocks/>
          </p:cNvSpPr>
          <p:nvPr/>
        </p:nvSpPr>
        <p:spPr>
          <a:xfrm>
            <a:off x="3105967" y="3600296"/>
            <a:ext cx="79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Agence</a:t>
            </a:r>
            <a:endParaRPr lang="fr-FR" sz="1400" dirty="0"/>
          </a:p>
        </p:txBody>
      </p:sp>
      <p:sp>
        <p:nvSpPr>
          <p:cNvPr id="152" name="Rectangle 151"/>
          <p:cNvSpPr/>
          <p:nvPr/>
        </p:nvSpPr>
        <p:spPr>
          <a:xfrm>
            <a:off x="3915501" y="4102727"/>
            <a:ext cx="2808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3" name="Titre 1"/>
          <p:cNvSpPr txBox="1">
            <a:spLocks/>
          </p:cNvSpPr>
          <p:nvPr/>
        </p:nvSpPr>
        <p:spPr>
          <a:xfrm>
            <a:off x="3035087" y="4065027"/>
            <a:ext cx="92947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  </a:t>
            </a:r>
            <a:endParaRPr lang="fr-FR" sz="1400" dirty="0"/>
          </a:p>
        </p:txBody>
      </p:sp>
      <p:sp>
        <p:nvSpPr>
          <p:cNvPr id="176" name="Titre 1"/>
          <p:cNvSpPr txBox="1">
            <a:spLocks/>
          </p:cNvSpPr>
          <p:nvPr/>
        </p:nvSpPr>
        <p:spPr>
          <a:xfrm>
            <a:off x="6608484" y="4561466"/>
            <a:ext cx="75600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Malade</a:t>
            </a:r>
            <a:endParaRPr lang="fr-FR" sz="1400" dirty="0"/>
          </a:p>
        </p:txBody>
      </p:sp>
      <p:sp>
        <p:nvSpPr>
          <p:cNvPr id="177" name="Rectangle 176"/>
          <p:cNvSpPr/>
          <p:nvPr/>
        </p:nvSpPr>
        <p:spPr>
          <a:xfrm>
            <a:off x="7381253" y="4568517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8" name="Rectangle 177"/>
          <p:cNvSpPr/>
          <p:nvPr/>
        </p:nvSpPr>
        <p:spPr>
          <a:xfrm>
            <a:off x="1884696" y="3125644"/>
            <a:ext cx="9972000" cy="3276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9" name="Rectangle 178"/>
          <p:cNvSpPr/>
          <p:nvPr/>
        </p:nvSpPr>
        <p:spPr>
          <a:xfrm>
            <a:off x="7386542" y="4988956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0" name="Titre 1"/>
          <p:cNvSpPr txBox="1">
            <a:spLocks/>
          </p:cNvSpPr>
          <p:nvPr/>
        </p:nvSpPr>
        <p:spPr>
          <a:xfrm>
            <a:off x="5749163" y="4933151"/>
            <a:ext cx="165804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ouverture droit</a:t>
            </a:r>
            <a:endParaRPr lang="fr-FR" sz="1400" dirty="0"/>
          </a:p>
        </p:txBody>
      </p:sp>
      <p:sp>
        <p:nvSpPr>
          <p:cNvPr id="197" name="Rectangle 196"/>
          <p:cNvSpPr/>
          <p:nvPr/>
        </p:nvSpPr>
        <p:spPr>
          <a:xfrm>
            <a:off x="7354749" y="3670930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8" name="Titre 1"/>
          <p:cNvSpPr txBox="1">
            <a:spLocks/>
          </p:cNvSpPr>
          <p:nvPr/>
        </p:nvSpPr>
        <p:spPr>
          <a:xfrm>
            <a:off x="6247851" y="360031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centre</a:t>
            </a:r>
            <a:endParaRPr lang="fr-FR" sz="1400" dirty="0"/>
          </a:p>
        </p:txBody>
      </p:sp>
      <p:sp>
        <p:nvSpPr>
          <p:cNvPr id="201" name="Rectangle 200"/>
          <p:cNvSpPr/>
          <p:nvPr/>
        </p:nvSpPr>
        <p:spPr>
          <a:xfrm>
            <a:off x="3920306" y="4529993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2" name="Titre 1"/>
          <p:cNvSpPr txBox="1">
            <a:spLocks/>
          </p:cNvSpPr>
          <p:nvPr/>
        </p:nvSpPr>
        <p:spPr>
          <a:xfrm>
            <a:off x="2322159" y="4501054"/>
            <a:ext cx="1552952" cy="3839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sécurité sociale</a:t>
            </a:r>
            <a:endParaRPr lang="fr-FR" sz="1400" dirty="0"/>
          </a:p>
        </p:txBody>
      </p:sp>
      <p:sp>
        <p:nvSpPr>
          <p:cNvPr id="203" name="Triangle isocèle 202"/>
          <p:cNvSpPr/>
          <p:nvPr/>
        </p:nvSpPr>
        <p:spPr>
          <a:xfrm rot="10800000">
            <a:off x="5059052" y="4542875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8" name="Rectangle 207"/>
          <p:cNvSpPr/>
          <p:nvPr/>
        </p:nvSpPr>
        <p:spPr>
          <a:xfrm>
            <a:off x="3920305" y="4980572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9" name="Titre 1"/>
          <p:cNvSpPr txBox="1">
            <a:spLocks/>
          </p:cNvSpPr>
          <p:nvPr/>
        </p:nvSpPr>
        <p:spPr>
          <a:xfrm>
            <a:off x="2769994" y="4964523"/>
            <a:ext cx="12360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bordereau </a:t>
            </a:r>
            <a:endParaRPr lang="fr-FR" sz="1400" dirty="0"/>
          </a:p>
        </p:txBody>
      </p:sp>
      <p:sp>
        <p:nvSpPr>
          <p:cNvPr id="215" name="Rectangle 214"/>
          <p:cNvSpPr/>
          <p:nvPr/>
        </p:nvSpPr>
        <p:spPr>
          <a:xfrm>
            <a:off x="9939877" y="6395016"/>
            <a:ext cx="19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code barre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502016" y="640164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Annuler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077403" y="639501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Modifier</a:t>
            </a:r>
          </a:p>
        </p:txBody>
      </p:sp>
      <p:sp>
        <p:nvSpPr>
          <p:cNvPr id="98" name="Triangle isocèle 97"/>
          <p:cNvSpPr/>
          <p:nvPr/>
        </p:nvSpPr>
        <p:spPr>
          <a:xfrm rot="10800000">
            <a:off x="5317473" y="3237536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riangle isocèle 102"/>
          <p:cNvSpPr/>
          <p:nvPr/>
        </p:nvSpPr>
        <p:spPr>
          <a:xfrm rot="10800000">
            <a:off x="5324100" y="3681480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7407212" y="5419641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5728493" y="5388588"/>
            <a:ext cx="1658049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dépôt de prise en charge</a:t>
            </a:r>
            <a:endParaRPr lang="fr-FR" sz="1400" dirty="0"/>
          </a:p>
        </p:txBody>
      </p:sp>
      <p:sp>
        <p:nvSpPr>
          <p:cNvPr id="113" name="Rectangle 112"/>
          <p:cNvSpPr/>
          <p:nvPr/>
        </p:nvSpPr>
        <p:spPr>
          <a:xfrm>
            <a:off x="3927573" y="5435690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itre 1"/>
          <p:cNvSpPr txBox="1">
            <a:spLocks/>
          </p:cNvSpPr>
          <p:nvPr/>
        </p:nvSpPr>
        <p:spPr>
          <a:xfrm>
            <a:off x="2276942" y="5419641"/>
            <a:ext cx="1658049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expiration de prise en charge</a:t>
            </a:r>
            <a:endParaRPr lang="fr-FR" sz="1400" dirty="0"/>
          </a:p>
        </p:txBody>
      </p:sp>
      <p:sp>
        <p:nvSpPr>
          <p:cNvPr id="115" name="Titre 1"/>
          <p:cNvSpPr txBox="1">
            <a:spLocks/>
          </p:cNvSpPr>
          <p:nvPr/>
        </p:nvSpPr>
        <p:spPr>
          <a:xfrm>
            <a:off x="3010519" y="5933066"/>
            <a:ext cx="90000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Praticien</a:t>
            </a:r>
            <a:endParaRPr lang="fr-FR" sz="1400" dirty="0"/>
          </a:p>
        </p:txBody>
      </p:sp>
      <p:sp>
        <p:nvSpPr>
          <p:cNvPr id="119" name="Rectangle 118"/>
          <p:cNvSpPr/>
          <p:nvPr/>
        </p:nvSpPr>
        <p:spPr>
          <a:xfrm>
            <a:off x="3915808" y="5940117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9" name="Rectangle 138"/>
          <p:cNvSpPr/>
          <p:nvPr/>
        </p:nvSpPr>
        <p:spPr>
          <a:xfrm>
            <a:off x="3007159" y="2714329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Etat civil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445020" y="2720957"/>
            <a:ext cx="133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Sécurité </a:t>
            </a:r>
            <a:r>
              <a:rPr lang="fr-FR" sz="1400" dirty="0" smtClean="0"/>
              <a:t>sociale</a:t>
            </a:r>
            <a:endParaRPr lang="fr-FR" sz="1400" dirty="0"/>
          </a:p>
        </p:txBody>
      </p:sp>
      <p:sp>
        <p:nvSpPr>
          <p:cNvPr id="141" name="Rectangle 140"/>
          <p:cNvSpPr/>
          <p:nvPr/>
        </p:nvSpPr>
        <p:spPr>
          <a:xfrm>
            <a:off x="5873594" y="2713977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Mode de transport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667038" y="2719846"/>
            <a:ext cx="31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Personne à prévenir en cas de nécessité</a:t>
            </a:r>
            <a:endParaRPr lang="fr-FR" sz="1400" dirty="0"/>
          </a:p>
        </p:txBody>
      </p:sp>
      <p:sp>
        <p:nvSpPr>
          <p:cNvPr id="143" name="Titre 1"/>
          <p:cNvSpPr txBox="1">
            <a:spLocks/>
          </p:cNvSpPr>
          <p:nvPr/>
        </p:nvSpPr>
        <p:spPr>
          <a:xfrm>
            <a:off x="3345444" y="79826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5453943" y="81995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6118421" y="82599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7766108" y="80671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90308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10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Fiche patient/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Mode de transport</a:t>
            </a:r>
            <a:endParaRPr lang="fr-FR" sz="18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0"/>
            <a:ext cx="11758269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892310" y="1871612"/>
            <a:ext cx="180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1920696" y="1323920"/>
            <a:ext cx="9936000" cy="133732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456671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768325" y="1437002"/>
            <a:ext cx="1191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Provenance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4801558" y="1452511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727493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714388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733900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5" name="Rectangle 84"/>
          <p:cNvSpPr/>
          <p:nvPr/>
        </p:nvSpPr>
        <p:spPr>
          <a:xfrm>
            <a:off x="3152059" y="772519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765895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779147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658151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776035" y="75154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87049" y="1347517"/>
            <a:ext cx="144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Fiche d’identification</a:t>
            </a:r>
            <a:endParaRPr lang="fr-FR" sz="1600" b="1" u="sng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1911649" y="1840356"/>
            <a:ext cx="205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d’hospitalisation</a:t>
            </a:r>
            <a:endParaRPr lang="fr-FR" sz="1400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5510711" y="1886205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Titre 1"/>
          <p:cNvSpPr txBox="1">
            <a:spLocks/>
          </p:cNvSpPr>
          <p:nvPr/>
        </p:nvSpPr>
        <p:spPr>
          <a:xfrm>
            <a:off x="2412186" y="2241687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d’accueil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892310" y="2289056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5804035" y="1819927"/>
            <a:ext cx="151992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d’admission</a:t>
            </a:r>
            <a:endParaRPr lang="fr-FR" sz="1400" dirty="0"/>
          </a:p>
        </p:txBody>
      </p:sp>
      <p:sp>
        <p:nvSpPr>
          <p:cNvPr id="105" name="Triangle isocèle 104"/>
          <p:cNvSpPr/>
          <p:nvPr/>
        </p:nvSpPr>
        <p:spPr>
          <a:xfrm rot="10800000">
            <a:off x="5510710" y="228865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5983827" y="2224980"/>
            <a:ext cx="133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dépôt</a:t>
            </a:r>
            <a:endParaRPr lang="fr-FR" sz="1400" dirty="0"/>
          </a:p>
        </p:txBody>
      </p:sp>
      <p:sp>
        <p:nvSpPr>
          <p:cNvPr id="117" name="Rectangle 116"/>
          <p:cNvSpPr/>
          <p:nvPr/>
        </p:nvSpPr>
        <p:spPr>
          <a:xfrm>
            <a:off x="7344512" y="1864988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Rectangle 120"/>
          <p:cNvSpPr/>
          <p:nvPr/>
        </p:nvSpPr>
        <p:spPr>
          <a:xfrm>
            <a:off x="10210593" y="2244218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Triangle isocèle 121"/>
          <p:cNvSpPr/>
          <p:nvPr/>
        </p:nvSpPr>
        <p:spPr>
          <a:xfrm rot="10800000">
            <a:off x="11449157" y="2244357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9241353" y="1827139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125" name="Rectangle 124"/>
          <p:cNvSpPr/>
          <p:nvPr/>
        </p:nvSpPr>
        <p:spPr>
          <a:xfrm>
            <a:off x="10210593" y="1830957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7354749" y="2250846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9247981" y="2231330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Statut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889654" y="3445955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2627938" y="3429199"/>
            <a:ext cx="126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Raison social</a:t>
            </a:r>
            <a:endParaRPr lang="fr-FR" sz="1400" dirty="0"/>
          </a:p>
        </p:txBody>
      </p:sp>
      <p:sp>
        <p:nvSpPr>
          <p:cNvPr id="152" name="Rectangle 151"/>
          <p:cNvSpPr/>
          <p:nvPr/>
        </p:nvSpPr>
        <p:spPr>
          <a:xfrm>
            <a:off x="3915501" y="3970203"/>
            <a:ext cx="2808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3" name="Titre 1"/>
          <p:cNvSpPr txBox="1">
            <a:spLocks/>
          </p:cNvSpPr>
          <p:nvPr/>
        </p:nvSpPr>
        <p:spPr>
          <a:xfrm>
            <a:off x="2995331" y="3919251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</a:t>
            </a:r>
            <a:endParaRPr lang="fr-FR" sz="1400" dirty="0"/>
          </a:p>
        </p:txBody>
      </p:sp>
      <p:sp>
        <p:nvSpPr>
          <p:cNvPr id="178" name="Rectangle 177"/>
          <p:cNvSpPr/>
          <p:nvPr/>
        </p:nvSpPr>
        <p:spPr>
          <a:xfrm>
            <a:off x="1884696" y="3195842"/>
            <a:ext cx="9972000" cy="266286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1" name="Rectangle 200"/>
          <p:cNvSpPr/>
          <p:nvPr/>
        </p:nvSpPr>
        <p:spPr>
          <a:xfrm>
            <a:off x="3920306" y="4476985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2" name="Titre 1"/>
          <p:cNvSpPr txBox="1">
            <a:spLocks/>
          </p:cNvSpPr>
          <p:nvPr/>
        </p:nvSpPr>
        <p:spPr>
          <a:xfrm>
            <a:off x="2911757" y="4443509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</a:t>
            </a:r>
            <a:endParaRPr lang="fr-FR" sz="1400" dirty="0"/>
          </a:p>
        </p:txBody>
      </p:sp>
      <p:sp>
        <p:nvSpPr>
          <p:cNvPr id="208" name="Rectangle 207"/>
          <p:cNvSpPr/>
          <p:nvPr/>
        </p:nvSpPr>
        <p:spPr>
          <a:xfrm>
            <a:off x="3920305" y="4927564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9" name="Titre 1"/>
          <p:cNvSpPr txBox="1">
            <a:spLocks/>
          </p:cNvSpPr>
          <p:nvPr/>
        </p:nvSpPr>
        <p:spPr>
          <a:xfrm>
            <a:off x="3097966" y="4872299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Faxe</a:t>
            </a:r>
            <a:endParaRPr lang="fr-FR" sz="1400" dirty="0"/>
          </a:p>
        </p:txBody>
      </p:sp>
      <p:sp>
        <p:nvSpPr>
          <p:cNvPr id="215" name="Rectangle 214"/>
          <p:cNvSpPr/>
          <p:nvPr/>
        </p:nvSpPr>
        <p:spPr>
          <a:xfrm>
            <a:off x="9860365" y="6023955"/>
            <a:ext cx="19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code barre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422504" y="6030583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Annuler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997891" y="6023957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Modifier</a:t>
            </a:r>
          </a:p>
        </p:txBody>
      </p:sp>
      <p:sp>
        <p:nvSpPr>
          <p:cNvPr id="98" name="Triangle isocèle 97"/>
          <p:cNvSpPr/>
          <p:nvPr/>
        </p:nvSpPr>
        <p:spPr>
          <a:xfrm rot="10800000">
            <a:off x="5317473" y="3462822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3" name="Rectangle 112"/>
          <p:cNvSpPr/>
          <p:nvPr/>
        </p:nvSpPr>
        <p:spPr>
          <a:xfrm>
            <a:off x="3927573" y="5382682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itre 1"/>
          <p:cNvSpPr txBox="1">
            <a:spLocks/>
          </p:cNvSpPr>
          <p:nvPr/>
        </p:nvSpPr>
        <p:spPr>
          <a:xfrm>
            <a:off x="3007159" y="5326509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E-mail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3007159" y="2714329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Etat civil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445020" y="2720957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Sécurité </a:t>
            </a:r>
            <a:r>
              <a:rPr lang="fr-FR" sz="1400" dirty="0" smtClean="0"/>
              <a:t>sociale</a:t>
            </a:r>
            <a:endParaRPr lang="fr-FR" sz="1400" dirty="0"/>
          </a:p>
        </p:txBody>
      </p:sp>
      <p:sp>
        <p:nvSpPr>
          <p:cNvPr id="141" name="Rectangle 140"/>
          <p:cNvSpPr/>
          <p:nvPr/>
        </p:nvSpPr>
        <p:spPr>
          <a:xfrm>
            <a:off x="5873594" y="2713977"/>
            <a:ext cx="168154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Mode de transport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667038" y="2719846"/>
            <a:ext cx="31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Personne à prévenir en cas de nécessité</a:t>
            </a:r>
            <a:endParaRPr lang="fr-FR" sz="1400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3345444" y="79826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76" name="Rectangle 75"/>
          <p:cNvSpPr/>
          <p:nvPr/>
        </p:nvSpPr>
        <p:spPr>
          <a:xfrm>
            <a:off x="5453943" y="81995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6118421" y="82599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7766108" y="80671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66200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11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Fiche patient/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Personne à prévenir</a:t>
            </a:r>
            <a:endParaRPr lang="fr-FR" sz="18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0"/>
            <a:ext cx="11758269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892310" y="1845105"/>
            <a:ext cx="180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1920696" y="1297413"/>
            <a:ext cx="9936000" cy="133732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43016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768325" y="1410495"/>
            <a:ext cx="1191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Provenance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4801558" y="1426004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7009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6878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7073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5" name="Rectangle 84"/>
          <p:cNvSpPr/>
          <p:nvPr/>
        </p:nvSpPr>
        <p:spPr>
          <a:xfrm>
            <a:off x="3152059" y="7460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7393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7526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6316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776035" y="81780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87049" y="1480037"/>
            <a:ext cx="144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Fiche d’identification</a:t>
            </a:r>
            <a:endParaRPr lang="fr-FR" sz="1600" b="1" u="sng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1911649" y="1813849"/>
            <a:ext cx="205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d’hospitalisation</a:t>
            </a:r>
            <a:endParaRPr lang="fr-FR" sz="1400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5510711" y="1859698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Titre 1"/>
          <p:cNvSpPr txBox="1">
            <a:spLocks/>
          </p:cNvSpPr>
          <p:nvPr/>
        </p:nvSpPr>
        <p:spPr>
          <a:xfrm>
            <a:off x="2412186" y="2215180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d’accueil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892310" y="2262549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5804035" y="1793420"/>
            <a:ext cx="151992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d’admission</a:t>
            </a:r>
            <a:endParaRPr lang="fr-FR" sz="1400" dirty="0"/>
          </a:p>
        </p:txBody>
      </p:sp>
      <p:sp>
        <p:nvSpPr>
          <p:cNvPr id="105" name="Triangle isocèle 104"/>
          <p:cNvSpPr/>
          <p:nvPr/>
        </p:nvSpPr>
        <p:spPr>
          <a:xfrm rot="10800000">
            <a:off x="5510710" y="2262146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5665777" y="2198473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dépôt</a:t>
            </a:r>
            <a:endParaRPr lang="fr-FR" sz="1400" dirty="0"/>
          </a:p>
        </p:txBody>
      </p:sp>
      <p:sp>
        <p:nvSpPr>
          <p:cNvPr id="117" name="Rectangle 116"/>
          <p:cNvSpPr/>
          <p:nvPr/>
        </p:nvSpPr>
        <p:spPr>
          <a:xfrm>
            <a:off x="7344512" y="1838481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Rectangle 120"/>
          <p:cNvSpPr/>
          <p:nvPr/>
        </p:nvSpPr>
        <p:spPr>
          <a:xfrm>
            <a:off x="10210593" y="2217711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Triangle isocèle 121"/>
          <p:cNvSpPr/>
          <p:nvPr/>
        </p:nvSpPr>
        <p:spPr>
          <a:xfrm rot="10800000">
            <a:off x="11449157" y="221785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9241353" y="1800632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125" name="Rectangle 124"/>
          <p:cNvSpPr/>
          <p:nvPr/>
        </p:nvSpPr>
        <p:spPr>
          <a:xfrm>
            <a:off x="10210593" y="1804450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7354749" y="2224339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9247981" y="2204823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Statut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539437" y="3854877"/>
            <a:ext cx="18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1953371" y="3799864"/>
            <a:ext cx="161995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 *</a:t>
            </a:r>
            <a:endParaRPr lang="fr-FR" sz="1400" dirty="0"/>
          </a:p>
        </p:txBody>
      </p:sp>
      <p:sp>
        <p:nvSpPr>
          <p:cNvPr id="110" name="Rectangle 109"/>
          <p:cNvSpPr/>
          <p:nvPr/>
        </p:nvSpPr>
        <p:spPr>
          <a:xfrm>
            <a:off x="3544366" y="4365066"/>
            <a:ext cx="18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2" name="Titre 1"/>
          <p:cNvSpPr txBox="1">
            <a:spLocks/>
          </p:cNvSpPr>
          <p:nvPr/>
        </p:nvSpPr>
        <p:spPr>
          <a:xfrm>
            <a:off x="2672091" y="4388969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 *</a:t>
            </a:r>
            <a:endParaRPr lang="fr-FR" sz="1400" dirty="0"/>
          </a:p>
        </p:txBody>
      </p:sp>
      <p:sp>
        <p:nvSpPr>
          <p:cNvPr id="152" name="Rectangle 151"/>
          <p:cNvSpPr/>
          <p:nvPr/>
        </p:nvSpPr>
        <p:spPr>
          <a:xfrm>
            <a:off x="3544438" y="5852012"/>
            <a:ext cx="36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3" name="Titre 1"/>
          <p:cNvSpPr txBox="1">
            <a:spLocks/>
          </p:cNvSpPr>
          <p:nvPr/>
        </p:nvSpPr>
        <p:spPr>
          <a:xfrm>
            <a:off x="2703780" y="5814312"/>
            <a:ext cx="92947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 </a:t>
            </a:r>
            <a:endParaRPr lang="fr-FR" sz="1400" dirty="0"/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2799439" y="5362946"/>
            <a:ext cx="679072" cy="337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E-mail</a:t>
            </a:r>
            <a:endParaRPr lang="fr-FR" sz="1400" dirty="0"/>
          </a:p>
        </p:txBody>
      </p:sp>
      <p:sp>
        <p:nvSpPr>
          <p:cNvPr id="175" name="Rectangle 174"/>
          <p:cNvSpPr/>
          <p:nvPr/>
        </p:nvSpPr>
        <p:spPr>
          <a:xfrm>
            <a:off x="3551703" y="5385390"/>
            <a:ext cx="18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6" name="Titre 1"/>
          <p:cNvSpPr txBox="1">
            <a:spLocks/>
          </p:cNvSpPr>
          <p:nvPr/>
        </p:nvSpPr>
        <p:spPr>
          <a:xfrm>
            <a:off x="2471091" y="4921855"/>
            <a:ext cx="106371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 *</a:t>
            </a:r>
            <a:endParaRPr lang="fr-FR" sz="1400" dirty="0"/>
          </a:p>
        </p:txBody>
      </p:sp>
      <p:sp>
        <p:nvSpPr>
          <p:cNvPr id="177" name="Rectangle 176"/>
          <p:cNvSpPr/>
          <p:nvPr/>
        </p:nvSpPr>
        <p:spPr>
          <a:xfrm>
            <a:off x="3550917" y="4904829"/>
            <a:ext cx="18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8" name="Rectangle 177"/>
          <p:cNvSpPr/>
          <p:nvPr/>
        </p:nvSpPr>
        <p:spPr>
          <a:xfrm>
            <a:off x="1888742" y="3124982"/>
            <a:ext cx="9972000" cy="320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5" name="Rectangle 214"/>
          <p:cNvSpPr/>
          <p:nvPr/>
        </p:nvSpPr>
        <p:spPr>
          <a:xfrm>
            <a:off x="9939877" y="6395016"/>
            <a:ext cx="19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code barre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502016" y="640164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Annuler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077403" y="639501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Modifier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2967401" y="2701077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Etat civil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4405262" y="2707705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Sécurité sociale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833836" y="2700725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Mode de transport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7627280" y="2706594"/>
            <a:ext cx="313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Personne à prévenir en cas de nécessité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535993" y="3324049"/>
            <a:ext cx="18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4" name="Titre 1"/>
          <p:cNvSpPr txBox="1">
            <a:spLocks/>
          </p:cNvSpPr>
          <p:nvPr/>
        </p:nvSpPr>
        <p:spPr>
          <a:xfrm>
            <a:off x="2862312" y="3321252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Parent</a:t>
            </a:r>
            <a:endParaRPr lang="fr-FR" sz="1400" dirty="0"/>
          </a:p>
        </p:txBody>
      </p:sp>
      <p:sp>
        <p:nvSpPr>
          <p:cNvPr id="108" name="Triangle isocèle 107"/>
          <p:cNvSpPr/>
          <p:nvPr/>
        </p:nvSpPr>
        <p:spPr>
          <a:xfrm rot="10800000">
            <a:off x="5155095" y="3348106"/>
            <a:ext cx="175133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9" name="Titre 1"/>
          <p:cNvSpPr txBox="1">
            <a:spLocks/>
          </p:cNvSpPr>
          <p:nvPr/>
        </p:nvSpPr>
        <p:spPr>
          <a:xfrm>
            <a:off x="3345444" y="7717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13" name="Rectangle 112"/>
          <p:cNvSpPr/>
          <p:nvPr/>
        </p:nvSpPr>
        <p:spPr>
          <a:xfrm>
            <a:off x="5453943" y="7934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6118421" y="7994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7766108" y="7802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81249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573326" y="103211"/>
            <a:ext cx="4620714" cy="4038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12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Suivi vaccination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612638"/>
            <a:ext cx="11758269" cy="52858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920696" y="1522697"/>
            <a:ext cx="6852243" cy="307580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801220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991607" y="1768188"/>
            <a:ext cx="90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Vaccin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5400865" y="1809065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926270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913165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3345444" y="970544"/>
            <a:ext cx="670716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932677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5450982" y="100547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145778" y="10115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779361" y="992244"/>
            <a:ext cx="684000" cy="2890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3152059" y="97129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951420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977924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856928"/>
            <a:ext cx="6858867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776762" y="856928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19438" y="1522697"/>
            <a:ext cx="1915028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vaccination</a:t>
            </a:r>
            <a:endParaRPr lang="fr-FR" sz="1600" b="1" u="sng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2358470" y="2805616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d’injection</a:t>
            </a:r>
            <a:endParaRPr lang="fr-FR" sz="1400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2887515" y="2297634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2335487" y="3987180"/>
            <a:ext cx="1656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Prochaine injection</a:t>
            </a:r>
            <a:endParaRPr lang="fr-FR" sz="1400" dirty="0"/>
          </a:p>
        </p:txBody>
      </p:sp>
      <p:sp>
        <p:nvSpPr>
          <p:cNvPr id="125" name="Rectangle 124"/>
          <p:cNvSpPr/>
          <p:nvPr/>
        </p:nvSpPr>
        <p:spPr>
          <a:xfrm>
            <a:off x="3915810" y="4017556"/>
            <a:ext cx="1692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874123" y="2336752"/>
            <a:ext cx="1692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7" name="Rectangle 216"/>
          <p:cNvSpPr/>
          <p:nvPr/>
        </p:nvSpPr>
        <p:spPr>
          <a:xfrm>
            <a:off x="7177438" y="4156950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63" name="Titre 1"/>
          <p:cNvSpPr txBox="1">
            <a:spLocks/>
          </p:cNvSpPr>
          <p:nvPr/>
        </p:nvSpPr>
        <p:spPr>
          <a:xfrm>
            <a:off x="6178247" y="1767750"/>
            <a:ext cx="90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Première</a:t>
            </a:r>
            <a:endParaRPr lang="fr-FR" sz="1400" dirty="0"/>
          </a:p>
        </p:txBody>
      </p:sp>
      <p:sp>
        <p:nvSpPr>
          <p:cNvPr id="64" name="Ellipse 63"/>
          <p:cNvSpPr/>
          <p:nvPr/>
        </p:nvSpPr>
        <p:spPr>
          <a:xfrm flipV="1">
            <a:off x="5944240" y="1844180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Titre 1"/>
          <p:cNvSpPr txBox="1">
            <a:spLocks/>
          </p:cNvSpPr>
          <p:nvPr/>
        </p:nvSpPr>
        <p:spPr>
          <a:xfrm>
            <a:off x="7616109" y="1774378"/>
            <a:ext cx="90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Rappel</a:t>
            </a:r>
            <a:endParaRPr lang="fr-FR" sz="1400" dirty="0"/>
          </a:p>
        </p:txBody>
      </p:sp>
      <p:sp>
        <p:nvSpPr>
          <p:cNvPr id="66" name="Ellipse 65"/>
          <p:cNvSpPr/>
          <p:nvPr/>
        </p:nvSpPr>
        <p:spPr>
          <a:xfrm flipV="1">
            <a:off x="7382102" y="1850808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Rectangle 69"/>
          <p:cNvSpPr/>
          <p:nvPr/>
        </p:nvSpPr>
        <p:spPr>
          <a:xfrm>
            <a:off x="3903345" y="2859802"/>
            <a:ext cx="54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Triangle isocèle 70"/>
          <p:cNvSpPr/>
          <p:nvPr/>
        </p:nvSpPr>
        <p:spPr>
          <a:xfrm rot="10800000">
            <a:off x="4252137" y="2867647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2" name="Rectangle 71"/>
          <p:cNvSpPr/>
          <p:nvPr/>
        </p:nvSpPr>
        <p:spPr>
          <a:xfrm>
            <a:off x="4479815" y="2853178"/>
            <a:ext cx="54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riangle isocèle 72"/>
          <p:cNvSpPr/>
          <p:nvPr/>
        </p:nvSpPr>
        <p:spPr>
          <a:xfrm rot="10800000">
            <a:off x="4828607" y="286102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Rectangle 73"/>
          <p:cNvSpPr/>
          <p:nvPr/>
        </p:nvSpPr>
        <p:spPr>
          <a:xfrm>
            <a:off x="5062911" y="2853178"/>
            <a:ext cx="54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riangle isocèle 74"/>
          <p:cNvSpPr/>
          <p:nvPr/>
        </p:nvSpPr>
        <p:spPr>
          <a:xfrm rot="10800000">
            <a:off x="5424955" y="286102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174627" y="6089970"/>
            <a:ext cx="9090992" cy="5834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Vaccin :</a:t>
            </a:r>
            <a:r>
              <a:rPr lang="fr-FR" sz="1400" dirty="0" smtClean="0"/>
              <a:t> BCG – Diphtérie – DT-Coq – Grippe – Hépatite B – Méningo-Coq – Pneumo-Coq – Polio inactive – Tétanos.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 un tableau dynamique s’affiche quand on ajoutent un vaccin pour le patient.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9123261" y="1529324"/>
            <a:ext cx="2098768" cy="309530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Titre 1"/>
          <p:cNvSpPr txBox="1">
            <a:spLocks/>
          </p:cNvSpPr>
          <p:nvPr/>
        </p:nvSpPr>
        <p:spPr>
          <a:xfrm>
            <a:off x="9578925" y="2238016"/>
            <a:ext cx="108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Aujourd'hui</a:t>
            </a:r>
            <a:endParaRPr lang="fr-FR" sz="1400" dirty="0"/>
          </a:p>
        </p:txBody>
      </p:sp>
      <p:sp>
        <p:nvSpPr>
          <p:cNvPr id="131" name="Ellipse 130"/>
          <p:cNvSpPr/>
          <p:nvPr/>
        </p:nvSpPr>
        <p:spPr>
          <a:xfrm flipV="1">
            <a:off x="9344918" y="2314446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2" name="Titre 1"/>
          <p:cNvSpPr txBox="1">
            <a:spLocks/>
          </p:cNvSpPr>
          <p:nvPr/>
        </p:nvSpPr>
        <p:spPr>
          <a:xfrm>
            <a:off x="9600112" y="2708286"/>
            <a:ext cx="144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Dans trois mois</a:t>
            </a:r>
            <a:endParaRPr lang="fr-FR" sz="1400" dirty="0"/>
          </a:p>
        </p:txBody>
      </p:sp>
      <p:sp>
        <p:nvSpPr>
          <p:cNvPr id="133" name="Ellipse 132"/>
          <p:cNvSpPr/>
          <p:nvPr/>
        </p:nvSpPr>
        <p:spPr>
          <a:xfrm flipV="1">
            <a:off x="9366105" y="2784716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0" name="Titre 1"/>
          <p:cNvSpPr txBox="1">
            <a:spLocks/>
          </p:cNvSpPr>
          <p:nvPr/>
        </p:nvSpPr>
        <p:spPr>
          <a:xfrm>
            <a:off x="9233805" y="1621220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R.D.V</a:t>
            </a:r>
            <a:endParaRPr lang="fr-FR" sz="1600" b="1" u="sng" dirty="0"/>
          </a:p>
        </p:txBody>
      </p:sp>
      <p:sp>
        <p:nvSpPr>
          <p:cNvPr id="141" name="Titre 1"/>
          <p:cNvSpPr txBox="1">
            <a:spLocks/>
          </p:cNvSpPr>
          <p:nvPr/>
        </p:nvSpPr>
        <p:spPr>
          <a:xfrm>
            <a:off x="9597964" y="3156900"/>
            <a:ext cx="144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Dans six mois</a:t>
            </a:r>
            <a:endParaRPr lang="fr-FR" sz="1400" dirty="0"/>
          </a:p>
        </p:txBody>
      </p:sp>
      <p:sp>
        <p:nvSpPr>
          <p:cNvPr id="142" name="Ellipse 141"/>
          <p:cNvSpPr/>
          <p:nvPr/>
        </p:nvSpPr>
        <p:spPr>
          <a:xfrm flipV="1">
            <a:off x="9363957" y="3233330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3" name="Titre 1"/>
          <p:cNvSpPr txBox="1">
            <a:spLocks/>
          </p:cNvSpPr>
          <p:nvPr/>
        </p:nvSpPr>
        <p:spPr>
          <a:xfrm>
            <a:off x="9597964" y="3620542"/>
            <a:ext cx="144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Raté</a:t>
            </a:r>
            <a:endParaRPr lang="fr-FR" sz="1400" dirty="0"/>
          </a:p>
        </p:txBody>
      </p:sp>
      <p:sp>
        <p:nvSpPr>
          <p:cNvPr id="144" name="Ellipse 143"/>
          <p:cNvSpPr/>
          <p:nvPr/>
        </p:nvSpPr>
        <p:spPr>
          <a:xfrm flipV="1">
            <a:off x="9363957" y="3696972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5" name="Titre 1"/>
          <p:cNvSpPr txBox="1">
            <a:spLocks/>
          </p:cNvSpPr>
          <p:nvPr/>
        </p:nvSpPr>
        <p:spPr>
          <a:xfrm>
            <a:off x="2976975" y="4821982"/>
            <a:ext cx="9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46" name="Rectangle 145"/>
          <p:cNvSpPr/>
          <p:nvPr/>
        </p:nvSpPr>
        <p:spPr>
          <a:xfrm>
            <a:off x="1921596" y="4757577"/>
            <a:ext cx="9300433" cy="100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9" name="Titre 1"/>
          <p:cNvSpPr txBox="1">
            <a:spLocks/>
          </p:cNvSpPr>
          <p:nvPr/>
        </p:nvSpPr>
        <p:spPr>
          <a:xfrm>
            <a:off x="1936757" y="4814668"/>
            <a:ext cx="9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Vaccin</a:t>
            </a:r>
            <a:endParaRPr lang="fr-FR" sz="1400" dirty="0"/>
          </a:p>
        </p:txBody>
      </p:sp>
      <p:cxnSp>
        <p:nvCxnSpPr>
          <p:cNvPr id="150" name="Connecteur droit 149"/>
          <p:cNvCxnSpPr/>
          <p:nvPr/>
        </p:nvCxnSpPr>
        <p:spPr>
          <a:xfrm>
            <a:off x="5200837" y="4751282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1" name="Titre 1"/>
          <p:cNvSpPr txBox="1">
            <a:spLocks/>
          </p:cNvSpPr>
          <p:nvPr/>
        </p:nvSpPr>
        <p:spPr>
          <a:xfrm>
            <a:off x="5260812" y="4840409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d’injection</a:t>
            </a:r>
            <a:endParaRPr lang="fr-FR" sz="1400" dirty="0"/>
          </a:p>
        </p:txBody>
      </p:sp>
      <p:cxnSp>
        <p:nvCxnSpPr>
          <p:cNvPr id="154" name="Connecteur droit 153"/>
          <p:cNvCxnSpPr/>
          <p:nvPr/>
        </p:nvCxnSpPr>
        <p:spPr>
          <a:xfrm>
            <a:off x="2895027" y="4781613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5" name="Connecteur droit 154"/>
          <p:cNvCxnSpPr>
            <a:stCxn id="146" idx="3"/>
          </p:cNvCxnSpPr>
          <p:nvPr/>
        </p:nvCxnSpPr>
        <p:spPr>
          <a:xfrm flipH="1" flipV="1">
            <a:off x="1959087" y="5261409"/>
            <a:ext cx="9262942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6" name="Connecteur droit 155"/>
          <p:cNvCxnSpPr/>
          <p:nvPr/>
        </p:nvCxnSpPr>
        <p:spPr>
          <a:xfrm>
            <a:off x="9509832" y="4762110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7" name="Titre 1"/>
          <p:cNvSpPr txBox="1">
            <a:spLocks/>
          </p:cNvSpPr>
          <p:nvPr/>
        </p:nvSpPr>
        <p:spPr>
          <a:xfrm>
            <a:off x="8472614" y="4821296"/>
            <a:ext cx="9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 lot</a:t>
            </a:r>
            <a:endParaRPr lang="fr-FR" sz="1400" dirty="0"/>
          </a:p>
        </p:txBody>
      </p:sp>
      <p:cxnSp>
        <p:nvCxnSpPr>
          <p:cNvPr id="158" name="Connecteur droit 157"/>
          <p:cNvCxnSpPr/>
          <p:nvPr/>
        </p:nvCxnSpPr>
        <p:spPr>
          <a:xfrm>
            <a:off x="3945402" y="4761737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Titre 1"/>
          <p:cNvSpPr txBox="1">
            <a:spLocks/>
          </p:cNvSpPr>
          <p:nvPr/>
        </p:nvSpPr>
        <p:spPr>
          <a:xfrm>
            <a:off x="4145730" y="4828610"/>
            <a:ext cx="9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cxnSp>
        <p:nvCxnSpPr>
          <p:cNvPr id="163" name="Connecteur droit 162"/>
          <p:cNvCxnSpPr/>
          <p:nvPr/>
        </p:nvCxnSpPr>
        <p:spPr>
          <a:xfrm>
            <a:off x="6927086" y="4751282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4" name="Titre 1"/>
          <p:cNvSpPr txBox="1">
            <a:spLocks/>
          </p:cNvSpPr>
          <p:nvPr/>
        </p:nvSpPr>
        <p:spPr>
          <a:xfrm>
            <a:off x="9520423" y="4828296"/>
            <a:ext cx="170613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Prochaine injection</a:t>
            </a:r>
            <a:endParaRPr lang="fr-FR" sz="1400" dirty="0"/>
          </a:p>
        </p:txBody>
      </p:sp>
      <p:sp>
        <p:nvSpPr>
          <p:cNvPr id="165" name="Titre 1"/>
          <p:cNvSpPr txBox="1">
            <a:spLocks/>
          </p:cNvSpPr>
          <p:nvPr/>
        </p:nvSpPr>
        <p:spPr>
          <a:xfrm>
            <a:off x="7106802" y="4808611"/>
            <a:ext cx="9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Produit</a:t>
            </a:r>
            <a:endParaRPr lang="fr-FR" sz="1400" dirty="0"/>
          </a:p>
        </p:txBody>
      </p:sp>
      <p:cxnSp>
        <p:nvCxnSpPr>
          <p:cNvPr id="166" name="Connecteur droit 165"/>
          <p:cNvCxnSpPr/>
          <p:nvPr/>
        </p:nvCxnSpPr>
        <p:spPr>
          <a:xfrm>
            <a:off x="8248446" y="4757533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4" name="Titre 1"/>
          <p:cNvSpPr txBox="1">
            <a:spLocks/>
          </p:cNvSpPr>
          <p:nvPr/>
        </p:nvSpPr>
        <p:spPr>
          <a:xfrm>
            <a:off x="2079002" y="5271775"/>
            <a:ext cx="67071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</a:t>
            </a:r>
            <a:endParaRPr lang="fr-FR" sz="1800" b="1" dirty="0"/>
          </a:p>
        </p:txBody>
      </p:sp>
      <p:sp>
        <p:nvSpPr>
          <p:cNvPr id="187" name="Titre 1"/>
          <p:cNvSpPr txBox="1">
            <a:spLocks/>
          </p:cNvSpPr>
          <p:nvPr/>
        </p:nvSpPr>
        <p:spPr>
          <a:xfrm>
            <a:off x="8282858" y="5257667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90" name="Titre 1"/>
          <p:cNvSpPr txBox="1">
            <a:spLocks/>
          </p:cNvSpPr>
          <p:nvPr/>
        </p:nvSpPr>
        <p:spPr>
          <a:xfrm>
            <a:off x="3995860" y="5265148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93" name="Titre 1"/>
          <p:cNvSpPr txBox="1">
            <a:spLocks/>
          </p:cNvSpPr>
          <p:nvPr/>
        </p:nvSpPr>
        <p:spPr>
          <a:xfrm>
            <a:off x="5461205" y="5278403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96" name="Titre 1"/>
          <p:cNvSpPr txBox="1">
            <a:spLocks/>
          </p:cNvSpPr>
          <p:nvPr/>
        </p:nvSpPr>
        <p:spPr>
          <a:xfrm>
            <a:off x="6979902" y="5265148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99" name="Titre 1"/>
          <p:cNvSpPr txBox="1">
            <a:spLocks/>
          </p:cNvSpPr>
          <p:nvPr/>
        </p:nvSpPr>
        <p:spPr>
          <a:xfrm>
            <a:off x="3081403" y="5269627"/>
            <a:ext cx="67071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</a:t>
            </a:r>
            <a:endParaRPr lang="fr-FR" sz="1800" b="1" dirty="0"/>
          </a:p>
        </p:txBody>
      </p:sp>
      <p:sp>
        <p:nvSpPr>
          <p:cNvPr id="200" name="Titre 1"/>
          <p:cNvSpPr txBox="1">
            <a:spLocks/>
          </p:cNvSpPr>
          <p:nvPr/>
        </p:nvSpPr>
        <p:spPr>
          <a:xfrm>
            <a:off x="9748903" y="5255519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201" name="Titre 1"/>
          <p:cNvSpPr txBox="1">
            <a:spLocks/>
          </p:cNvSpPr>
          <p:nvPr/>
        </p:nvSpPr>
        <p:spPr>
          <a:xfrm>
            <a:off x="2372057" y="3351877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commercial</a:t>
            </a:r>
            <a:endParaRPr lang="fr-FR" sz="1400" dirty="0"/>
          </a:p>
        </p:txBody>
      </p:sp>
      <p:sp>
        <p:nvSpPr>
          <p:cNvPr id="202" name="Rectangle 201"/>
          <p:cNvSpPr/>
          <p:nvPr/>
        </p:nvSpPr>
        <p:spPr>
          <a:xfrm>
            <a:off x="3891937" y="3399246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3" name="Rectangle 202"/>
          <p:cNvSpPr/>
          <p:nvPr/>
        </p:nvSpPr>
        <p:spPr>
          <a:xfrm>
            <a:off x="6725036" y="3392880"/>
            <a:ext cx="1692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4" name="Titre 1"/>
          <p:cNvSpPr txBox="1">
            <a:spLocks/>
          </p:cNvSpPr>
          <p:nvPr/>
        </p:nvSpPr>
        <p:spPr>
          <a:xfrm>
            <a:off x="5762424" y="3379992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 lot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519366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573326" y="103211"/>
            <a:ext cx="4620714" cy="4038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13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Archive hors application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612638"/>
            <a:ext cx="11758269" cy="52858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920696" y="1953941"/>
            <a:ext cx="6852243" cy="229334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1029302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1016197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3345444" y="1073576"/>
            <a:ext cx="670716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1035709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5450982" y="110851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145778" y="111455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779361" y="1095276"/>
            <a:ext cx="684000" cy="2890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3152059" y="1074328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105445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1080956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959960"/>
            <a:ext cx="6858867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1849487" y="61172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686923" y="1444407"/>
            <a:ext cx="2340000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Archive hors application </a:t>
            </a:r>
            <a:endParaRPr lang="fr-FR" sz="1600" b="1" u="sng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2358470" y="2805616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</a:t>
            </a:r>
            <a:endParaRPr lang="fr-FR" sz="1400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2749718" y="2297634"/>
            <a:ext cx="1037797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Document</a:t>
            </a:r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3903344" y="2859802"/>
            <a:ext cx="4606093" cy="72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174627" y="6089970"/>
            <a:ext cx="9090992" cy="5834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un tableau dynamique s’affiche quand on jointer un fichier.</a:t>
            </a:r>
            <a:endParaRPr lang="fr-FR" sz="1400" dirty="0"/>
          </a:p>
        </p:txBody>
      </p:sp>
      <p:sp>
        <p:nvSpPr>
          <p:cNvPr id="145" name="Titre 1"/>
          <p:cNvSpPr txBox="1">
            <a:spLocks/>
          </p:cNvSpPr>
          <p:nvPr/>
        </p:nvSpPr>
        <p:spPr>
          <a:xfrm>
            <a:off x="4016160" y="4808714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joint</a:t>
            </a:r>
            <a:endParaRPr lang="fr-FR" sz="1400" dirty="0"/>
          </a:p>
        </p:txBody>
      </p:sp>
      <p:sp>
        <p:nvSpPr>
          <p:cNvPr id="146" name="Rectangle 145"/>
          <p:cNvSpPr/>
          <p:nvPr/>
        </p:nvSpPr>
        <p:spPr>
          <a:xfrm>
            <a:off x="1921596" y="4757577"/>
            <a:ext cx="6840000" cy="100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9" name="Titre 1"/>
          <p:cNvSpPr txBox="1">
            <a:spLocks/>
          </p:cNvSpPr>
          <p:nvPr/>
        </p:nvSpPr>
        <p:spPr>
          <a:xfrm>
            <a:off x="2039000" y="4802254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fichier</a:t>
            </a:r>
            <a:endParaRPr lang="fr-FR" sz="1400" dirty="0"/>
          </a:p>
        </p:txBody>
      </p:sp>
      <p:cxnSp>
        <p:nvCxnSpPr>
          <p:cNvPr id="155" name="Connecteur droit 154"/>
          <p:cNvCxnSpPr>
            <a:stCxn id="146" idx="3"/>
          </p:cNvCxnSpPr>
          <p:nvPr/>
        </p:nvCxnSpPr>
        <p:spPr>
          <a:xfrm flipH="1" flipV="1">
            <a:off x="1959086" y="5261409"/>
            <a:ext cx="6840000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8" name="Connecteur droit 157"/>
          <p:cNvCxnSpPr/>
          <p:nvPr/>
        </p:nvCxnSpPr>
        <p:spPr>
          <a:xfrm>
            <a:off x="3945402" y="4761737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Titre 1"/>
          <p:cNvSpPr txBox="1">
            <a:spLocks/>
          </p:cNvSpPr>
          <p:nvPr/>
        </p:nvSpPr>
        <p:spPr>
          <a:xfrm>
            <a:off x="6391063" y="4802253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</a:t>
            </a:r>
            <a:endParaRPr lang="fr-FR" sz="1400" dirty="0"/>
          </a:p>
        </p:txBody>
      </p:sp>
      <p:cxnSp>
        <p:nvCxnSpPr>
          <p:cNvPr id="163" name="Connecteur droit 162"/>
          <p:cNvCxnSpPr/>
          <p:nvPr/>
        </p:nvCxnSpPr>
        <p:spPr>
          <a:xfrm>
            <a:off x="5618940" y="4753667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7" name="Titre 1"/>
          <p:cNvSpPr txBox="1">
            <a:spLocks/>
          </p:cNvSpPr>
          <p:nvPr/>
        </p:nvSpPr>
        <p:spPr>
          <a:xfrm>
            <a:off x="6197195" y="5206211"/>
            <a:ext cx="2266166" cy="5676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…………………………...............................................</a:t>
            </a:r>
            <a:endParaRPr lang="fr-FR" sz="1800" b="1" dirty="0"/>
          </a:p>
        </p:txBody>
      </p:sp>
      <p:sp>
        <p:nvSpPr>
          <p:cNvPr id="193" name="Titre 1"/>
          <p:cNvSpPr txBox="1">
            <a:spLocks/>
          </p:cNvSpPr>
          <p:nvPr/>
        </p:nvSpPr>
        <p:spPr>
          <a:xfrm>
            <a:off x="4074192" y="5265751"/>
            <a:ext cx="1332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…………………</a:t>
            </a:r>
            <a:endParaRPr lang="fr-FR" sz="1800" b="1" dirty="0"/>
          </a:p>
        </p:txBody>
      </p:sp>
      <p:sp>
        <p:nvSpPr>
          <p:cNvPr id="200" name="Titre 1"/>
          <p:cNvSpPr txBox="1">
            <a:spLocks/>
          </p:cNvSpPr>
          <p:nvPr/>
        </p:nvSpPr>
        <p:spPr>
          <a:xfrm>
            <a:off x="2070780" y="5244428"/>
            <a:ext cx="150254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…………………..</a:t>
            </a:r>
            <a:endParaRPr lang="fr-FR" sz="1800" b="1" dirty="0"/>
          </a:p>
        </p:txBody>
      </p:sp>
      <p:sp>
        <p:nvSpPr>
          <p:cNvPr id="86" name="Rectangle 85"/>
          <p:cNvSpPr/>
          <p:nvPr/>
        </p:nvSpPr>
        <p:spPr>
          <a:xfrm>
            <a:off x="3903344" y="2289778"/>
            <a:ext cx="1704465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Choisissez un fichier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29437" y="3755161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Joindre</a:t>
            </a:r>
          </a:p>
        </p:txBody>
      </p:sp>
    </p:spTree>
    <p:extLst>
      <p:ext uri="{BB962C8B-B14F-4D97-AF65-F5344CB8AC3E}">
        <p14:creationId xmlns:p14="http://schemas.microsoft.com/office/powerpoint/2010/main" val="1726295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79000" y="103211"/>
            <a:ext cx="4715040" cy="5956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14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Gestion des mouvements/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Liste des mouvements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612638"/>
            <a:ext cx="11758269" cy="52858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1029302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1016197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3345444" y="1073576"/>
            <a:ext cx="670716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1035709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5450982" y="110851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145778" y="111455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779361" y="1095276"/>
            <a:ext cx="684000" cy="2890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3152059" y="1074328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105445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1080956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959960"/>
            <a:ext cx="6858867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1849487" y="61172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159" name="Titre 1"/>
          <p:cNvSpPr txBox="1">
            <a:spLocks/>
          </p:cNvSpPr>
          <p:nvPr/>
        </p:nvSpPr>
        <p:spPr>
          <a:xfrm>
            <a:off x="9960807" y="2034707"/>
            <a:ext cx="18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</a:t>
            </a:r>
            <a:endParaRPr lang="fr-FR" sz="1400" dirty="0"/>
          </a:p>
        </p:txBody>
      </p:sp>
      <p:cxnSp>
        <p:nvCxnSpPr>
          <p:cNvPr id="163" name="Connecteur droit 162"/>
          <p:cNvCxnSpPr/>
          <p:nvPr/>
        </p:nvCxnSpPr>
        <p:spPr>
          <a:xfrm>
            <a:off x="10030111" y="1975595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7" name="Titre 1"/>
          <p:cNvSpPr txBox="1">
            <a:spLocks/>
          </p:cNvSpPr>
          <p:nvPr/>
        </p:nvSpPr>
        <p:spPr>
          <a:xfrm>
            <a:off x="9944020" y="2280619"/>
            <a:ext cx="1800000" cy="745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…………..……………</a:t>
            </a:r>
          </a:p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...........................</a:t>
            </a:r>
            <a:endParaRPr lang="fr-FR" sz="1800" b="1" dirty="0"/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1832196" y="2029528"/>
            <a:ext cx="108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39" name="Rectangle 38"/>
          <p:cNvSpPr/>
          <p:nvPr/>
        </p:nvSpPr>
        <p:spPr>
          <a:xfrm>
            <a:off x="519014" y="1975794"/>
            <a:ext cx="11160000" cy="302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0" name="Titre 1"/>
          <p:cNvSpPr txBox="1">
            <a:spLocks/>
          </p:cNvSpPr>
          <p:nvPr/>
        </p:nvSpPr>
        <p:spPr>
          <a:xfrm>
            <a:off x="249621" y="2032830"/>
            <a:ext cx="18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Évènement</a:t>
            </a:r>
            <a:endParaRPr lang="fr-FR" sz="1400" dirty="0"/>
          </a:p>
        </p:txBody>
      </p:sp>
      <p:cxnSp>
        <p:nvCxnSpPr>
          <p:cNvPr id="41" name="Connecteur droit 40"/>
          <p:cNvCxnSpPr/>
          <p:nvPr/>
        </p:nvCxnSpPr>
        <p:spPr>
          <a:xfrm>
            <a:off x="4425244" y="1966807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2" name="Titre 1"/>
          <p:cNvSpPr txBox="1">
            <a:spLocks/>
          </p:cNvSpPr>
          <p:nvPr/>
        </p:nvSpPr>
        <p:spPr>
          <a:xfrm>
            <a:off x="4217625" y="2058571"/>
            <a:ext cx="180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Établissement</a:t>
            </a:r>
            <a:endParaRPr lang="fr-FR" sz="1400" dirty="0"/>
          </a:p>
        </p:txBody>
      </p:sp>
      <p:cxnSp>
        <p:nvCxnSpPr>
          <p:cNvPr id="43" name="Connecteur droit 42"/>
          <p:cNvCxnSpPr/>
          <p:nvPr/>
        </p:nvCxnSpPr>
        <p:spPr>
          <a:xfrm>
            <a:off x="1769494" y="1969444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Connecteur droit 43"/>
          <p:cNvCxnSpPr/>
          <p:nvPr/>
        </p:nvCxnSpPr>
        <p:spPr>
          <a:xfrm flipH="1" flipV="1">
            <a:off x="517867" y="2466747"/>
            <a:ext cx="11160000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Connecteur droit 44"/>
          <p:cNvCxnSpPr/>
          <p:nvPr/>
        </p:nvCxnSpPr>
        <p:spPr>
          <a:xfrm>
            <a:off x="8808747" y="1952204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6" name="Titre 1"/>
          <p:cNvSpPr txBox="1">
            <a:spLocks/>
          </p:cNvSpPr>
          <p:nvPr/>
        </p:nvSpPr>
        <p:spPr>
          <a:xfrm>
            <a:off x="7133210" y="2039458"/>
            <a:ext cx="18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Heure de sortie</a:t>
            </a:r>
            <a:endParaRPr lang="fr-FR" sz="1400" dirty="0"/>
          </a:p>
        </p:txBody>
      </p:sp>
      <p:cxnSp>
        <p:nvCxnSpPr>
          <p:cNvPr id="47" name="Connecteur droit 46"/>
          <p:cNvCxnSpPr/>
          <p:nvPr/>
        </p:nvCxnSpPr>
        <p:spPr>
          <a:xfrm>
            <a:off x="2980502" y="1979686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" name="Titre 1"/>
          <p:cNvSpPr txBox="1">
            <a:spLocks/>
          </p:cNvSpPr>
          <p:nvPr/>
        </p:nvSpPr>
        <p:spPr>
          <a:xfrm>
            <a:off x="2806326" y="2046772"/>
            <a:ext cx="18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accueil</a:t>
            </a:r>
            <a:endParaRPr lang="fr-FR" sz="1400" dirty="0"/>
          </a:p>
        </p:txBody>
      </p:sp>
      <p:cxnSp>
        <p:nvCxnSpPr>
          <p:cNvPr id="49" name="Connecteur droit 48"/>
          <p:cNvCxnSpPr/>
          <p:nvPr/>
        </p:nvCxnSpPr>
        <p:spPr>
          <a:xfrm>
            <a:off x="5819505" y="1969444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Titre 1"/>
          <p:cNvSpPr txBox="1">
            <a:spLocks/>
          </p:cNvSpPr>
          <p:nvPr/>
        </p:nvSpPr>
        <p:spPr>
          <a:xfrm>
            <a:off x="8876815" y="2021487"/>
            <a:ext cx="108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5649796" y="2026269"/>
            <a:ext cx="18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sortie</a:t>
            </a:r>
            <a:endParaRPr lang="fr-FR" sz="1400" dirty="0"/>
          </a:p>
        </p:txBody>
      </p:sp>
      <p:cxnSp>
        <p:nvCxnSpPr>
          <p:cNvPr id="52" name="Connecteur droit 51"/>
          <p:cNvCxnSpPr/>
          <p:nvPr/>
        </p:nvCxnSpPr>
        <p:spPr>
          <a:xfrm>
            <a:off x="7269822" y="1973058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3" name="Titre 1"/>
          <p:cNvSpPr txBox="1">
            <a:spLocks/>
          </p:cNvSpPr>
          <p:nvPr/>
        </p:nvSpPr>
        <p:spPr>
          <a:xfrm>
            <a:off x="546417" y="2489937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7471577" y="2502361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55" name="Titre 1"/>
          <p:cNvSpPr txBox="1">
            <a:spLocks/>
          </p:cNvSpPr>
          <p:nvPr/>
        </p:nvSpPr>
        <p:spPr>
          <a:xfrm>
            <a:off x="3133196" y="2483096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519871" y="2496564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5910655" y="2496564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58" name="Titre 1"/>
          <p:cNvSpPr txBox="1">
            <a:spLocks/>
          </p:cNvSpPr>
          <p:nvPr/>
        </p:nvSpPr>
        <p:spPr>
          <a:xfrm>
            <a:off x="1767761" y="248778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59" name="Titre 1"/>
          <p:cNvSpPr txBox="1">
            <a:spLocks/>
          </p:cNvSpPr>
          <p:nvPr/>
        </p:nvSpPr>
        <p:spPr>
          <a:xfrm>
            <a:off x="8830589" y="250001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2" name="Titre 1"/>
          <p:cNvSpPr txBox="1">
            <a:spLocks/>
          </p:cNvSpPr>
          <p:nvPr/>
        </p:nvSpPr>
        <p:spPr>
          <a:xfrm>
            <a:off x="544269" y="3080222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63" name="Titre 1"/>
          <p:cNvSpPr txBox="1">
            <a:spLocks/>
          </p:cNvSpPr>
          <p:nvPr/>
        </p:nvSpPr>
        <p:spPr>
          <a:xfrm>
            <a:off x="7469429" y="3092646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131048" y="3073381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5" name="Titre 1"/>
          <p:cNvSpPr txBox="1">
            <a:spLocks/>
          </p:cNvSpPr>
          <p:nvPr/>
        </p:nvSpPr>
        <p:spPr>
          <a:xfrm>
            <a:off x="4517723" y="308684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5908507" y="308684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7" name="Titre 1"/>
          <p:cNvSpPr txBox="1">
            <a:spLocks/>
          </p:cNvSpPr>
          <p:nvPr/>
        </p:nvSpPr>
        <p:spPr>
          <a:xfrm>
            <a:off x="1765613" y="3078074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8828441" y="3090304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9" name="Titre 1"/>
          <p:cNvSpPr txBox="1">
            <a:spLocks/>
          </p:cNvSpPr>
          <p:nvPr/>
        </p:nvSpPr>
        <p:spPr>
          <a:xfrm>
            <a:off x="9980509" y="2832262"/>
            <a:ext cx="1800000" cy="745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…………..……………</a:t>
            </a:r>
          </a:p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...........................</a:t>
            </a:r>
            <a:endParaRPr lang="fr-FR" sz="1800" b="1" dirty="0"/>
          </a:p>
        </p:txBody>
      </p:sp>
      <p:cxnSp>
        <p:nvCxnSpPr>
          <p:cNvPr id="71" name="Connecteur droit 70"/>
          <p:cNvCxnSpPr/>
          <p:nvPr/>
        </p:nvCxnSpPr>
        <p:spPr>
          <a:xfrm flipH="1" flipV="1">
            <a:off x="541477" y="3636583"/>
            <a:ext cx="11160000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2" name="Titre 1"/>
          <p:cNvSpPr txBox="1">
            <a:spLocks/>
          </p:cNvSpPr>
          <p:nvPr/>
        </p:nvSpPr>
        <p:spPr>
          <a:xfrm>
            <a:off x="567879" y="3773535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7493039" y="378595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74" name="Titre 1"/>
          <p:cNvSpPr txBox="1">
            <a:spLocks/>
          </p:cNvSpPr>
          <p:nvPr/>
        </p:nvSpPr>
        <p:spPr>
          <a:xfrm>
            <a:off x="3154658" y="3766694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4541333" y="3780162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79" name="Titre 1"/>
          <p:cNvSpPr txBox="1">
            <a:spLocks/>
          </p:cNvSpPr>
          <p:nvPr/>
        </p:nvSpPr>
        <p:spPr>
          <a:xfrm>
            <a:off x="5932117" y="3780162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1789223" y="3771387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8852051" y="3783617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97" name="Titre 1"/>
          <p:cNvSpPr txBox="1">
            <a:spLocks/>
          </p:cNvSpPr>
          <p:nvPr/>
        </p:nvSpPr>
        <p:spPr>
          <a:xfrm>
            <a:off x="10004119" y="3525575"/>
            <a:ext cx="1800000" cy="745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…………..……………</a:t>
            </a:r>
          </a:p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...........................</a:t>
            </a:r>
            <a:endParaRPr lang="fr-FR" sz="1800" b="1" dirty="0"/>
          </a:p>
        </p:txBody>
      </p:sp>
      <p:cxnSp>
        <p:nvCxnSpPr>
          <p:cNvPr id="98" name="Connecteur droit 97"/>
          <p:cNvCxnSpPr/>
          <p:nvPr/>
        </p:nvCxnSpPr>
        <p:spPr>
          <a:xfrm flipH="1" flipV="1">
            <a:off x="552208" y="4304137"/>
            <a:ext cx="11160000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9" name="Titre 1"/>
          <p:cNvSpPr txBox="1">
            <a:spLocks/>
          </p:cNvSpPr>
          <p:nvPr/>
        </p:nvSpPr>
        <p:spPr>
          <a:xfrm>
            <a:off x="578610" y="444108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7503770" y="4453513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01" name="Titre 1"/>
          <p:cNvSpPr txBox="1">
            <a:spLocks/>
          </p:cNvSpPr>
          <p:nvPr/>
        </p:nvSpPr>
        <p:spPr>
          <a:xfrm>
            <a:off x="3165389" y="4434248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4552064" y="4447716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04" name="Titre 1"/>
          <p:cNvSpPr txBox="1">
            <a:spLocks/>
          </p:cNvSpPr>
          <p:nvPr/>
        </p:nvSpPr>
        <p:spPr>
          <a:xfrm>
            <a:off x="5942848" y="4447716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05" name="Titre 1"/>
          <p:cNvSpPr txBox="1">
            <a:spLocks/>
          </p:cNvSpPr>
          <p:nvPr/>
        </p:nvSpPr>
        <p:spPr>
          <a:xfrm>
            <a:off x="1799954" y="4438941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06" name="Titre 1"/>
          <p:cNvSpPr txBox="1">
            <a:spLocks/>
          </p:cNvSpPr>
          <p:nvPr/>
        </p:nvSpPr>
        <p:spPr>
          <a:xfrm>
            <a:off x="8862782" y="4451171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07" name="Titre 1"/>
          <p:cNvSpPr txBox="1">
            <a:spLocks/>
          </p:cNvSpPr>
          <p:nvPr/>
        </p:nvSpPr>
        <p:spPr>
          <a:xfrm>
            <a:off x="10014850" y="4193129"/>
            <a:ext cx="1800000" cy="745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…………..……………</a:t>
            </a:r>
          </a:p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...........................</a:t>
            </a:r>
            <a:endParaRPr lang="fr-FR" sz="1800" b="1" dirty="0"/>
          </a:p>
        </p:txBody>
      </p:sp>
      <p:cxnSp>
        <p:nvCxnSpPr>
          <p:cNvPr id="108" name="Connecteur droit 107"/>
          <p:cNvCxnSpPr/>
          <p:nvPr/>
        </p:nvCxnSpPr>
        <p:spPr>
          <a:xfrm flipH="1" flipV="1">
            <a:off x="513571" y="3016248"/>
            <a:ext cx="11160000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672338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2772340" y="157193"/>
            <a:ext cx="5510518" cy="72744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15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Liste des caisses d’assurance (CNAS/CASNOS/CAISSE MILITAIRE)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987671"/>
            <a:ext cx="11758269" cy="49108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920697" y="1522697"/>
            <a:ext cx="4248284" cy="172277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801220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223543" y="1768188"/>
            <a:ext cx="1668064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Caisse d’assurance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5400865" y="1809065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01521" y="1007486"/>
            <a:ext cx="2891365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600" b="1" u="sng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Liste des </a:t>
            </a:r>
            <a:r>
              <a:rPr lang="fr-FR" altLang="fr-FR" sz="1600" b="1" u="sng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caisses d’assurance</a:t>
            </a:r>
            <a:endParaRPr lang="fr-FR" sz="1600" b="1" u="sng" dirty="0"/>
          </a:p>
        </p:txBody>
      </p:sp>
      <p:sp>
        <p:nvSpPr>
          <p:cNvPr id="217" name="Rectangle 216"/>
          <p:cNvSpPr/>
          <p:nvPr/>
        </p:nvSpPr>
        <p:spPr>
          <a:xfrm>
            <a:off x="4275810" y="2379231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  <a:endParaRPr lang="fr-FR" sz="1400" dirty="0" smtClean="0"/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174627" y="6089970"/>
            <a:ext cx="9090992" cy="4396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Caisse d’assurance :</a:t>
            </a:r>
            <a:r>
              <a:rPr lang="fr-FR" sz="1400" dirty="0" smtClean="0"/>
              <a:t> CNAS / CASNOS / CAISSE MILITAIRE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écran permis de sélectionner les patients selon les établissements d’assurance correspondant 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4077224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2820765" y="280671"/>
            <a:ext cx="5510518" cy="4894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15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Report d’envoi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830624"/>
            <a:ext cx="11758269" cy="50678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920697" y="1522697"/>
            <a:ext cx="4248284" cy="172277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801220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223543" y="1768188"/>
            <a:ext cx="108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Recherche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5400865" y="1809065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01521" y="1007486"/>
            <a:ext cx="2891365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600" b="1" u="sng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Liste des </a:t>
            </a:r>
            <a:r>
              <a:rPr lang="fr-FR" altLang="fr-FR" sz="1600" b="1" u="sng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caisses d’assurance</a:t>
            </a:r>
            <a:endParaRPr lang="fr-FR" sz="1600" b="1" u="sng" dirty="0"/>
          </a:p>
        </p:txBody>
      </p:sp>
      <p:sp>
        <p:nvSpPr>
          <p:cNvPr id="217" name="Rectangle 216"/>
          <p:cNvSpPr/>
          <p:nvPr/>
        </p:nvSpPr>
        <p:spPr>
          <a:xfrm>
            <a:off x="4275810" y="2379231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  <a:endParaRPr lang="fr-FR" sz="1400" dirty="0" smtClean="0"/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174627" y="6089970"/>
            <a:ext cx="9090992" cy="4396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Caisse d’assurance :</a:t>
            </a:r>
            <a:r>
              <a:rPr lang="fr-FR" sz="1400" dirty="0" smtClean="0"/>
              <a:t> CNAS / CASNOS / CAISSE MILITAIRE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écran permis de sélectionner les patients selon les établissements d’assurance correspondant 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98087885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898</TotalTime>
  <Words>1521</Words>
  <Application>Microsoft Office PowerPoint</Application>
  <PresentationFormat>Grand écran</PresentationFormat>
  <Paragraphs>569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Microsoft YaHei</vt:lpstr>
      <vt:lpstr>Arial</vt:lpstr>
      <vt:lpstr>Calibri</vt:lpstr>
      <vt:lpstr>Calibri Light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Dev</dc:creator>
  <cp:lastModifiedBy>Dev</cp:lastModifiedBy>
  <cp:revision>147</cp:revision>
  <dcterms:created xsi:type="dcterms:W3CDTF">2015-11-02T10:39:38Z</dcterms:created>
  <dcterms:modified xsi:type="dcterms:W3CDTF">2015-11-08T13:05:02Z</dcterms:modified>
</cp:coreProperties>
</file>