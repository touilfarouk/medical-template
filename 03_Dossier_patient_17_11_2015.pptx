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9" r:id="rId35"/>
    <p:sldId id="300" r:id="rId36"/>
    <p:sldId id="293" r:id="rId37"/>
    <p:sldId id="294" r:id="rId38"/>
    <p:sldId id="295" r:id="rId39"/>
    <p:sldId id="296" r:id="rId40"/>
    <p:sldId id="297" r:id="rId41"/>
    <p:sldId id="298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02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09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96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36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05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86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78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01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26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60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A928-183C-4690-9136-775541D7E77E}" type="datetimeFigureOut">
              <a:rPr lang="fr-FR" smtClean="0"/>
              <a:t>22/11/2015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8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0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01 – Patient 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Identification patient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5" name="Triangle isocèle 14"/>
          <p:cNvSpPr/>
          <p:nvPr/>
        </p:nvSpPr>
        <p:spPr>
          <a:xfrm rot="10800000">
            <a:off x="8838787" y="243241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8" name="Triangle isocèle 17"/>
          <p:cNvSpPr/>
          <p:nvPr/>
        </p:nvSpPr>
        <p:spPr>
          <a:xfrm rot="10800000">
            <a:off x="8817880" y="199254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3484752" y="278359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311671" y="280367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279842" y="551782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 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144311"/>
            <a:ext cx="67198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6" name="Triangle isocèle 85"/>
          <p:cNvSpPr/>
          <p:nvPr/>
        </p:nvSpPr>
        <p:spPr>
          <a:xfrm rot="10800000">
            <a:off x="9085448" y="3195219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6863958" y="3219502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1" y="3573020"/>
            <a:ext cx="1519033" cy="269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10158438" y="552138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792320" y="114267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riangle isocèle 113"/>
          <p:cNvSpPr/>
          <p:nvPr/>
        </p:nvSpPr>
        <p:spPr>
          <a:xfrm rot="10800000">
            <a:off x="11067149" y="112278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riangle isocèle 116"/>
          <p:cNvSpPr/>
          <p:nvPr/>
        </p:nvSpPr>
        <p:spPr>
          <a:xfrm rot="10800000">
            <a:off x="8184796" y="114266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811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041279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2" y="3573020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15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biologie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9098700" y="1476728"/>
            <a:ext cx="1260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396747" y="5517827"/>
            <a:ext cx="3519899" cy="1041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/>
              <a:t>Chaque famille d'analyse contient </a:t>
            </a:r>
            <a:r>
              <a:rPr lang="fr-FR" sz="1050" dirty="0" smtClean="0"/>
              <a:t>des groupes des analyses biologiques.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 smtClean="0"/>
              <a:t>Quand on choisir le groupe d’analyse un tableau s’affiche pour choisir l’analyse </a:t>
            </a:r>
            <a:r>
              <a:rPr lang="fr-FR" sz="1050" dirty="0"/>
              <a:t>biologique correspondante au choix de </a:t>
            </a:r>
            <a:r>
              <a:rPr lang="fr-FR" sz="1050" dirty="0" smtClean="0"/>
              <a:t>patient, ou bien on peut coché le choix ‘’ Bilan standard’’ pour choisir un analyse standard.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58102" y="6167483"/>
            <a:ext cx="124216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3396639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192532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292919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Biologie</a:t>
            </a:r>
            <a:endParaRPr lang="fr-FR" sz="1400" dirty="0"/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30137" y="2054944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7705" y="2072949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Biochimie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Bactériologie / Parasitologie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Hématologie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Toxicologie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Immunologie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Auto immunité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Vitamines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Pharmacologie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Marqueurs Tumoraux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Métaux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Pasteur </a:t>
            </a:r>
            <a:r>
              <a:rPr lang="fr-FR" sz="1400" dirty="0"/>
              <a:t>C</a:t>
            </a:r>
            <a:r>
              <a:rPr lang="fr-FR" sz="1400" dirty="0" smtClean="0"/>
              <a:t>erba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Hormonologie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Allergie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Hémostase</a:t>
            </a:r>
          </a:p>
        </p:txBody>
      </p:sp>
      <p:sp>
        <p:nvSpPr>
          <p:cNvPr id="17" name="Accolade ouvrante 16"/>
          <p:cNvSpPr/>
          <p:nvPr/>
        </p:nvSpPr>
        <p:spPr>
          <a:xfrm rot="16200000">
            <a:off x="9439333" y="1094696"/>
            <a:ext cx="321621" cy="1466481"/>
          </a:xfrm>
          <a:prstGeom prst="leftBrace">
            <a:avLst>
              <a:gd name="adj1" fmla="val 8333"/>
              <a:gd name="adj2" fmla="val 486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/>
          <p:cNvSpPr/>
          <p:nvPr/>
        </p:nvSpPr>
        <p:spPr>
          <a:xfrm>
            <a:off x="8519502" y="2019505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8585180" y="2024427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/>
              <a:t>Anticorps anti HBS</a:t>
            </a:r>
          </a:p>
          <a:p>
            <a:r>
              <a:rPr lang="fr-FR" sz="1400" dirty="0"/>
              <a:t>Anticorps anti HCV</a:t>
            </a:r>
          </a:p>
          <a:p>
            <a:r>
              <a:rPr lang="fr-FR" sz="1400" dirty="0"/>
              <a:t>Anticorps anti HIV (1+2)</a:t>
            </a:r>
          </a:p>
          <a:p>
            <a:r>
              <a:rPr lang="fr-FR" sz="1400" dirty="0"/>
              <a:t>Créatinine</a:t>
            </a:r>
          </a:p>
          <a:p>
            <a:r>
              <a:rPr lang="fr-FR" sz="1400" dirty="0"/>
              <a:t>CRP = </a:t>
            </a:r>
            <a:r>
              <a:rPr lang="fr-FR" sz="1400" dirty="0" smtClean="0"/>
              <a:t>C-Réactive </a:t>
            </a:r>
            <a:r>
              <a:rPr lang="fr-FR" sz="1400" dirty="0"/>
              <a:t>Protéine</a:t>
            </a:r>
          </a:p>
          <a:p>
            <a:r>
              <a:rPr lang="fr-FR" sz="1400" dirty="0"/>
              <a:t>FNS</a:t>
            </a:r>
          </a:p>
          <a:p>
            <a:r>
              <a:rPr lang="fr-FR" sz="1400" dirty="0"/>
              <a:t>Glycémie</a:t>
            </a:r>
          </a:p>
          <a:p>
            <a:r>
              <a:rPr lang="fr-FR" sz="1400" dirty="0"/>
              <a:t>Groupage sanguin ABO /Rhésus D</a:t>
            </a:r>
          </a:p>
          <a:p>
            <a:r>
              <a:rPr lang="fr-FR" sz="1400" dirty="0"/>
              <a:t>INR</a:t>
            </a:r>
          </a:p>
          <a:p>
            <a:r>
              <a:rPr lang="fr-FR" sz="1400" dirty="0"/>
              <a:t>Ionogramme sanguin</a:t>
            </a:r>
          </a:p>
          <a:p>
            <a:r>
              <a:rPr lang="fr-FR" sz="1400" dirty="0"/>
              <a:t>TCA /TCK</a:t>
            </a:r>
          </a:p>
          <a:p>
            <a:r>
              <a:rPr lang="fr-FR" sz="1400" dirty="0"/>
              <a:t>Temps de Quick</a:t>
            </a:r>
          </a:p>
          <a:p>
            <a:r>
              <a:rPr lang="fr-FR" sz="1400" dirty="0"/>
              <a:t>TP</a:t>
            </a:r>
          </a:p>
          <a:p>
            <a:r>
              <a:rPr lang="fr-FR" sz="1400" dirty="0"/>
              <a:t>Troponine</a:t>
            </a:r>
          </a:p>
          <a:p>
            <a:r>
              <a:rPr lang="fr-FR" sz="1400" dirty="0"/>
              <a:t>Urée sanguine</a:t>
            </a:r>
          </a:p>
          <a:p>
            <a:r>
              <a:rPr lang="fr-FR" sz="1400" dirty="0"/>
              <a:t>VS (vitesse de sédimentation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4123282" y="2047578"/>
            <a:ext cx="3479495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2123380" y="2663687"/>
            <a:ext cx="2325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ccolade ouvrante 27"/>
          <p:cNvSpPr/>
          <p:nvPr/>
        </p:nvSpPr>
        <p:spPr>
          <a:xfrm>
            <a:off x="4568482" y="2218455"/>
            <a:ext cx="360844" cy="1266868"/>
          </a:xfrm>
          <a:prstGeom prst="leftBrace">
            <a:avLst>
              <a:gd name="adj1" fmla="val 8333"/>
              <a:gd name="adj2" fmla="val 255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847314" y="2185788"/>
            <a:ext cx="2694175" cy="1471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Cytologie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Hémostase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sanguins et anticorps irréguliers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Formule numération sanguine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73578" y="3795388"/>
            <a:ext cx="2911907" cy="144027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5817705" y="3485323"/>
            <a:ext cx="390653" cy="30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71668" y="3878666"/>
            <a:ext cx="2996787" cy="1318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Equilibre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leucocytaire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Myélogramme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Réticulocytes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VS </a:t>
            </a:r>
            <a:r>
              <a:rPr lang="fr-FR" sz="1400" dirty="0">
                <a:latin typeface="+mj-lt"/>
                <a:ea typeface="+mj-ea"/>
                <a:cs typeface="+mj-cs"/>
              </a:rPr>
              <a:t>(vitesse de sédimentation)</a:t>
            </a:r>
          </a:p>
        </p:txBody>
      </p:sp>
      <p:sp>
        <p:nvSpPr>
          <p:cNvPr id="38" name="Ellipse 37"/>
          <p:cNvSpPr/>
          <p:nvPr/>
        </p:nvSpPr>
        <p:spPr>
          <a:xfrm flipV="1">
            <a:off x="4473247" y="39158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/>
          <p:cNvSpPr/>
          <p:nvPr/>
        </p:nvSpPr>
        <p:spPr>
          <a:xfrm flipV="1">
            <a:off x="4468078" y="417423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/>
          <p:cNvSpPr/>
          <p:nvPr/>
        </p:nvSpPr>
        <p:spPr>
          <a:xfrm flipV="1">
            <a:off x="4466151" y="4435031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Ellipse 109"/>
          <p:cNvSpPr/>
          <p:nvPr/>
        </p:nvSpPr>
        <p:spPr>
          <a:xfrm flipV="1">
            <a:off x="4461990" y="472233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Ellipse 110"/>
          <p:cNvSpPr/>
          <p:nvPr/>
        </p:nvSpPr>
        <p:spPr>
          <a:xfrm flipV="1">
            <a:off x="4465638" y="50025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Ellipse 111"/>
          <p:cNvSpPr/>
          <p:nvPr/>
        </p:nvSpPr>
        <p:spPr>
          <a:xfrm flipV="1">
            <a:off x="616859" y="624391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Ellipse 112"/>
          <p:cNvSpPr/>
          <p:nvPr/>
        </p:nvSpPr>
        <p:spPr>
          <a:xfrm flipV="1">
            <a:off x="8892857" y="15592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8945853" y="160334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/>
          <p:cNvSpPr/>
          <p:nvPr/>
        </p:nvSpPr>
        <p:spPr>
          <a:xfrm>
            <a:off x="9930750" y="56093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115349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radiologie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6" y="5881791"/>
            <a:ext cx="3380916" cy="796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Chaque famille de radiologie contient </a:t>
            </a:r>
            <a:r>
              <a:rPr lang="fr-FR" sz="1000" dirty="0" smtClean="0"/>
              <a:t>des groupes des examens radiologies.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Quand </a:t>
            </a:r>
            <a:r>
              <a:rPr lang="fr-FR" sz="1000" dirty="0"/>
              <a:t>on choisir le groupe </a:t>
            </a:r>
            <a:r>
              <a:rPr lang="fr-FR" sz="1000" dirty="0" smtClean="0"/>
              <a:t>d’examen un </a:t>
            </a:r>
            <a:r>
              <a:rPr lang="fr-FR" sz="1000" dirty="0"/>
              <a:t>tableau s’affiche pour choisir </a:t>
            </a:r>
            <a:r>
              <a:rPr lang="fr-FR" sz="1000" dirty="0" smtClean="0"/>
              <a:t>l’examens </a:t>
            </a:r>
            <a:r>
              <a:rPr lang="fr-FR" sz="1000" dirty="0"/>
              <a:t>radiologique </a:t>
            </a:r>
            <a:r>
              <a:rPr lang="fr-FR" sz="1000" dirty="0" smtClean="0"/>
              <a:t>correspondant </a:t>
            </a:r>
            <a:r>
              <a:rPr lang="fr-FR" sz="1000" dirty="0"/>
              <a:t>au choix de </a:t>
            </a:r>
            <a:r>
              <a:rPr lang="fr-FR" sz="1000" dirty="0" smtClean="0"/>
              <a:t>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1660605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56498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556885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53179" y="2000305"/>
            <a:ext cx="3469463" cy="20205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17379" y="2091647"/>
            <a:ext cx="3220531" cy="1929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Examens spécialisés avec opacification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Radiographie standard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Scintigraphie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 interventionnelle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Echo-doppler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IRM ‘’Imagerie Résonance Magnétique’’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scannographie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01747" y="2047372"/>
            <a:ext cx="2495442" cy="41553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2211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50813" y="2105127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Radiologie</a:t>
            </a: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5819851" y="245550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40178" y="3683031"/>
            <a:ext cx="3362459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Echo-Doppler artériel abdominal et rénal	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48661" y="2877999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Choix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58" name="Connecteur droit avec flèche 57"/>
          <p:cNvCxnSpPr>
            <a:stCxn id="18" idx="2"/>
            <a:endCxn id="59" idx="0"/>
          </p:cNvCxnSpPr>
          <p:nvPr/>
        </p:nvCxnSpPr>
        <p:spPr>
          <a:xfrm flipH="1">
            <a:off x="6443697" y="3980035"/>
            <a:ext cx="1077711" cy="35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705697" y="4336587"/>
            <a:ext cx="1476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Médecin traitant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Ellipse 59"/>
          <p:cNvSpPr/>
          <p:nvPr/>
        </p:nvSpPr>
        <p:spPr>
          <a:xfrm flipV="1">
            <a:off x="5705697" y="37700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7148837" y="436517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1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983758" y="49997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9" name="Connecteur en angle 8"/>
          <p:cNvCxnSpPr>
            <a:endCxn id="6" idx="1"/>
          </p:cNvCxnSpPr>
          <p:nvPr/>
        </p:nvCxnSpPr>
        <p:spPr>
          <a:xfrm flipV="1">
            <a:off x="1660605" y="1741134"/>
            <a:ext cx="2919802" cy="1624918"/>
          </a:xfrm>
          <a:prstGeom prst="bentConnector3">
            <a:avLst>
              <a:gd name="adj1" fmla="val 8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/>
          <p:nvPr/>
        </p:nvCxnSpPr>
        <p:spPr>
          <a:xfrm flipH="1">
            <a:off x="5799975" y="320425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riangle isocèle 52"/>
          <p:cNvSpPr/>
          <p:nvPr/>
        </p:nvSpPr>
        <p:spPr>
          <a:xfrm rot="10800000">
            <a:off x="8634998" y="4372739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660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579519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spécialité médicale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236692" y="433298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29831" y="4253358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96087" y="17941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023812" y="1765032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11160000" cy="4038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3496614" y="555654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2703665" y="5500741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517897" y="6070432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4386825" y="556735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3502655" y="607986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298548" y="6047805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398935" y="610383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2753290" y="4341752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6447980" y="18029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88151" y="2251732"/>
            <a:ext cx="2163484" cy="194505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70836" y="2326869"/>
            <a:ext cx="1975612" cy="186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Anatomo-pathologie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Cardiologie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Gastro-entérologie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Neurologie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Ophtalmologie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Pneumologie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vasculaire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6300" y="4824985"/>
            <a:ext cx="2453333" cy="40949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1206746" y="4872880"/>
            <a:ext cx="1862165" cy="329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Examen endoscopique</a:t>
            </a:r>
          </a:p>
        </p:txBody>
      </p:sp>
      <p:sp>
        <p:nvSpPr>
          <p:cNvPr id="60" name="Ellipse 59"/>
          <p:cNvSpPr/>
          <p:nvPr/>
        </p:nvSpPr>
        <p:spPr>
          <a:xfrm flipV="1">
            <a:off x="3912072" y="245478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006342" y="489998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1708" y="1411265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Exploration </a:t>
            </a:r>
            <a:r>
              <a:rPr lang="fr-FR" sz="1400" dirty="0" smtClean="0"/>
              <a:t>spécialisée</a:t>
            </a:r>
            <a:endParaRPr lang="fr-FR" sz="1400" dirty="0"/>
          </a:p>
        </p:txBody>
      </p:sp>
      <p:sp>
        <p:nvSpPr>
          <p:cNvPr id="48" name="Ellipse 47"/>
          <p:cNvSpPr/>
          <p:nvPr/>
        </p:nvSpPr>
        <p:spPr>
          <a:xfrm flipV="1">
            <a:off x="587227" y="14983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7638757" y="1430630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Consultation spécialisée</a:t>
            </a:r>
          </a:p>
        </p:txBody>
      </p:sp>
      <p:sp>
        <p:nvSpPr>
          <p:cNvPr id="50" name="Ellipse 49"/>
          <p:cNvSpPr/>
          <p:nvPr/>
        </p:nvSpPr>
        <p:spPr>
          <a:xfrm flipV="1">
            <a:off x="7504276" y="151768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1452223" y="180741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486337" y="1727790"/>
            <a:ext cx="9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53" name="Triangle isocèle 52"/>
          <p:cNvSpPr/>
          <p:nvPr/>
        </p:nvSpPr>
        <p:spPr>
          <a:xfrm rot="10800000">
            <a:off x="2968821" y="1816184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3798524" y="2232970"/>
            <a:ext cx="3291389" cy="25920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3912072" y="30237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3915091" y="365312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3915739" y="433084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 médicale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Ellipse 69"/>
          <p:cNvSpPr/>
          <p:nvPr/>
        </p:nvSpPr>
        <p:spPr>
          <a:xfrm flipV="1">
            <a:off x="620359" y="1531451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en angle 16"/>
          <p:cNvCxnSpPr/>
          <p:nvPr/>
        </p:nvCxnSpPr>
        <p:spPr>
          <a:xfrm rot="5400000">
            <a:off x="305001" y="3556980"/>
            <a:ext cx="1320770" cy="307113"/>
          </a:xfrm>
          <a:prstGeom prst="bentConnector3">
            <a:avLst>
              <a:gd name="adj1" fmla="val -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91"/>
          <p:cNvCxnSpPr>
            <a:stCxn id="97" idx="3"/>
            <a:endCxn id="6" idx="1"/>
          </p:cNvCxnSpPr>
          <p:nvPr/>
        </p:nvCxnSpPr>
        <p:spPr>
          <a:xfrm flipV="1">
            <a:off x="3279633" y="1939917"/>
            <a:ext cx="744179" cy="3089816"/>
          </a:xfrm>
          <a:prstGeom prst="bentConnector3">
            <a:avLst>
              <a:gd name="adj1" fmla="val 250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4233506" y="2347079"/>
            <a:ext cx="2700000" cy="3383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CPRE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2700000" cy="519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Fibroscopie </a:t>
            </a:r>
            <a:r>
              <a:rPr lang="fr-FR" sz="1400" dirty="0"/>
              <a:t>Œsogastroduodénale </a:t>
            </a:r>
            <a:endParaRPr lang="fr-FR" sz="1400" dirty="0" smtClean="0"/>
          </a:p>
          <a:p>
            <a:r>
              <a:rPr lang="fr-FR" sz="1400" dirty="0" smtClean="0"/>
              <a:t>FOGD </a:t>
            </a:r>
            <a:r>
              <a:rPr lang="fr-FR" sz="1400" dirty="0"/>
              <a:t>sous </a:t>
            </a:r>
            <a:r>
              <a:rPr lang="fr-FR" sz="1400" dirty="0" smtClean="0"/>
              <a:t>AG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4238100" y="3446709"/>
            <a:ext cx="2700000" cy="5645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FOGD </a:t>
            </a:r>
            <a:r>
              <a:rPr lang="fr-FR" sz="1400" dirty="0"/>
              <a:t>sous AG avec Ligature </a:t>
            </a:r>
            <a:endParaRPr lang="fr-FR" sz="1400" dirty="0" smtClean="0"/>
          </a:p>
          <a:p>
            <a:r>
              <a:rPr lang="fr-FR" sz="1400" dirty="0" smtClean="0"/>
              <a:t>ou </a:t>
            </a:r>
            <a:r>
              <a:rPr lang="fr-FR" sz="1400" dirty="0"/>
              <a:t>Sclérose Varices </a:t>
            </a:r>
            <a:r>
              <a:rPr lang="fr-FR" sz="1400" dirty="0" err="1" smtClean="0"/>
              <a:t>oes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4258880" y="4067595"/>
            <a:ext cx="2700000" cy="636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Ponction d'Ascite </a:t>
            </a:r>
          </a:p>
          <a:p>
            <a:r>
              <a:rPr lang="fr-FR" sz="1400" dirty="0">
                <a:solidFill>
                  <a:schemeClr val="dk1"/>
                </a:solidFill>
              </a:rPr>
              <a:t>/Prise en </a:t>
            </a:r>
            <a:r>
              <a:rPr lang="fr-FR" sz="1400" dirty="0" smtClean="0">
                <a:solidFill>
                  <a:schemeClr val="dk1"/>
                </a:solidFill>
              </a:rPr>
              <a:t>charge</a:t>
            </a:r>
          </a:p>
          <a:p>
            <a:r>
              <a:rPr lang="fr-FR" sz="1400" dirty="0" smtClean="0">
                <a:solidFill>
                  <a:schemeClr val="dk1"/>
                </a:solidFill>
              </a:rPr>
              <a:t>/</a:t>
            </a:r>
            <a:r>
              <a:rPr lang="fr-FR" sz="1400" dirty="0">
                <a:solidFill>
                  <a:schemeClr val="dk1"/>
                </a:solidFill>
              </a:rPr>
              <a:t>injection Album</a:t>
            </a:r>
          </a:p>
        </p:txBody>
      </p:sp>
      <p:cxnSp>
        <p:nvCxnSpPr>
          <p:cNvPr id="104" name="Connecteur droit 103"/>
          <p:cNvCxnSpPr/>
          <p:nvPr/>
        </p:nvCxnSpPr>
        <p:spPr>
          <a:xfrm>
            <a:off x="7261906" y="1284155"/>
            <a:ext cx="11946" cy="3588725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8533809" y="19465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273852" y="1917432"/>
            <a:ext cx="127463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Consultation spécialisée</a:t>
            </a:r>
            <a:endParaRPr lang="fr-FR" sz="1400" dirty="0"/>
          </a:p>
        </p:txBody>
      </p:sp>
      <p:sp>
        <p:nvSpPr>
          <p:cNvPr id="109" name="Triangle isocèle 108"/>
          <p:cNvSpPr/>
          <p:nvPr/>
        </p:nvSpPr>
        <p:spPr>
          <a:xfrm rot="10800000">
            <a:off x="10085702" y="19553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7608081" y="2420375"/>
            <a:ext cx="2719926" cy="23687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Allergologie / Anatomo-pathologie</a:t>
            </a:r>
          </a:p>
          <a:p>
            <a:r>
              <a:rPr lang="fr-FR" sz="1400" dirty="0"/>
              <a:t>Anesthésie / </a:t>
            </a:r>
            <a:r>
              <a:rPr lang="fr-FR" sz="1400" dirty="0" smtClean="0"/>
              <a:t>Cancérologie</a:t>
            </a:r>
            <a:endParaRPr lang="fr-FR" sz="1400" dirty="0"/>
          </a:p>
          <a:p>
            <a:r>
              <a:rPr lang="fr-FR" sz="1400" dirty="0"/>
              <a:t>Cardiologie / Dentaire	</a:t>
            </a:r>
          </a:p>
          <a:p>
            <a:r>
              <a:rPr lang="fr-FR" sz="1400" dirty="0"/>
              <a:t>Dermatologie  / </a:t>
            </a:r>
            <a:r>
              <a:rPr lang="fr-FR" sz="1400" dirty="0" smtClean="0"/>
              <a:t>Endocrinologie</a:t>
            </a:r>
            <a:endParaRPr lang="fr-FR" sz="1400" dirty="0"/>
          </a:p>
          <a:p>
            <a:r>
              <a:rPr lang="fr-FR" sz="1400" dirty="0"/>
              <a:t>Gastro-entérologie / Gynécologie</a:t>
            </a:r>
          </a:p>
          <a:p>
            <a:r>
              <a:rPr lang="fr-FR" sz="1400" dirty="0"/>
              <a:t>Néphrologie / </a:t>
            </a:r>
            <a:r>
              <a:rPr lang="fr-FR" sz="1400" dirty="0" smtClean="0"/>
              <a:t>Neurologie</a:t>
            </a:r>
            <a:endParaRPr lang="fr-FR" sz="1400" dirty="0"/>
          </a:p>
          <a:p>
            <a:r>
              <a:rPr lang="fr-FR" sz="1400" dirty="0"/>
              <a:t>Ophtalmologie / ORL	</a:t>
            </a:r>
          </a:p>
          <a:p>
            <a:r>
              <a:rPr lang="fr-FR" sz="1400" dirty="0"/>
              <a:t>Orthopédie / Pédiatrie	</a:t>
            </a:r>
          </a:p>
          <a:p>
            <a:r>
              <a:rPr lang="fr-FR" sz="1400" dirty="0"/>
              <a:t>Pneumologie / </a:t>
            </a:r>
            <a:r>
              <a:rPr lang="fr-FR" sz="1400" dirty="0" smtClean="0"/>
              <a:t>Psychiatrie</a:t>
            </a:r>
            <a:endParaRPr lang="fr-FR" sz="1400" dirty="0"/>
          </a:p>
          <a:p>
            <a:r>
              <a:rPr lang="fr-FR" sz="1400" dirty="0"/>
              <a:t>Rhumatologie / </a:t>
            </a:r>
            <a:r>
              <a:rPr lang="fr-FR" sz="1400" dirty="0" smtClean="0"/>
              <a:t>Stomatologie</a:t>
            </a:r>
            <a:endParaRPr lang="fr-FR" sz="1400" dirty="0"/>
          </a:p>
          <a:p>
            <a:r>
              <a:rPr lang="fr-FR" sz="1400" dirty="0"/>
              <a:t>Urologie / Vasculaire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70520" y="488189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7625034" y="485278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sp>
        <p:nvSpPr>
          <p:cNvPr id="115" name="Triangle isocèle 114"/>
          <p:cNvSpPr/>
          <p:nvPr/>
        </p:nvSpPr>
        <p:spPr>
          <a:xfrm rot="10800000">
            <a:off x="10556564" y="488957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6" name="Connecteur en angle 85"/>
          <p:cNvCxnSpPr>
            <a:stCxn id="81" idx="3"/>
            <a:endCxn id="113" idx="3"/>
          </p:cNvCxnSpPr>
          <p:nvPr/>
        </p:nvCxnSpPr>
        <p:spPr>
          <a:xfrm>
            <a:off x="10328007" y="3604756"/>
            <a:ext cx="433758" cy="1421137"/>
          </a:xfrm>
          <a:prstGeom prst="bentConnector3">
            <a:avLst>
              <a:gd name="adj1" fmla="val 152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6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Actes médicaux chirurgicaux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494747" y="1311271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131787" y="183399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488013" y="606531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7956000" cy="349771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2369" y="6070432"/>
            <a:ext cx="99608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acte</a:t>
            </a:r>
            <a:endParaRPr lang="fr-FR" sz="1400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Médicaux-chirurgicaux</a:t>
            </a:r>
          </a:p>
        </p:txBody>
      </p:sp>
      <p:sp>
        <p:nvSpPr>
          <p:cNvPr id="96" name="Triangle isocèle 95"/>
          <p:cNvSpPr/>
          <p:nvPr/>
        </p:nvSpPr>
        <p:spPr>
          <a:xfrm rot="10800000">
            <a:off x="5613507" y="1858579"/>
            <a:ext cx="180000" cy="3240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Ellipse 59"/>
          <p:cNvSpPr/>
          <p:nvPr/>
        </p:nvSpPr>
        <p:spPr>
          <a:xfrm flipV="1">
            <a:off x="571399" y="207012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935736" y="4924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1005772" y="1330461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4099433" y="2219718"/>
            <a:ext cx="1694074" cy="157040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571399" y="26116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576231" y="32561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576231" y="387771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4233506" y="2347078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 1 (100 %)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2 (</a:t>
            </a:r>
            <a:r>
              <a:rPr lang="fr-FR" sz="1400" dirty="0"/>
              <a:t>5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38100" y="3314189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3 (</a:t>
            </a:r>
            <a:r>
              <a:rPr lang="fr-FR" sz="1400" dirty="0"/>
              <a:t>3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  <a:endParaRPr lang="fr-FR" sz="1400" dirty="0" smtClean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5923437" y="1284154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6055495" y="18672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6197866" y="132817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616470" y="1297406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1777201"/>
            <a:ext cx="79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47236" y="1290782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336539" y="1323837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4021744" y="1277530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4330173" y="1344403"/>
            <a:ext cx="1258754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Pourcentage %</a:t>
            </a:r>
            <a:endParaRPr lang="fr-FR" sz="1400" dirty="0"/>
          </a:p>
        </p:txBody>
      </p:sp>
      <p:sp>
        <p:nvSpPr>
          <p:cNvPr id="80" name="Triangle isocèle 79"/>
          <p:cNvSpPr/>
          <p:nvPr/>
        </p:nvSpPr>
        <p:spPr>
          <a:xfrm rot="10800000">
            <a:off x="7554953" y="18879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 flipV="1">
            <a:off x="329349" y="239342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necteur droit 87"/>
          <p:cNvCxnSpPr/>
          <p:nvPr/>
        </p:nvCxnSpPr>
        <p:spPr>
          <a:xfrm flipH="1" flipV="1">
            <a:off x="5928395" y="240005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 flipH="1" flipV="1">
            <a:off x="349229" y="296989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necteur droit 93"/>
          <p:cNvCxnSpPr/>
          <p:nvPr/>
        </p:nvCxnSpPr>
        <p:spPr>
          <a:xfrm flipH="1" flipV="1">
            <a:off x="5948275" y="297652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necteur droit 94"/>
          <p:cNvCxnSpPr/>
          <p:nvPr/>
        </p:nvCxnSpPr>
        <p:spPr>
          <a:xfrm flipH="1" flipV="1">
            <a:off x="349229" y="3645757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 flipH="1" flipV="1">
            <a:off x="5948275" y="3652385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 flipH="1" flipV="1">
            <a:off x="316097" y="4222228"/>
            <a:ext cx="79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Rectangle 111"/>
          <p:cNvSpPr/>
          <p:nvPr/>
        </p:nvSpPr>
        <p:spPr>
          <a:xfrm>
            <a:off x="4151667" y="3841706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Rectangle 116"/>
          <p:cNvSpPr/>
          <p:nvPr/>
        </p:nvSpPr>
        <p:spPr>
          <a:xfrm>
            <a:off x="6075375" y="383520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7574833" y="3842654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Ellipse 120"/>
          <p:cNvSpPr/>
          <p:nvPr/>
        </p:nvSpPr>
        <p:spPr>
          <a:xfrm flipV="1">
            <a:off x="557486" y="443163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6075375" y="25629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Triangle isocèle 125"/>
          <p:cNvSpPr/>
          <p:nvPr/>
        </p:nvSpPr>
        <p:spPr>
          <a:xfrm rot="10800000">
            <a:off x="7574833" y="257044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6088625" y="4365288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riangle isocèle 127"/>
          <p:cNvSpPr/>
          <p:nvPr/>
        </p:nvSpPr>
        <p:spPr>
          <a:xfrm rot="10800000">
            <a:off x="7588083" y="4372737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 128"/>
          <p:cNvSpPr/>
          <p:nvPr/>
        </p:nvSpPr>
        <p:spPr>
          <a:xfrm>
            <a:off x="6088627" y="31593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riangle isocèle 129"/>
          <p:cNvSpPr/>
          <p:nvPr/>
        </p:nvSpPr>
        <p:spPr>
          <a:xfrm rot="10800000">
            <a:off x="7588085" y="316678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5646639" y="386252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4145041" y="435191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5640013" y="435948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999149" y="1920180"/>
            <a:ext cx="45213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 9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 flipV="1">
            <a:off x="607107" y="210129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810084" y="1893538"/>
            <a:ext cx="175009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Dilatation pulmonaire</a:t>
            </a:r>
          </a:p>
        </p:txBody>
      </p:sp>
    </p:spTree>
    <p:extLst>
      <p:ext uri="{BB962C8B-B14F-4D97-AF65-F5344CB8AC3E}">
        <p14:creationId xmlns:p14="http://schemas.microsoft.com/office/powerpoint/2010/main" val="2716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patients/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Liste des patients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28478" y="2040141"/>
            <a:ext cx="126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d’entrée 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2"/>
            <a:ext cx="11758269" cy="5422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8190594" y="935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975736"/>
            <a:ext cx="997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3525849" y="958070"/>
            <a:ext cx="4507766" cy="3050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290682" y="757541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 flipV="1">
            <a:off x="8469709" y="261347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288260" y="2032827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2297295" y="95142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629702" y="922119"/>
            <a:ext cx="169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187506" y="96222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4384053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4436560" y="2058568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285167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24795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110588" y="1993148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8073371" y="2039455"/>
            <a:ext cx="88172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Sélection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2683275" y="1979896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2729055" y="204676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449262" y="251548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359068" y="25817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14/05/2013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Ellipse 72"/>
          <p:cNvSpPr/>
          <p:nvPr/>
        </p:nvSpPr>
        <p:spPr>
          <a:xfrm flipV="1">
            <a:off x="9576263" y="260684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6" name="Connecteur droit 85"/>
          <p:cNvCxnSpPr/>
          <p:nvPr/>
        </p:nvCxnSpPr>
        <p:spPr>
          <a:xfrm>
            <a:off x="6110568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itre 1"/>
          <p:cNvSpPr txBox="1">
            <a:spLocks/>
          </p:cNvSpPr>
          <p:nvPr/>
        </p:nvSpPr>
        <p:spPr>
          <a:xfrm>
            <a:off x="9261849" y="2032827"/>
            <a:ext cx="889001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Supprime 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6179524" y="2026770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naissance</a:t>
            </a:r>
            <a:endParaRPr lang="fr-FR" sz="1400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884760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angle 108"/>
          <p:cNvSpPr/>
          <p:nvPr/>
        </p:nvSpPr>
        <p:spPr>
          <a:xfrm>
            <a:off x="2902947" y="2575118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645605" y="2581746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441278" y="2588370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22/04/1972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6" name="Titre 1"/>
          <p:cNvSpPr txBox="1">
            <a:spLocks/>
          </p:cNvSpPr>
          <p:nvPr/>
        </p:nvSpPr>
        <p:spPr>
          <a:xfrm>
            <a:off x="329351" y="1518537"/>
            <a:ext cx="250167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/>
              <a:t>Liste des </a:t>
            </a:r>
            <a:r>
              <a:rPr lang="fr-FR" sz="1600" b="1" u="sng" dirty="0" smtClean="0"/>
              <a:t>patients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19" name="Ellipse 118"/>
          <p:cNvSpPr/>
          <p:nvPr/>
        </p:nvSpPr>
        <p:spPr>
          <a:xfrm flipV="1">
            <a:off x="8436579" y="312367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/>
          <p:cNvCxnSpPr/>
          <p:nvPr/>
        </p:nvCxnSpPr>
        <p:spPr>
          <a:xfrm flipH="1" flipV="1">
            <a:off x="316096" y="29367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Ellipse 135"/>
          <p:cNvSpPr/>
          <p:nvPr/>
        </p:nvSpPr>
        <p:spPr>
          <a:xfrm flipV="1">
            <a:off x="9543133" y="313030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Ellipse 139"/>
          <p:cNvSpPr/>
          <p:nvPr/>
        </p:nvSpPr>
        <p:spPr>
          <a:xfrm flipV="1">
            <a:off x="8449833" y="370677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/>
          <p:cNvCxnSpPr/>
          <p:nvPr/>
        </p:nvCxnSpPr>
        <p:spPr>
          <a:xfrm flipH="1" flipV="1">
            <a:off x="329350" y="3506611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Ellipse 142"/>
          <p:cNvSpPr/>
          <p:nvPr/>
        </p:nvSpPr>
        <p:spPr>
          <a:xfrm flipV="1">
            <a:off x="9556387" y="370015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Ellipse 147"/>
          <p:cNvSpPr/>
          <p:nvPr/>
        </p:nvSpPr>
        <p:spPr>
          <a:xfrm flipV="1">
            <a:off x="8449833" y="43163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9" name="Connecteur droit 148"/>
          <p:cNvCxnSpPr/>
          <p:nvPr/>
        </p:nvCxnSpPr>
        <p:spPr>
          <a:xfrm flipH="1" flipV="1">
            <a:off x="329350" y="4076453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Ellipse 150"/>
          <p:cNvSpPr/>
          <p:nvPr/>
        </p:nvSpPr>
        <p:spPr>
          <a:xfrm flipV="1">
            <a:off x="9556387" y="430974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Titre 1"/>
          <p:cNvSpPr txBox="1">
            <a:spLocks/>
          </p:cNvSpPr>
          <p:nvPr/>
        </p:nvSpPr>
        <p:spPr>
          <a:xfrm>
            <a:off x="469142" y="2992212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7" name="Titre 1"/>
          <p:cNvSpPr txBox="1">
            <a:spLocks/>
          </p:cNvSpPr>
          <p:nvPr/>
        </p:nvSpPr>
        <p:spPr>
          <a:xfrm>
            <a:off x="462518" y="3568679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8" name="Titre 1"/>
          <p:cNvSpPr txBox="1">
            <a:spLocks/>
          </p:cNvSpPr>
          <p:nvPr/>
        </p:nvSpPr>
        <p:spPr>
          <a:xfrm>
            <a:off x="469142" y="413189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1410047" y="297896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0" name="Titre 1"/>
          <p:cNvSpPr txBox="1">
            <a:spLocks/>
          </p:cNvSpPr>
          <p:nvPr/>
        </p:nvSpPr>
        <p:spPr>
          <a:xfrm>
            <a:off x="1403423" y="358193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390170" y="413852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2940671" y="297233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2934047" y="357531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2920794" y="413190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4636953" y="299884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4630329" y="360181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4617076" y="415840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8" name="Titre 1"/>
          <p:cNvSpPr txBox="1">
            <a:spLocks/>
          </p:cNvSpPr>
          <p:nvPr/>
        </p:nvSpPr>
        <p:spPr>
          <a:xfrm>
            <a:off x="6439250" y="298558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9" name="Titre 1"/>
          <p:cNvSpPr txBox="1">
            <a:spLocks/>
          </p:cNvSpPr>
          <p:nvPr/>
        </p:nvSpPr>
        <p:spPr>
          <a:xfrm>
            <a:off x="6432626" y="358856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0" name="Titre 1"/>
          <p:cNvSpPr txBox="1">
            <a:spLocks/>
          </p:cNvSpPr>
          <p:nvPr/>
        </p:nvSpPr>
        <p:spPr>
          <a:xfrm>
            <a:off x="6419373" y="414515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440660" y="5312738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831022" y="5299633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175" name="Titre 1"/>
          <p:cNvSpPr txBox="1">
            <a:spLocks/>
          </p:cNvSpPr>
          <p:nvPr/>
        </p:nvSpPr>
        <p:spPr>
          <a:xfrm>
            <a:off x="1821443" y="529075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77" name="Titre 1"/>
          <p:cNvSpPr txBox="1">
            <a:spLocks/>
          </p:cNvSpPr>
          <p:nvPr/>
        </p:nvSpPr>
        <p:spPr>
          <a:xfrm>
            <a:off x="5658389" y="5319145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3691406" y="53654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55884" y="5371483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003571" y="537871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628058" y="53577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821294" y="535114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Rectangle 182"/>
          <p:cNvSpPr/>
          <p:nvPr/>
        </p:nvSpPr>
        <p:spPr>
          <a:xfrm>
            <a:off x="6193437" y="5364392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4" name="Rectangle 183"/>
          <p:cNvSpPr/>
          <p:nvPr/>
        </p:nvSpPr>
        <p:spPr>
          <a:xfrm>
            <a:off x="350318" y="5150633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Titre 1"/>
          <p:cNvSpPr txBox="1">
            <a:spLocks/>
          </p:cNvSpPr>
          <p:nvPr/>
        </p:nvSpPr>
        <p:spPr>
          <a:xfrm>
            <a:off x="294888" y="4746692"/>
            <a:ext cx="182849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r>
              <a:rPr lang="fr-FR" sz="1600" dirty="0"/>
              <a:t>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86" name="Titre 1"/>
          <p:cNvSpPr txBox="1">
            <a:spLocks/>
          </p:cNvSpPr>
          <p:nvPr/>
        </p:nvSpPr>
        <p:spPr>
          <a:xfrm>
            <a:off x="86068" y="6277866"/>
            <a:ext cx="9814594" cy="4239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</a:t>
            </a:r>
            <a:r>
              <a:rPr lang="fr-FR" sz="1400" b="1" dirty="0"/>
              <a:t> </a:t>
            </a:r>
            <a:r>
              <a:rPr lang="fr-FR" sz="1400" b="1" dirty="0" smtClean="0"/>
              <a:t>: </a:t>
            </a:r>
            <a:r>
              <a:rPr lang="fr-FR" sz="1400" dirty="0" smtClean="0"/>
              <a:t>Nom de naissance, prénom, service, N° dossier</a:t>
            </a:r>
          </a:p>
        </p:txBody>
      </p:sp>
    </p:spTree>
    <p:extLst>
      <p:ext uri="{BB962C8B-B14F-4D97-AF65-F5344CB8AC3E}">
        <p14:creationId xmlns:p14="http://schemas.microsoft.com/office/powerpoint/2010/main" val="861691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Etat civil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26185" y="3205523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40119" y="311075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6393584" y="321212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5521309" y="3183020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526184" y="3602351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918572" y="3532780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399277" y="3605302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408537" y="3574604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35" name="Rectangle 134"/>
          <p:cNvSpPr/>
          <p:nvPr/>
        </p:nvSpPr>
        <p:spPr>
          <a:xfrm>
            <a:off x="9395135" y="3205523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8740812" y="3183010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45" name="Rectangle 144"/>
          <p:cNvSpPr/>
          <p:nvPr/>
        </p:nvSpPr>
        <p:spPr>
          <a:xfrm>
            <a:off x="9393907" y="3630558"/>
            <a:ext cx="144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Titre 1"/>
          <p:cNvSpPr txBox="1">
            <a:spLocks/>
          </p:cNvSpPr>
          <p:nvPr/>
        </p:nvSpPr>
        <p:spPr>
          <a:xfrm>
            <a:off x="8196079" y="3597468"/>
            <a:ext cx="126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150" name="Titre 1"/>
          <p:cNvSpPr txBox="1">
            <a:spLocks/>
          </p:cNvSpPr>
          <p:nvPr/>
        </p:nvSpPr>
        <p:spPr>
          <a:xfrm>
            <a:off x="6480516" y="4741583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</a:t>
            </a:r>
            <a:endParaRPr lang="fr-FR" sz="12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4791841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4754141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7184879" y="4774641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8041883" y="473208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171" name="Rectangle 170"/>
          <p:cNvSpPr/>
          <p:nvPr/>
        </p:nvSpPr>
        <p:spPr>
          <a:xfrm>
            <a:off x="8972082" y="4762509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10095309" y="4747104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077044" y="4762971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5648661" y="517741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6400925" y="516010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613783" y="518572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518312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3555871" y="5941349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2776174" y="5885544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8776585" y="5940935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6390754" y="593206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702375" y="5899314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84" name="Triangle isocèle 183"/>
          <p:cNvSpPr/>
          <p:nvPr/>
        </p:nvSpPr>
        <p:spPr>
          <a:xfrm rot="10800000">
            <a:off x="4693029" y="59521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Rectangle 184"/>
          <p:cNvSpPr/>
          <p:nvPr/>
        </p:nvSpPr>
        <p:spPr>
          <a:xfrm>
            <a:off x="10779649" y="592542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9919997" y="5904935"/>
            <a:ext cx="9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88" name="Titre 1"/>
          <p:cNvSpPr txBox="1">
            <a:spLocks/>
          </p:cNvSpPr>
          <p:nvPr/>
        </p:nvSpPr>
        <p:spPr>
          <a:xfrm>
            <a:off x="7823677" y="590637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3537665" y="400056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2064541" y="3931205"/>
            <a:ext cx="151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406306" y="399731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5289681" y="400486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549247" y="439747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225273" y="4368534"/>
            <a:ext cx="133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Niveau scolaire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4687993" y="44103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Rectangle 203"/>
          <p:cNvSpPr/>
          <p:nvPr/>
        </p:nvSpPr>
        <p:spPr>
          <a:xfrm>
            <a:off x="6387840" y="4382780"/>
            <a:ext cx="1625743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5" name="Titre 1"/>
          <p:cNvSpPr txBox="1">
            <a:spLocks/>
          </p:cNvSpPr>
          <p:nvPr/>
        </p:nvSpPr>
        <p:spPr>
          <a:xfrm>
            <a:off x="5428566" y="4366218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Profession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549245" y="556366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862312" y="5507860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210" name="Rectangle 209"/>
          <p:cNvSpPr/>
          <p:nvPr/>
        </p:nvSpPr>
        <p:spPr>
          <a:xfrm>
            <a:off x="6383447" y="5542541"/>
            <a:ext cx="1512000" cy="2958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1" name="Titre 1"/>
          <p:cNvSpPr txBox="1">
            <a:spLocks/>
          </p:cNvSpPr>
          <p:nvPr/>
        </p:nvSpPr>
        <p:spPr>
          <a:xfrm>
            <a:off x="5455623" y="5507860"/>
            <a:ext cx="100463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</a:t>
            </a:r>
            <a:endParaRPr lang="fr-FR" sz="1400" dirty="0"/>
          </a:p>
        </p:txBody>
      </p:sp>
      <p:sp>
        <p:nvSpPr>
          <p:cNvPr id="212" name="Triangle isocèle 211"/>
          <p:cNvSpPr/>
          <p:nvPr/>
        </p:nvSpPr>
        <p:spPr>
          <a:xfrm rot="10800000">
            <a:off x="4699655" y="557447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3" name="Titre 1"/>
          <p:cNvSpPr txBox="1">
            <a:spLocks/>
          </p:cNvSpPr>
          <p:nvPr/>
        </p:nvSpPr>
        <p:spPr>
          <a:xfrm>
            <a:off x="8432822" y="3983340"/>
            <a:ext cx="900000" cy="417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 sanguine</a:t>
            </a:r>
            <a:endParaRPr lang="fr-FR" sz="1200" dirty="0" smtClean="0"/>
          </a:p>
        </p:txBody>
      </p:sp>
      <p:sp>
        <p:nvSpPr>
          <p:cNvPr id="214" name="Rectangle 213"/>
          <p:cNvSpPr/>
          <p:nvPr/>
        </p:nvSpPr>
        <p:spPr>
          <a:xfrm>
            <a:off x="9393907" y="4051900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Etat civil</a:t>
            </a:r>
            <a:endParaRPr lang="fr-FR" sz="1400" dirty="0"/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1427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Sécurité sociale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220669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906231" y="316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Organisme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896717" y="3669546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3105967" y="3600296"/>
            <a:ext cx="79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Agence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4102727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3035087" y="4065027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 </a:t>
            </a:r>
            <a:endParaRPr lang="fr-FR" sz="1400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6608484" y="4561466"/>
            <a:ext cx="756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Malade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7381253" y="45685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25644"/>
            <a:ext cx="9972000" cy="32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7386542" y="498895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5749163" y="4933151"/>
            <a:ext cx="165804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ouverture droit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7354749" y="3670930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6247851" y="36003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centre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52999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322159" y="4501054"/>
            <a:ext cx="1552952" cy="383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5059052" y="454287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8057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769994" y="4964523"/>
            <a:ext cx="12360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 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237536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riangle isocèle 102"/>
          <p:cNvSpPr/>
          <p:nvPr/>
        </p:nvSpPr>
        <p:spPr>
          <a:xfrm rot="10800000">
            <a:off x="5324100" y="3681480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407212" y="5419641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5728493" y="5388588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dépôt de prise en charge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43569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2276942" y="5419641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expiration de prise en charge</a:t>
            </a:r>
            <a:endParaRPr lang="fr-FR" sz="1400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3010519" y="5933066"/>
            <a:ext cx="900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Praticien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915808" y="59401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030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Mode de transport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44595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627938" y="3429199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smtClean="0"/>
              <a:t>Raison social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3970203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995331" y="3919251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95842"/>
            <a:ext cx="9972000" cy="26628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47698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911757" y="4443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2756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3097966" y="487229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Faxe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860365" y="6023955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422504" y="60305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997891" y="602395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46282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38268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3007159" y="5326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76" name="Rectangle 75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620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Personne à prévenir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39437" y="3854877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53371" y="379986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544366" y="4365066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2672091" y="438896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5852012"/>
            <a:ext cx="36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5814312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799439" y="536294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3551703" y="5385390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471091" y="492185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*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490482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Personne à prévenir en cas de nécessité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35993" y="332404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2862312" y="3321252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108" name="Triangle isocèle 107"/>
          <p:cNvSpPr/>
          <p:nvPr/>
        </p:nvSpPr>
        <p:spPr>
          <a:xfrm rot="10800000">
            <a:off x="5155095" y="3348106"/>
            <a:ext cx="175133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124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Suivi vaccination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522697"/>
            <a:ext cx="6852243" cy="30758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991607" y="176818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9262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9131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970544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9326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00547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0115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992244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9712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95142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9779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856928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762" y="856928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19438" y="1522697"/>
            <a:ext cx="1915028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vaccination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887515" y="2297634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335487" y="3987180"/>
            <a:ext cx="165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3915810" y="4017556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874123" y="2336752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7" name="Rectangle 216"/>
          <p:cNvSpPr/>
          <p:nvPr/>
        </p:nvSpPr>
        <p:spPr>
          <a:xfrm>
            <a:off x="7177438" y="4156950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6178247" y="1767750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Première</a:t>
            </a:r>
            <a:endParaRPr lang="fr-FR" sz="1400" dirty="0"/>
          </a:p>
        </p:txBody>
      </p:sp>
      <p:sp>
        <p:nvSpPr>
          <p:cNvPr id="64" name="Ellipse 63"/>
          <p:cNvSpPr/>
          <p:nvPr/>
        </p:nvSpPr>
        <p:spPr>
          <a:xfrm flipV="1">
            <a:off x="5944240" y="184418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7616109" y="177437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Rappel</a:t>
            </a:r>
            <a:endParaRPr lang="fr-FR" sz="1400" dirty="0"/>
          </a:p>
        </p:txBody>
      </p:sp>
      <p:sp>
        <p:nvSpPr>
          <p:cNvPr id="66" name="Ellipse 65"/>
          <p:cNvSpPr/>
          <p:nvPr/>
        </p:nvSpPr>
        <p:spPr>
          <a:xfrm flipV="1">
            <a:off x="7382102" y="185080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3903345" y="2859802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riangle isocèle 70"/>
          <p:cNvSpPr/>
          <p:nvPr/>
        </p:nvSpPr>
        <p:spPr>
          <a:xfrm rot="10800000">
            <a:off x="4252137" y="28676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4479815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4828607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5062911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5424955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Vaccin :</a:t>
            </a:r>
            <a:r>
              <a:rPr lang="fr-FR" sz="1400" dirty="0" smtClean="0"/>
              <a:t> BCG – Diphtérie – DT-Coq – Grippe – Hépatite B – Méningo-Coq – Pneumo-Coq – Polio inactive – Tétanos.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 un tableau dynamique s’affiche quand on ajoutent un vaccin pour le patient.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9123261" y="1529324"/>
            <a:ext cx="2098768" cy="309530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9578925" y="2238016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Aujourd'hui</a:t>
            </a:r>
            <a:endParaRPr lang="fr-FR" sz="1400" dirty="0"/>
          </a:p>
        </p:txBody>
      </p:sp>
      <p:sp>
        <p:nvSpPr>
          <p:cNvPr id="131" name="Ellipse 130"/>
          <p:cNvSpPr/>
          <p:nvPr/>
        </p:nvSpPr>
        <p:spPr>
          <a:xfrm flipV="1">
            <a:off x="9344918" y="231444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9600112" y="2708286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trois mois</a:t>
            </a:r>
            <a:endParaRPr lang="fr-FR" sz="1400" dirty="0"/>
          </a:p>
        </p:txBody>
      </p:sp>
      <p:sp>
        <p:nvSpPr>
          <p:cNvPr id="133" name="Ellipse 132"/>
          <p:cNvSpPr/>
          <p:nvPr/>
        </p:nvSpPr>
        <p:spPr>
          <a:xfrm flipV="1">
            <a:off x="9366105" y="278471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9233805" y="1621220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R.D.V</a:t>
            </a:r>
            <a:endParaRPr lang="fr-FR" sz="1600" b="1" u="sng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9597964" y="3156900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six mois</a:t>
            </a:r>
            <a:endParaRPr lang="fr-FR" sz="1400" dirty="0"/>
          </a:p>
        </p:txBody>
      </p:sp>
      <p:sp>
        <p:nvSpPr>
          <p:cNvPr id="142" name="Ellipse 141"/>
          <p:cNvSpPr/>
          <p:nvPr/>
        </p:nvSpPr>
        <p:spPr>
          <a:xfrm flipV="1">
            <a:off x="9363957" y="323333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9597964" y="3620542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Raté</a:t>
            </a:r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 flipV="1">
            <a:off x="9363957" y="369697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976975" y="4821982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9300433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1936757" y="4814668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cxnSp>
        <p:nvCxnSpPr>
          <p:cNvPr id="150" name="Connecteur droit 149"/>
          <p:cNvCxnSpPr/>
          <p:nvPr/>
        </p:nvCxnSpPr>
        <p:spPr>
          <a:xfrm>
            <a:off x="5200837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itre 1"/>
          <p:cNvSpPr txBox="1">
            <a:spLocks/>
          </p:cNvSpPr>
          <p:nvPr/>
        </p:nvSpPr>
        <p:spPr>
          <a:xfrm>
            <a:off x="5260812" y="4840409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cxnSp>
        <p:nvCxnSpPr>
          <p:cNvPr id="154" name="Connecteur droit 153"/>
          <p:cNvCxnSpPr/>
          <p:nvPr/>
        </p:nvCxnSpPr>
        <p:spPr>
          <a:xfrm>
            <a:off x="2895027" y="478161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7" y="5261409"/>
            <a:ext cx="9262942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9509832" y="4762110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itre 1"/>
          <p:cNvSpPr txBox="1">
            <a:spLocks/>
          </p:cNvSpPr>
          <p:nvPr/>
        </p:nvSpPr>
        <p:spPr>
          <a:xfrm>
            <a:off x="8472614" y="4821296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4145730" y="4828610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6927086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Titre 1"/>
          <p:cNvSpPr txBox="1">
            <a:spLocks/>
          </p:cNvSpPr>
          <p:nvPr/>
        </p:nvSpPr>
        <p:spPr>
          <a:xfrm>
            <a:off x="9520423" y="4828296"/>
            <a:ext cx="170613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7106802" y="4808611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Produit</a:t>
            </a:r>
            <a:endParaRPr lang="fr-FR" sz="1400" dirty="0"/>
          </a:p>
        </p:txBody>
      </p:sp>
      <p:cxnSp>
        <p:nvCxnSpPr>
          <p:cNvPr id="166" name="Connecteur droit 165"/>
          <p:cNvCxnSpPr/>
          <p:nvPr/>
        </p:nvCxnSpPr>
        <p:spPr>
          <a:xfrm>
            <a:off x="8248446" y="475753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4" name="Titre 1"/>
          <p:cNvSpPr txBox="1">
            <a:spLocks/>
          </p:cNvSpPr>
          <p:nvPr/>
        </p:nvSpPr>
        <p:spPr>
          <a:xfrm>
            <a:off x="2079002" y="527177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8282858" y="5257667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0" name="Titre 1"/>
          <p:cNvSpPr txBox="1">
            <a:spLocks/>
          </p:cNvSpPr>
          <p:nvPr/>
        </p:nvSpPr>
        <p:spPr>
          <a:xfrm>
            <a:off x="3995860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5461205" y="5278403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6" name="Titre 1"/>
          <p:cNvSpPr txBox="1">
            <a:spLocks/>
          </p:cNvSpPr>
          <p:nvPr/>
        </p:nvSpPr>
        <p:spPr>
          <a:xfrm>
            <a:off x="6979902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9" name="Titre 1"/>
          <p:cNvSpPr txBox="1">
            <a:spLocks/>
          </p:cNvSpPr>
          <p:nvPr/>
        </p:nvSpPr>
        <p:spPr>
          <a:xfrm>
            <a:off x="3081403" y="5269627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9748903" y="5255519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2372057" y="3351877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commercial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891937" y="339924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3" name="Rectangle 202"/>
          <p:cNvSpPr/>
          <p:nvPr/>
        </p:nvSpPr>
        <p:spPr>
          <a:xfrm>
            <a:off x="6725036" y="3392880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Titre 1"/>
          <p:cNvSpPr txBox="1">
            <a:spLocks/>
          </p:cNvSpPr>
          <p:nvPr/>
        </p:nvSpPr>
        <p:spPr>
          <a:xfrm>
            <a:off x="5762424" y="337999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1936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Archive hors application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953941"/>
            <a:ext cx="6852243" cy="22933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686923" y="1444407"/>
            <a:ext cx="2340000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Archive hors application 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749718" y="2297634"/>
            <a:ext cx="103779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Document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3903344" y="2859802"/>
            <a:ext cx="4606093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 tableau dynamique s’affiche quand on jointer un fichier.</a:t>
            </a:r>
            <a:endParaRPr lang="fr-FR" sz="1400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016160" y="480871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joint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6840000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2039000" y="480225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fichier</a:t>
            </a:r>
            <a:endParaRPr lang="fr-FR" sz="1400" dirty="0"/>
          </a:p>
        </p:txBody>
      </p: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6" y="5261409"/>
            <a:ext cx="684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6391063" y="480225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5618940" y="475366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6197195" y="5206211"/>
            <a:ext cx="2266166" cy="567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…………………………...............................................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4074192" y="5265751"/>
            <a:ext cx="1332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2070780" y="5244428"/>
            <a:ext cx="150254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…………………..</a:t>
            </a:r>
            <a:endParaRPr lang="fr-FR" sz="1800" b="1" dirty="0"/>
          </a:p>
        </p:txBody>
      </p:sp>
      <p:sp>
        <p:nvSpPr>
          <p:cNvPr id="86" name="Rectangle 85"/>
          <p:cNvSpPr/>
          <p:nvPr/>
        </p:nvSpPr>
        <p:spPr>
          <a:xfrm>
            <a:off x="3903344" y="2289778"/>
            <a:ext cx="170446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Choisissez un fichier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29437" y="37551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Joindre</a:t>
            </a:r>
          </a:p>
        </p:txBody>
      </p:sp>
    </p:spTree>
    <p:extLst>
      <p:ext uri="{BB962C8B-B14F-4D97-AF65-F5344CB8AC3E}">
        <p14:creationId xmlns:p14="http://schemas.microsoft.com/office/powerpoint/2010/main" val="172629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79000" y="103211"/>
            <a:ext cx="4715040" cy="5956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mouvements/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mouvements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58368"/>
            <a:ext cx="11758269" cy="5240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9960807" y="2034707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10030111" y="1975595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9944020" y="228061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832196" y="202952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519014" y="1975794"/>
            <a:ext cx="11160000" cy="302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249621" y="2032830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Évènement</a:t>
            </a:r>
            <a:endParaRPr lang="fr-FR" sz="1400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425244" y="1966807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itre 1"/>
          <p:cNvSpPr txBox="1">
            <a:spLocks/>
          </p:cNvSpPr>
          <p:nvPr/>
        </p:nvSpPr>
        <p:spPr>
          <a:xfrm>
            <a:off x="4217625" y="2058571"/>
            <a:ext cx="18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Établissement</a:t>
            </a:r>
            <a:endParaRPr lang="fr-FR" sz="1400" dirty="0"/>
          </a:p>
        </p:txBody>
      </p:sp>
      <p:cxnSp>
        <p:nvCxnSpPr>
          <p:cNvPr id="43" name="Connecteur droit 42"/>
          <p:cNvCxnSpPr/>
          <p:nvPr/>
        </p:nvCxnSpPr>
        <p:spPr>
          <a:xfrm>
            <a:off x="1769494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eur droit 43"/>
          <p:cNvCxnSpPr/>
          <p:nvPr/>
        </p:nvCxnSpPr>
        <p:spPr>
          <a:xfrm flipH="1" flipV="1">
            <a:off x="517867" y="246674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8808747" y="195220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itre 1"/>
          <p:cNvSpPr txBox="1">
            <a:spLocks/>
          </p:cNvSpPr>
          <p:nvPr/>
        </p:nvSpPr>
        <p:spPr>
          <a:xfrm>
            <a:off x="7133210" y="2039458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 de sortie</a:t>
            </a:r>
            <a:endParaRPr lang="fr-FR" sz="1400" dirty="0"/>
          </a:p>
        </p:txBody>
      </p:sp>
      <p:cxnSp>
        <p:nvCxnSpPr>
          <p:cNvPr id="47" name="Connecteur droit 46"/>
          <p:cNvCxnSpPr/>
          <p:nvPr/>
        </p:nvCxnSpPr>
        <p:spPr>
          <a:xfrm>
            <a:off x="2980502" y="1979686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itre 1"/>
          <p:cNvSpPr txBox="1">
            <a:spLocks/>
          </p:cNvSpPr>
          <p:nvPr/>
        </p:nvSpPr>
        <p:spPr>
          <a:xfrm>
            <a:off x="2806326" y="2046772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accueil</a:t>
            </a:r>
            <a:endParaRPr lang="fr-FR" sz="1400" dirty="0"/>
          </a:p>
        </p:txBody>
      </p:sp>
      <p:cxnSp>
        <p:nvCxnSpPr>
          <p:cNvPr id="49" name="Connecteur droit 48"/>
          <p:cNvCxnSpPr/>
          <p:nvPr/>
        </p:nvCxnSpPr>
        <p:spPr>
          <a:xfrm>
            <a:off x="5819505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876815" y="2021487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649796" y="2026269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sortie</a:t>
            </a:r>
            <a:endParaRPr lang="fr-FR" sz="1400" dirty="0"/>
          </a:p>
        </p:txBody>
      </p:sp>
      <p:cxnSp>
        <p:nvCxnSpPr>
          <p:cNvPr id="52" name="Connecteur droit 51"/>
          <p:cNvCxnSpPr/>
          <p:nvPr/>
        </p:nvCxnSpPr>
        <p:spPr>
          <a:xfrm>
            <a:off x="7269822" y="1973058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itre 1"/>
          <p:cNvSpPr txBox="1">
            <a:spLocks/>
          </p:cNvSpPr>
          <p:nvPr/>
        </p:nvSpPr>
        <p:spPr>
          <a:xfrm>
            <a:off x="546417" y="248993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7471577" y="250236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3133196" y="248309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519871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910655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1767761" y="24877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8830589" y="250001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544269" y="308022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7469429" y="309264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131048" y="307338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4517723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5908507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1765613" y="307807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8828441" y="309030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9980509" y="2832262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71" name="Connecteur droit 70"/>
          <p:cNvCxnSpPr/>
          <p:nvPr/>
        </p:nvCxnSpPr>
        <p:spPr>
          <a:xfrm flipH="1" flipV="1">
            <a:off x="541477" y="3636583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567879" y="3773535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493039" y="378595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3154658" y="376669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4541333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5932117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789223" y="377138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8852051" y="378361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7" name="Titre 1"/>
          <p:cNvSpPr txBox="1">
            <a:spLocks/>
          </p:cNvSpPr>
          <p:nvPr/>
        </p:nvSpPr>
        <p:spPr>
          <a:xfrm>
            <a:off x="10004119" y="3525575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98" name="Connecteur droit 97"/>
          <p:cNvCxnSpPr/>
          <p:nvPr/>
        </p:nvCxnSpPr>
        <p:spPr>
          <a:xfrm flipH="1" flipV="1">
            <a:off x="552208" y="430413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itre 1"/>
          <p:cNvSpPr txBox="1">
            <a:spLocks/>
          </p:cNvSpPr>
          <p:nvPr/>
        </p:nvSpPr>
        <p:spPr>
          <a:xfrm>
            <a:off x="578610" y="44410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503770" y="4453513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165389" y="4434248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4552064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5942848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1799954" y="443894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8862782" y="445117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10014850" y="419312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108" name="Connecteur droit 107"/>
          <p:cNvCxnSpPr/>
          <p:nvPr/>
        </p:nvCxnSpPr>
        <p:spPr>
          <a:xfrm flipH="1" flipV="1">
            <a:off x="513571" y="3016248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72338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157193"/>
            <a:ext cx="5510518" cy="7274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66806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Caisse d’assurance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Caisse d’assurance :</a:t>
            </a:r>
            <a:r>
              <a:rPr lang="fr-FR" sz="1400" dirty="0" smtClean="0"/>
              <a:t> CNAS / CASNOS / CAISSE MILITAIRE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les patients selon les établissements d’assurance correspondant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7722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42891"/>
            <a:ext cx="5510518" cy="841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-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1992" y="1382114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538469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Validité PEC</a:t>
            </a:r>
          </a:p>
        </p:txBody>
      </p:sp>
      <p:cxnSp>
        <p:nvCxnSpPr>
          <p:cNvPr id="16" name="Connecteur droit 15"/>
          <p:cNvCxnSpPr/>
          <p:nvPr/>
        </p:nvCxnSpPr>
        <p:spPr>
          <a:xfrm>
            <a:off x="8656718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177317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677251" y="202893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dépôt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312950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326894" y="2032830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 d'assurance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169052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itre 1"/>
          <p:cNvSpPr txBox="1">
            <a:spLocks/>
          </p:cNvSpPr>
          <p:nvPr/>
        </p:nvSpPr>
        <p:spPr>
          <a:xfrm>
            <a:off x="3960045" y="2058571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24" name="Connecteur droit 23"/>
          <p:cNvCxnSpPr/>
          <p:nvPr/>
        </p:nvCxnSpPr>
        <p:spPr>
          <a:xfrm>
            <a:off x="1769767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267338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7476653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6203926" y="203909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Validité OD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95474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793818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260813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7397247" y="199749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Date PEC</a:t>
            </a:r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5095935" y="203909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Date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36678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94901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6390673" y="24635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172139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267261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819276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741353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92752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6387561" y="29373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3027359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169990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276590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817127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72561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185767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309655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64847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6383612" y="334834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142085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275288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789222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749019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183117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320386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07507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9981008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Actes</a:t>
            </a:r>
          </a:p>
        </p:txBody>
      </p:sp>
      <p:cxnSp>
        <p:nvCxnSpPr>
          <p:cNvPr id="67" name="Connecteur droit 66"/>
          <p:cNvCxnSpPr/>
          <p:nvPr/>
        </p:nvCxnSpPr>
        <p:spPr>
          <a:xfrm>
            <a:off x="9916718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3025212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71548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7519944" y="29559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517797" y="247724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541407" y="337662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175169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92753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6388525" y="380084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169991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265113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817128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739205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3023064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88" name="Titre 1"/>
          <p:cNvSpPr txBox="1">
            <a:spLocks/>
          </p:cNvSpPr>
          <p:nvPr/>
        </p:nvSpPr>
        <p:spPr>
          <a:xfrm>
            <a:off x="7515649" y="381450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3645081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820765" y="280671"/>
            <a:ext cx="5510518" cy="489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830624"/>
            <a:ext cx="11758269" cy="50678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022022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 d’envoi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et d’imprimer le bordereau d’envoi d’un patient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80878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21062" y="138224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600" b="1" u="sng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Liste des patients ayant droits</a:t>
            </a:r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641501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des accords</a:t>
            </a:r>
            <a:endParaRPr lang="fr-FR" sz="14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861808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280349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586170" y="2014554"/>
            <a:ext cx="118519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415982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597353" y="2032830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272084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537945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370370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5379677" y="203909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Bénéficière </a:t>
            </a:r>
            <a:endParaRPr lang="fr-FR" sz="1400" dirty="0"/>
          </a:p>
        </p:txBody>
      </p:sp>
      <p:cxnSp>
        <p:nvCxnSpPr>
          <p:cNvPr id="28" name="Connecteur droit 27"/>
          <p:cNvCxnSpPr/>
          <p:nvPr/>
        </p:nvCxnSpPr>
        <p:spPr>
          <a:xfrm>
            <a:off x="278731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819576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 et prénom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363845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6779751" y="202136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Acte prévu</a:t>
            </a:r>
            <a:endParaRPr lang="fr-FR" sz="1400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4490626" y="2039099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AOD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469816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43385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275171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70293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626091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844385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41236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2975843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273022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379622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623942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828651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28879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412687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39089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245117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378320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634674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852051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286149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423418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410539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10084040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N° du BX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67" name="Connecteur droit 66"/>
          <p:cNvCxnSpPr/>
          <p:nvPr/>
        </p:nvCxnSpPr>
        <p:spPr>
          <a:xfrm>
            <a:off x="10135661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2973696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84427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6513243" y="2477247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278201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41237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273023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368145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623943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842237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971548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820764" y="96454"/>
            <a:ext cx="5835953" cy="67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6511095" y="2951621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6498216" y="3337989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6496068" y="3812363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2982446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17–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nouvelle demande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3739345" y="23719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153278" y="2328684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l’assuré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7521140" y="23785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5901883" y="2349434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3739344" y="276876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131732" y="273783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7506441" y="2772120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5893219" y="2725535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9020384" y="277128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5895398" y="317834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Code centre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3975" y="320120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2131534" y="317638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d’agence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7523414" y="320957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5223501" y="3230764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2139069" y="1912790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3754707" y="1936148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401889" y="1786507"/>
            <a:ext cx="9360000" cy="18582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78241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82581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743688"/>
            <a:ext cx="93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120228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122028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32217" y="118440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7552188" y="120003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39450" y="1856249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Assuré (e)</a:t>
            </a:r>
            <a:endParaRPr lang="fr-FR" sz="1400" b="1" u="sng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444761" y="3897437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Patient</a:t>
            </a:r>
            <a:endParaRPr lang="fr-FR" sz="1400" b="1" u="sng" dirty="0"/>
          </a:p>
        </p:txBody>
      </p:sp>
      <p:sp>
        <p:nvSpPr>
          <p:cNvPr id="147" name="Rectangle 146"/>
          <p:cNvSpPr/>
          <p:nvPr/>
        </p:nvSpPr>
        <p:spPr>
          <a:xfrm>
            <a:off x="412589" y="3748100"/>
            <a:ext cx="9360000" cy="144208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3737197" y="392812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51130" y="3884876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3" name="Rectangle 82"/>
          <p:cNvSpPr/>
          <p:nvPr/>
        </p:nvSpPr>
        <p:spPr>
          <a:xfrm>
            <a:off x="7518992" y="393473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899734" y="391850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737196" y="432495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129584" y="429402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7504293" y="4328312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5891072" y="4281727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97" name="Triangle isocèle 96"/>
          <p:cNvSpPr/>
          <p:nvPr/>
        </p:nvSpPr>
        <p:spPr>
          <a:xfrm rot="10800000">
            <a:off x="9018236" y="432747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906128" y="473453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3741827" y="475739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129386" y="473257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7521266" y="476576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5221353" y="478695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415245" y="5314369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Information médicales</a:t>
            </a:r>
            <a:endParaRPr lang="fr-FR" sz="1400" b="1" u="sng" dirty="0"/>
          </a:p>
        </p:txBody>
      </p:sp>
      <p:sp>
        <p:nvSpPr>
          <p:cNvPr id="131" name="Rectangle 130"/>
          <p:cNvSpPr/>
          <p:nvPr/>
        </p:nvSpPr>
        <p:spPr>
          <a:xfrm>
            <a:off x="410441" y="5265662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3735049" y="544569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itre 1"/>
          <p:cNvSpPr txBox="1">
            <a:spLocks/>
          </p:cNvSpPr>
          <p:nvPr/>
        </p:nvSpPr>
        <p:spPr>
          <a:xfrm>
            <a:off x="2148982" y="5402437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53" name="Triangle isocèle 152"/>
          <p:cNvSpPr/>
          <p:nvPr/>
        </p:nvSpPr>
        <p:spPr>
          <a:xfrm rot="10800000">
            <a:off x="5219205" y="546738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10130532" y="616318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387339" y="5956171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Codes actes</a:t>
            </a:r>
            <a:endParaRPr lang="fr-FR" sz="1400" b="1" u="sng" dirty="0"/>
          </a:p>
        </p:txBody>
      </p:sp>
      <p:sp>
        <p:nvSpPr>
          <p:cNvPr id="157" name="Rectangle 156"/>
          <p:cNvSpPr/>
          <p:nvPr/>
        </p:nvSpPr>
        <p:spPr>
          <a:xfrm>
            <a:off x="395414" y="5907464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Rectangle 157"/>
          <p:cNvSpPr/>
          <p:nvPr/>
        </p:nvSpPr>
        <p:spPr>
          <a:xfrm>
            <a:off x="3707143" y="60874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2121076" y="604423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60" name="Triangle isocèle 159"/>
          <p:cNvSpPr/>
          <p:nvPr/>
        </p:nvSpPr>
        <p:spPr>
          <a:xfrm rot="10800000">
            <a:off x="5191299" y="610919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413097" y="765977"/>
            <a:ext cx="1505855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</p:spTree>
    <p:extLst>
      <p:ext uri="{BB962C8B-B14F-4D97-AF65-F5344CB8AC3E}">
        <p14:creationId xmlns:p14="http://schemas.microsoft.com/office/powerpoint/2010/main" val="3911714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</a:t>
            </a:r>
            <a:r>
              <a:rPr lang="fr-FR" altLang="fr-FR" sz="1800" b="1" smtClean="0">
                <a:latin typeface="Times New Roman" panose="02020603050405020304" pitchFamily="18" charset="0"/>
              </a:rPr>
              <a:t>sécurité sociale </a:t>
            </a:r>
            <a:r>
              <a:rPr lang="fr-FR" altLang="fr-FR" sz="1800" b="1" dirty="0" smtClean="0">
                <a:latin typeface="Times New Roman" panose="02020603050405020304" pitchFamily="18" charset="0"/>
              </a:rPr>
              <a:t>AS 5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1555147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1572797"/>
            <a:ext cx="36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1039904"/>
            <a:ext cx="9360000" cy="2257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214244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2160451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2145827" y="267836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332468" y="26811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8268343" y="264129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74460" y="1062193"/>
            <a:ext cx="2381618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5965934" y="26918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3781557" y="2668329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5427897" y="2666181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3803835" y="2608983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390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3050970" y="348068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254161" y="1207414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78860" y="1250822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457477" y="1039901"/>
            <a:ext cx="9360000" cy="210254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238239" y="166592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859220" y="168392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330572" y="3477144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466984" y="34909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7706665" y="34970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6563619" y="349323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9360662" y="3534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22943" y="665285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Consultation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85337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Liste des demandes</a:t>
            </a:r>
            <a:endParaRPr lang="fr-FR" sz="1800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1758103" y="3506443"/>
            <a:ext cx="108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494235" y="3401438"/>
            <a:ext cx="1214198" cy="5255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 PEC</a:t>
            </a:r>
            <a:endParaRPr lang="fr-FR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247384" y="210429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3869951" y="211966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261738" y="261396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4332468" y="264247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965934" y="265320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781557" y="262969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5427897" y="262754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881109" y="257034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268343" y="260265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769080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9391707" y="39553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256" y="3431107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272084" y="345057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18251" y="342212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447644" y="393940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864588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441119" y="344068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54709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20659" y="394524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352445" y="39518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447567" y="39387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03365" y="39559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7736803" y="39550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18510" y="43938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53117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350296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456896" y="44122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01216" y="440459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7733948" y="44170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9400157" y="44041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489961" y="4860074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16363" y="482959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322391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455594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11948" y="484032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7744469" y="48396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4" name="Titre 1"/>
          <p:cNvSpPr txBox="1">
            <a:spLocks/>
          </p:cNvSpPr>
          <p:nvPr/>
        </p:nvSpPr>
        <p:spPr>
          <a:xfrm>
            <a:off x="9397507" y="484879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00692" y="5282931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487813" y="442004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028079" y="344520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50970" y="397334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61701" y="4821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4" name="Titre 1"/>
          <p:cNvSpPr txBox="1">
            <a:spLocks/>
          </p:cNvSpPr>
          <p:nvPr/>
        </p:nvSpPr>
        <p:spPr>
          <a:xfrm>
            <a:off x="9389559" y="52925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18511" y="528250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350297" y="52891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445419" y="52759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01217" y="529323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7734655" y="52923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48822" y="53106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581967" y="39531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6590417" y="440204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587767" y="48466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579819" y="529043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</p:spTree>
    <p:extLst>
      <p:ext uri="{BB962C8B-B14F-4D97-AF65-F5344CB8AC3E}">
        <p14:creationId xmlns:p14="http://schemas.microsoft.com/office/powerpoint/2010/main" val="3958842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629743" y="3982966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3580693" y="1220293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205392" y="1263701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52208" y="1123994"/>
            <a:ext cx="998649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564771" y="167880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5185752" y="1696807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1819192" y="397942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032875" y="40060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671805" y="4012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4181026" y="40083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7003827" y="40240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87338" y="1128929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Recherche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19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Édition bordereau</a:t>
            </a: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3588270" y="215032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5659000" y="217883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7292466" y="218956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5108089" y="216605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6754429" y="216390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207641" y="210670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989564" y="213901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810292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Rectangle 85"/>
          <p:cNvSpPr/>
          <p:nvPr/>
        </p:nvSpPr>
        <p:spPr>
          <a:xfrm>
            <a:off x="557651" y="3933388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130415" y="3952858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82646" y="392440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512039" y="4441683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928983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376724" y="394296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95921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85054" y="44475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210776" y="445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653631" y="44410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67760" y="4458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8148931" y="445737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82905" y="48961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14480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208627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662960" y="49145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65611" y="4906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8146076" y="49193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554356" y="536235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80758" y="53318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180722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661658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76343" y="5342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8156597" y="53419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65087" y="578521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552208" y="4922326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523791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12333" y="44756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23064" y="53234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82906" y="57847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208628" y="57914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651483" y="577826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65612" y="5795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8146783" y="57946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10185" y="58128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994095" y="445546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002545" y="49043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999895" y="53489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991947" y="579271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3591420" y="2879520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80" name="Rectangle 79"/>
          <p:cNvSpPr/>
          <p:nvPr/>
        </p:nvSpPr>
        <p:spPr>
          <a:xfrm>
            <a:off x="5216119" y="2922928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552208" y="2808979"/>
            <a:ext cx="10010100" cy="93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385190" y="2826791"/>
            <a:ext cx="3062148" cy="5104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Bordereau de demande de prise en charge CNAS</a:t>
            </a:r>
            <a:endParaRPr lang="fr-FR" sz="1400" b="1" u="sng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3589272" y="3302379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bordereau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5213971" y="3345787"/>
            <a:ext cx="14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8225174" y="40090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Observation</a:t>
            </a:r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9523791" y="40197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Sélection</a:t>
            </a:r>
            <a:endParaRPr lang="fr-FR" dirty="0"/>
          </a:p>
        </p:txBody>
      </p:sp>
      <p:sp>
        <p:nvSpPr>
          <p:cNvPr id="112" name="Ellipse 111"/>
          <p:cNvSpPr/>
          <p:nvPr/>
        </p:nvSpPr>
        <p:spPr>
          <a:xfrm flipV="1">
            <a:off x="9988862" y="458112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10010049" y="505139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Ellipse 115"/>
          <p:cNvSpPr/>
          <p:nvPr/>
        </p:nvSpPr>
        <p:spPr>
          <a:xfrm flipV="1">
            <a:off x="10007901" y="5500011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Ellipse 116"/>
          <p:cNvSpPr/>
          <p:nvPr/>
        </p:nvSpPr>
        <p:spPr>
          <a:xfrm flipV="1">
            <a:off x="10007901" y="596365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/>
          <p:cNvSpPr/>
          <p:nvPr/>
        </p:nvSpPr>
        <p:spPr>
          <a:xfrm>
            <a:off x="9271791" y="636119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7441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489279" y="3672070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587301" y="197010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212000" y="201350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1411744" y="1873802"/>
            <a:ext cx="721288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571379" y="2428609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</a:t>
            </a:r>
            <a:r>
              <a:rPr lang="fr-FR" dirty="0"/>
              <a:t>° </a:t>
            </a:r>
            <a:r>
              <a:rPr lang="fr-FR" dirty="0" smtClean="0"/>
              <a:t>bordereau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192360" y="2446615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678728" y="3668529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de bordereau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782683" y="3695190"/>
            <a:ext cx="1218068" cy="3809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068163" y="37026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Nom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493199" y="36973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6291793" y="369519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Prénom</a:t>
            </a:r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50762" y="946048"/>
            <a:ext cx="3892054" cy="663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Consultation bordereau de demande prise en charge</a:t>
            </a:r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20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bordereau</a:t>
            </a:r>
            <a:endParaRPr 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1594878" y="2900134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bordereau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3665608" y="29286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299074" y="293936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114697" y="2915860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4761037" y="291371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214249" y="2856514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7252204" y="296197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86" name="Rectangle 85"/>
          <p:cNvSpPr/>
          <p:nvPr/>
        </p:nvSpPr>
        <p:spPr>
          <a:xfrm>
            <a:off x="1417187" y="3622492"/>
            <a:ext cx="720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989951" y="364196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2642182" y="3613505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1408151" y="4130787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3788519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6199684" y="363207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7398130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1444590" y="413663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5070312" y="4143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6311999" y="41301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2627296" y="41473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1442441" y="45852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874016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068163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6321328" y="46036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2625147" y="45959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1413892" y="5051459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1440294" y="50209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5040258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6320026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635879" y="50317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1424623" y="5474316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1411744" y="4611430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871869" y="41647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882600" y="50125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442442" y="54738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5068164" y="5480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6309851" y="54673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2625148" y="54846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869721" y="55019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7433007" y="414456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441457" y="45934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7438807" y="50380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7430859" y="548182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78399" y="6141739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37690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physiologique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572921" y="276838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30292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Grossesse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577610" y="335449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69077" y="2784729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Poids de naissance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3693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64661" y="488856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8423525" y="33544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Semaine(s)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578442" y="395270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506403" y="55187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Physiologique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81179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78805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Accouchement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28328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Réanimation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néonatale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7806" y="3903480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Oui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7806" y="4269223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7600" y="3991992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Fratrie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759" y="4940147"/>
            <a:ext cx="18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ménarchie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0723" y="4925716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76728" y="4932291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45345" y="4958724"/>
            <a:ext cx="105349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Ménopause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1976506" y="33649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34043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84791" y="3850473"/>
            <a:ext cx="3229815" cy="8025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307273" y="3963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Ellipse 76"/>
          <p:cNvSpPr/>
          <p:nvPr/>
        </p:nvSpPr>
        <p:spPr>
          <a:xfrm>
            <a:off x="3307273" y="4344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423525" y="2782997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Kg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5791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98176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504046" y="33673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Ça fait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592956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Accouchement 	: </a:t>
            </a:r>
            <a:r>
              <a:rPr lang="fr-FR" sz="1600" dirty="0" smtClean="0"/>
              <a:t>normal, voie basse, dystocique, césarienne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Grossesse</a:t>
            </a:r>
            <a:r>
              <a:rPr lang="fr-FR" sz="1600" b="1" dirty="0"/>
              <a:t> </a:t>
            </a:r>
            <a:r>
              <a:rPr lang="fr-FR" sz="1600" b="1" dirty="0" smtClean="0"/>
              <a:t>		: </a:t>
            </a:r>
            <a:r>
              <a:rPr lang="fr-FR" sz="1600" dirty="0" smtClean="0"/>
              <a:t>normale, à terme, prématurée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3706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Physiologique</a:t>
            </a:r>
          </a:p>
        </p:txBody>
      </p:sp>
    </p:spTree>
    <p:extLst>
      <p:ext uri="{BB962C8B-B14F-4D97-AF65-F5344CB8AC3E}">
        <p14:creationId xmlns:p14="http://schemas.microsoft.com/office/powerpoint/2010/main" val="3169905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Vaccination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0663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3212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034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4282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0472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2437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6" y="28093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0348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3839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233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76462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0590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3103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958057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Vaccin : </a:t>
            </a:r>
            <a:r>
              <a:rPr lang="fr-FR" sz="1600" dirty="0" smtClean="0"/>
              <a:t>BCG, Diphtérie, DT-Coq, Grippe, Hépatite B, Méningo-Coq , Pneumo-Coq, Polio inactivée, Tétanos.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1700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Vaccination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7406" y="41078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1472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7936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330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7646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03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8782050" y="40697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Plus 71"/>
          <p:cNvSpPr/>
          <p:nvPr/>
        </p:nvSpPr>
        <p:spPr>
          <a:xfrm>
            <a:off x="8782050" y="47174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277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39445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112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151971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Facteurs des risques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33672" y="27317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16957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Diabète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233672" y="320184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703354" y="2697243"/>
            <a:ext cx="511268" cy="453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1985222" y="553670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95556" y="39736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2007336" y="502006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124170" y="57454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67844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65470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HTA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39948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Consanguinité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327" y="5042578"/>
            <a:ext cx="108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Tabagisme</a:t>
            </a:r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604199" y="4499263"/>
            <a:ext cx="180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Mode de vie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0999" y="5556450"/>
            <a:ext cx="1265522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Obésité (IMC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4232059" y="4933923"/>
            <a:ext cx="225176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Consommation éthylique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9710" y="5612781"/>
            <a:ext cx="1123962" cy="312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Dyslipidémie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76506" y="32315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4509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110331" y="2730886"/>
            <a:ext cx="529975" cy="345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ans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21718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6236287" y="558335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634839" y="3201547"/>
            <a:ext cx="648297" cy="450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265066"/>
            <a:ext cx="11582154" cy="58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Consanguinité</a:t>
            </a:r>
            <a:r>
              <a:rPr lang="fr-FR" sz="1600" dirty="0" smtClean="0"/>
              <a:t> </a:t>
            </a:r>
            <a:r>
              <a:rPr lang="fr-FR" sz="1600" b="1" dirty="0" smtClean="0"/>
              <a:t>	: </a:t>
            </a:r>
            <a:r>
              <a:rPr lang="fr-FR" sz="1600" dirty="0"/>
              <a:t>1er dégrée, 2ème dégrée, </a:t>
            </a:r>
            <a:r>
              <a:rPr lang="fr-FR" sz="1600" dirty="0" smtClean="0"/>
              <a:t>pas de consanguinité.					</a:t>
            </a:r>
            <a:r>
              <a:rPr lang="fr-FR" sz="1600" b="1" dirty="0" smtClean="0"/>
              <a:t>Dyslipidémie : </a:t>
            </a:r>
            <a:r>
              <a:rPr lang="fr-FR" sz="1600" dirty="0" smtClean="0"/>
              <a:t>HCHL, HTRI, MIXTE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Mode de vie 	:</a:t>
            </a:r>
            <a:r>
              <a:rPr lang="fr-FR" sz="1600" dirty="0"/>
              <a:t> </a:t>
            </a:r>
            <a:r>
              <a:rPr lang="fr-FR" sz="1600" dirty="0" smtClean="0"/>
              <a:t>Sédentarité, activité physique normale, activité physique minimale.</a:t>
            </a:r>
            <a:endParaRPr lang="fr-FR" sz="1600" b="1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49284" y="2234684"/>
            <a:ext cx="1894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Facteurs des </a:t>
            </a:r>
            <a:r>
              <a:rPr lang="fr-FR" sz="1600" b="1" u="sng" dirty="0" smtClean="0"/>
              <a:t>risques</a:t>
            </a:r>
            <a:endParaRPr lang="fr-FR" sz="1600" b="1" u="sng" dirty="0"/>
          </a:p>
        </p:txBody>
      </p:sp>
      <p:sp>
        <p:nvSpPr>
          <p:cNvPr id="61" name="Triangle isocèle 60"/>
          <p:cNvSpPr/>
          <p:nvPr/>
        </p:nvSpPr>
        <p:spPr>
          <a:xfrm rot="10800000">
            <a:off x="7762622" y="32333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498090" y="257308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995556" y="44689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498090" y="3868485"/>
            <a:ext cx="8550660" cy="22465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riangle isocèle 65"/>
          <p:cNvSpPr/>
          <p:nvPr/>
        </p:nvSpPr>
        <p:spPr>
          <a:xfrm rot="10800000">
            <a:off x="7781672" y="561461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2890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médicaux &amp;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chirurgicaux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9" name="Rectangle 118"/>
          <p:cNvSpPr/>
          <p:nvPr/>
        </p:nvSpPr>
        <p:spPr>
          <a:xfrm>
            <a:off x="7149393" y="31463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140233" y="25177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770599" y="38570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4770599" y="31189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7149393" y="38386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435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674546" y="62194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&amp;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2894656" y="25236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Pathologie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9406277" y="25177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490856" y="30982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4028522" y="31376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2394540" y="2478872"/>
            <a:ext cx="8091818" cy="199125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337184" y="25201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2" name="Rectangle 11"/>
          <p:cNvSpPr/>
          <p:nvPr/>
        </p:nvSpPr>
        <p:spPr>
          <a:xfrm>
            <a:off x="317784" y="2329934"/>
            <a:ext cx="1897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médicaux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2490856" y="3822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4028522" y="3861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4535534" y="247887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682153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931708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9715500" y="31172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9715500" y="3784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2395605" y="29920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2395605" y="3658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tangle 58"/>
          <p:cNvSpPr/>
          <p:nvPr/>
        </p:nvSpPr>
        <p:spPr>
          <a:xfrm>
            <a:off x="279684" y="4542894"/>
            <a:ext cx="21180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chirurgicaux</a:t>
            </a:r>
            <a:endParaRPr lang="fr-FR" sz="1600" b="1" u="sng" dirty="0"/>
          </a:p>
        </p:txBody>
      </p:sp>
      <p:sp>
        <p:nvSpPr>
          <p:cNvPr id="66" name="Rectangle 65"/>
          <p:cNvSpPr/>
          <p:nvPr/>
        </p:nvSpPr>
        <p:spPr>
          <a:xfrm>
            <a:off x="7149393" y="52799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140233" y="46513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70599" y="59906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770599" y="52525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149393" y="59722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2894656" y="46572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Appareil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06277" y="46513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490856" y="5231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028522" y="5271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394540" y="4612472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337184" y="46537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490856" y="59557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028522" y="59951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535534" y="461247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82153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31708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715500" y="52508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Plus 112"/>
          <p:cNvSpPr/>
          <p:nvPr/>
        </p:nvSpPr>
        <p:spPr>
          <a:xfrm>
            <a:off x="9715500" y="5917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2395605" y="51256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395605" y="57923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6042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</a:t>
            </a:r>
            <a:r>
              <a:rPr lang="fr-FR" sz="1800" b="1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familiaux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354227" y="2234684"/>
            <a:ext cx="20841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Antécédents familiaux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997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Néphropathies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causales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637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892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606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999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618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815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5" y="2866542"/>
            <a:ext cx="1242463" cy="3740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Néphropathies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causales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606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441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80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82177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630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8818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329129" y="2425184"/>
            <a:ext cx="22100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Néphropathies </a:t>
            </a:r>
            <a:r>
              <a:rPr lang="fr-FR" sz="1600" b="1" u="sng" dirty="0" smtClean="0"/>
              <a:t>causales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1557406" y="41650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2044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850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90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8217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601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8782050" y="41269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Plus 71"/>
          <p:cNvSpPr/>
          <p:nvPr/>
        </p:nvSpPr>
        <p:spPr>
          <a:xfrm>
            <a:off x="8782050" y="4774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3349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40016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684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996303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353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Allergologie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15432" y="2272784"/>
            <a:ext cx="11997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Allergologie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071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Psychiatrique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26999" y="2291834"/>
            <a:ext cx="13290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Psychiatrique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5669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Traitement habituel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1613727"/>
            <a:ext cx="11556000" cy="500652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570950" y="620347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57" y="1292904"/>
            <a:ext cx="12106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Prescription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3985" y="48044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304825" y="41758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Dose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935191" y="551519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935191" y="47770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313985" y="549673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3059247" y="4181754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Médicament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70869" y="4175847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655448" y="47563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193114" y="47957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559132" y="4136984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501776" y="417827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655448" y="54802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193114" y="55196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700126" y="413698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98612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48167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880092" y="477538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Plus 112"/>
          <p:cNvSpPr/>
          <p:nvPr/>
        </p:nvSpPr>
        <p:spPr>
          <a:xfrm>
            <a:off x="9880092" y="544213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2560197" y="465014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560197" y="531689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Titre 1"/>
          <p:cNvSpPr txBox="1">
            <a:spLocks/>
          </p:cNvSpPr>
          <p:nvPr/>
        </p:nvSpPr>
        <p:spPr>
          <a:xfrm>
            <a:off x="630623" y="227879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Classe </a:t>
            </a:r>
            <a:r>
              <a:rPr lang="fr-FR" sz="1400" dirty="0" smtClean="0"/>
              <a:t>thérapeutique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543434" y="229973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1759110" y="1798651"/>
            <a:ext cx="671513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062050" y="23207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504976" y="2858365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S/Classe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thérapeutique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543434" y="285285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riangle isocèle 128"/>
          <p:cNvSpPr/>
          <p:nvPr/>
        </p:nvSpPr>
        <p:spPr>
          <a:xfrm rot="10800000">
            <a:off x="4081100" y="28922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567818" y="181205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1994285" y="3464738"/>
            <a:ext cx="4363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67818" y="344416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Triangle isocèle 149"/>
          <p:cNvSpPr/>
          <p:nvPr/>
        </p:nvSpPr>
        <p:spPr>
          <a:xfrm rot="10800000">
            <a:off x="4105484" y="348355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8243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30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/ Histoire de la maladie (HDM)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38269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02928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HDM</a:t>
            </a:r>
            <a:endParaRPr lang="fr-FR" sz="1400" dirty="0"/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686229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83607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34459" y="3232322"/>
            <a:ext cx="12829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6695067" y="3190790"/>
            <a:ext cx="56015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Taille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327878" y="3187286"/>
            <a:ext cx="479618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IMC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7147" y="3197728"/>
            <a:ext cx="6120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844961" y="3211584"/>
            <a:ext cx="3626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340639" y="3200166"/>
            <a:ext cx="40267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97977" y="3193995"/>
            <a:ext cx="630301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kg/m²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1562" y="3581474"/>
            <a:ext cx="36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/>
              <a:t>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8710" y="3576758"/>
            <a:ext cx="707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mm Hg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25840" y="325754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234333" y="327420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31008" y="3197133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7263584" y="3199242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4" name="Rectangle 73"/>
          <p:cNvSpPr/>
          <p:nvPr/>
        </p:nvSpPr>
        <p:spPr>
          <a:xfrm>
            <a:off x="9774104" y="3193995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5" name="Rectangle 74"/>
          <p:cNvSpPr/>
          <p:nvPr/>
        </p:nvSpPr>
        <p:spPr>
          <a:xfrm>
            <a:off x="4724454" y="3586196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6768082" y="3568653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FC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3584" y="3578094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8338234" y="3567619"/>
            <a:ext cx="8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74104" y="3579018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9323219" y="3567886"/>
            <a:ext cx="468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10882438" y="3571699"/>
            <a:ext cx="96462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cycles/min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61933" y="3971945"/>
            <a:ext cx="108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Température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4753315" y="395038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7639339" y="3932036"/>
            <a:ext cx="870024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Apyrexie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7511884" y="40072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" name="Rectangle 12"/>
          <p:cNvSpPr/>
          <p:nvPr/>
        </p:nvSpPr>
        <p:spPr>
          <a:xfrm>
            <a:off x="5859956" y="3959066"/>
            <a:ext cx="3417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°C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52639" y="3956420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Hyperthermie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8806897" y="401336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605685" y="3944717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425685" y="40011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405743" y="4367031"/>
            <a:ext cx="226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Coloration des </a:t>
            </a:r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conjonctives</a:t>
            </a:r>
            <a:endParaRPr lang="fr-FR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8348" y="522633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Respiration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367" y="6032464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d'hydratation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05097" y="4351290"/>
            <a:ext cx="11520000" cy="232780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/>
          <p:cNvCxnSpPr/>
          <p:nvPr/>
        </p:nvCxnSpPr>
        <p:spPr>
          <a:xfrm flipH="1" flipV="1">
            <a:off x="405097" y="5220521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2" name="Rectangle 141"/>
          <p:cNvSpPr/>
          <p:nvPr/>
        </p:nvSpPr>
        <p:spPr>
          <a:xfrm>
            <a:off x="390070" y="3151407"/>
            <a:ext cx="11520000" cy="11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3" name="Connecteur droit 142"/>
          <p:cNvCxnSpPr/>
          <p:nvPr/>
        </p:nvCxnSpPr>
        <p:spPr>
          <a:xfrm flipH="1">
            <a:off x="3633403" y="3195287"/>
            <a:ext cx="0" cy="1097873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3646281" y="3918959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3644133" y="3530447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Rectangle 158"/>
          <p:cNvSpPr/>
          <p:nvPr/>
        </p:nvSpPr>
        <p:spPr>
          <a:xfrm>
            <a:off x="7975644" y="436286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Ictère</a:t>
            </a:r>
          </a:p>
        </p:txBody>
      </p:sp>
      <p:sp>
        <p:nvSpPr>
          <p:cNvPr id="160" name="Ellipse 159"/>
          <p:cNvSpPr/>
          <p:nvPr/>
        </p:nvSpPr>
        <p:spPr>
          <a:xfrm>
            <a:off x="3115205" y="475835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10833242" y="470876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2" name="Ellipse 161"/>
          <p:cNvSpPr/>
          <p:nvPr/>
        </p:nvSpPr>
        <p:spPr>
          <a:xfrm>
            <a:off x="10634336" y="47819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3" name="Rectangle 162"/>
          <p:cNvSpPr/>
          <p:nvPr/>
        </p:nvSpPr>
        <p:spPr>
          <a:xfrm>
            <a:off x="3320053" y="4704235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64" name="Ellipse 163"/>
          <p:cNvSpPr/>
          <p:nvPr/>
        </p:nvSpPr>
        <p:spPr>
          <a:xfrm>
            <a:off x="7788096" y="440847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5" name="Rectangle 164"/>
          <p:cNvSpPr/>
          <p:nvPr/>
        </p:nvSpPr>
        <p:spPr>
          <a:xfrm>
            <a:off x="7719019" y="4655771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6" name="Rectangle 165"/>
          <p:cNvSpPr/>
          <p:nvPr/>
        </p:nvSpPr>
        <p:spPr>
          <a:xfrm>
            <a:off x="5024235" y="4360714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Pâleur</a:t>
            </a:r>
          </a:p>
        </p:txBody>
      </p:sp>
      <p:sp>
        <p:nvSpPr>
          <p:cNvPr id="167" name="Ellipse 166"/>
          <p:cNvSpPr/>
          <p:nvPr/>
        </p:nvSpPr>
        <p:spPr>
          <a:xfrm>
            <a:off x="4836688" y="440632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8" name="Rectangle 167"/>
          <p:cNvSpPr/>
          <p:nvPr/>
        </p:nvSpPr>
        <p:spPr>
          <a:xfrm>
            <a:off x="4723010" y="4651886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9" name="Rectangle 168"/>
          <p:cNvSpPr/>
          <p:nvPr/>
        </p:nvSpPr>
        <p:spPr>
          <a:xfrm>
            <a:off x="7982272" y="5206239"/>
            <a:ext cx="1692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Patient dyspnétique</a:t>
            </a:r>
          </a:p>
          <a:p>
            <a:endParaRPr lang="fr-FR" sz="1400" dirty="0" smtClean="0"/>
          </a:p>
          <a:p>
            <a:endParaRPr lang="fr-FR" sz="1400" dirty="0"/>
          </a:p>
        </p:txBody>
      </p:sp>
      <p:sp>
        <p:nvSpPr>
          <p:cNvPr id="170" name="Ellipse 169"/>
          <p:cNvSpPr/>
          <p:nvPr/>
        </p:nvSpPr>
        <p:spPr>
          <a:xfrm>
            <a:off x="3121833" y="560173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1" name="Rectangle 170"/>
          <p:cNvSpPr/>
          <p:nvPr/>
        </p:nvSpPr>
        <p:spPr>
          <a:xfrm>
            <a:off x="10839870" y="555214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2" name="Ellipse 171"/>
          <p:cNvSpPr/>
          <p:nvPr/>
        </p:nvSpPr>
        <p:spPr>
          <a:xfrm>
            <a:off x="10640964" y="562533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3" name="Rectangle 172"/>
          <p:cNvSpPr/>
          <p:nvPr/>
        </p:nvSpPr>
        <p:spPr>
          <a:xfrm>
            <a:off x="3326681" y="5547612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74" name="Ellipse 173"/>
          <p:cNvSpPr/>
          <p:nvPr/>
        </p:nvSpPr>
        <p:spPr>
          <a:xfrm>
            <a:off x="7794724" y="525185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5" name="Rectangle 174"/>
          <p:cNvSpPr/>
          <p:nvPr/>
        </p:nvSpPr>
        <p:spPr>
          <a:xfrm>
            <a:off x="7725647" y="5499148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6" name="Rectangle 175"/>
          <p:cNvSpPr/>
          <p:nvPr/>
        </p:nvSpPr>
        <p:spPr>
          <a:xfrm>
            <a:off x="5030863" y="5204091"/>
            <a:ext cx="162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eupnéique</a:t>
            </a:r>
          </a:p>
          <a:p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" name="Ellipse 176"/>
          <p:cNvSpPr/>
          <p:nvPr/>
        </p:nvSpPr>
        <p:spPr>
          <a:xfrm>
            <a:off x="4843316" y="524970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8" name="Rectangle 177"/>
          <p:cNvSpPr/>
          <p:nvPr/>
        </p:nvSpPr>
        <p:spPr>
          <a:xfrm>
            <a:off x="4729638" y="5495263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9" name="Connecteur droit 178"/>
          <p:cNvCxnSpPr/>
          <p:nvPr/>
        </p:nvCxnSpPr>
        <p:spPr>
          <a:xfrm flipH="1" flipV="1">
            <a:off x="398473" y="6051021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0" name="Rectangle 179"/>
          <p:cNvSpPr/>
          <p:nvPr/>
        </p:nvSpPr>
        <p:spPr>
          <a:xfrm>
            <a:off x="7988900" y="6062497"/>
            <a:ext cx="16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Oedèmes</a:t>
            </a:r>
            <a:endParaRPr lang="fr-FR" sz="1400" dirty="0" smtClean="0"/>
          </a:p>
          <a:p>
            <a:endParaRPr lang="fr-FR" sz="1400" dirty="0"/>
          </a:p>
        </p:txBody>
      </p:sp>
      <p:sp>
        <p:nvSpPr>
          <p:cNvPr id="181" name="Ellipse 180"/>
          <p:cNvSpPr/>
          <p:nvPr/>
        </p:nvSpPr>
        <p:spPr>
          <a:xfrm>
            <a:off x="3128461" y="64579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2" name="Rectangle 181"/>
          <p:cNvSpPr/>
          <p:nvPr/>
        </p:nvSpPr>
        <p:spPr>
          <a:xfrm>
            <a:off x="10846498" y="640840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3" name="Ellipse 182"/>
          <p:cNvSpPr/>
          <p:nvPr/>
        </p:nvSpPr>
        <p:spPr>
          <a:xfrm>
            <a:off x="10647592" y="64815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4" name="Rectangle 183"/>
          <p:cNvSpPr/>
          <p:nvPr/>
        </p:nvSpPr>
        <p:spPr>
          <a:xfrm>
            <a:off x="3333309" y="640387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85" name="Ellipse 184"/>
          <p:cNvSpPr/>
          <p:nvPr/>
        </p:nvSpPr>
        <p:spPr>
          <a:xfrm>
            <a:off x="7801352" y="610811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6" name="Rectangle 185"/>
          <p:cNvSpPr/>
          <p:nvPr/>
        </p:nvSpPr>
        <p:spPr>
          <a:xfrm>
            <a:off x="7732275" y="6355406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7" name="Rectangle 186"/>
          <p:cNvSpPr/>
          <p:nvPr/>
        </p:nvSpPr>
        <p:spPr>
          <a:xfrm>
            <a:off x="5037491" y="6060349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Déshydraté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8" name="Ellipse 187"/>
          <p:cNvSpPr/>
          <p:nvPr/>
        </p:nvSpPr>
        <p:spPr>
          <a:xfrm>
            <a:off x="4849944" y="610596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9" name="Rectangle 188"/>
          <p:cNvSpPr/>
          <p:nvPr/>
        </p:nvSpPr>
        <p:spPr>
          <a:xfrm>
            <a:off x="4736266" y="6351521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0" name="Rectangle 189"/>
          <p:cNvSpPr/>
          <p:nvPr/>
        </p:nvSpPr>
        <p:spPr>
          <a:xfrm>
            <a:off x="259765" y="6420238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9173" y="3848361"/>
            <a:ext cx="32708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 :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conscient, non conscient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627088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16" y="1092594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1099222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1088958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1094827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109922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108952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109542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108841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1088337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108841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1505054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98413" y="1811886"/>
            <a:ext cx="20851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Examen cutanéomuqueux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94329" y="1739737"/>
            <a:ext cx="6170536" cy="9648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2480955" y="3208426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3671438" y="319167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(Kg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4851635" y="320578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Taille (cm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95444" y="3200325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Température (°C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7470456" y="3192785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IMC (kg/m²)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08865" y="3158848"/>
            <a:ext cx="6156000" cy="68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5981629" y="3178318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3633860" y="3149861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4780197" y="3156700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7445224" y="3154426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eur droit 17"/>
          <p:cNvCxnSpPr>
            <a:stCxn id="113" idx="3"/>
            <a:endCxn id="113" idx="1"/>
          </p:cNvCxnSpPr>
          <p:nvPr/>
        </p:nvCxnSpPr>
        <p:spPr>
          <a:xfrm flipH="1">
            <a:off x="2408865" y="3500848"/>
            <a:ext cx="61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ectangle 118"/>
          <p:cNvSpPr/>
          <p:nvPr/>
        </p:nvSpPr>
        <p:spPr>
          <a:xfrm>
            <a:off x="7470456" y="409435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21986" y="713828"/>
            <a:ext cx="18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Suite de l’écran 31</a:t>
            </a:r>
            <a:endParaRPr lang="fr-FR" sz="1600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875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6076" y="3232322"/>
            <a:ext cx="1631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2629449" y="3275211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2501994" y="335044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4741243" y="3260958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Dysphonie</a:t>
            </a:r>
            <a:endParaRPr lang="fr-FR" sz="1400" dirty="0"/>
          </a:p>
        </p:txBody>
      </p:sp>
      <p:sp>
        <p:nvSpPr>
          <p:cNvPr id="89" name="Ellipse 88"/>
          <p:cNvSpPr/>
          <p:nvPr/>
        </p:nvSpPr>
        <p:spPr>
          <a:xfrm>
            <a:off x="4595501" y="331790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541290" y="3249255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361290" y="33057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294384" y="4070390"/>
            <a:ext cx="9621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Inspection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/>
          <p:cNvSpPr/>
          <p:nvPr/>
        </p:nvSpPr>
        <p:spPr>
          <a:xfrm>
            <a:off x="390070" y="3151407"/>
            <a:ext cx="11520000" cy="93233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Rectangle 144"/>
          <p:cNvSpPr/>
          <p:nvPr/>
        </p:nvSpPr>
        <p:spPr>
          <a:xfrm>
            <a:off x="6374711" y="3258810"/>
            <a:ext cx="1247425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Dysphagie</a:t>
            </a:r>
            <a:endParaRPr lang="fr-FR" sz="1400" dirty="0"/>
          </a:p>
        </p:txBody>
      </p:sp>
      <p:sp>
        <p:nvSpPr>
          <p:cNvPr id="146" name="Ellipse 145"/>
          <p:cNvSpPr/>
          <p:nvPr/>
        </p:nvSpPr>
        <p:spPr>
          <a:xfrm>
            <a:off x="6228969" y="331575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7814996" y="3269541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7669254" y="332648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3718707" y="3579272"/>
            <a:ext cx="6170535" cy="4356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51" name="Connecteur droit 150"/>
          <p:cNvCxnSpPr/>
          <p:nvPr/>
        </p:nvCxnSpPr>
        <p:spPr>
          <a:xfrm flipH="1">
            <a:off x="3504608" y="31695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Connecteur droit 151"/>
          <p:cNvCxnSpPr/>
          <p:nvPr/>
        </p:nvCxnSpPr>
        <p:spPr>
          <a:xfrm flipH="1">
            <a:off x="10096455" y="3180267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Rectangle 34"/>
          <p:cNvSpPr/>
          <p:nvPr/>
        </p:nvSpPr>
        <p:spPr>
          <a:xfrm>
            <a:off x="436242" y="443989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636006" y="4414774"/>
            <a:ext cx="13620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Cavité buccale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768" y="481122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/>
          <p:cNvSpPr/>
          <p:nvPr/>
        </p:nvSpPr>
        <p:spPr>
          <a:xfrm>
            <a:off x="736896" y="4786111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Gencives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560739" y="547878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721867" y="545367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Langue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60739" y="61613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721867" y="61362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Dentition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630180" y="4736222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1628032" y="5403778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1628032" y="6073480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65" name="Connecteur droit 164"/>
          <p:cNvCxnSpPr/>
          <p:nvPr/>
        </p:nvCxnSpPr>
        <p:spPr>
          <a:xfrm>
            <a:off x="4065444" y="437863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Rectangle 165"/>
          <p:cNvSpPr/>
          <p:nvPr/>
        </p:nvSpPr>
        <p:spPr>
          <a:xfrm>
            <a:off x="387922" y="4378167"/>
            <a:ext cx="11520000" cy="23445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7" name="Rectangle 166"/>
          <p:cNvSpPr/>
          <p:nvPr/>
        </p:nvSpPr>
        <p:spPr>
          <a:xfrm>
            <a:off x="4192584" y="45128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Rectangle 167"/>
          <p:cNvSpPr/>
          <p:nvPr/>
        </p:nvSpPr>
        <p:spPr>
          <a:xfrm>
            <a:off x="4353712" y="44877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Pharynx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4203313" y="574709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0" name="Rectangle 169"/>
          <p:cNvSpPr/>
          <p:nvPr/>
        </p:nvSpPr>
        <p:spPr>
          <a:xfrm>
            <a:off x="4364441" y="572197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Lèvres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246995" y="4656800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2" name="Rectangle 171"/>
          <p:cNvSpPr/>
          <p:nvPr/>
        </p:nvSpPr>
        <p:spPr>
          <a:xfrm>
            <a:off x="5270606" y="589102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3" name="Connecteur droit 172"/>
          <p:cNvCxnSpPr/>
          <p:nvPr/>
        </p:nvCxnSpPr>
        <p:spPr>
          <a:xfrm flipH="1">
            <a:off x="4079952" y="5550795"/>
            <a:ext cx="781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necteur droit 173"/>
          <p:cNvCxnSpPr/>
          <p:nvPr/>
        </p:nvCxnSpPr>
        <p:spPr>
          <a:xfrm>
            <a:off x="8133024" y="4389363"/>
            <a:ext cx="0" cy="230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6" name="Rectangle 175"/>
          <p:cNvSpPr/>
          <p:nvPr/>
        </p:nvSpPr>
        <p:spPr>
          <a:xfrm>
            <a:off x="8234406" y="451071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7" name="Rectangle 176"/>
          <p:cNvSpPr/>
          <p:nvPr/>
        </p:nvSpPr>
        <p:spPr>
          <a:xfrm>
            <a:off x="8395534" y="448560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Paupières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8245135" y="574494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Rectangle 178"/>
          <p:cNvSpPr/>
          <p:nvPr/>
        </p:nvSpPr>
        <p:spPr>
          <a:xfrm>
            <a:off x="8406263" y="571983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Yeux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9288817" y="4654652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9312428" y="588887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2" name="Rectangle 181"/>
          <p:cNvSpPr/>
          <p:nvPr/>
        </p:nvSpPr>
        <p:spPr>
          <a:xfrm>
            <a:off x="259765" y="6420238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</p:spTree>
    <p:extLst>
      <p:ext uri="{BB962C8B-B14F-4D97-AF65-F5344CB8AC3E}">
        <p14:creationId xmlns:p14="http://schemas.microsoft.com/office/powerpoint/2010/main" val="1572357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08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2" y="649433"/>
            <a:ext cx="2066015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Suite de l’écran 32</a:t>
            </a:r>
            <a:endParaRPr lang="fr-FR" sz="1600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0821355" y="639344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197" y="1055790"/>
            <a:ext cx="932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990" y="3503892"/>
            <a:ext cx="11655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Auscultation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191" y="1361908"/>
            <a:ext cx="11520000" cy="210751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575768" y="406425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775533" y="4013375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Thyroïdes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0739" y="483484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760504" y="4783966"/>
            <a:ext cx="1828150" cy="3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Artères carotidiennes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860" y="563333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747625" y="5582455"/>
            <a:ext cx="280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Artères sous </a:t>
            </a:r>
            <a:r>
              <a:rPr lang="fr-FR" sz="1400" dirty="0" smtClean="0"/>
              <a:t>Clavière </a:t>
            </a:r>
            <a:r>
              <a:rPr lang="fr-FR" sz="1400" dirty="0"/>
              <a:t>et vertébrales 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587768" y="3989244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3585620" y="4759832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7" name="Rectangle 36"/>
          <p:cNvSpPr/>
          <p:nvPr/>
        </p:nvSpPr>
        <p:spPr>
          <a:xfrm>
            <a:off x="3572741" y="5545445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387922" y="3875890"/>
            <a:ext cx="11520000" cy="24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648747" y="147130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/>
          <p:cNvSpPr/>
          <p:nvPr/>
        </p:nvSpPr>
        <p:spPr>
          <a:xfrm>
            <a:off x="835632" y="1433309"/>
            <a:ext cx="370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Aires ganglionnaires sus-claviculaires et cervical 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20839" y="260250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/>
          <p:cNvSpPr/>
          <p:nvPr/>
        </p:nvSpPr>
        <p:spPr>
          <a:xfrm>
            <a:off x="807724" y="2551628"/>
            <a:ext cx="1510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Pouls carotidiens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08450" y="1744030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628049" y="2845096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74" name="Connecteur droit 73"/>
          <p:cNvCxnSpPr/>
          <p:nvPr/>
        </p:nvCxnSpPr>
        <p:spPr>
          <a:xfrm flipH="1">
            <a:off x="381564" y="2444840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6160411" y="1360682"/>
            <a:ext cx="0" cy="20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Rectangle 75"/>
          <p:cNvSpPr/>
          <p:nvPr/>
        </p:nvSpPr>
        <p:spPr>
          <a:xfrm>
            <a:off x="6274670" y="145627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6461555" y="1405403"/>
            <a:ext cx="30559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Glande </a:t>
            </a:r>
            <a:r>
              <a:rPr lang="fr-FR" sz="1400" dirty="0" smtClean="0"/>
              <a:t>thyroïde </a:t>
            </a:r>
            <a:r>
              <a:rPr lang="fr-FR" sz="1400" dirty="0"/>
              <a:t>(lors de la déglutition</a:t>
            </a:r>
            <a:r>
              <a:rPr lang="fr-FR" sz="1400" dirty="0" smtClean="0"/>
              <a:t>)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73025" y="1756181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326187" y="257675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/>
          <p:cNvSpPr/>
          <p:nvPr/>
        </p:nvSpPr>
        <p:spPr>
          <a:xfrm>
            <a:off x="6513072" y="2538754"/>
            <a:ext cx="14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Pouls temporaux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85890" y="2849475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544089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67961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0202" y="4105990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Inspection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1828765" y="3287939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9081726" y="414909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6528723" y="3095201"/>
            <a:ext cx="912096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Dyspnée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10725629" y="4128749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539602" y="417618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Ellipse 145"/>
          <p:cNvSpPr/>
          <p:nvPr/>
        </p:nvSpPr>
        <p:spPr>
          <a:xfrm>
            <a:off x="4335612" y="41748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9" name="Ellipse 148"/>
          <p:cNvSpPr/>
          <p:nvPr/>
        </p:nvSpPr>
        <p:spPr>
          <a:xfrm>
            <a:off x="6522754" y="416198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4" name="Rectangle 153"/>
          <p:cNvSpPr/>
          <p:nvPr/>
        </p:nvSpPr>
        <p:spPr>
          <a:xfrm>
            <a:off x="1631833" y="334302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/>
          <p:cNvSpPr/>
          <p:nvPr/>
        </p:nvSpPr>
        <p:spPr>
          <a:xfrm>
            <a:off x="3355454" y="316057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3555219" y="3109700"/>
            <a:ext cx="5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Toux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9369900" y="318632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9569665" y="313545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317307" y="3409692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6328829" y="3394662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9355367" y="3407539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6" name="Rectangle 165"/>
          <p:cNvSpPr/>
          <p:nvPr/>
        </p:nvSpPr>
        <p:spPr>
          <a:xfrm>
            <a:off x="1461756" y="3103150"/>
            <a:ext cx="10446166" cy="9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0" name="Rectangle 169"/>
          <p:cNvSpPr/>
          <p:nvPr/>
        </p:nvSpPr>
        <p:spPr>
          <a:xfrm>
            <a:off x="4533559" y="411063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En carène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4" name="Connecteur droit 173"/>
          <p:cNvCxnSpPr/>
          <p:nvPr/>
        </p:nvCxnSpPr>
        <p:spPr>
          <a:xfrm flipH="1" flipV="1">
            <a:off x="1463904" y="4433181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Rectangle 176"/>
          <p:cNvSpPr/>
          <p:nvPr/>
        </p:nvSpPr>
        <p:spPr>
          <a:xfrm>
            <a:off x="6709613" y="411063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En tonneau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02804" y="6364010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41210" y="317130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487497" y="4079429"/>
            <a:ext cx="1982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Déformation thoracique 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72516" y="409780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8139" y="4443689"/>
            <a:ext cx="1032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Respiration</a:t>
            </a:r>
          </a:p>
        </p:txBody>
      </p:sp>
      <p:sp>
        <p:nvSpPr>
          <p:cNvPr id="105" name="Ellipse 104"/>
          <p:cNvSpPr/>
          <p:nvPr/>
        </p:nvSpPr>
        <p:spPr>
          <a:xfrm>
            <a:off x="4314390" y="45590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6" name="Rectangle 105"/>
          <p:cNvSpPr/>
          <p:nvPr/>
        </p:nvSpPr>
        <p:spPr>
          <a:xfrm>
            <a:off x="10723481" y="451296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537454" y="456040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8" name="Ellipse 107"/>
          <p:cNvSpPr/>
          <p:nvPr/>
        </p:nvSpPr>
        <p:spPr>
          <a:xfrm>
            <a:off x="6535759" y="45590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0" name="Rectangle 109"/>
          <p:cNvSpPr/>
          <p:nvPr/>
        </p:nvSpPr>
        <p:spPr>
          <a:xfrm>
            <a:off x="6733706" y="4494852"/>
            <a:ext cx="13634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Non symétrique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505180" y="450778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Symétrique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67597" y="4066910"/>
            <a:ext cx="10440000" cy="26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485662" y="4877064"/>
            <a:ext cx="1846903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Circulation collatérale cave supérieure</a:t>
            </a:r>
          </a:p>
        </p:txBody>
      </p:sp>
      <p:sp>
        <p:nvSpPr>
          <p:cNvPr id="119" name="Ellipse 118"/>
          <p:cNvSpPr/>
          <p:nvPr/>
        </p:nvSpPr>
        <p:spPr>
          <a:xfrm>
            <a:off x="4329838" y="495965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Rectangle 119"/>
          <p:cNvSpPr/>
          <p:nvPr/>
        </p:nvSpPr>
        <p:spPr>
          <a:xfrm>
            <a:off x="10734221" y="494870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10535315" y="49961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3" name="Rectangle 122"/>
          <p:cNvSpPr/>
          <p:nvPr/>
        </p:nvSpPr>
        <p:spPr>
          <a:xfrm>
            <a:off x="4534687" y="4905533"/>
            <a:ext cx="115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Positive</a:t>
            </a:r>
          </a:p>
        </p:txBody>
      </p:sp>
      <p:sp>
        <p:nvSpPr>
          <p:cNvPr id="124" name="Ellipse 123"/>
          <p:cNvSpPr/>
          <p:nvPr/>
        </p:nvSpPr>
        <p:spPr>
          <a:xfrm>
            <a:off x="9067116" y="499614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9271965" y="4954902"/>
            <a:ext cx="828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Absente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5345277" y="4950059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29" name="Connecteur droit 128"/>
          <p:cNvCxnSpPr/>
          <p:nvPr/>
        </p:nvCxnSpPr>
        <p:spPr>
          <a:xfrm flipH="1" flipV="1">
            <a:off x="1461756" y="4868919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Connecteur droit 129"/>
          <p:cNvCxnSpPr/>
          <p:nvPr/>
        </p:nvCxnSpPr>
        <p:spPr>
          <a:xfrm flipH="1" flipV="1">
            <a:off x="1485366" y="5510720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/>
          <p:cNvSpPr/>
          <p:nvPr/>
        </p:nvSpPr>
        <p:spPr>
          <a:xfrm>
            <a:off x="1498511" y="5535897"/>
            <a:ext cx="6388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Tirage</a:t>
            </a:r>
          </a:p>
        </p:txBody>
      </p:sp>
      <p:sp>
        <p:nvSpPr>
          <p:cNvPr id="89" name="Ellipse 88"/>
          <p:cNvSpPr/>
          <p:nvPr/>
        </p:nvSpPr>
        <p:spPr>
          <a:xfrm>
            <a:off x="4340569" y="56014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2" name="Rectangle 101"/>
          <p:cNvSpPr/>
          <p:nvPr/>
        </p:nvSpPr>
        <p:spPr>
          <a:xfrm>
            <a:off x="10744952" y="559050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10546046" y="56379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4" name="Rectangle 103"/>
          <p:cNvSpPr/>
          <p:nvPr/>
        </p:nvSpPr>
        <p:spPr>
          <a:xfrm>
            <a:off x="4545418" y="5547334"/>
            <a:ext cx="115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Positif</a:t>
            </a:r>
            <a:endParaRPr lang="fr-FR" sz="1400" dirty="0"/>
          </a:p>
        </p:txBody>
      </p:sp>
      <p:sp>
        <p:nvSpPr>
          <p:cNvPr id="109" name="Ellipse 108"/>
          <p:cNvSpPr/>
          <p:nvPr/>
        </p:nvSpPr>
        <p:spPr>
          <a:xfrm>
            <a:off x="9077847" y="56379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1" name="Rectangle 110"/>
          <p:cNvSpPr/>
          <p:nvPr/>
        </p:nvSpPr>
        <p:spPr>
          <a:xfrm>
            <a:off x="9282696" y="559670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Absent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356008" y="5578981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16" name="Connecteur droit 115"/>
          <p:cNvCxnSpPr/>
          <p:nvPr/>
        </p:nvCxnSpPr>
        <p:spPr>
          <a:xfrm flipH="1" flipV="1">
            <a:off x="1496097" y="6126764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 4"/>
          <p:cNvSpPr/>
          <p:nvPr/>
        </p:nvSpPr>
        <p:spPr>
          <a:xfrm>
            <a:off x="1479382" y="6143869"/>
            <a:ext cx="18573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Ampliation thoracique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42984" y="6154901"/>
            <a:ext cx="93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Diminuée  </a:t>
            </a:r>
            <a:endParaRPr lang="fr-FR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9282696" y="6154599"/>
            <a:ext cx="7280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</a:t>
            </a:r>
          </a:p>
        </p:txBody>
      </p:sp>
      <p:sp>
        <p:nvSpPr>
          <p:cNvPr id="142" name="Ellipse 141"/>
          <p:cNvSpPr/>
          <p:nvPr/>
        </p:nvSpPr>
        <p:spPr>
          <a:xfrm>
            <a:off x="4338421" y="621749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3" name="Rectangle 142"/>
          <p:cNvSpPr/>
          <p:nvPr/>
        </p:nvSpPr>
        <p:spPr>
          <a:xfrm>
            <a:off x="5379618" y="6169266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>
            <a:off x="9075699" y="62024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5" name="Rectangle 144"/>
          <p:cNvSpPr/>
          <p:nvPr/>
        </p:nvSpPr>
        <p:spPr>
          <a:xfrm>
            <a:off x="10742804" y="616791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10543898" y="62153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2127367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654" y="937783"/>
            <a:ext cx="892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0538" y="1754420"/>
            <a:ext cx="7017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2896" y="950219"/>
            <a:ext cx="10800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240961" y="961881"/>
            <a:ext cx="90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Palpation</a:t>
            </a:r>
          </a:p>
        </p:txBody>
      </p:sp>
      <p:sp>
        <p:nvSpPr>
          <p:cNvPr id="30" name="Ellipse 29"/>
          <p:cNvSpPr/>
          <p:nvPr/>
        </p:nvSpPr>
        <p:spPr>
          <a:xfrm>
            <a:off x="2217696" y="11861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1" name="Rectangle 30"/>
          <p:cNvSpPr/>
          <p:nvPr/>
        </p:nvSpPr>
        <p:spPr>
          <a:xfrm>
            <a:off x="11056195" y="1123673"/>
            <a:ext cx="936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Néant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10870168" y="1196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3" name="Rectangle 32"/>
          <p:cNvSpPr/>
          <p:nvPr/>
        </p:nvSpPr>
        <p:spPr>
          <a:xfrm>
            <a:off x="2422545" y="1132019"/>
            <a:ext cx="13056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Choc de pointe</a:t>
            </a:r>
            <a:endParaRPr lang="fr-FR" sz="1400" dirty="0"/>
          </a:p>
        </p:txBody>
      </p:sp>
      <p:sp>
        <p:nvSpPr>
          <p:cNvPr id="34" name="Ellipse 33"/>
          <p:cNvSpPr/>
          <p:nvPr/>
        </p:nvSpPr>
        <p:spPr>
          <a:xfrm>
            <a:off x="4984504" y="110671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5" name="Rectangle 34"/>
          <p:cNvSpPr/>
          <p:nvPr/>
        </p:nvSpPr>
        <p:spPr>
          <a:xfrm>
            <a:off x="5189352" y="1065477"/>
            <a:ext cx="1517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Vibrations vocales</a:t>
            </a:r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6779220" y="1043402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0" name="Ellipse 39"/>
          <p:cNvSpPr/>
          <p:nvPr/>
        </p:nvSpPr>
        <p:spPr>
          <a:xfrm>
            <a:off x="3001167" y="408173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41" name="Rectangle 40"/>
          <p:cNvSpPr/>
          <p:nvPr/>
        </p:nvSpPr>
        <p:spPr>
          <a:xfrm>
            <a:off x="10951065" y="335362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06016" y="401473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Tubaire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36556" y="3930698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8" name="Rectangle 47"/>
          <p:cNvSpPr/>
          <p:nvPr/>
        </p:nvSpPr>
        <p:spPr>
          <a:xfrm>
            <a:off x="1251396" y="1638699"/>
            <a:ext cx="1083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Percussion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48973" y="4023378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Pleurétique</a:t>
            </a:r>
            <a:endParaRPr lang="fr-FR" sz="1400" b="1" dirty="0"/>
          </a:p>
        </p:txBody>
      </p:sp>
      <p:sp>
        <p:nvSpPr>
          <p:cNvPr id="51" name="Ellipse 50"/>
          <p:cNvSpPr/>
          <p:nvPr/>
        </p:nvSpPr>
        <p:spPr>
          <a:xfrm>
            <a:off x="6944410" y="408596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2" name="Rectangle 51"/>
          <p:cNvSpPr/>
          <p:nvPr/>
        </p:nvSpPr>
        <p:spPr>
          <a:xfrm>
            <a:off x="8233855" y="3930370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54" name="Rectangle 53"/>
          <p:cNvSpPr/>
          <p:nvPr/>
        </p:nvSpPr>
        <p:spPr>
          <a:xfrm>
            <a:off x="10951675" y="403027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0830043" y="407770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6" name="Rectangle 55"/>
          <p:cNvSpPr/>
          <p:nvPr/>
        </p:nvSpPr>
        <p:spPr>
          <a:xfrm>
            <a:off x="226328" y="1680709"/>
            <a:ext cx="982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Percussion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0748" y="1656409"/>
            <a:ext cx="10800000" cy="97516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Ellipse 57"/>
          <p:cNvSpPr/>
          <p:nvPr/>
        </p:nvSpPr>
        <p:spPr>
          <a:xfrm>
            <a:off x="2215548" y="214991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9" name="Rectangle 58"/>
          <p:cNvSpPr/>
          <p:nvPr/>
        </p:nvSpPr>
        <p:spPr>
          <a:xfrm>
            <a:off x="11054047" y="2113205"/>
            <a:ext cx="936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Néant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10868020" y="21735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1" name="Rectangle 60"/>
          <p:cNvSpPr/>
          <p:nvPr/>
        </p:nvSpPr>
        <p:spPr>
          <a:xfrm>
            <a:off x="2420396" y="2095793"/>
            <a:ext cx="2414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Sonorité pulmonaire normale</a:t>
            </a:r>
            <a:endParaRPr lang="fr-FR" sz="1400" dirty="0"/>
          </a:p>
        </p:txBody>
      </p:sp>
      <p:sp>
        <p:nvSpPr>
          <p:cNvPr id="62" name="Ellipse 61"/>
          <p:cNvSpPr/>
          <p:nvPr/>
        </p:nvSpPr>
        <p:spPr>
          <a:xfrm>
            <a:off x="7892990" y="180003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4" name="Rectangle 63"/>
          <p:cNvSpPr/>
          <p:nvPr/>
        </p:nvSpPr>
        <p:spPr>
          <a:xfrm>
            <a:off x="7823913" y="2047329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29129" y="1752272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65" name="Ellipse 64"/>
          <p:cNvSpPr/>
          <p:nvPr/>
        </p:nvSpPr>
        <p:spPr>
          <a:xfrm>
            <a:off x="4941582" y="179788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6" name="Rectangle 65"/>
          <p:cNvSpPr/>
          <p:nvPr/>
        </p:nvSpPr>
        <p:spPr>
          <a:xfrm>
            <a:off x="4827904" y="2043444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77616" y="2679396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1246827" y="268560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Pulmonaire 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1246976" y="3354402"/>
            <a:ext cx="17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Murmure Vésiculaire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31479" y="2697454"/>
            <a:ext cx="10800000" cy="399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8503396" y="295001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Aboli</a:t>
            </a:r>
          </a:p>
        </p:txBody>
      </p:sp>
      <p:sp>
        <p:nvSpPr>
          <p:cNvPr id="69" name="Ellipse 68"/>
          <p:cNvSpPr/>
          <p:nvPr/>
        </p:nvSpPr>
        <p:spPr>
          <a:xfrm>
            <a:off x="3102048" y="29848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1" name="Ellipse 70"/>
          <p:cNvSpPr/>
          <p:nvPr/>
        </p:nvSpPr>
        <p:spPr>
          <a:xfrm>
            <a:off x="10827236" y="340774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2" name="Rectangle 71"/>
          <p:cNvSpPr/>
          <p:nvPr/>
        </p:nvSpPr>
        <p:spPr>
          <a:xfrm>
            <a:off x="3306896" y="2930773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73" name="Ellipse 72"/>
          <p:cNvSpPr/>
          <p:nvPr/>
        </p:nvSpPr>
        <p:spPr>
          <a:xfrm>
            <a:off x="8315848" y="299562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4" name="Rectangle 73"/>
          <p:cNvSpPr/>
          <p:nvPr/>
        </p:nvSpPr>
        <p:spPr>
          <a:xfrm>
            <a:off x="8246771" y="3255800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5" name="Rectangle 74"/>
          <p:cNvSpPr/>
          <p:nvPr/>
        </p:nvSpPr>
        <p:spPr>
          <a:xfrm>
            <a:off x="5925477" y="294786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Diminué</a:t>
            </a:r>
          </a:p>
        </p:txBody>
      </p:sp>
      <p:sp>
        <p:nvSpPr>
          <p:cNvPr id="76" name="Ellipse 75"/>
          <p:cNvSpPr/>
          <p:nvPr/>
        </p:nvSpPr>
        <p:spPr>
          <a:xfrm>
            <a:off x="5737930" y="29934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7" name="Rectangle 76"/>
          <p:cNvSpPr/>
          <p:nvPr/>
        </p:nvSpPr>
        <p:spPr>
          <a:xfrm>
            <a:off x="5598494" y="326479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2956177" y="3262646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" name="Rectangle 3"/>
          <p:cNvSpPr/>
          <p:nvPr/>
        </p:nvSpPr>
        <p:spPr>
          <a:xfrm>
            <a:off x="1245615" y="4012954"/>
            <a:ext cx="7489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Souffle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50105" y="4563248"/>
            <a:ext cx="6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Râles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46194" y="4733473"/>
            <a:ext cx="1256291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Pulmonaires</a:t>
            </a:r>
            <a:endParaRPr lang="fr-FR" sz="1400" dirty="0"/>
          </a:p>
        </p:txBody>
      </p:sp>
      <p:sp>
        <p:nvSpPr>
          <p:cNvPr id="94" name="Rectangle 93"/>
          <p:cNvSpPr/>
          <p:nvPr/>
        </p:nvSpPr>
        <p:spPr>
          <a:xfrm>
            <a:off x="3171372" y="4711256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Crépitants</a:t>
            </a:r>
            <a:endParaRPr lang="fr-FR" sz="1400" dirty="0"/>
          </a:p>
        </p:txBody>
      </p:sp>
      <p:sp>
        <p:nvSpPr>
          <p:cNvPr id="96" name="Rectangle 95"/>
          <p:cNvSpPr/>
          <p:nvPr/>
        </p:nvSpPr>
        <p:spPr>
          <a:xfrm>
            <a:off x="4207561" y="4604188"/>
            <a:ext cx="4101963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20748" y="3846068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Connecteur droit 96"/>
          <p:cNvCxnSpPr/>
          <p:nvPr/>
        </p:nvCxnSpPr>
        <p:spPr>
          <a:xfrm>
            <a:off x="1218600" y="455225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1229331" y="519405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Rectangle 98"/>
          <p:cNvSpPr/>
          <p:nvPr/>
        </p:nvSpPr>
        <p:spPr>
          <a:xfrm>
            <a:off x="1247957" y="5230803"/>
            <a:ext cx="6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Râles 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44046" y="5529818"/>
            <a:ext cx="1260000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Bronchiques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10947379" y="542977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812868" y="55029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8" name="Ellipse 107"/>
          <p:cNvSpPr/>
          <p:nvPr/>
        </p:nvSpPr>
        <p:spPr>
          <a:xfrm>
            <a:off x="3140688" y="527731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9" name="Rectangle 108"/>
          <p:cNvSpPr/>
          <p:nvPr/>
        </p:nvSpPr>
        <p:spPr>
          <a:xfrm>
            <a:off x="3345537" y="522319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Ronchus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94567" y="5525385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1" name="Rectangle 110"/>
          <p:cNvSpPr/>
          <p:nvPr/>
        </p:nvSpPr>
        <p:spPr>
          <a:xfrm>
            <a:off x="6245297" y="5206081"/>
            <a:ext cx="12015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Sibilants</a:t>
            </a:r>
            <a:endParaRPr lang="fr-FR" sz="1400" b="1" dirty="0"/>
          </a:p>
        </p:txBody>
      </p:sp>
      <p:sp>
        <p:nvSpPr>
          <p:cNvPr id="112" name="Ellipse 111"/>
          <p:cNvSpPr/>
          <p:nvPr/>
        </p:nvSpPr>
        <p:spPr>
          <a:xfrm>
            <a:off x="6040734" y="528155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3" name="Rectangle 112"/>
          <p:cNvSpPr/>
          <p:nvPr/>
        </p:nvSpPr>
        <p:spPr>
          <a:xfrm>
            <a:off x="5944072" y="5512506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2987887" y="478086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27183" y="6080550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Rectangle 115"/>
          <p:cNvSpPr/>
          <p:nvPr/>
        </p:nvSpPr>
        <p:spPr>
          <a:xfrm>
            <a:off x="1245809" y="6258966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Frottement pleural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45231" y="622611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823599" y="62864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09755" y="63183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14604" y="626423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048492" y="6141421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739222" y="6258306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8534659" y="63337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18600" y="295527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Rectangle 127"/>
          <p:cNvSpPr/>
          <p:nvPr/>
        </p:nvSpPr>
        <p:spPr>
          <a:xfrm>
            <a:off x="225530" y="6364010"/>
            <a:ext cx="100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60920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61486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6037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60299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6037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73839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7592" y="639127"/>
            <a:ext cx="11952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737" y="1146812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1233948" y="1165897"/>
            <a:ext cx="100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Cardiaque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1234097" y="169302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Rythme</a:t>
            </a:r>
            <a:endParaRPr lang="fr-FR" sz="1400" b="1" dirty="0"/>
          </a:p>
        </p:txBody>
      </p:sp>
      <p:sp>
        <p:nvSpPr>
          <p:cNvPr id="63" name="Rectangle 62"/>
          <p:cNvSpPr/>
          <p:nvPr/>
        </p:nvSpPr>
        <p:spPr>
          <a:xfrm>
            <a:off x="1218600" y="1164870"/>
            <a:ext cx="10800000" cy="42185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245381" y="2261023"/>
            <a:ext cx="25931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Auscultation des quatre foyers</a:t>
            </a:r>
          </a:p>
        </p:txBody>
      </p:sp>
      <p:cxnSp>
        <p:nvCxnSpPr>
          <p:cNvPr id="6" name="Connecteur droit 5"/>
          <p:cNvCxnSpPr/>
          <p:nvPr/>
        </p:nvCxnSpPr>
        <p:spPr>
          <a:xfrm>
            <a:off x="1207869" y="2236210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Rectangle 99"/>
          <p:cNvSpPr/>
          <p:nvPr/>
        </p:nvSpPr>
        <p:spPr>
          <a:xfrm>
            <a:off x="1731167" y="2747977"/>
            <a:ext cx="828000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Souffle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10934500" y="278960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799989" y="28627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14304" y="443205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Rectangle 115"/>
          <p:cNvSpPr/>
          <p:nvPr/>
        </p:nvSpPr>
        <p:spPr>
          <a:xfrm>
            <a:off x="1232929" y="4443046"/>
            <a:ext cx="20748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Frottement péricardique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34500" y="4837069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812868" y="489738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87028" y="488880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91877" y="4834687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64401" y="4711870"/>
            <a:ext cx="312953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095274" y="482875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7890711" y="49042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05721" y="147420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Rectangle 88"/>
          <p:cNvSpPr/>
          <p:nvPr/>
        </p:nvSpPr>
        <p:spPr>
          <a:xfrm>
            <a:off x="10930204" y="169060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10808572" y="17509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2" name="Ellipse 91"/>
          <p:cNvSpPr/>
          <p:nvPr/>
        </p:nvSpPr>
        <p:spPr>
          <a:xfrm>
            <a:off x="2994728" y="17570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3" name="Rectangle 92"/>
          <p:cNvSpPr/>
          <p:nvPr/>
        </p:nvSpPr>
        <p:spPr>
          <a:xfrm>
            <a:off x="3199577" y="170296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Régulier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57890" y="1606167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349924" y="1709916"/>
            <a:ext cx="118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Non régulier</a:t>
            </a:r>
          </a:p>
        </p:txBody>
      </p:sp>
      <p:sp>
        <p:nvSpPr>
          <p:cNvPr id="102" name="Ellipse 101"/>
          <p:cNvSpPr/>
          <p:nvPr/>
        </p:nvSpPr>
        <p:spPr>
          <a:xfrm>
            <a:off x="5171119" y="177250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3" name="Ellipse 102"/>
          <p:cNvSpPr/>
          <p:nvPr/>
        </p:nvSpPr>
        <p:spPr>
          <a:xfrm>
            <a:off x="3072001" y="28131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4" name="Rectangle 103"/>
          <p:cNvSpPr/>
          <p:nvPr/>
        </p:nvSpPr>
        <p:spPr>
          <a:xfrm>
            <a:off x="3276850" y="2746154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3814520" y="2649091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5" name="Rectangle 114"/>
          <p:cNvSpPr/>
          <p:nvPr/>
        </p:nvSpPr>
        <p:spPr>
          <a:xfrm>
            <a:off x="8080252" y="2727345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17" name="Ellipse 116"/>
          <p:cNvSpPr/>
          <p:nvPr/>
        </p:nvSpPr>
        <p:spPr>
          <a:xfrm>
            <a:off x="7888568" y="277705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10925307" y="371424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8078398" y="3310626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Aboli</a:t>
            </a:r>
          </a:p>
        </p:txBody>
      </p:sp>
      <p:sp>
        <p:nvSpPr>
          <p:cNvPr id="129" name="Ellipse 128"/>
          <p:cNvSpPr/>
          <p:nvPr/>
        </p:nvSpPr>
        <p:spPr>
          <a:xfrm>
            <a:off x="1814165" y="335838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10801478" y="376836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Rectangle 130"/>
          <p:cNvSpPr/>
          <p:nvPr/>
        </p:nvSpPr>
        <p:spPr>
          <a:xfrm>
            <a:off x="2019013" y="330426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32" name="Ellipse 131"/>
          <p:cNvSpPr/>
          <p:nvPr/>
        </p:nvSpPr>
        <p:spPr>
          <a:xfrm>
            <a:off x="7890850" y="33562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3" name="Rectangle 132"/>
          <p:cNvSpPr/>
          <p:nvPr/>
        </p:nvSpPr>
        <p:spPr>
          <a:xfrm>
            <a:off x="7821773" y="3616414"/>
            <a:ext cx="2520000" cy="61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5075479" y="330847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Diminué</a:t>
            </a:r>
          </a:p>
        </p:txBody>
      </p:sp>
      <p:sp>
        <p:nvSpPr>
          <p:cNvPr id="135" name="Ellipse 134"/>
          <p:cNvSpPr/>
          <p:nvPr/>
        </p:nvSpPr>
        <p:spPr>
          <a:xfrm>
            <a:off x="4887932" y="335409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Rectangle 135"/>
          <p:cNvSpPr/>
          <p:nvPr/>
        </p:nvSpPr>
        <p:spPr>
          <a:xfrm>
            <a:off x="4748496" y="3625408"/>
            <a:ext cx="2520000" cy="61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7" name="Rectangle 136"/>
          <p:cNvSpPr/>
          <p:nvPr/>
        </p:nvSpPr>
        <p:spPr>
          <a:xfrm>
            <a:off x="1668294" y="3636139"/>
            <a:ext cx="2520000" cy="61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8" name="Rectangle 137"/>
          <p:cNvSpPr/>
          <p:nvPr/>
        </p:nvSpPr>
        <p:spPr>
          <a:xfrm>
            <a:off x="10908120" y="54695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-386601" y="77268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39494" y="69334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7924" y="69997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15196" y="689710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44208" y="695579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6652" y="69997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5402" y="690276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67225" y="69617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8053249" y="68916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9329974" y="689089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10821508" y="68916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27220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67961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81032" y="4743248"/>
            <a:ext cx="1323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Vomissements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725629" y="349768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539602" y="35451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6" name="Rectangle 165"/>
          <p:cNvSpPr/>
          <p:nvPr/>
        </p:nvSpPr>
        <p:spPr>
          <a:xfrm>
            <a:off x="1461756" y="3103150"/>
            <a:ext cx="10446166" cy="311734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10896305" y="6349263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7497" y="3113510"/>
            <a:ext cx="1982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Troubles du transit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5662" y="402705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Nausées</a:t>
            </a:r>
          </a:p>
        </p:txBody>
      </p:sp>
      <p:cxnSp>
        <p:nvCxnSpPr>
          <p:cNvPr id="129" name="Connecteur droit 128"/>
          <p:cNvCxnSpPr/>
          <p:nvPr/>
        </p:nvCxnSpPr>
        <p:spPr>
          <a:xfrm flipH="1" flipV="1">
            <a:off x="1449366" y="5459326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Connecteur droit 129"/>
          <p:cNvCxnSpPr/>
          <p:nvPr/>
        </p:nvCxnSpPr>
        <p:spPr>
          <a:xfrm flipH="1" flipV="1">
            <a:off x="1485366" y="4016769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/>
          <p:cNvSpPr/>
          <p:nvPr/>
        </p:nvSpPr>
        <p:spPr>
          <a:xfrm>
            <a:off x="1498511" y="5471502"/>
            <a:ext cx="8871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Douleurs</a:t>
            </a:r>
          </a:p>
        </p:txBody>
      </p:sp>
      <p:cxnSp>
        <p:nvCxnSpPr>
          <p:cNvPr id="116" name="Connecteur droit 115"/>
          <p:cNvCxnSpPr/>
          <p:nvPr/>
        </p:nvCxnSpPr>
        <p:spPr>
          <a:xfrm flipH="1" flipV="1">
            <a:off x="1496097" y="4722967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1" name="Ellipse 130"/>
          <p:cNvSpPr/>
          <p:nvPr/>
        </p:nvSpPr>
        <p:spPr>
          <a:xfrm>
            <a:off x="3542079" y="497037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10719194" y="4933670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10520288" y="498110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4" name="Rectangle 133"/>
          <p:cNvSpPr/>
          <p:nvPr/>
        </p:nvSpPr>
        <p:spPr>
          <a:xfrm>
            <a:off x="3734049" y="4916258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>
            <a:off x="7905865" y="501974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Rectangle 135"/>
          <p:cNvSpPr/>
          <p:nvPr/>
        </p:nvSpPr>
        <p:spPr>
          <a:xfrm>
            <a:off x="8110714" y="497850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50" name="Rectangle 149"/>
          <p:cNvSpPr/>
          <p:nvPr/>
        </p:nvSpPr>
        <p:spPr>
          <a:xfrm>
            <a:off x="4235536" y="4844877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51" name="Rectangle 150"/>
          <p:cNvSpPr/>
          <p:nvPr/>
        </p:nvSpPr>
        <p:spPr>
          <a:xfrm>
            <a:off x="8080538" y="3119579"/>
            <a:ext cx="7017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</a:t>
            </a:r>
          </a:p>
        </p:txBody>
      </p:sp>
      <p:sp>
        <p:nvSpPr>
          <p:cNvPr id="152" name="Ellipse 151"/>
          <p:cNvSpPr/>
          <p:nvPr/>
        </p:nvSpPr>
        <p:spPr>
          <a:xfrm>
            <a:off x="3529192" y="35150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3" name="Rectangle 152"/>
          <p:cNvSpPr/>
          <p:nvPr/>
        </p:nvSpPr>
        <p:spPr>
          <a:xfrm>
            <a:off x="3734040" y="346095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</a:p>
        </p:txBody>
      </p:sp>
      <p:sp>
        <p:nvSpPr>
          <p:cNvPr id="155" name="Ellipse 154"/>
          <p:cNvSpPr/>
          <p:nvPr/>
        </p:nvSpPr>
        <p:spPr>
          <a:xfrm>
            <a:off x="7892990" y="316519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7708002" y="3412488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2" name="Rectangle 161"/>
          <p:cNvSpPr/>
          <p:nvPr/>
        </p:nvSpPr>
        <p:spPr>
          <a:xfrm>
            <a:off x="5129129" y="3117431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165" name="Ellipse 164"/>
          <p:cNvSpPr/>
          <p:nvPr/>
        </p:nvSpPr>
        <p:spPr>
          <a:xfrm>
            <a:off x="4941582" y="31630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7" name="Rectangle 166"/>
          <p:cNvSpPr/>
          <p:nvPr/>
        </p:nvSpPr>
        <p:spPr>
          <a:xfrm>
            <a:off x="4750630" y="3408603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8" name="Ellipse 167"/>
          <p:cNvSpPr/>
          <p:nvPr/>
        </p:nvSpPr>
        <p:spPr>
          <a:xfrm>
            <a:off x="3527059" y="424701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729932" y="421031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531026" y="425775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3719029" y="4192899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73" name="Ellipse 172"/>
          <p:cNvSpPr/>
          <p:nvPr/>
        </p:nvSpPr>
        <p:spPr>
          <a:xfrm>
            <a:off x="7890845" y="42963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5" name="Rectangle 174"/>
          <p:cNvSpPr/>
          <p:nvPr/>
        </p:nvSpPr>
        <p:spPr>
          <a:xfrm>
            <a:off x="8095694" y="425514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76" name="Rectangle 175"/>
          <p:cNvSpPr/>
          <p:nvPr/>
        </p:nvSpPr>
        <p:spPr>
          <a:xfrm>
            <a:off x="4220516" y="4121518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Ellipse 178"/>
          <p:cNvSpPr/>
          <p:nvPr/>
        </p:nvSpPr>
        <p:spPr>
          <a:xfrm>
            <a:off x="3524911" y="57130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0" name="Rectangle 179"/>
          <p:cNvSpPr/>
          <p:nvPr/>
        </p:nvSpPr>
        <p:spPr>
          <a:xfrm>
            <a:off x="10727784" y="567636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1" name="Ellipse 180"/>
          <p:cNvSpPr/>
          <p:nvPr/>
        </p:nvSpPr>
        <p:spPr>
          <a:xfrm>
            <a:off x="10528878" y="57238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3716881" y="5658949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84" name="Ellipse 183"/>
          <p:cNvSpPr/>
          <p:nvPr/>
        </p:nvSpPr>
        <p:spPr>
          <a:xfrm>
            <a:off x="7888697" y="57624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8093546" y="572119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86" name="Rectangle 185"/>
          <p:cNvSpPr/>
          <p:nvPr/>
        </p:nvSpPr>
        <p:spPr>
          <a:xfrm>
            <a:off x="4218368" y="5587568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878028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5654" y="937783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u="sng" dirty="0" smtClean="0"/>
              <a:t>Inspection</a:t>
            </a:r>
            <a:endParaRPr lang="fr-FR" sz="1400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8080538" y="981689"/>
            <a:ext cx="11428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Eventration</a:t>
            </a:r>
            <a:endParaRPr lang="fr-FR" sz="1400" dirty="0"/>
          </a:p>
        </p:txBody>
      </p:sp>
      <p:sp>
        <p:nvSpPr>
          <p:cNvPr id="28" name="Rectangle 27"/>
          <p:cNvSpPr/>
          <p:nvPr/>
        </p:nvSpPr>
        <p:spPr>
          <a:xfrm>
            <a:off x="1222896" y="870706"/>
            <a:ext cx="10800000" cy="26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240961" y="961881"/>
            <a:ext cx="90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Forme</a:t>
            </a:r>
            <a:endParaRPr lang="fr-FR" sz="1400" b="1" dirty="0"/>
          </a:p>
        </p:txBody>
      </p:sp>
      <p:sp>
        <p:nvSpPr>
          <p:cNvPr id="40" name="Ellipse 39"/>
          <p:cNvSpPr/>
          <p:nvPr/>
        </p:nvSpPr>
        <p:spPr>
          <a:xfrm>
            <a:off x="8337697" y="38908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41" name="Rectangle 40"/>
          <p:cNvSpPr/>
          <p:nvPr/>
        </p:nvSpPr>
        <p:spPr>
          <a:xfrm>
            <a:off x="10936235" y="127875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2546" y="382380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Tubaire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6748" y="3796215"/>
            <a:ext cx="1224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9" name="Rectangle 48"/>
          <p:cNvSpPr/>
          <p:nvPr/>
        </p:nvSpPr>
        <p:spPr>
          <a:xfrm>
            <a:off x="9556771" y="3832445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Pleurétique</a:t>
            </a:r>
            <a:endParaRPr lang="fr-FR" sz="1400" b="1" dirty="0"/>
          </a:p>
        </p:txBody>
      </p:sp>
      <p:sp>
        <p:nvSpPr>
          <p:cNvPr id="51" name="Ellipse 50"/>
          <p:cNvSpPr/>
          <p:nvPr/>
        </p:nvSpPr>
        <p:spPr>
          <a:xfrm>
            <a:off x="9418468" y="38950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4" name="Rectangle 53"/>
          <p:cNvSpPr/>
          <p:nvPr/>
        </p:nvSpPr>
        <p:spPr>
          <a:xfrm>
            <a:off x="10828307" y="383934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0680171" y="39000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8" name="Ellipse 57"/>
          <p:cNvSpPr/>
          <p:nvPr/>
        </p:nvSpPr>
        <p:spPr>
          <a:xfrm>
            <a:off x="3014036" y="135067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0" name="Ellipse 59"/>
          <p:cNvSpPr/>
          <p:nvPr/>
        </p:nvSpPr>
        <p:spPr>
          <a:xfrm>
            <a:off x="10726351" y="133564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1" name="Rectangle 60"/>
          <p:cNvSpPr/>
          <p:nvPr/>
        </p:nvSpPr>
        <p:spPr>
          <a:xfrm>
            <a:off x="3218884" y="129655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Plat</a:t>
            </a:r>
            <a:endParaRPr lang="fr-FR" sz="1400" dirty="0"/>
          </a:p>
        </p:txBody>
      </p:sp>
      <p:sp>
        <p:nvSpPr>
          <p:cNvPr id="62" name="Ellipse 61"/>
          <p:cNvSpPr/>
          <p:nvPr/>
        </p:nvSpPr>
        <p:spPr>
          <a:xfrm>
            <a:off x="7892990" y="102730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4" name="Rectangle 63"/>
          <p:cNvSpPr/>
          <p:nvPr/>
        </p:nvSpPr>
        <p:spPr>
          <a:xfrm>
            <a:off x="7823913" y="1248094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29129" y="979541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Ballonnement</a:t>
            </a:r>
            <a:endParaRPr lang="fr-FR" sz="1400" dirty="0"/>
          </a:p>
        </p:txBody>
      </p:sp>
      <p:sp>
        <p:nvSpPr>
          <p:cNvPr id="65" name="Ellipse 64"/>
          <p:cNvSpPr/>
          <p:nvPr/>
        </p:nvSpPr>
        <p:spPr>
          <a:xfrm>
            <a:off x="4941582" y="10251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6" name="Rectangle 65"/>
          <p:cNvSpPr/>
          <p:nvPr/>
        </p:nvSpPr>
        <p:spPr>
          <a:xfrm>
            <a:off x="4827904" y="1244209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" name="Rectangle 1"/>
          <p:cNvSpPr/>
          <p:nvPr/>
        </p:nvSpPr>
        <p:spPr>
          <a:xfrm>
            <a:off x="1246827" y="1847721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Cicatrices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097" y="363550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u="sng" dirty="0" smtClean="0"/>
              <a:t>Foie</a:t>
            </a:r>
            <a:endParaRPr lang="fr-FR" sz="1400" b="1" u="sng" dirty="0"/>
          </a:p>
        </p:txBody>
      </p:sp>
      <p:sp>
        <p:nvSpPr>
          <p:cNvPr id="72" name="Rectangle 71"/>
          <p:cNvSpPr/>
          <p:nvPr/>
        </p:nvSpPr>
        <p:spPr>
          <a:xfrm>
            <a:off x="1709914" y="3841074"/>
            <a:ext cx="3773208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Taille en cm sur la ligne médio-claviculaire droite	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2582" y="2492979"/>
            <a:ext cx="8267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Ombilic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36493" y="3802195"/>
            <a:ext cx="1599343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Débord </a:t>
            </a:r>
            <a:r>
              <a:rPr lang="fr-FR" sz="1400" b="1" dirty="0" smtClean="0"/>
              <a:t>xiphoïdien</a:t>
            </a:r>
            <a:endParaRPr lang="fr-FR" sz="1400" b="1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20748" y="3008203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Rectangle 112"/>
          <p:cNvSpPr/>
          <p:nvPr/>
        </p:nvSpPr>
        <p:spPr>
          <a:xfrm>
            <a:off x="3744211" y="4870997"/>
            <a:ext cx="48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27183" y="184264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Rectangle 117"/>
          <p:cNvSpPr/>
          <p:nvPr/>
        </p:nvSpPr>
        <p:spPr>
          <a:xfrm>
            <a:off x="10893715" y="198821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772083" y="20485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09755" y="20804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14604" y="202633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22" name="Rectangle 121"/>
          <p:cNvSpPr/>
          <p:nvPr/>
        </p:nvSpPr>
        <p:spPr>
          <a:xfrm>
            <a:off x="4048492" y="1903516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146793" y="2020401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7942230" y="209587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18600" y="249088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Rectangle 127"/>
          <p:cNvSpPr/>
          <p:nvPr/>
        </p:nvSpPr>
        <p:spPr>
          <a:xfrm>
            <a:off x="225530" y="6364010"/>
            <a:ext cx="100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74172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74738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73551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5475" y="3153442"/>
            <a:ext cx="34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Périmètre abdominal au niveau de l'ombilic	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25755" y="310950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7" name="Ellipse 116"/>
          <p:cNvSpPr/>
          <p:nvPr/>
        </p:nvSpPr>
        <p:spPr>
          <a:xfrm>
            <a:off x="9326427" y="264152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10918814" y="259541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10784303" y="266860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9" name="Ellipse 128"/>
          <p:cNvSpPr/>
          <p:nvPr/>
        </p:nvSpPr>
        <p:spPr>
          <a:xfrm>
            <a:off x="4580313" y="266728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6767455" y="265440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Rectangle 130"/>
          <p:cNvSpPr/>
          <p:nvPr/>
        </p:nvSpPr>
        <p:spPr>
          <a:xfrm>
            <a:off x="4778260" y="2603056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6954314" y="2603056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Déplissé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517217" y="2590226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 smtClean="0"/>
              <a:t>Hernie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321476" y="3641509"/>
            <a:ext cx="892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20748" y="3611761"/>
            <a:ext cx="10800000" cy="3078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Rectangle 134"/>
          <p:cNvSpPr/>
          <p:nvPr/>
        </p:nvSpPr>
        <p:spPr>
          <a:xfrm>
            <a:off x="6713785" y="3790668"/>
            <a:ext cx="522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1735823" y="4303823"/>
            <a:ext cx="1334468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Face antérieure</a:t>
            </a:r>
          </a:p>
        </p:txBody>
      </p:sp>
      <p:sp>
        <p:nvSpPr>
          <p:cNvPr id="136" name="Ellipse 135"/>
          <p:cNvSpPr/>
          <p:nvPr/>
        </p:nvSpPr>
        <p:spPr>
          <a:xfrm>
            <a:off x="3175968" y="44407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7" name="Rectangle 136"/>
          <p:cNvSpPr/>
          <p:nvPr/>
        </p:nvSpPr>
        <p:spPr>
          <a:xfrm>
            <a:off x="3407320" y="4373765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Irrégulière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673334" y="438240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Lisse</a:t>
            </a:r>
            <a:endParaRPr lang="fr-FR" sz="1400" b="1" dirty="0"/>
          </a:p>
        </p:txBody>
      </p:sp>
      <p:sp>
        <p:nvSpPr>
          <p:cNvPr id="139" name="Ellipse 138"/>
          <p:cNvSpPr/>
          <p:nvPr/>
        </p:nvSpPr>
        <p:spPr>
          <a:xfrm>
            <a:off x="4442267" y="444499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0" name="Rectangle 139"/>
          <p:cNvSpPr/>
          <p:nvPr/>
        </p:nvSpPr>
        <p:spPr>
          <a:xfrm>
            <a:off x="5560562" y="4349550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5425678" y="44367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6750105" y="4331013"/>
            <a:ext cx="1221938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Bord inférieur</a:t>
            </a:r>
          </a:p>
        </p:txBody>
      </p:sp>
      <p:sp>
        <p:nvSpPr>
          <p:cNvPr id="143" name="Ellipse 142"/>
          <p:cNvSpPr/>
          <p:nvPr/>
        </p:nvSpPr>
        <p:spPr>
          <a:xfrm>
            <a:off x="8350944" y="443414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4" name="Rectangle 143"/>
          <p:cNvSpPr/>
          <p:nvPr/>
        </p:nvSpPr>
        <p:spPr>
          <a:xfrm>
            <a:off x="8502784" y="4353890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Tranchant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23024" y="4362533"/>
            <a:ext cx="8515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Mousse</a:t>
            </a:r>
            <a:endParaRPr lang="fr-FR" sz="1400" b="1" dirty="0"/>
          </a:p>
        </p:txBody>
      </p:sp>
      <p:sp>
        <p:nvSpPr>
          <p:cNvPr id="146" name="Ellipse 145"/>
          <p:cNvSpPr/>
          <p:nvPr/>
        </p:nvSpPr>
        <p:spPr>
          <a:xfrm>
            <a:off x="9497974" y="44251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10788546" y="436943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10666914" y="4416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9" name="Rectangle 148"/>
          <p:cNvSpPr/>
          <p:nvPr/>
        </p:nvSpPr>
        <p:spPr>
          <a:xfrm>
            <a:off x="6733657" y="4314128"/>
            <a:ext cx="522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Rectangle 149"/>
          <p:cNvSpPr/>
          <p:nvPr/>
        </p:nvSpPr>
        <p:spPr>
          <a:xfrm>
            <a:off x="1724333" y="4287624"/>
            <a:ext cx="4896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761377" y="5523723"/>
            <a:ext cx="953531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Sensibilité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744210" y="5513449"/>
            <a:ext cx="4896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2" name="Ellipse 151"/>
          <p:cNvSpPr/>
          <p:nvPr/>
        </p:nvSpPr>
        <p:spPr>
          <a:xfrm>
            <a:off x="3222349" y="56268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3" name="Rectangle 152"/>
          <p:cNvSpPr/>
          <p:nvPr/>
        </p:nvSpPr>
        <p:spPr>
          <a:xfrm>
            <a:off x="3427197" y="5559840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4693211" y="5541979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55" name="Ellipse 154"/>
          <p:cNvSpPr/>
          <p:nvPr/>
        </p:nvSpPr>
        <p:spPr>
          <a:xfrm>
            <a:off x="4488648" y="563107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6" name="Rectangle 155"/>
          <p:cNvSpPr/>
          <p:nvPr/>
        </p:nvSpPr>
        <p:spPr>
          <a:xfrm>
            <a:off x="5580439" y="554887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5445555" y="56228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" name="Rectangle 16"/>
          <p:cNvSpPr/>
          <p:nvPr/>
        </p:nvSpPr>
        <p:spPr>
          <a:xfrm>
            <a:off x="1756200" y="4808091"/>
            <a:ext cx="1924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Reflux hépato-jugulaire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44209" y="4797830"/>
            <a:ext cx="6912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Rectangle 158"/>
          <p:cNvSpPr/>
          <p:nvPr/>
        </p:nvSpPr>
        <p:spPr>
          <a:xfrm>
            <a:off x="3744211" y="6083574"/>
            <a:ext cx="4836782" cy="46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0" name="Rectangle 159"/>
          <p:cNvSpPr/>
          <p:nvPr/>
        </p:nvSpPr>
        <p:spPr>
          <a:xfrm>
            <a:off x="1762827" y="6020668"/>
            <a:ext cx="1924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Vésicule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750836" y="6010407"/>
            <a:ext cx="6912000" cy="6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1361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74172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74738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73551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144151" y="1020317"/>
            <a:ext cx="17933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 abdominale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39207" y="998122"/>
            <a:ext cx="982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Percussion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220748" y="3948838"/>
            <a:ext cx="943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Ellipse 200"/>
          <p:cNvSpPr/>
          <p:nvPr/>
        </p:nvSpPr>
        <p:spPr>
          <a:xfrm>
            <a:off x="10739230" y="14522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2" name="Rectangle 201"/>
          <p:cNvSpPr/>
          <p:nvPr/>
        </p:nvSpPr>
        <p:spPr>
          <a:xfrm>
            <a:off x="1235513" y="975240"/>
            <a:ext cx="18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Sonorité abdominale</a:t>
            </a:r>
          </a:p>
        </p:txBody>
      </p:sp>
      <p:sp>
        <p:nvSpPr>
          <p:cNvPr id="203" name="Ellipse 202"/>
          <p:cNvSpPr/>
          <p:nvPr/>
        </p:nvSpPr>
        <p:spPr>
          <a:xfrm>
            <a:off x="7892990" y="107880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4" name="Rectangle 203"/>
          <p:cNvSpPr/>
          <p:nvPr/>
        </p:nvSpPr>
        <p:spPr>
          <a:xfrm>
            <a:off x="7823913" y="1326105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5" name="Rectangle 204"/>
          <p:cNvSpPr/>
          <p:nvPr/>
        </p:nvSpPr>
        <p:spPr>
          <a:xfrm>
            <a:off x="8104149" y="1018165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206" name="Ellipse 205"/>
          <p:cNvSpPr/>
          <p:nvPr/>
        </p:nvSpPr>
        <p:spPr>
          <a:xfrm>
            <a:off x="4941582" y="107666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7" name="Rectangle 206"/>
          <p:cNvSpPr/>
          <p:nvPr/>
        </p:nvSpPr>
        <p:spPr>
          <a:xfrm>
            <a:off x="4827904" y="1322220"/>
            <a:ext cx="270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177616" y="3980154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09" name="Rectangle 208"/>
          <p:cNvSpPr/>
          <p:nvPr/>
        </p:nvSpPr>
        <p:spPr>
          <a:xfrm>
            <a:off x="1246827" y="1899983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</a:t>
            </a:r>
            <a:r>
              <a:rPr lang="fr-FR" sz="1400" b="1" dirty="0" smtClean="0"/>
              <a:t>hépatique</a:t>
            </a:r>
            <a:endParaRPr lang="fr-FR" sz="1400" b="1" dirty="0"/>
          </a:p>
        </p:txBody>
      </p:sp>
      <p:sp>
        <p:nvSpPr>
          <p:cNvPr id="210" name="Rectangle 209"/>
          <p:cNvSpPr/>
          <p:nvPr/>
        </p:nvSpPr>
        <p:spPr>
          <a:xfrm>
            <a:off x="1246976" y="2581662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</a:t>
            </a:r>
            <a:r>
              <a:rPr lang="fr-FR" sz="1400" b="1" dirty="0" smtClean="0"/>
              <a:t>splénique</a:t>
            </a:r>
            <a:endParaRPr lang="fr-FR" sz="1400" b="1" dirty="0"/>
          </a:p>
        </p:txBody>
      </p:sp>
      <p:sp>
        <p:nvSpPr>
          <p:cNvPr id="211" name="Rectangle 210"/>
          <p:cNvSpPr/>
          <p:nvPr/>
        </p:nvSpPr>
        <p:spPr>
          <a:xfrm>
            <a:off x="1231479" y="1010317"/>
            <a:ext cx="10800000" cy="28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0" name="Rectangle 219"/>
          <p:cNvSpPr/>
          <p:nvPr/>
        </p:nvSpPr>
        <p:spPr>
          <a:xfrm>
            <a:off x="3151507" y="2633723"/>
            <a:ext cx="439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21" name="Rectangle 220"/>
          <p:cNvSpPr/>
          <p:nvPr/>
        </p:nvSpPr>
        <p:spPr>
          <a:xfrm>
            <a:off x="3136483" y="2000511"/>
            <a:ext cx="439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22" name="Rectangle 221"/>
          <p:cNvSpPr/>
          <p:nvPr/>
        </p:nvSpPr>
        <p:spPr>
          <a:xfrm>
            <a:off x="1245615" y="3214456"/>
            <a:ext cx="1742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Région </a:t>
            </a:r>
            <a:r>
              <a:rPr lang="fr-FR" sz="1400" b="1" dirty="0" smtClean="0"/>
              <a:t>sus-pubienne</a:t>
            </a:r>
            <a:endParaRPr lang="fr-FR" sz="1400" b="1" dirty="0"/>
          </a:p>
        </p:txBody>
      </p:sp>
      <p:sp>
        <p:nvSpPr>
          <p:cNvPr id="223" name="Rectangle 222"/>
          <p:cNvSpPr/>
          <p:nvPr/>
        </p:nvSpPr>
        <p:spPr>
          <a:xfrm>
            <a:off x="2203147" y="3494291"/>
            <a:ext cx="19396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du globe vésical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148217" y="3290529"/>
            <a:ext cx="3384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228" name="Connecteur droit 227"/>
          <p:cNvCxnSpPr/>
          <p:nvPr/>
        </p:nvCxnSpPr>
        <p:spPr>
          <a:xfrm>
            <a:off x="1218600" y="2568904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necteur droit 228"/>
          <p:cNvCxnSpPr/>
          <p:nvPr/>
        </p:nvCxnSpPr>
        <p:spPr>
          <a:xfrm>
            <a:off x="1229331" y="321069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0" name="Rectangle 229"/>
          <p:cNvSpPr/>
          <p:nvPr/>
        </p:nvSpPr>
        <p:spPr>
          <a:xfrm>
            <a:off x="1235077" y="3968663"/>
            <a:ext cx="18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Bruits </a:t>
            </a:r>
            <a:r>
              <a:rPr lang="fr-FR" sz="1400" b="1" dirty="0" smtClean="0"/>
              <a:t>hydro-aériques</a:t>
            </a:r>
            <a:endParaRPr lang="fr-FR" sz="1400" b="1" dirty="0"/>
          </a:p>
        </p:txBody>
      </p:sp>
      <p:sp>
        <p:nvSpPr>
          <p:cNvPr id="232" name="Rectangle 231"/>
          <p:cNvSpPr/>
          <p:nvPr/>
        </p:nvSpPr>
        <p:spPr>
          <a:xfrm>
            <a:off x="9569342" y="414187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3" name="Ellipse 232"/>
          <p:cNvSpPr/>
          <p:nvPr/>
        </p:nvSpPr>
        <p:spPr>
          <a:xfrm>
            <a:off x="9357557" y="4215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34" name="Ellipse 233"/>
          <p:cNvSpPr/>
          <p:nvPr/>
        </p:nvSpPr>
        <p:spPr>
          <a:xfrm>
            <a:off x="3359631" y="420836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35" name="Rectangle 234"/>
          <p:cNvSpPr/>
          <p:nvPr/>
        </p:nvSpPr>
        <p:spPr>
          <a:xfrm>
            <a:off x="3564480" y="4154240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237" name="Rectangle 236"/>
          <p:cNvSpPr/>
          <p:nvPr/>
        </p:nvSpPr>
        <p:spPr>
          <a:xfrm>
            <a:off x="8112729" y="4150002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238" name="Ellipse 237"/>
          <p:cNvSpPr/>
          <p:nvPr/>
        </p:nvSpPr>
        <p:spPr>
          <a:xfrm>
            <a:off x="7908166" y="42254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47" name="Rectangle 246"/>
          <p:cNvSpPr/>
          <p:nvPr/>
        </p:nvSpPr>
        <p:spPr>
          <a:xfrm>
            <a:off x="4122460" y="4054986"/>
            <a:ext cx="352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52" name="Ellipse 251"/>
          <p:cNvSpPr/>
          <p:nvPr/>
        </p:nvSpPr>
        <p:spPr>
          <a:xfrm>
            <a:off x="3097760" y="1460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53" name="Rectangle 252"/>
          <p:cNvSpPr/>
          <p:nvPr/>
        </p:nvSpPr>
        <p:spPr>
          <a:xfrm>
            <a:off x="3302609" y="140674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Normale</a:t>
            </a:r>
            <a:endParaRPr lang="fr-FR" sz="1400" dirty="0"/>
          </a:p>
        </p:txBody>
      </p:sp>
      <p:sp>
        <p:nvSpPr>
          <p:cNvPr id="254" name="Rectangle 253"/>
          <p:cNvSpPr/>
          <p:nvPr/>
        </p:nvSpPr>
        <p:spPr>
          <a:xfrm>
            <a:off x="10936038" y="139388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1400016" y="481121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6" name="Rectangle 255"/>
          <p:cNvSpPr/>
          <p:nvPr/>
        </p:nvSpPr>
        <p:spPr>
          <a:xfrm>
            <a:off x="1599781" y="4760343"/>
            <a:ext cx="25308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Souffle systolique </a:t>
            </a:r>
            <a:r>
              <a:rPr lang="fr-FR" sz="1400" dirty="0" smtClean="0"/>
              <a:t>épigastrique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1384987" y="558180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8" name="Rectangle 257"/>
          <p:cNvSpPr/>
          <p:nvPr/>
        </p:nvSpPr>
        <p:spPr>
          <a:xfrm>
            <a:off x="1584752" y="5530934"/>
            <a:ext cx="1828150" cy="3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Hépatique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372108" y="638029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0" name="Rectangle 259"/>
          <p:cNvSpPr/>
          <p:nvPr/>
        </p:nvSpPr>
        <p:spPr>
          <a:xfrm>
            <a:off x="1571873" y="6329423"/>
            <a:ext cx="280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Fosses lombaires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4102920" y="4736212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62" name="Rectangle 261"/>
          <p:cNvSpPr/>
          <p:nvPr/>
        </p:nvSpPr>
        <p:spPr>
          <a:xfrm>
            <a:off x="4100772" y="5365131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63" name="Rectangle 262"/>
          <p:cNvSpPr/>
          <p:nvPr/>
        </p:nvSpPr>
        <p:spPr>
          <a:xfrm>
            <a:off x="4087893" y="5996197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265" name="Connecteur droit 264"/>
          <p:cNvCxnSpPr/>
          <p:nvPr/>
        </p:nvCxnSpPr>
        <p:spPr>
          <a:xfrm>
            <a:off x="1229331" y="1897058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6" name="Rectangle 265"/>
          <p:cNvSpPr/>
          <p:nvPr/>
        </p:nvSpPr>
        <p:spPr>
          <a:xfrm>
            <a:off x="10988782" y="634192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267" name="Connecteur droit 266"/>
          <p:cNvCxnSpPr/>
          <p:nvPr/>
        </p:nvCxnSpPr>
        <p:spPr>
          <a:xfrm>
            <a:off x="1227183" y="4638105"/>
            <a:ext cx="943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398740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Pelvien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55082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51491" y="3133391"/>
            <a:ext cx="1954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Brulures </a:t>
            </a:r>
            <a:r>
              <a:rPr lang="fr-FR" sz="1400" b="1" dirty="0" smtClean="0"/>
              <a:t>mictionnelles</a:t>
            </a:r>
            <a:endParaRPr lang="fr-FR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</a:p>
          <a:p>
            <a:pPr algn="ctr"/>
            <a:r>
              <a:rPr lang="fr-FR" sz="1400" b="1" u="sng" dirty="0" smtClean="0">
                <a:solidFill>
                  <a:srgbClr val="FF0000"/>
                </a:solidFill>
              </a:rPr>
              <a:t>((si Femme))</a:t>
            </a:r>
            <a:endParaRPr lang="fr-FR" sz="1400" b="1" u="sng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1606075" y="318847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Rectangle 165"/>
          <p:cNvSpPr/>
          <p:nvPr/>
        </p:nvSpPr>
        <p:spPr>
          <a:xfrm>
            <a:off x="1461756" y="3103149"/>
            <a:ext cx="10440000" cy="34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02804" y="6364010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131" name="Ellipse 130"/>
          <p:cNvSpPr/>
          <p:nvPr/>
        </p:nvSpPr>
        <p:spPr>
          <a:xfrm>
            <a:off x="3516321" y="342491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3656774" y="3370790"/>
            <a:ext cx="898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51710" y="327387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8076250" y="336655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Absentes</a:t>
            </a:r>
            <a:endParaRPr lang="fr-FR" sz="1400" b="1" dirty="0"/>
          </a:p>
        </p:txBody>
      </p:sp>
      <p:sp>
        <p:nvSpPr>
          <p:cNvPr id="135" name="Ellipse 134"/>
          <p:cNvSpPr/>
          <p:nvPr/>
        </p:nvSpPr>
        <p:spPr>
          <a:xfrm>
            <a:off x="7871687" y="34291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10359242" y="337345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10237610" y="342088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2" name="Rectangle 151"/>
          <p:cNvSpPr/>
          <p:nvPr/>
        </p:nvSpPr>
        <p:spPr>
          <a:xfrm>
            <a:off x="1749343" y="387822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Dysurie</a:t>
            </a:r>
            <a:endParaRPr lang="fr-FR" sz="1400" b="1" dirty="0"/>
          </a:p>
        </p:txBody>
      </p:sp>
      <p:sp>
        <p:nvSpPr>
          <p:cNvPr id="153" name="Rectangle 152"/>
          <p:cNvSpPr/>
          <p:nvPr/>
        </p:nvSpPr>
        <p:spPr>
          <a:xfrm>
            <a:off x="1603927" y="393331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/>
          <p:cNvSpPr/>
          <p:nvPr/>
        </p:nvSpPr>
        <p:spPr>
          <a:xfrm>
            <a:off x="3501294" y="410534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3654627" y="405122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536683" y="3954312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5" name="Rectangle 164"/>
          <p:cNvSpPr/>
          <p:nvPr/>
        </p:nvSpPr>
        <p:spPr>
          <a:xfrm>
            <a:off x="8074102" y="402123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67" name="Ellipse 166"/>
          <p:cNvSpPr/>
          <p:nvPr/>
        </p:nvSpPr>
        <p:spPr>
          <a:xfrm>
            <a:off x="7869539" y="408382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357094" y="402813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235462" y="407556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1747195" y="4571539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Pollakiurie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01779" y="462662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/>
          <p:cNvSpPr/>
          <p:nvPr/>
        </p:nvSpPr>
        <p:spPr>
          <a:xfrm>
            <a:off x="3499146" y="48115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652479" y="475742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534535" y="4660506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Rectangle 178"/>
          <p:cNvSpPr/>
          <p:nvPr/>
        </p:nvSpPr>
        <p:spPr>
          <a:xfrm>
            <a:off x="8071954" y="472742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80" name="Ellipse 179"/>
          <p:cNvSpPr/>
          <p:nvPr/>
        </p:nvSpPr>
        <p:spPr>
          <a:xfrm>
            <a:off x="7867391" y="479001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10354946" y="473432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" name="Ellipse 183"/>
          <p:cNvSpPr/>
          <p:nvPr/>
        </p:nvSpPr>
        <p:spPr>
          <a:xfrm>
            <a:off x="10233314" y="47817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1478884" y="5333530"/>
            <a:ext cx="15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Toucher pelvien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476736" y="5975331"/>
            <a:ext cx="14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Vessie</a:t>
            </a:r>
            <a:endParaRPr lang="fr-FR" sz="1400" b="1" dirty="0"/>
          </a:p>
        </p:txBody>
      </p:sp>
      <p:sp>
        <p:nvSpPr>
          <p:cNvPr id="193" name="Rectangle 192"/>
          <p:cNvSpPr/>
          <p:nvPr/>
        </p:nvSpPr>
        <p:spPr>
          <a:xfrm>
            <a:off x="2988349" y="5314506"/>
            <a:ext cx="331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4" name="Rectangle 193"/>
          <p:cNvSpPr/>
          <p:nvPr/>
        </p:nvSpPr>
        <p:spPr>
          <a:xfrm>
            <a:off x="6400337" y="5403114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Orifices </a:t>
            </a:r>
            <a:r>
              <a:rPr lang="fr-FR" sz="1400" b="1" dirty="0" smtClean="0"/>
              <a:t>herniaires</a:t>
            </a:r>
            <a:endParaRPr lang="fr-FR" sz="1400" b="1" dirty="0"/>
          </a:p>
        </p:txBody>
      </p:sp>
      <p:sp>
        <p:nvSpPr>
          <p:cNvPr id="198" name="Rectangle 197"/>
          <p:cNvSpPr/>
          <p:nvPr/>
        </p:nvSpPr>
        <p:spPr>
          <a:xfrm>
            <a:off x="2983990" y="5958387"/>
            <a:ext cx="331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377520" y="6084619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Diurèse résiduelle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44571" y="5311400"/>
            <a:ext cx="2786784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7940214" y="5969118"/>
            <a:ext cx="279114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10792209" y="640969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1476736" y="3833115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1474588" y="4552187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1472440" y="5232622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5" name="Connecteur droit 204"/>
          <p:cNvCxnSpPr/>
          <p:nvPr/>
        </p:nvCxnSpPr>
        <p:spPr>
          <a:xfrm>
            <a:off x="1457413" y="5900175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6384825" y="5245501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16550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Pelvien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16" y="97667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983307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973043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978912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983307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973609"/>
            <a:ext cx="79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979508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972498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972422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972498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12854" y="1523527"/>
            <a:ext cx="1954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Brulures </a:t>
            </a:r>
            <a:r>
              <a:rPr lang="fr-FR" sz="1400" b="1" dirty="0" smtClean="0"/>
              <a:t>mictionnelles</a:t>
            </a:r>
            <a:endParaRPr lang="fr-FR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359845" y="1493113"/>
            <a:ext cx="115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</a:p>
          <a:p>
            <a:pPr algn="ctr"/>
            <a:r>
              <a:rPr lang="fr-FR" sz="1400" b="1" u="sng" dirty="0" smtClean="0">
                <a:solidFill>
                  <a:srgbClr val="FF0000"/>
                </a:solidFill>
              </a:rPr>
              <a:t>((si Homme))</a:t>
            </a:r>
            <a:endParaRPr lang="fr-FR" sz="1400" b="1" u="sng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1389139"/>
            <a:ext cx="11700000" cy="532075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1567438" y="157861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Rectangle 165"/>
          <p:cNvSpPr/>
          <p:nvPr/>
        </p:nvSpPr>
        <p:spPr>
          <a:xfrm>
            <a:off x="1461756" y="1493284"/>
            <a:ext cx="10440000" cy="47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Ellipse 130"/>
          <p:cNvSpPr/>
          <p:nvPr/>
        </p:nvSpPr>
        <p:spPr>
          <a:xfrm>
            <a:off x="3619352" y="189232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3759805" y="1838200"/>
            <a:ext cx="898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54741" y="174128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8192157" y="180820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Absentes</a:t>
            </a:r>
            <a:endParaRPr lang="fr-FR" sz="1400" b="1" dirty="0"/>
          </a:p>
        </p:txBody>
      </p:sp>
      <p:sp>
        <p:nvSpPr>
          <p:cNvPr id="135" name="Ellipse 134"/>
          <p:cNvSpPr/>
          <p:nvPr/>
        </p:nvSpPr>
        <p:spPr>
          <a:xfrm>
            <a:off x="7987594" y="187079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10449398" y="181510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10327766" y="186253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2" name="Rectangle 151"/>
          <p:cNvSpPr/>
          <p:nvPr/>
        </p:nvSpPr>
        <p:spPr>
          <a:xfrm>
            <a:off x="1710706" y="237139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Dysurie</a:t>
            </a:r>
            <a:endParaRPr lang="fr-FR" sz="1400" b="1" dirty="0"/>
          </a:p>
        </p:txBody>
      </p:sp>
      <p:sp>
        <p:nvSpPr>
          <p:cNvPr id="153" name="Rectangle 152"/>
          <p:cNvSpPr/>
          <p:nvPr/>
        </p:nvSpPr>
        <p:spPr>
          <a:xfrm>
            <a:off x="1565290" y="24264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/>
          <p:cNvSpPr/>
          <p:nvPr/>
        </p:nvSpPr>
        <p:spPr>
          <a:xfrm>
            <a:off x="3617204" y="257275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3770537" y="251863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652593" y="2421722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5" name="Rectangle 164"/>
          <p:cNvSpPr/>
          <p:nvPr/>
        </p:nvSpPr>
        <p:spPr>
          <a:xfrm>
            <a:off x="8190009" y="248864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67" name="Ellipse 166"/>
          <p:cNvSpPr/>
          <p:nvPr/>
        </p:nvSpPr>
        <p:spPr>
          <a:xfrm>
            <a:off x="7985446" y="25512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447250" y="249554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325618" y="254297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1708558" y="3038949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Pollakiurie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563142" y="309403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/>
          <p:cNvSpPr/>
          <p:nvPr/>
        </p:nvSpPr>
        <p:spPr>
          <a:xfrm>
            <a:off x="3615056" y="32531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768389" y="319907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50445" y="3102158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Rectangle 178"/>
          <p:cNvSpPr/>
          <p:nvPr/>
        </p:nvSpPr>
        <p:spPr>
          <a:xfrm>
            <a:off x="8187861" y="319483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80" name="Ellipse 179"/>
          <p:cNvSpPr/>
          <p:nvPr/>
        </p:nvSpPr>
        <p:spPr>
          <a:xfrm>
            <a:off x="7983298" y="325742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10445102" y="320173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" name="Ellipse 183"/>
          <p:cNvSpPr/>
          <p:nvPr/>
        </p:nvSpPr>
        <p:spPr>
          <a:xfrm>
            <a:off x="10323470" y="32491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1478884" y="4908520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Pilosité</a:t>
            </a:r>
            <a:endParaRPr lang="fr-FR" sz="1400" b="1" dirty="0"/>
          </a:p>
        </p:txBody>
      </p:sp>
      <p:sp>
        <p:nvSpPr>
          <p:cNvPr id="189" name="Rectangle 188"/>
          <p:cNvSpPr/>
          <p:nvPr/>
        </p:nvSpPr>
        <p:spPr>
          <a:xfrm>
            <a:off x="1476736" y="5795023"/>
            <a:ext cx="14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Vessie</a:t>
            </a:r>
            <a:endParaRPr lang="fr-FR" sz="1400" b="1" dirty="0"/>
          </a:p>
        </p:txBody>
      </p:sp>
      <p:sp>
        <p:nvSpPr>
          <p:cNvPr id="193" name="Rectangle 192"/>
          <p:cNvSpPr/>
          <p:nvPr/>
        </p:nvSpPr>
        <p:spPr>
          <a:xfrm>
            <a:off x="3284565" y="5044043"/>
            <a:ext cx="30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4" name="Rectangle 193"/>
          <p:cNvSpPr/>
          <p:nvPr/>
        </p:nvSpPr>
        <p:spPr>
          <a:xfrm>
            <a:off x="6825338" y="5081137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Orifices </a:t>
            </a:r>
            <a:r>
              <a:rPr lang="fr-FR" sz="1400" b="1" dirty="0" smtClean="0"/>
              <a:t>herniaires</a:t>
            </a:r>
            <a:endParaRPr lang="fr-FR" sz="1400" b="1" dirty="0"/>
          </a:p>
        </p:txBody>
      </p:sp>
      <p:sp>
        <p:nvSpPr>
          <p:cNvPr id="198" name="Rectangle 197"/>
          <p:cNvSpPr/>
          <p:nvPr/>
        </p:nvSpPr>
        <p:spPr>
          <a:xfrm>
            <a:off x="3267328" y="5687926"/>
            <a:ext cx="30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815403" y="5801279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Diurèse résiduelle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382451" y="5015181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8378096" y="5698657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231585" y="656777"/>
            <a:ext cx="205335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95575" y="5094789"/>
            <a:ext cx="1512000" cy="46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Triangulaire à sommet supérieur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25594" y="629490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4564" y="3630619"/>
            <a:ext cx="12362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Toucher rectal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0381" y="3642954"/>
            <a:ext cx="8308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Testicule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5295" y="3779766"/>
            <a:ext cx="298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3290937" y="4359254"/>
            <a:ext cx="298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2382073" y="389490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Prostate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29542" y="3815295"/>
            <a:ext cx="367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Rectangle 106"/>
          <p:cNvSpPr/>
          <p:nvPr/>
        </p:nvSpPr>
        <p:spPr>
          <a:xfrm>
            <a:off x="7938065" y="4369981"/>
            <a:ext cx="367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8" name="Rectangle 107"/>
          <p:cNvSpPr/>
          <p:nvPr/>
        </p:nvSpPr>
        <p:spPr>
          <a:xfrm>
            <a:off x="2209238" y="39461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/>
          <p:cNvSpPr/>
          <p:nvPr/>
        </p:nvSpPr>
        <p:spPr>
          <a:xfrm>
            <a:off x="2392804" y="443367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Rectum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19969" y="448494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/>
          <p:cNvSpPr/>
          <p:nvPr/>
        </p:nvSpPr>
        <p:spPr>
          <a:xfrm>
            <a:off x="7029206" y="3905638"/>
            <a:ext cx="100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Epididyme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6371" y="395691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Rectangle 112"/>
          <p:cNvSpPr/>
          <p:nvPr/>
        </p:nvSpPr>
        <p:spPr>
          <a:xfrm>
            <a:off x="7027058" y="444440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Cordon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54223" y="44956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>
            <a:off x="1511626" y="2313404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1483720" y="3019598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1494451" y="3661395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1505182" y="4921379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1477276" y="5627570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necteur droit 122"/>
          <p:cNvCxnSpPr/>
          <p:nvPr/>
        </p:nvCxnSpPr>
        <p:spPr>
          <a:xfrm flipV="1">
            <a:off x="6593024" y="3655833"/>
            <a:ext cx="0" cy="25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722220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asculaire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Vasculaire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Conclusion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296277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eurologique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Neurologique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52689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osteo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-articulaire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Osteo-articulaire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72189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Conclusion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885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53220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36521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667932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3566</Words>
  <Application>Microsoft Office PowerPoint</Application>
  <PresentationFormat>Grand écran</PresentationFormat>
  <Paragraphs>1750</Paragraphs>
  <Slides>49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5" baseType="lpstr">
      <vt:lpstr>Microsoft YaHei</vt:lpstr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</dc:creator>
  <cp:lastModifiedBy>Eurosys</cp:lastModifiedBy>
  <cp:revision>201</cp:revision>
  <dcterms:created xsi:type="dcterms:W3CDTF">2015-11-02T10:39:38Z</dcterms:created>
  <dcterms:modified xsi:type="dcterms:W3CDTF">2015-11-22T14:32:10Z</dcterms:modified>
</cp:coreProperties>
</file>