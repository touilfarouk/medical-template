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3" r:id="rId17"/>
    <p:sldId id="272" r:id="rId18"/>
    <p:sldId id="274" r:id="rId19"/>
    <p:sldId id="275" r:id="rId20"/>
    <p:sldId id="276" r:id="rId21"/>
    <p:sldId id="277" r:id="rId22"/>
    <p:sldId id="278" r:id="rId23"/>
    <p:sldId id="279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202" autoAdjust="0"/>
    <p:restoredTop sz="94660"/>
  </p:normalViewPr>
  <p:slideViewPr>
    <p:cSldViewPr snapToGrid="0">
      <p:cViewPr varScale="1">
        <p:scale>
          <a:sx n="74" d="100"/>
          <a:sy n="74" d="100"/>
        </p:scale>
        <p:origin x="77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8A928-183C-4690-9136-775541D7E77E}" type="datetimeFigureOut">
              <a:rPr lang="fr-FR" smtClean="0"/>
              <a:t>15/11/2015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0F282-BF24-4745-83F0-8A97E26706A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80972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8A928-183C-4690-9136-775541D7E77E}" type="datetimeFigureOut">
              <a:rPr lang="fr-FR" smtClean="0"/>
              <a:t>15/11/2015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0F282-BF24-4745-83F0-8A97E26706A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809671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8A928-183C-4690-9136-775541D7E77E}" type="datetimeFigureOut">
              <a:rPr lang="fr-FR" smtClean="0"/>
              <a:t>15/11/2015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0F282-BF24-4745-83F0-8A97E26706A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20360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8A928-183C-4690-9136-775541D7E77E}" type="datetimeFigureOut">
              <a:rPr lang="fr-FR" smtClean="0"/>
              <a:t>15/11/2015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0F282-BF24-4745-83F0-8A97E26706A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660575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8A928-183C-4690-9136-775541D7E77E}" type="datetimeFigureOut">
              <a:rPr lang="fr-FR" smtClean="0"/>
              <a:t>15/11/2015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0F282-BF24-4745-83F0-8A97E26706A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268699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8A928-183C-4690-9136-775541D7E77E}" type="datetimeFigureOut">
              <a:rPr lang="fr-FR" smtClean="0"/>
              <a:t>15/11/2015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0F282-BF24-4745-83F0-8A97E26706A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027883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8A928-183C-4690-9136-775541D7E77E}" type="datetimeFigureOut">
              <a:rPr lang="fr-FR" smtClean="0"/>
              <a:t>15/11/2015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0F282-BF24-4745-83F0-8A97E26706A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090167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8A928-183C-4690-9136-775541D7E77E}" type="datetimeFigureOut">
              <a:rPr lang="fr-FR" smtClean="0"/>
              <a:t>15/11/2015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0F282-BF24-4745-83F0-8A97E26706A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72672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8A928-183C-4690-9136-775541D7E77E}" type="datetimeFigureOut">
              <a:rPr lang="fr-FR" smtClean="0"/>
              <a:t>15/11/2015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0F282-BF24-4745-83F0-8A97E26706A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656028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8A928-183C-4690-9136-775541D7E77E}" type="datetimeFigureOut">
              <a:rPr lang="fr-FR" smtClean="0"/>
              <a:t>15/11/2015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0F282-BF24-4745-83F0-8A97E26706A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699307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8A928-183C-4690-9136-775541D7E77E}" type="datetimeFigureOut">
              <a:rPr lang="fr-FR" smtClean="0"/>
              <a:t>15/11/2015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0F282-BF24-4745-83F0-8A97E26706A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16956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A8A928-183C-4690-9136-775541D7E77E}" type="datetimeFigureOut">
              <a:rPr lang="fr-FR" smtClean="0"/>
              <a:t>15/11/2015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60F282-BF24-4745-83F0-8A97E26706A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807806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 txBox="1">
            <a:spLocks/>
          </p:cNvSpPr>
          <p:nvPr/>
        </p:nvSpPr>
        <p:spPr>
          <a:xfrm>
            <a:off x="4530810" y="59579"/>
            <a:ext cx="3298193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01 – Patient - Accueil /</a:t>
            </a:r>
            <a:b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</a:br>
            <a:r>
              <a:rPr lang="fr-FR" altLang="fr-FR" sz="1800" b="1" dirty="0" smtClean="0">
                <a:latin typeface="Times New Roman" panose="02020603050405020304" pitchFamily="18" charset="0"/>
              </a:rPr>
              <a:t>Identification patient</a:t>
            </a:r>
            <a:endParaRPr lang="fr-FR" sz="1800" dirty="0"/>
          </a:p>
        </p:txBody>
      </p:sp>
      <p:sp>
        <p:nvSpPr>
          <p:cNvPr id="3" name="Rectangle 2"/>
          <p:cNvSpPr/>
          <p:nvPr/>
        </p:nvSpPr>
        <p:spPr>
          <a:xfrm>
            <a:off x="1949179" y="1959812"/>
            <a:ext cx="1691245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" name="Titre 1"/>
          <p:cNvSpPr txBox="1">
            <a:spLocks/>
          </p:cNvSpPr>
          <p:nvPr/>
        </p:nvSpPr>
        <p:spPr>
          <a:xfrm>
            <a:off x="363113" y="1865043"/>
            <a:ext cx="1619955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Nom de naissance *</a:t>
            </a:r>
            <a:endParaRPr lang="fr-FR" sz="1400" dirty="0"/>
          </a:p>
        </p:txBody>
      </p:sp>
      <p:sp>
        <p:nvSpPr>
          <p:cNvPr id="5" name="Rectangle 4"/>
          <p:cNvSpPr/>
          <p:nvPr/>
        </p:nvSpPr>
        <p:spPr>
          <a:xfrm>
            <a:off x="4816578" y="1966414"/>
            <a:ext cx="1691245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" name="Titre 1"/>
          <p:cNvSpPr txBox="1">
            <a:spLocks/>
          </p:cNvSpPr>
          <p:nvPr/>
        </p:nvSpPr>
        <p:spPr>
          <a:xfrm>
            <a:off x="3944303" y="1937309"/>
            <a:ext cx="908699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Prénom *</a:t>
            </a:r>
            <a:endParaRPr lang="fr-FR" sz="1400" dirty="0"/>
          </a:p>
        </p:txBody>
      </p:sp>
      <p:sp>
        <p:nvSpPr>
          <p:cNvPr id="7" name="Rectangle 6"/>
          <p:cNvSpPr/>
          <p:nvPr/>
        </p:nvSpPr>
        <p:spPr>
          <a:xfrm>
            <a:off x="1949178" y="2356640"/>
            <a:ext cx="1691245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" name="Titre 1"/>
          <p:cNvSpPr txBox="1">
            <a:spLocks/>
          </p:cNvSpPr>
          <p:nvPr/>
        </p:nvSpPr>
        <p:spPr>
          <a:xfrm>
            <a:off x="341566" y="2287069"/>
            <a:ext cx="1678782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 de  naissance *</a:t>
            </a:r>
            <a:endParaRPr lang="fr-FR" sz="1400" dirty="0"/>
          </a:p>
        </p:txBody>
      </p:sp>
      <p:sp>
        <p:nvSpPr>
          <p:cNvPr id="9" name="Rectangle 8"/>
          <p:cNvSpPr/>
          <p:nvPr/>
        </p:nvSpPr>
        <p:spPr>
          <a:xfrm>
            <a:off x="1932172" y="2771551"/>
            <a:ext cx="1708252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" name="Titre 1"/>
          <p:cNvSpPr txBox="1">
            <a:spLocks/>
          </p:cNvSpPr>
          <p:nvPr/>
        </p:nvSpPr>
        <p:spPr>
          <a:xfrm>
            <a:off x="293195" y="2673450"/>
            <a:ext cx="1780301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Wilaya de  naissance</a:t>
            </a:r>
            <a:endParaRPr lang="fr-FR" sz="1400" dirty="0"/>
          </a:p>
        </p:txBody>
      </p:sp>
      <p:sp>
        <p:nvSpPr>
          <p:cNvPr id="11" name="Rectangle 10"/>
          <p:cNvSpPr/>
          <p:nvPr/>
        </p:nvSpPr>
        <p:spPr>
          <a:xfrm>
            <a:off x="8189188" y="2410296"/>
            <a:ext cx="828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" name="Titre 1"/>
          <p:cNvSpPr txBox="1">
            <a:spLocks/>
          </p:cNvSpPr>
          <p:nvPr/>
        </p:nvSpPr>
        <p:spPr>
          <a:xfrm>
            <a:off x="6623300" y="2301178"/>
            <a:ext cx="1612725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Situation familiale</a:t>
            </a:r>
            <a:endParaRPr lang="fr-FR" sz="1400" dirty="0"/>
          </a:p>
        </p:txBody>
      </p:sp>
      <p:sp>
        <p:nvSpPr>
          <p:cNvPr id="13" name="Rectangle 12"/>
          <p:cNvSpPr/>
          <p:nvPr/>
        </p:nvSpPr>
        <p:spPr>
          <a:xfrm>
            <a:off x="4839317" y="2390150"/>
            <a:ext cx="144893" cy="20856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" name="Titre 1"/>
          <p:cNvSpPr txBox="1">
            <a:spLocks/>
          </p:cNvSpPr>
          <p:nvPr/>
        </p:nvSpPr>
        <p:spPr>
          <a:xfrm>
            <a:off x="3987672" y="2312526"/>
            <a:ext cx="1009334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Présumé</a:t>
            </a:r>
            <a:endParaRPr lang="fr-FR" sz="1400" dirty="0"/>
          </a:p>
        </p:txBody>
      </p:sp>
      <p:sp>
        <p:nvSpPr>
          <p:cNvPr id="15" name="Triangle isocèle 14"/>
          <p:cNvSpPr/>
          <p:nvPr/>
        </p:nvSpPr>
        <p:spPr>
          <a:xfrm rot="10800000">
            <a:off x="8838787" y="2432415"/>
            <a:ext cx="175159" cy="237507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6" name="Rectangle 15"/>
          <p:cNvSpPr/>
          <p:nvPr/>
        </p:nvSpPr>
        <p:spPr>
          <a:xfrm>
            <a:off x="8189188" y="1959812"/>
            <a:ext cx="828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7" name="Titre 1"/>
          <p:cNvSpPr txBox="1">
            <a:spLocks/>
          </p:cNvSpPr>
          <p:nvPr/>
        </p:nvSpPr>
        <p:spPr>
          <a:xfrm>
            <a:off x="6978276" y="1937299"/>
            <a:ext cx="582889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Sexe</a:t>
            </a:r>
            <a:endParaRPr lang="fr-FR" sz="1400" dirty="0"/>
          </a:p>
        </p:txBody>
      </p:sp>
      <p:sp>
        <p:nvSpPr>
          <p:cNvPr id="18" name="Triangle isocèle 17"/>
          <p:cNvSpPr/>
          <p:nvPr/>
        </p:nvSpPr>
        <p:spPr>
          <a:xfrm rot="10800000">
            <a:off x="8817880" y="1992545"/>
            <a:ext cx="175159" cy="237507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9" name="Rectangle 18"/>
          <p:cNvSpPr/>
          <p:nvPr/>
        </p:nvSpPr>
        <p:spPr>
          <a:xfrm>
            <a:off x="10262303" y="2393238"/>
            <a:ext cx="987416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0" name="Titre 1"/>
          <p:cNvSpPr txBox="1">
            <a:spLocks/>
          </p:cNvSpPr>
          <p:nvPr/>
        </p:nvSpPr>
        <p:spPr>
          <a:xfrm>
            <a:off x="9101130" y="2375238"/>
            <a:ext cx="1494142" cy="324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Nom marital</a:t>
            </a:r>
            <a:endParaRPr lang="fr-FR" sz="1400" dirty="0"/>
          </a:p>
        </p:txBody>
      </p:sp>
      <p:sp>
        <p:nvSpPr>
          <p:cNvPr id="21" name="Rectangle 20"/>
          <p:cNvSpPr/>
          <p:nvPr/>
        </p:nvSpPr>
        <p:spPr>
          <a:xfrm>
            <a:off x="6018521" y="2397693"/>
            <a:ext cx="479631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2" name="Titre 1"/>
          <p:cNvSpPr txBox="1">
            <a:spLocks/>
          </p:cNvSpPr>
          <p:nvPr/>
        </p:nvSpPr>
        <p:spPr>
          <a:xfrm>
            <a:off x="5550932" y="2308414"/>
            <a:ext cx="50941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Âge</a:t>
            </a:r>
            <a:endParaRPr lang="fr-FR" sz="1400" dirty="0"/>
          </a:p>
        </p:txBody>
      </p:sp>
      <p:sp>
        <p:nvSpPr>
          <p:cNvPr id="23" name="Rectangle 22"/>
          <p:cNvSpPr/>
          <p:nvPr/>
        </p:nvSpPr>
        <p:spPr>
          <a:xfrm>
            <a:off x="191992" y="594181"/>
            <a:ext cx="11758269" cy="535570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4" name="Titre 1"/>
          <p:cNvSpPr txBox="1">
            <a:spLocks/>
          </p:cNvSpPr>
          <p:nvPr/>
        </p:nvSpPr>
        <p:spPr>
          <a:xfrm>
            <a:off x="185127" y="5964589"/>
            <a:ext cx="11812634" cy="79709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000" dirty="0" smtClean="0"/>
              <a:t>Type </a:t>
            </a:r>
            <a:r>
              <a:rPr lang="fr-FR" sz="1000" dirty="0"/>
              <a:t>de </a:t>
            </a:r>
            <a:r>
              <a:rPr lang="fr-FR" sz="1000" dirty="0" smtClean="0"/>
              <a:t>patient (catégorie des patients) : Hospitalisation – Patient externe – Prise en charge. </a:t>
            </a:r>
            <a:endParaRPr lang="fr-FR" sz="1000" dirty="0"/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000" dirty="0"/>
              <a:t>Type </a:t>
            </a:r>
            <a:r>
              <a:rPr lang="fr-FR" sz="1000" dirty="0" smtClean="0"/>
              <a:t>Pièce d’identité (P,I)  : Carte d’identité (CI) – Permis de conduire (PC)  – passeport 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000" dirty="0" smtClean="0"/>
              <a:t>Mode de facturation : Normale – Garde – Férie.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000" dirty="0" smtClean="0"/>
              <a:t>Si le sexe = Homme ne pas afficher le champs  ‘’nom marital’’.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000" dirty="0" smtClean="0"/>
              <a:t>Si le patient existe déjà dans la base de donnée affiché un message d’alerte «</a:t>
            </a:r>
            <a:r>
              <a:rPr lang="fr-FR" sz="1000" dirty="0"/>
              <a:t> </a:t>
            </a:r>
            <a:r>
              <a:rPr lang="fr-FR" sz="1000" dirty="0" smtClean="0"/>
              <a:t>patient existe »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37" name="Rectangle 36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43" name="Rectangle 42"/>
          <p:cNvSpPr/>
          <p:nvPr/>
        </p:nvSpPr>
        <p:spPr>
          <a:xfrm>
            <a:off x="5721259" y="2778206"/>
            <a:ext cx="783524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4" name="Titre 1"/>
          <p:cNvSpPr txBox="1">
            <a:spLocks/>
          </p:cNvSpPr>
          <p:nvPr/>
        </p:nvSpPr>
        <p:spPr>
          <a:xfrm>
            <a:off x="3716837" y="2722818"/>
            <a:ext cx="2045277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Commune de  naissance</a:t>
            </a:r>
            <a:endParaRPr lang="fr-FR" sz="1400" dirty="0"/>
          </a:p>
        </p:txBody>
      </p:sp>
      <p:sp>
        <p:nvSpPr>
          <p:cNvPr id="45" name="Triangle isocèle 44"/>
          <p:cNvSpPr/>
          <p:nvPr/>
        </p:nvSpPr>
        <p:spPr>
          <a:xfrm rot="10800000">
            <a:off x="3484752" y="2783591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6" name="Triangle isocèle 45"/>
          <p:cNvSpPr/>
          <p:nvPr/>
        </p:nvSpPr>
        <p:spPr>
          <a:xfrm rot="10800000">
            <a:off x="6311671" y="2803678"/>
            <a:ext cx="180000" cy="252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6" name="Rectangle 55"/>
          <p:cNvSpPr/>
          <p:nvPr/>
        </p:nvSpPr>
        <p:spPr>
          <a:xfrm>
            <a:off x="8279842" y="5517828"/>
            <a:ext cx="1332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Valider </a:t>
            </a:r>
            <a:endParaRPr lang="fr-FR" sz="1400" dirty="0"/>
          </a:p>
        </p:txBody>
      </p:sp>
      <p:sp>
        <p:nvSpPr>
          <p:cNvPr id="67" name="Titre 1"/>
          <p:cNvSpPr txBox="1">
            <a:spLocks/>
          </p:cNvSpPr>
          <p:nvPr/>
        </p:nvSpPr>
        <p:spPr>
          <a:xfrm>
            <a:off x="4984210" y="3165467"/>
            <a:ext cx="764815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dirty="0" smtClean="0"/>
              <a:t>Wilaya </a:t>
            </a:r>
            <a:endParaRPr lang="fr-FR" sz="1400" dirty="0"/>
          </a:p>
        </p:txBody>
      </p:sp>
      <p:sp>
        <p:nvSpPr>
          <p:cNvPr id="70" name="Rectangle 69"/>
          <p:cNvSpPr/>
          <p:nvPr/>
        </p:nvSpPr>
        <p:spPr>
          <a:xfrm>
            <a:off x="1940930" y="3188326"/>
            <a:ext cx="28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1" name="Titre 1"/>
          <p:cNvSpPr txBox="1">
            <a:spLocks/>
          </p:cNvSpPr>
          <p:nvPr/>
        </p:nvSpPr>
        <p:spPr>
          <a:xfrm>
            <a:off x="1140028" y="3150626"/>
            <a:ext cx="929476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Adresse * </a:t>
            </a:r>
            <a:endParaRPr lang="fr-FR" sz="1400" dirty="0"/>
          </a:p>
        </p:txBody>
      </p:sp>
      <p:sp>
        <p:nvSpPr>
          <p:cNvPr id="72" name="Rectangle 71"/>
          <p:cNvSpPr/>
          <p:nvPr/>
        </p:nvSpPr>
        <p:spPr>
          <a:xfrm>
            <a:off x="5720369" y="3196696"/>
            <a:ext cx="133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3" name="Titre 1"/>
          <p:cNvSpPr txBox="1">
            <a:spLocks/>
          </p:cNvSpPr>
          <p:nvPr/>
        </p:nvSpPr>
        <p:spPr>
          <a:xfrm>
            <a:off x="7156453" y="3118271"/>
            <a:ext cx="1099741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Commune</a:t>
            </a:r>
            <a:endParaRPr lang="fr-FR" sz="1200" dirty="0" smtClean="0"/>
          </a:p>
        </p:txBody>
      </p:sp>
      <p:sp>
        <p:nvSpPr>
          <p:cNvPr id="74" name="Rectangle 73"/>
          <p:cNvSpPr/>
          <p:nvPr/>
        </p:nvSpPr>
        <p:spPr>
          <a:xfrm>
            <a:off x="8194031" y="3171385"/>
            <a:ext cx="1090555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5" name="Titre 1"/>
          <p:cNvSpPr txBox="1">
            <a:spLocks/>
          </p:cNvSpPr>
          <p:nvPr/>
        </p:nvSpPr>
        <p:spPr>
          <a:xfrm>
            <a:off x="9459203" y="3103833"/>
            <a:ext cx="1083001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Code Postal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0560745" y="3144311"/>
            <a:ext cx="671988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6" name="Triangle isocèle 85"/>
          <p:cNvSpPr/>
          <p:nvPr/>
        </p:nvSpPr>
        <p:spPr>
          <a:xfrm rot="10800000">
            <a:off x="9085448" y="3195219"/>
            <a:ext cx="175159" cy="237507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8" name="Triangle isocèle 87"/>
          <p:cNvSpPr/>
          <p:nvPr/>
        </p:nvSpPr>
        <p:spPr>
          <a:xfrm rot="10800000">
            <a:off x="6863958" y="3219502"/>
            <a:ext cx="175159" cy="237507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0" name="ZoneTexte 89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91" name="Rectangle 90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92" name="Titre 1"/>
          <p:cNvSpPr txBox="1">
            <a:spLocks/>
          </p:cNvSpPr>
          <p:nvPr/>
        </p:nvSpPr>
        <p:spPr>
          <a:xfrm>
            <a:off x="1240161" y="3573020"/>
            <a:ext cx="1519033" cy="26926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E-mail</a:t>
            </a:r>
            <a:endParaRPr lang="fr-FR" sz="1400" dirty="0"/>
          </a:p>
        </p:txBody>
      </p:sp>
      <p:sp>
        <p:nvSpPr>
          <p:cNvPr id="93" name="Rectangle 92"/>
          <p:cNvSpPr/>
          <p:nvPr/>
        </p:nvSpPr>
        <p:spPr>
          <a:xfrm>
            <a:off x="1951662" y="3584644"/>
            <a:ext cx="1660572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4" name="Titre 1"/>
          <p:cNvSpPr txBox="1">
            <a:spLocks/>
          </p:cNvSpPr>
          <p:nvPr/>
        </p:nvSpPr>
        <p:spPr>
          <a:xfrm>
            <a:off x="4773307" y="3581907"/>
            <a:ext cx="1063710" cy="27108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Téléphone</a:t>
            </a:r>
            <a:endParaRPr lang="fr-FR" sz="1400" dirty="0"/>
          </a:p>
        </p:txBody>
      </p:sp>
      <p:sp>
        <p:nvSpPr>
          <p:cNvPr id="95" name="Rectangle 94"/>
          <p:cNvSpPr/>
          <p:nvPr/>
        </p:nvSpPr>
        <p:spPr>
          <a:xfrm>
            <a:off x="5721259" y="3581907"/>
            <a:ext cx="133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8" name="Rectangle 97"/>
          <p:cNvSpPr/>
          <p:nvPr/>
        </p:nvSpPr>
        <p:spPr>
          <a:xfrm>
            <a:off x="311736" y="1786507"/>
            <a:ext cx="11160000" cy="2245061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9" name="Rectangle 98"/>
          <p:cNvSpPr/>
          <p:nvPr/>
        </p:nvSpPr>
        <p:spPr>
          <a:xfrm>
            <a:off x="10158438" y="5521382"/>
            <a:ext cx="1332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Imprimer</a:t>
            </a:r>
            <a:endParaRPr lang="fr-FR" sz="1400" dirty="0"/>
          </a:p>
        </p:txBody>
      </p:sp>
      <p:sp>
        <p:nvSpPr>
          <p:cNvPr id="100" name="Titre 1"/>
          <p:cNvSpPr txBox="1">
            <a:spLocks/>
          </p:cNvSpPr>
          <p:nvPr/>
        </p:nvSpPr>
        <p:spPr>
          <a:xfrm>
            <a:off x="708698" y="795288"/>
            <a:ext cx="1175322" cy="297004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de dossier </a:t>
            </a:r>
            <a:endParaRPr lang="fr-FR" sz="1400" dirty="0"/>
          </a:p>
        </p:txBody>
      </p:sp>
      <p:sp>
        <p:nvSpPr>
          <p:cNvPr id="101" name="Rectangle 100"/>
          <p:cNvSpPr/>
          <p:nvPr/>
        </p:nvSpPr>
        <p:spPr>
          <a:xfrm>
            <a:off x="1947031" y="774301"/>
            <a:ext cx="1151809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2" name="Rectangle 101"/>
          <p:cNvSpPr/>
          <p:nvPr/>
        </p:nvSpPr>
        <p:spPr>
          <a:xfrm>
            <a:off x="341566" y="692172"/>
            <a:ext cx="11160000" cy="904491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3" name="Titre 1"/>
          <p:cNvSpPr txBox="1">
            <a:spLocks/>
          </p:cNvSpPr>
          <p:nvPr/>
        </p:nvSpPr>
        <p:spPr>
          <a:xfrm>
            <a:off x="397196" y="1126643"/>
            <a:ext cx="1541912" cy="34977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defPPr>
              <a:defRPr lang="fr-FR"/>
            </a:defPPr>
            <a:lvl1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 sz="1400"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/>
              <a:t>Date </a:t>
            </a:r>
            <a:r>
              <a:rPr lang="fr-FR" dirty="0" smtClean="0"/>
              <a:t>d'admission *</a:t>
            </a:r>
            <a:endParaRPr lang="fr-FR" dirty="0"/>
          </a:p>
        </p:txBody>
      </p:sp>
      <p:sp>
        <p:nvSpPr>
          <p:cNvPr id="104" name="Rectangle 103"/>
          <p:cNvSpPr/>
          <p:nvPr/>
        </p:nvSpPr>
        <p:spPr>
          <a:xfrm>
            <a:off x="1978903" y="1155893"/>
            <a:ext cx="1125858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5" name="Triangle isocèle 104"/>
          <p:cNvSpPr/>
          <p:nvPr/>
        </p:nvSpPr>
        <p:spPr>
          <a:xfrm rot="10800000">
            <a:off x="5792320" y="1142676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0" name="Titre 1"/>
          <p:cNvSpPr txBox="1">
            <a:spLocks/>
          </p:cNvSpPr>
          <p:nvPr/>
        </p:nvSpPr>
        <p:spPr>
          <a:xfrm>
            <a:off x="3266290" y="1120018"/>
            <a:ext cx="1541912" cy="34977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defPPr>
              <a:defRPr lang="fr-FR"/>
            </a:defPPr>
            <a:lvl1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 sz="1400"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 smtClean="0"/>
              <a:t>Type de patient</a:t>
            </a:r>
            <a:endParaRPr lang="fr-FR" dirty="0"/>
          </a:p>
        </p:txBody>
      </p:sp>
      <p:sp>
        <p:nvSpPr>
          <p:cNvPr id="111" name="Rectangle 110"/>
          <p:cNvSpPr/>
          <p:nvPr/>
        </p:nvSpPr>
        <p:spPr>
          <a:xfrm>
            <a:off x="4834745" y="1122764"/>
            <a:ext cx="1125858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2" name="Titre 1"/>
          <p:cNvSpPr txBox="1">
            <a:spLocks/>
          </p:cNvSpPr>
          <p:nvPr/>
        </p:nvSpPr>
        <p:spPr>
          <a:xfrm>
            <a:off x="6461216" y="1120262"/>
            <a:ext cx="836337" cy="34977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defPPr>
              <a:defRPr lang="fr-FR"/>
            </a:defPPr>
            <a:lvl1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 sz="1400"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 smtClean="0"/>
              <a:t>Service</a:t>
            </a:r>
            <a:endParaRPr lang="fr-FR" dirty="0"/>
          </a:p>
        </p:txBody>
      </p:sp>
      <p:sp>
        <p:nvSpPr>
          <p:cNvPr id="113" name="Rectangle 112"/>
          <p:cNvSpPr/>
          <p:nvPr/>
        </p:nvSpPr>
        <p:spPr>
          <a:xfrm>
            <a:off x="7246646" y="1122764"/>
            <a:ext cx="1125858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4" name="Triangle isocèle 113"/>
          <p:cNvSpPr/>
          <p:nvPr/>
        </p:nvSpPr>
        <p:spPr>
          <a:xfrm rot="10800000">
            <a:off x="11067149" y="1122782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5" name="Titre 1"/>
          <p:cNvSpPr txBox="1">
            <a:spLocks/>
          </p:cNvSpPr>
          <p:nvPr/>
        </p:nvSpPr>
        <p:spPr>
          <a:xfrm>
            <a:off x="8534033" y="1113393"/>
            <a:ext cx="1541912" cy="34977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defPPr>
              <a:defRPr lang="fr-FR"/>
            </a:defPPr>
            <a:lvl1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 sz="1400"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 smtClean="0"/>
              <a:t>Médecin traitant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0115740" y="1116139"/>
            <a:ext cx="1125858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7" name="Triangle isocèle 116"/>
          <p:cNvSpPr/>
          <p:nvPr/>
        </p:nvSpPr>
        <p:spPr>
          <a:xfrm rot="10800000">
            <a:off x="8184796" y="1142662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9" name="Rectangle 118"/>
          <p:cNvSpPr/>
          <p:nvPr/>
        </p:nvSpPr>
        <p:spPr>
          <a:xfrm>
            <a:off x="1939109" y="4430603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0" name="Titre 1"/>
          <p:cNvSpPr txBox="1">
            <a:spLocks/>
          </p:cNvSpPr>
          <p:nvPr/>
        </p:nvSpPr>
        <p:spPr>
          <a:xfrm>
            <a:off x="1146160" y="4374798"/>
            <a:ext cx="785951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/>
              <a:t>Type </a:t>
            </a:r>
            <a:r>
              <a:rPr lang="fr-FR" sz="1400" dirty="0" smtClean="0"/>
              <a:t>P.I</a:t>
            </a:r>
            <a:endParaRPr lang="fr-FR" sz="1400" dirty="0"/>
          </a:p>
        </p:txBody>
      </p:sp>
      <p:sp>
        <p:nvSpPr>
          <p:cNvPr id="121" name="Rectangle 120"/>
          <p:cNvSpPr/>
          <p:nvPr/>
        </p:nvSpPr>
        <p:spPr>
          <a:xfrm>
            <a:off x="6749004" y="4390433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3" name="Rectangle 122"/>
          <p:cNvSpPr/>
          <p:nvPr/>
        </p:nvSpPr>
        <p:spPr>
          <a:xfrm>
            <a:off x="4071626" y="4421314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4" name="Titre 1"/>
          <p:cNvSpPr txBox="1">
            <a:spLocks/>
          </p:cNvSpPr>
          <p:nvPr/>
        </p:nvSpPr>
        <p:spPr>
          <a:xfrm>
            <a:off x="3383247" y="4388568"/>
            <a:ext cx="604425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P.I</a:t>
            </a:r>
            <a:endParaRPr lang="fr-FR" sz="1400" dirty="0"/>
          </a:p>
        </p:txBody>
      </p:sp>
      <p:sp>
        <p:nvSpPr>
          <p:cNvPr id="125" name="Triangle isocèle 124"/>
          <p:cNvSpPr/>
          <p:nvPr/>
        </p:nvSpPr>
        <p:spPr>
          <a:xfrm rot="10800000">
            <a:off x="2829320" y="4441409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6" name="Rectangle 125"/>
          <p:cNvSpPr/>
          <p:nvPr/>
        </p:nvSpPr>
        <p:spPr>
          <a:xfrm>
            <a:off x="9136376" y="4388170"/>
            <a:ext cx="987416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7" name="Titre 1"/>
          <p:cNvSpPr txBox="1">
            <a:spLocks/>
          </p:cNvSpPr>
          <p:nvPr/>
        </p:nvSpPr>
        <p:spPr>
          <a:xfrm>
            <a:off x="8117700" y="4354433"/>
            <a:ext cx="1494142" cy="324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/>
              <a:t>Délivré le</a:t>
            </a:r>
          </a:p>
        </p:txBody>
      </p:sp>
      <p:sp>
        <p:nvSpPr>
          <p:cNvPr id="129" name="Titre 1"/>
          <p:cNvSpPr txBox="1">
            <a:spLocks/>
          </p:cNvSpPr>
          <p:nvPr/>
        </p:nvSpPr>
        <p:spPr>
          <a:xfrm>
            <a:off x="5663576" y="4382378"/>
            <a:ext cx="1072368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/>
              <a:t>Délivré </a:t>
            </a:r>
            <a:r>
              <a:rPr lang="fr-FR" sz="1400" dirty="0" smtClean="0"/>
              <a:t>par</a:t>
            </a:r>
            <a:endParaRPr lang="fr-FR" sz="1400" dirty="0"/>
          </a:p>
        </p:txBody>
      </p:sp>
      <p:sp>
        <p:nvSpPr>
          <p:cNvPr id="141" name="Rectangle 140"/>
          <p:cNvSpPr/>
          <p:nvPr/>
        </p:nvSpPr>
        <p:spPr>
          <a:xfrm>
            <a:off x="1919233" y="4940807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2" name="Titre 1"/>
          <p:cNvSpPr txBox="1">
            <a:spLocks/>
          </p:cNvSpPr>
          <p:nvPr/>
        </p:nvSpPr>
        <p:spPr>
          <a:xfrm>
            <a:off x="436235" y="4898616"/>
            <a:ext cx="147600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Mode facturation</a:t>
            </a:r>
            <a:endParaRPr lang="fr-FR" sz="1400" dirty="0"/>
          </a:p>
        </p:txBody>
      </p:sp>
      <p:sp>
        <p:nvSpPr>
          <p:cNvPr id="143" name="Triangle isocèle 142"/>
          <p:cNvSpPr/>
          <p:nvPr/>
        </p:nvSpPr>
        <p:spPr>
          <a:xfrm rot="10800000">
            <a:off x="2809444" y="4951613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4" name="Rectangle 143"/>
          <p:cNvSpPr/>
          <p:nvPr/>
        </p:nvSpPr>
        <p:spPr>
          <a:xfrm>
            <a:off x="5178336" y="4913933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5" name="Titre 1"/>
          <p:cNvSpPr txBox="1">
            <a:spLocks/>
          </p:cNvSpPr>
          <p:nvPr/>
        </p:nvSpPr>
        <p:spPr>
          <a:xfrm>
            <a:off x="4181191" y="4870590"/>
            <a:ext cx="104400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Convention</a:t>
            </a:r>
            <a:endParaRPr lang="fr-FR" sz="1400" dirty="0"/>
          </a:p>
        </p:txBody>
      </p:sp>
      <p:sp>
        <p:nvSpPr>
          <p:cNvPr id="146" name="Triangle isocèle 145"/>
          <p:cNvSpPr/>
          <p:nvPr/>
        </p:nvSpPr>
        <p:spPr>
          <a:xfrm rot="10800000">
            <a:off x="6071107" y="4911659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7" name="Rectangle 146"/>
          <p:cNvSpPr/>
          <p:nvPr/>
        </p:nvSpPr>
        <p:spPr>
          <a:xfrm>
            <a:off x="348194" y="4250381"/>
            <a:ext cx="11160000" cy="116339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8" name="Rectangle 147"/>
          <p:cNvSpPr/>
          <p:nvPr/>
        </p:nvSpPr>
        <p:spPr>
          <a:xfrm>
            <a:off x="4072744" y="4967879"/>
            <a:ext cx="144893" cy="20856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381126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 txBox="1">
            <a:spLocks/>
          </p:cNvSpPr>
          <p:nvPr/>
        </p:nvSpPr>
        <p:spPr>
          <a:xfrm>
            <a:off x="4530811" y="59579"/>
            <a:ext cx="3298193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02 –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Patient 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- Accueil /</a:t>
            </a:r>
            <a:b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</a:br>
            <a:r>
              <a:rPr lang="fr-FR" altLang="fr-FR" sz="1800" b="1" dirty="0" smtClean="0">
                <a:latin typeface="Times New Roman" panose="02020603050405020304" pitchFamily="18" charset="0"/>
              </a:rPr>
              <a:t>Acte médical</a:t>
            </a:r>
            <a:endParaRPr lang="fr-FR" sz="1800" dirty="0"/>
          </a:p>
        </p:txBody>
      </p:sp>
      <p:sp>
        <p:nvSpPr>
          <p:cNvPr id="3" name="Rectangle 2"/>
          <p:cNvSpPr/>
          <p:nvPr/>
        </p:nvSpPr>
        <p:spPr>
          <a:xfrm>
            <a:off x="1949179" y="1959812"/>
            <a:ext cx="1691245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" name="Titre 1"/>
          <p:cNvSpPr txBox="1">
            <a:spLocks/>
          </p:cNvSpPr>
          <p:nvPr/>
        </p:nvSpPr>
        <p:spPr>
          <a:xfrm>
            <a:off x="363113" y="1865043"/>
            <a:ext cx="1619955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Nom de naissance *</a:t>
            </a:r>
            <a:endParaRPr lang="fr-FR" sz="1400" dirty="0"/>
          </a:p>
        </p:txBody>
      </p:sp>
      <p:sp>
        <p:nvSpPr>
          <p:cNvPr id="5" name="Rectangle 4"/>
          <p:cNvSpPr/>
          <p:nvPr/>
        </p:nvSpPr>
        <p:spPr>
          <a:xfrm>
            <a:off x="4816578" y="1966414"/>
            <a:ext cx="1691245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" name="Titre 1"/>
          <p:cNvSpPr txBox="1">
            <a:spLocks/>
          </p:cNvSpPr>
          <p:nvPr/>
        </p:nvSpPr>
        <p:spPr>
          <a:xfrm>
            <a:off x="3944303" y="1937309"/>
            <a:ext cx="908699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Prénom *</a:t>
            </a:r>
            <a:endParaRPr lang="fr-FR" sz="1400" dirty="0"/>
          </a:p>
        </p:txBody>
      </p:sp>
      <p:sp>
        <p:nvSpPr>
          <p:cNvPr id="7" name="Rectangle 6"/>
          <p:cNvSpPr/>
          <p:nvPr/>
        </p:nvSpPr>
        <p:spPr>
          <a:xfrm>
            <a:off x="1949178" y="2356640"/>
            <a:ext cx="1691245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" name="Titre 1"/>
          <p:cNvSpPr txBox="1">
            <a:spLocks/>
          </p:cNvSpPr>
          <p:nvPr/>
        </p:nvSpPr>
        <p:spPr>
          <a:xfrm>
            <a:off x="341566" y="2287069"/>
            <a:ext cx="1678782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 de  naissance *</a:t>
            </a:r>
            <a:endParaRPr lang="fr-FR" sz="1400" dirty="0"/>
          </a:p>
        </p:txBody>
      </p:sp>
      <p:sp>
        <p:nvSpPr>
          <p:cNvPr id="9" name="Rectangle 8"/>
          <p:cNvSpPr/>
          <p:nvPr/>
        </p:nvSpPr>
        <p:spPr>
          <a:xfrm>
            <a:off x="1932172" y="2771551"/>
            <a:ext cx="1708252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" name="Titre 1"/>
          <p:cNvSpPr txBox="1">
            <a:spLocks/>
          </p:cNvSpPr>
          <p:nvPr/>
        </p:nvSpPr>
        <p:spPr>
          <a:xfrm>
            <a:off x="293195" y="2673450"/>
            <a:ext cx="1780301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Wilaya de  naissance</a:t>
            </a:r>
            <a:endParaRPr lang="fr-FR" sz="1400" dirty="0"/>
          </a:p>
        </p:txBody>
      </p:sp>
      <p:sp>
        <p:nvSpPr>
          <p:cNvPr id="11" name="Rectangle 10"/>
          <p:cNvSpPr/>
          <p:nvPr/>
        </p:nvSpPr>
        <p:spPr>
          <a:xfrm>
            <a:off x="8189188" y="2410296"/>
            <a:ext cx="828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" name="Titre 1"/>
          <p:cNvSpPr txBox="1">
            <a:spLocks/>
          </p:cNvSpPr>
          <p:nvPr/>
        </p:nvSpPr>
        <p:spPr>
          <a:xfrm>
            <a:off x="6623300" y="2301178"/>
            <a:ext cx="1612725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Situation familiale</a:t>
            </a:r>
            <a:endParaRPr lang="fr-FR" sz="1400" dirty="0"/>
          </a:p>
        </p:txBody>
      </p:sp>
      <p:sp>
        <p:nvSpPr>
          <p:cNvPr id="13" name="Rectangle 12"/>
          <p:cNvSpPr/>
          <p:nvPr/>
        </p:nvSpPr>
        <p:spPr>
          <a:xfrm>
            <a:off x="4839317" y="2390150"/>
            <a:ext cx="144893" cy="20856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" name="Titre 1"/>
          <p:cNvSpPr txBox="1">
            <a:spLocks/>
          </p:cNvSpPr>
          <p:nvPr/>
        </p:nvSpPr>
        <p:spPr>
          <a:xfrm>
            <a:off x="3987672" y="2312526"/>
            <a:ext cx="1009334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Présumé</a:t>
            </a:r>
            <a:endParaRPr lang="fr-FR" sz="1400" dirty="0"/>
          </a:p>
        </p:txBody>
      </p:sp>
      <p:sp>
        <p:nvSpPr>
          <p:cNvPr id="16" name="Rectangle 15"/>
          <p:cNvSpPr/>
          <p:nvPr/>
        </p:nvSpPr>
        <p:spPr>
          <a:xfrm>
            <a:off x="8189188" y="1959812"/>
            <a:ext cx="828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7" name="Titre 1"/>
          <p:cNvSpPr txBox="1">
            <a:spLocks/>
          </p:cNvSpPr>
          <p:nvPr/>
        </p:nvSpPr>
        <p:spPr>
          <a:xfrm>
            <a:off x="6978276" y="1937299"/>
            <a:ext cx="582889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Sexe</a:t>
            </a:r>
            <a:endParaRPr lang="fr-FR" sz="1400" dirty="0"/>
          </a:p>
        </p:txBody>
      </p:sp>
      <p:sp>
        <p:nvSpPr>
          <p:cNvPr id="19" name="Rectangle 18"/>
          <p:cNvSpPr/>
          <p:nvPr/>
        </p:nvSpPr>
        <p:spPr>
          <a:xfrm>
            <a:off x="10262303" y="2393238"/>
            <a:ext cx="987416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0" name="Titre 1"/>
          <p:cNvSpPr txBox="1">
            <a:spLocks/>
          </p:cNvSpPr>
          <p:nvPr/>
        </p:nvSpPr>
        <p:spPr>
          <a:xfrm>
            <a:off x="9101130" y="2375238"/>
            <a:ext cx="1494142" cy="324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Nom marital</a:t>
            </a:r>
            <a:endParaRPr lang="fr-FR" sz="1400" dirty="0"/>
          </a:p>
        </p:txBody>
      </p:sp>
      <p:sp>
        <p:nvSpPr>
          <p:cNvPr id="21" name="Rectangle 20"/>
          <p:cNvSpPr/>
          <p:nvPr/>
        </p:nvSpPr>
        <p:spPr>
          <a:xfrm>
            <a:off x="6018521" y="2397693"/>
            <a:ext cx="479631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2" name="Titre 1"/>
          <p:cNvSpPr txBox="1">
            <a:spLocks/>
          </p:cNvSpPr>
          <p:nvPr/>
        </p:nvSpPr>
        <p:spPr>
          <a:xfrm>
            <a:off x="5550932" y="2308414"/>
            <a:ext cx="50941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Âge</a:t>
            </a:r>
            <a:endParaRPr lang="fr-FR" sz="1400" dirty="0"/>
          </a:p>
        </p:txBody>
      </p:sp>
      <p:sp>
        <p:nvSpPr>
          <p:cNvPr id="23" name="Rectangle 22"/>
          <p:cNvSpPr/>
          <p:nvPr/>
        </p:nvSpPr>
        <p:spPr>
          <a:xfrm>
            <a:off x="191992" y="594181"/>
            <a:ext cx="11758269" cy="535570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4" name="Titre 1"/>
          <p:cNvSpPr txBox="1">
            <a:spLocks/>
          </p:cNvSpPr>
          <p:nvPr/>
        </p:nvSpPr>
        <p:spPr>
          <a:xfrm>
            <a:off x="185127" y="5964589"/>
            <a:ext cx="11812634" cy="79709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000" dirty="0" smtClean="0"/>
              <a:t>Type </a:t>
            </a:r>
            <a:r>
              <a:rPr lang="fr-FR" sz="1000" dirty="0"/>
              <a:t>de </a:t>
            </a:r>
            <a:r>
              <a:rPr lang="fr-FR" sz="1000" dirty="0" smtClean="0"/>
              <a:t>patient (catégorie des patients) : Hospitalisation – Patient externe – Prise en charge. </a:t>
            </a:r>
            <a:endParaRPr lang="fr-FR" sz="1000" dirty="0"/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000" dirty="0"/>
              <a:t>Type </a:t>
            </a:r>
            <a:r>
              <a:rPr lang="fr-FR" sz="1000" dirty="0" smtClean="0"/>
              <a:t>Pièce d’identité (P,I)  : Carte d’identité (CI) – Permis de conduire (PC)  – passeport 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000" dirty="0" smtClean="0"/>
              <a:t>Mode de facturation : Normale – Garde – Férie.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000" dirty="0" smtClean="0"/>
              <a:t>Si le sexe = Homme ne pas afficher le champs  ‘’nom marital’’.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000" dirty="0" smtClean="0"/>
              <a:t>Si le patient existe déjà dans la base de donnée affiché un message d’alerte «</a:t>
            </a:r>
            <a:r>
              <a:rPr lang="fr-FR" sz="1000" dirty="0"/>
              <a:t> </a:t>
            </a:r>
            <a:r>
              <a:rPr lang="fr-FR" sz="1000" dirty="0" smtClean="0"/>
              <a:t>patient existe »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37" name="Rectangle 36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43" name="Rectangle 42"/>
          <p:cNvSpPr/>
          <p:nvPr/>
        </p:nvSpPr>
        <p:spPr>
          <a:xfrm>
            <a:off x="5721259" y="2778206"/>
            <a:ext cx="783524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4" name="Titre 1"/>
          <p:cNvSpPr txBox="1">
            <a:spLocks/>
          </p:cNvSpPr>
          <p:nvPr/>
        </p:nvSpPr>
        <p:spPr>
          <a:xfrm>
            <a:off x="3716837" y="2722818"/>
            <a:ext cx="2045277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Commune de  naissance</a:t>
            </a:r>
            <a:endParaRPr lang="fr-FR" sz="1400" dirty="0"/>
          </a:p>
        </p:txBody>
      </p:sp>
      <p:sp>
        <p:nvSpPr>
          <p:cNvPr id="67" name="Titre 1"/>
          <p:cNvSpPr txBox="1">
            <a:spLocks/>
          </p:cNvSpPr>
          <p:nvPr/>
        </p:nvSpPr>
        <p:spPr>
          <a:xfrm>
            <a:off x="4984210" y="3165467"/>
            <a:ext cx="764815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dirty="0" smtClean="0"/>
              <a:t>Wilaya </a:t>
            </a:r>
            <a:endParaRPr lang="fr-FR" sz="1400" dirty="0"/>
          </a:p>
        </p:txBody>
      </p:sp>
      <p:sp>
        <p:nvSpPr>
          <p:cNvPr id="70" name="Rectangle 69"/>
          <p:cNvSpPr/>
          <p:nvPr/>
        </p:nvSpPr>
        <p:spPr>
          <a:xfrm>
            <a:off x="1940930" y="3188326"/>
            <a:ext cx="2880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1" name="Titre 1"/>
          <p:cNvSpPr txBox="1">
            <a:spLocks/>
          </p:cNvSpPr>
          <p:nvPr/>
        </p:nvSpPr>
        <p:spPr>
          <a:xfrm>
            <a:off x="1140028" y="3150626"/>
            <a:ext cx="929476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Adresse * </a:t>
            </a:r>
            <a:endParaRPr lang="fr-FR" sz="1400" dirty="0"/>
          </a:p>
        </p:txBody>
      </p:sp>
      <p:sp>
        <p:nvSpPr>
          <p:cNvPr id="72" name="Rectangle 71"/>
          <p:cNvSpPr/>
          <p:nvPr/>
        </p:nvSpPr>
        <p:spPr>
          <a:xfrm>
            <a:off x="5720369" y="3196696"/>
            <a:ext cx="1332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3" name="Titre 1"/>
          <p:cNvSpPr txBox="1">
            <a:spLocks/>
          </p:cNvSpPr>
          <p:nvPr/>
        </p:nvSpPr>
        <p:spPr>
          <a:xfrm>
            <a:off x="7156453" y="3118271"/>
            <a:ext cx="1099741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Commune</a:t>
            </a:r>
            <a:endParaRPr lang="fr-FR" sz="1200" dirty="0" smtClean="0"/>
          </a:p>
        </p:txBody>
      </p:sp>
      <p:sp>
        <p:nvSpPr>
          <p:cNvPr id="74" name="Rectangle 73"/>
          <p:cNvSpPr/>
          <p:nvPr/>
        </p:nvSpPr>
        <p:spPr>
          <a:xfrm>
            <a:off x="8194031" y="3171385"/>
            <a:ext cx="1090555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5" name="Titre 1"/>
          <p:cNvSpPr txBox="1">
            <a:spLocks/>
          </p:cNvSpPr>
          <p:nvPr/>
        </p:nvSpPr>
        <p:spPr>
          <a:xfrm>
            <a:off x="9459203" y="3103833"/>
            <a:ext cx="1083001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Code Postal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0560745" y="3041279"/>
            <a:ext cx="671988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0" name="ZoneTexte 89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91" name="Rectangle 90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92" name="Titre 1"/>
          <p:cNvSpPr txBox="1">
            <a:spLocks/>
          </p:cNvSpPr>
          <p:nvPr/>
        </p:nvSpPr>
        <p:spPr>
          <a:xfrm>
            <a:off x="1240162" y="3573020"/>
            <a:ext cx="679072" cy="33714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E-mail</a:t>
            </a:r>
            <a:endParaRPr lang="fr-FR" sz="1400" dirty="0"/>
          </a:p>
        </p:txBody>
      </p:sp>
      <p:sp>
        <p:nvSpPr>
          <p:cNvPr id="93" name="Rectangle 92"/>
          <p:cNvSpPr/>
          <p:nvPr/>
        </p:nvSpPr>
        <p:spPr>
          <a:xfrm>
            <a:off x="1951662" y="3584644"/>
            <a:ext cx="1660572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4" name="Titre 1"/>
          <p:cNvSpPr txBox="1">
            <a:spLocks/>
          </p:cNvSpPr>
          <p:nvPr/>
        </p:nvSpPr>
        <p:spPr>
          <a:xfrm>
            <a:off x="4773307" y="3581907"/>
            <a:ext cx="1063710" cy="27108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Téléphone</a:t>
            </a:r>
            <a:endParaRPr lang="fr-FR" sz="1400" dirty="0"/>
          </a:p>
        </p:txBody>
      </p:sp>
      <p:sp>
        <p:nvSpPr>
          <p:cNvPr id="95" name="Rectangle 94"/>
          <p:cNvSpPr/>
          <p:nvPr/>
        </p:nvSpPr>
        <p:spPr>
          <a:xfrm>
            <a:off x="5721259" y="3581907"/>
            <a:ext cx="1332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8" name="Rectangle 97"/>
          <p:cNvSpPr/>
          <p:nvPr/>
        </p:nvSpPr>
        <p:spPr>
          <a:xfrm>
            <a:off x="311736" y="1786507"/>
            <a:ext cx="11160000" cy="2245061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0" name="Titre 1"/>
          <p:cNvSpPr txBox="1">
            <a:spLocks/>
          </p:cNvSpPr>
          <p:nvPr/>
        </p:nvSpPr>
        <p:spPr>
          <a:xfrm>
            <a:off x="708698" y="795288"/>
            <a:ext cx="1175322" cy="297004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de dossier </a:t>
            </a:r>
            <a:endParaRPr lang="fr-FR" sz="1400" dirty="0"/>
          </a:p>
        </p:txBody>
      </p:sp>
      <p:sp>
        <p:nvSpPr>
          <p:cNvPr id="101" name="Rectangle 100"/>
          <p:cNvSpPr/>
          <p:nvPr/>
        </p:nvSpPr>
        <p:spPr>
          <a:xfrm>
            <a:off x="1947031" y="774301"/>
            <a:ext cx="1151809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2" name="Rectangle 101"/>
          <p:cNvSpPr/>
          <p:nvPr/>
        </p:nvSpPr>
        <p:spPr>
          <a:xfrm>
            <a:off x="341566" y="692172"/>
            <a:ext cx="11160000" cy="904491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3" name="Titre 1"/>
          <p:cNvSpPr txBox="1">
            <a:spLocks/>
          </p:cNvSpPr>
          <p:nvPr/>
        </p:nvSpPr>
        <p:spPr>
          <a:xfrm>
            <a:off x="397196" y="1126643"/>
            <a:ext cx="1541912" cy="34977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defPPr>
              <a:defRPr lang="fr-FR"/>
            </a:defPPr>
            <a:lvl1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 sz="1400"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/>
              <a:t>Date </a:t>
            </a:r>
            <a:r>
              <a:rPr lang="fr-FR" dirty="0" smtClean="0"/>
              <a:t>d'admission *</a:t>
            </a:r>
            <a:endParaRPr lang="fr-FR" dirty="0"/>
          </a:p>
        </p:txBody>
      </p:sp>
      <p:sp>
        <p:nvSpPr>
          <p:cNvPr id="104" name="Rectangle 103"/>
          <p:cNvSpPr/>
          <p:nvPr/>
        </p:nvSpPr>
        <p:spPr>
          <a:xfrm>
            <a:off x="1978903" y="1155893"/>
            <a:ext cx="1125858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0" name="Titre 1"/>
          <p:cNvSpPr txBox="1">
            <a:spLocks/>
          </p:cNvSpPr>
          <p:nvPr/>
        </p:nvSpPr>
        <p:spPr>
          <a:xfrm>
            <a:off x="3266290" y="1120018"/>
            <a:ext cx="1541912" cy="34977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defPPr>
              <a:defRPr lang="fr-FR"/>
            </a:defPPr>
            <a:lvl1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 sz="1400"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 smtClean="0"/>
              <a:t>Type de patient</a:t>
            </a:r>
            <a:endParaRPr lang="fr-FR" dirty="0"/>
          </a:p>
        </p:txBody>
      </p:sp>
      <p:sp>
        <p:nvSpPr>
          <p:cNvPr id="111" name="Rectangle 110"/>
          <p:cNvSpPr/>
          <p:nvPr/>
        </p:nvSpPr>
        <p:spPr>
          <a:xfrm>
            <a:off x="4834745" y="1122764"/>
            <a:ext cx="1125858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2" name="Titre 1"/>
          <p:cNvSpPr txBox="1">
            <a:spLocks/>
          </p:cNvSpPr>
          <p:nvPr/>
        </p:nvSpPr>
        <p:spPr>
          <a:xfrm>
            <a:off x="6461216" y="1120262"/>
            <a:ext cx="836337" cy="34977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defPPr>
              <a:defRPr lang="fr-FR"/>
            </a:defPPr>
            <a:lvl1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 sz="1400"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 smtClean="0"/>
              <a:t>Service</a:t>
            </a:r>
            <a:endParaRPr lang="fr-FR" dirty="0"/>
          </a:p>
        </p:txBody>
      </p:sp>
      <p:sp>
        <p:nvSpPr>
          <p:cNvPr id="113" name="Rectangle 112"/>
          <p:cNvSpPr/>
          <p:nvPr/>
        </p:nvSpPr>
        <p:spPr>
          <a:xfrm>
            <a:off x="7246646" y="1122764"/>
            <a:ext cx="1125858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5" name="Titre 1"/>
          <p:cNvSpPr txBox="1">
            <a:spLocks/>
          </p:cNvSpPr>
          <p:nvPr/>
        </p:nvSpPr>
        <p:spPr>
          <a:xfrm>
            <a:off x="8534033" y="1113393"/>
            <a:ext cx="1541912" cy="34977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defPPr>
              <a:defRPr lang="fr-FR"/>
            </a:defPPr>
            <a:lvl1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 sz="1400"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 smtClean="0"/>
              <a:t>Médecin traitant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0115740" y="1116139"/>
            <a:ext cx="1125858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9" name="Rectangle 118"/>
          <p:cNvSpPr/>
          <p:nvPr/>
        </p:nvSpPr>
        <p:spPr>
          <a:xfrm>
            <a:off x="1939109" y="4430603"/>
            <a:ext cx="1080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0" name="Titre 1"/>
          <p:cNvSpPr txBox="1">
            <a:spLocks/>
          </p:cNvSpPr>
          <p:nvPr/>
        </p:nvSpPr>
        <p:spPr>
          <a:xfrm>
            <a:off x="1146160" y="4374798"/>
            <a:ext cx="785951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/>
              <a:t>Type </a:t>
            </a:r>
            <a:r>
              <a:rPr lang="fr-FR" sz="1400" dirty="0" smtClean="0"/>
              <a:t>P.I</a:t>
            </a:r>
            <a:endParaRPr lang="fr-FR" sz="1400" dirty="0"/>
          </a:p>
        </p:txBody>
      </p:sp>
      <p:sp>
        <p:nvSpPr>
          <p:cNvPr id="121" name="Rectangle 120"/>
          <p:cNvSpPr/>
          <p:nvPr/>
        </p:nvSpPr>
        <p:spPr>
          <a:xfrm>
            <a:off x="6749004" y="4390433"/>
            <a:ext cx="1080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3" name="Rectangle 122"/>
          <p:cNvSpPr/>
          <p:nvPr/>
        </p:nvSpPr>
        <p:spPr>
          <a:xfrm>
            <a:off x="4071626" y="4421314"/>
            <a:ext cx="1080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4" name="Titre 1"/>
          <p:cNvSpPr txBox="1">
            <a:spLocks/>
          </p:cNvSpPr>
          <p:nvPr/>
        </p:nvSpPr>
        <p:spPr>
          <a:xfrm>
            <a:off x="3383247" y="4388568"/>
            <a:ext cx="604425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P.I</a:t>
            </a:r>
            <a:endParaRPr lang="fr-FR" sz="1400" dirty="0"/>
          </a:p>
        </p:txBody>
      </p:sp>
      <p:sp>
        <p:nvSpPr>
          <p:cNvPr id="125" name="Triangle isocèle 124"/>
          <p:cNvSpPr/>
          <p:nvPr/>
        </p:nvSpPr>
        <p:spPr>
          <a:xfrm rot="10800000">
            <a:off x="2829320" y="4441409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6" name="Rectangle 125"/>
          <p:cNvSpPr/>
          <p:nvPr/>
        </p:nvSpPr>
        <p:spPr>
          <a:xfrm>
            <a:off x="9136376" y="4388170"/>
            <a:ext cx="987416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7" name="Titre 1"/>
          <p:cNvSpPr txBox="1">
            <a:spLocks/>
          </p:cNvSpPr>
          <p:nvPr/>
        </p:nvSpPr>
        <p:spPr>
          <a:xfrm>
            <a:off x="8117700" y="4354433"/>
            <a:ext cx="1494142" cy="324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/>
              <a:t>Délivré le</a:t>
            </a:r>
          </a:p>
        </p:txBody>
      </p:sp>
      <p:sp>
        <p:nvSpPr>
          <p:cNvPr id="129" name="Titre 1"/>
          <p:cNvSpPr txBox="1">
            <a:spLocks/>
          </p:cNvSpPr>
          <p:nvPr/>
        </p:nvSpPr>
        <p:spPr>
          <a:xfrm>
            <a:off x="5663576" y="4382378"/>
            <a:ext cx="1072368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/>
              <a:t>Délivré </a:t>
            </a:r>
            <a:r>
              <a:rPr lang="fr-FR" sz="1400" dirty="0" smtClean="0"/>
              <a:t>par</a:t>
            </a:r>
            <a:endParaRPr lang="fr-FR" sz="1400" dirty="0"/>
          </a:p>
        </p:txBody>
      </p:sp>
      <p:sp>
        <p:nvSpPr>
          <p:cNvPr id="141" name="Rectangle 140"/>
          <p:cNvSpPr/>
          <p:nvPr/>
        </p:nvSpPr>
        <p:spPr>
          <a:xfrm>
            <a:off x="1919233" y="4940807"/>
            <a:ext cx="1080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2" name="Titre 1"/>
          <p:cNvSpPr txBox="1">
            <a:spLocks/>
          </p:cNvSpPr>
          <p:nvPr/>
        </p:nvSpPr>
        <p:spPr>
          <a:xfrm>
            <a:off x="436235" y="4898616"/>
            <a:ext cx="147600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Mode facturation</a:t>
            </a:r>
            <a:endParaRPr lang="fr-FR" sz="1400" dirty="0"/>
          </a:p>
        </p:txBody>
      </p:sp>
      <p:sp>
        <p:nvSpPr>
          <p:cNvPr id="143" name="Triangle isocèle 142"/>
          <p:cNvSpPr/>
          <p:nvPr/>
        </p:nvSpPr>
        <p:spPr>
          <a:xfrm rot="10800000">
            <a:off x="2809444" y="4951613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4" name="Rectangle 143"/>
          <p:cNvSpPr/>
          <p:nvPr/>
        </p:nvSpPr>
        <p:spPr>
          <a:xfrm>
            <a:off x="5178336" y="4913933"/>
            <a:ext cx="1080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5" name="Titre 1"/>
          <p:cNvSpPr txBox="1">
            <a:spLocks/>
          </p:cNvSpPr>
          <p:nvPr/>
        </p:nvSpPr>
        <p:spPr>
          <a:xfrm>
            <a:off x="4181191" y="4870590"/>
            <a:ext cx="104400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Convention</a:t>
            </a:r>
            <a:endParaRPr lang="fr-FR" sz="1400" dirty="0"/>
          </a:p>
        </p:txBody>
      </p:sp>
      <p:sp>
        <p:nvSpPr>
          <p:cNvPr id="146" name="Triangle isocèle 145"/>
          <p:cNvSpPr/>
          <p:nvPr/>
        </p:nvSpPr>
        <p:spPr>
          <a:xfrm rot="10800000">
            <a:off x="6071107" y="4911659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7" name="Rectangle 146"/>
          <p:cNvSpPr/>
          <p:nvPr/>
        </p:nvSpPr>
        <p:spPr>
          <a:xfrm>
            <a:off x="348194" y="4250381"/>
            <a:ext cx="11160000" cy="116339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8" name="Rectangle 147"/>
          <p:cNvSpPr/>
          <p:nvPr/>
        </p:nvSpPr>
        <p:spPr>
          <a:xfrm>
            <a:off x="4072744" y="4967879"/>
            <a:ext cx="144893" cy="20856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301541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 txBox="1">
            <a:spLocks/>
          </p:cNvSpPr>
          <p:nvPr/>
        </p:nvSpPr>
        <p:spPr>
          <a:xfrm>
            <a:off x="4273579" y="59579"/>
            <a:ext cx="3231012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03 –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Patient 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- Accueil /</a:t>
            </a:r>
            <a:b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</a:br>
            <a:r>
              <a:rPr lang="fr-FR" altLang="fr-FR" sz="1800" b="1" dirty="0" smtClean="0">
                <a:latin typeface="Times New Roman" panose="02020603050405020304" pitchFamily="18" charset="0"/>
              </a:rPr>
              <a:t>Acte médical - biologie</a:t>
            </a:r>
            <a:endParaRPr lang="fr-FR" sz="1800" dirty="0"/>
          </a:p>
        </p:txBody>
      </p:sp>
      <p:sp>
        <p:nvSpPr>
          <p:cNvPr id="3" name="Rectangle 2"/>
          <p:cNvSpPr/>
          <p:nvPr/>
        </p:nvSpPr>
        <p:spPr>
          <a:xfrm>
            <a:off x="1949179" y="1588752"/>
            <a:ext cx="1691245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" name="Titre 1"/>
          <p:cNvSpPr txBox="1">
            <a:spLocks/>
          </p:cNvSpPr>
          <p:nvPr/>
        </p:nvSpPr>
        <p:spPr>
          <a:xfrm>
            <a:off x="1142318" y="1509127"/>
            <a:ext cx="776915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Famille</a:t>
            </a:r>
            <a:endParaRPr lang="fr-FR" sz="1400" dirty="0"/>
          </a:p>
        </p:txBody>
      </p:sp>
      <p:sp>
        <p:nvSpPr>
          <p:cNvPr id="5" name="Rectangle 4"/>
          <p:cNvSpPr/>
          <p:nvPr/>
        </p:nvSpPr>
        <p:spPr>
          <a:xfrm>
            <a:off x="5452682" y="1595354"/>
            <a:ext cx="1691245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" name="Titre 1"/>
          <p:cNvSpPr txBox="1">
            <a:spLocks/>
          </p:cNvSpPr>
          <p:nvPr/>
        </p:nvSpPr>
        <p:spPr>
          <a:xfrm>
            <a:off x="4580407" y="1566249"/>
            <a:ext cx="908699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Groupe</a:t>
            </a:r>
            <a:endParaRPr lang="fr-FR" sz="1400" dirty="0"/>
          </a:p>
        </p:txBody>
      </p:sp>
      <p:sp>
        <p:nvSpPr>
          <p:cNvPr id="14" name="Titre 1"/>
          <p:cNvSpPr txBox="1">
            <a:spLocks/>
          </p:cNvSpPr>
          <p:nvPr/>
        </p:nvSpPr>
        <p:spPr>
          <a:xfrm>
            <a:off x="9098700" y="1476728"/>
            <a:ext cx="1260363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Bilan standard</a:t>
            </a:r>
            <a:endParaRPr lang="fr-FR" sz="1400" dirty="0"/>
          </a:p>
        </p:txBody>
      </p:sp>
      <p:sp>
        <p:nvSpPr>
          <p:cNvPr id="23" name="Rectangle 22"/>
          <p:cNvSpPr/>
          <p:nvPr/>
        </p:nvSpPr>
        <p:spPr>
          <a:xfrm>
            <a:off x="191992" y="594181"/>
            <a:ext cx="11758269" cy="618479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4" name="Titre 1"/>
          <p:cNvSpPr txBox="1">
            <a:spLocks/>
          </p:cNvSpPr>
          <p:nvPr/>
        </p:nvSpPr>
        <p:spPr>
          <a:xfrm>
            <a:off x="6396747" y="5517827"/>
            <a:ext cx="3519899" cy="10412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050" dirty="0"/>
              <a:t>Chaque famille d'analyse contient </a:t>
            </a:r>
            <a:r>
              <a:rPr lang="fr-FR" sz="1050" dirty="0" smtClean="0"/>
              <a:t>des groupes des analyses biologiques.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050" dirty="0" smtClean="0"/>
              <a:t>Quand on choisir le groupe d’analyse un tableau s’affiche pour choisir l’analyse </a:t>
            </a:r>
            <a:r>
              <a:rPr lang="fr-FR" sz="1050" dirty="0"/>
              <a:t>biologique correspondante au choix de </a:t>
            </a:r>
            <a:r>
              <a:rPr lang="fr-FR" sz="1050" dirty="0" smtClean="0"/>
              <a:t>patient, ou bien on peut coché le choix ‘’ Bilan standard’’ pour choisir un analyse standard. 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37" name="Rectangle 36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56" name="Rectangle 55"/>
          <p:cNvSpPr/>
          <p:nvPr/>
        </p:nvSpPr>
        <p:spPr>
          <a:xfrm>
            <a:off x="4729267" y="6199087"/>
            <a:ext cx="1332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Recherche</a:t>
            </a:r>
          </a:p>
        </p:txBody>
      </p:sp>
      <p:sp>
        <p:nvSpPr>
          <p:cNvPr id="90" name="ZoneTexte 89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91" name="Rectangle 90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98" name="Rectangle 97"/>
          <p:cNvSpPr/>
          <p:nvPr/>
        </p:nvSpPr>
        <p:spPr>
          <a:xfrm>
            <a:off x="311736" y="1415446"/>
            <a:ext cx="11160000" cy="4046083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9" name="Rectangle 118"/>
          <p:cNvSpPr/>
          <p:nvPr/>
        </p:nvSpPr>
        <p:spPr>
          <a:xfrm>
            <a:off x="1270248" y="5675813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0" name="Titre 1"/>
          <p:cNvSpPr txBox="1">
            <a:spLocks/>
          </p:cNvSpPr>
          <p:nvPr/>
        </p:nvSpPr>
        <p:spPr>
          <a:xfrm>
            <a:off x="477299" y="5620008"/>
            <a:ext cx="785951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Famille</a:t>
            </a:r>
            <a:endParaRPr lang="fr-FR" sz="1400" dirty="0"/>
          </a:p>
        </p:txBody>
      </p:sp>
      <p:sp>
        <p:nvSpPr>
          <p:cNvPr id="123" name="Rectangle 122"/>
          <p:cNvSpPr/>
          <p:nvPr/>
        </p:nvSpPr>
        <p:spPr>
          <a:xfrm>
            <a:off x="3402765" y="5666524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4" name="Titre 1"/>
          <p:cNvSpPr txBox="1">
            <a:spLocks/>
          </p:cNvSpPr>
          <p:nvPr/>
        </p:nvSpPr>
        <p:spPr>
          <a:xfrm>
            <a:off x="2651501" y="5646361"/>
            <a:ext cx="736635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Groupe</a:t>
            </a:r>
            <a:endParaRPr lang="fr-FR" sz="1400" dirty="0"/>
          </a:p>
        </p:txBody>
      </p:sp>
      <p:sp>
        <p:nvSpPr>
          <p:cNvPr id="125" name="Triangle isocèle 124"/>
          <p:cNvSpPr/>
          <p:nvPr/>
        </p:nvSpPr>
        <p:spPr>
          <a:xfrm rot="10800000">
            <a:off x="2160459" y="5686619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9" name="Titre 1"/>
          <p:cNvSpPr txBox="1">
            <a:spLocks/>
          </p:cNvSpPr>
          <p:nvPr/>
        </p:nvSpPr>
        <p:spPr>
          <a:xfrm>
            <a:off x="758102" y="6167483"/>
            <a:ext cx="1242165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Bilan standard</a:t>
            </a:r>
            <a:endParaRPr lang="fr-FR" sz="1400" dirty="0"/>
          </a:p>
        </p:txBody>
      </p:sp>
      <p:sp>
        <p:nvSpPr>
          <p:cNvPr id="141" name="Rectangle 140"/>
          <p:cNvSpPr/>
          <p:nvPr/>
        </p:nvSpPr>
        <p:spPr>
          <a:xfrm>
            <a:off x="3396639" y="6199133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2" name="Titre 1"/>
          <p:cNvSpPr txBox="1">
            <a:spLocks/>
          </p:cNvSpPr>
          <p:nvPr/>
        </p:nvSpPr>
        <p:spPr>
          <a:xfrm>
            <a:off x="2192532" y="6167073"/>
            <a:ext cx="1210233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Alphabétique</a:t>
            </a:r>
            <a:endParaRPr lang="fr-FR" sz="1400" dirty="0"/>
          </a:p>
        </p:txBody>
      </p:sp>
      <p:sp>
        <p:nvSpPr>
          <p:cNvPr id="143" name="Triangle isocèle 142"/>
          <p:cNvSpPr/>
          <p:nvPr/>
        </p:nvSpPr>
        <p:spPr>
          <a:xfrm rot="10800000">
            <a:off x="4292919" y="6223104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7" name="Rectangle 146"/>
          <p:cNvSpPr/>
          <p:nvPr/>
        </p:nvSpPr>
        <p:spPr>
          <a:xfrm>
            <a:off x="330438" y="5519329"/>
            <a:ext cx="11160000" cy="116339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3" name="Rectangle 82"/>
          <p:cNvSpPr/>
          <p:nvPr/>
        </p:nvSpPr>
        <p:spPr>
          <a:xfrm>
            <a:off x="396479" y="753011"/>
            <a:ext cx="1332000" cy="360000"/>
          </a:xfrm>
          <a:prstGeom prst="rect">
            <a:avLst/>
          </a:prstGeom>
          <a:solidFill>
            <a:srgbClr val="92D05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Biologie</a:t>
            </a:r>
            <a:endParaRPr lang="fr-FR" sz="1400" dirty="0"/>
          </a:p>
        </p:txBody>
      </p:sp>
      <p:sp>
        <p:nvSpPr>
          <p:cNvPr id="84" name="Rectangle 83"/>
          <p:cNvSpPr/>
          <p:nvPr/>
        </p:nvSpPr>
        <p:spPr>
          <a:xfrm>
            <a:off x="1834340" y="759639"/>
            <a:ext cx="133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Radiologie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262914" y="752659"/>
            <a:ext cx="168154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Spécialité médicale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056358" y="758528"/>
            <a:ext cx="2304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Actes </a:t>
            </a:r>
            <a:r>
              <a:rPr lang="fr-FR" sz="1400" dirty="0" smtClean="0"/>
              <a:t>Médicaux-chirurgicaux</a:t>
            </a:r>
            <a:endParaRPr lang="fr-FR" sz="1400" dirty="0"/>
          </a:p>
        </p:txBody>
      </p:sp>
      <p:sp>
        <p:nvSpPr>
          <p:cNvPr id="89" name="Triangle isocèle 88"/>
          <p:cNvSpPr/>
          <p:nvPr/>
        </p:nvSpPr>
        <p:spPr>
          <a:xfrm rot="10800000">
            <a:off x="3465777" y="1597521"/>
            <a:ext cx="161002" cy="452535"/>
          </a:xfrm>
          <a:prstGeom prst="triangle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6" name="Triangle isocèle 95"/>
          <p:cNvSpPr/>
          <p:nvPr/>
        </p:nvSpPr>
        <p:spPr>
          <a:xfrm rot="10800000">
            <a:off x="7004575" y="1604146"/>
            <a:ext cx="127406" cy="445910"/>
          </a:xfrm>
          <a:prstGeom prst="triangl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7" name="Rectangle 76"/>
          <p:cNvSpPr/>
          <p:nvPr/>
        </p:nvSpPr>
        <p:spPr>
          <a:xfrm>
            <a:off x="930137" y="2054944"/>
            <a:ext cx="2762320" cy="3277998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8" name="Titre 1"/>
          <p:cNvSpPr txBox="1">
            <a:spLocks/>
          </p:cNvSpPr>
          <p:nvPr/>
        </p:nvSpPr>
        <p:spPr>
          <a:xfrm>
            <a:off x="1047705" y="2072949"/>
            <a:ext cx="2328338" cy="323767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Biochimie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/>
              <a:t>Bactériologie / Parasitologie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Hématologie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Toxicologie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Immunologie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Auto immunité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Vitamines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Sérologie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Pharmacologie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Marqueurs Tumoraux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Métaux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Pasteur </a:t>
            </a:r>
            <a:r>
              <a:rPr lang="fr-FR" sz="1400" dirty="0"/>
              <a:t>C</a:t>
            </a:r>
            <a:r>
              <a:rPr lang="fr-FR" sz="1400" dirty="0" smtClean="0"/>
              <a:t>erba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Hormonologie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Allergie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Hémostase</a:t>
            </a:r>
          </a:p>
        </p:txBody>
      </p:sp>
      <p:sp>
        <p:nvSpPr>
          <p:cNvPr id="17" name="Accolade ouvrante 16"/>
          <p:cNvSpPr/>
          <p:nvPr/>
        </p:nvSpPr>
        <p:spPr>
          <a:xfrm rot="16200000">
            <a:off x="9439333" y="1094696"/>
            <a:ext cx="321621" cy="1466481"/>
          </a:xfrm>
          <a:prstGeom prst="leftBrace">
            <a:avLst>
              <a:gd name="adj1" fmla="val 8333"/>
              <a:gd name="adj2" fmla="val 48638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1" name="Rectangle 80"/>
          <p:cNvSpPr/>
          <p:nvPr/>
        </p:nvSpPr>
        <p:spPr>
          <a:xfrm>
            <a:off x="8519502" y="2019505"/>
            <a:ext cx="2762320" cy="3277998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2" name="Titre 1"/>
          <p:cNvSpPr txBox="1">
            <a:spLocks/>
          </p:cNvSpPr>
          <p:nvPr/>
        </p:nvSpPr>
        <p:spPr>
          <a:xfrm>
            <a:off x="8585180" y="2024427"/>
            <a:ext cx="2328338" cy="323767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1400" dirty="0"/>
              <a:t>Anticorps anti HBS</a:t>
            </a:r>
          </a:p>
          <a:p>
            <a:r>
              <a:rPr lang="fr-FR" sz="1400" dirty="0"/>
              <a:t>Anticorps anti HCV</a:t>
            </a:r>
          </a:p>
          <a:p>
            <a:r>
              <a:rPr lang="fr-FR" sz="1400" dirty="0"/>
              <a:t>Anticorps anti HIV (1+2)</a:t>
            </a:r>
          </a:p>
          <a:p>
            <a:r>
              <a:rPr lang="fr-FR" sz="1400" dirty="0"/>
              <a:t>Créatinine</a:t>
            </a:r>
          </a:p>
          <a:p>
            <a:r>
              <a:rPr lang="fr-FR" sz="1400" dirty="0"/>
              <a:t>CRP = </a:t>
            </a:r>
            <a:r>
              <a:rPr lang="fr-FR" sz="1400" dirty="0" smtClean="0"/>
              <a:t>C-Réactive </a:t>
            </a:r>
            <a:r>
              <a:rPr lang="fr-FR" sz="1400" dirty="0"/>
              <a:t>Protéine</a:t>
            </a:r>
          </a:p>
          <a:p>
            <a:r>
              <a:rPr lang="fr-FR" sz="1400" dirty="0"/>
              <a:t>FNS</a:t>
            </a:r>
          </a:p>
          <a:p>
            <a:r>
              <a:rPr lang="fr-FR" sz="1400" dirty="0"/>
              <a:t>Glycémie</a:t>
            </a:r>
          </a:p>
          <a:p>
            <a:r>
              <a:rPr lang="fr-FR" sz="1400" dirty="0"/>
              <a:t>Groupage sanguin ABO /Rhésus D</a:t>
            </a:r>
          </a:p>
          <a:p>
            <a:r>
              <a:rPr lang="fr-FR" sz="1400" dirty="0"/>
              <a:t>INR</a:t>
            </a:r>
          </a:p>
          <a:p>
            <a:r>
              <a:rPr lang="fr-FR" sz="1400" dirty="0"/>
              <a:t>Ionogramme sanguin</a:t>
            </a:r>
          </a:p>
          <a:p>
            <a:r>
              <a:rPr lang="fr-FR" sz="1400" dirty="0"/>
              <a:t>TCA /TCK</a:t>
            </a:r>
          </a:p>
          <a:p>
            <a:r>
              <a:rPr lang="fr-FR" sz="1400" dirty="0"/>
              <a:t>Temps de Quick</a:t>
            </a:r>
          </a:p>
          <a:p>
            <a:r>
              <a:rPr lang="fr-FR" sz="1400" dirty="0"/>
              <a:t>TP</a:t>
            </a:r>
          </a:p>
          <a:p>
            <a:r>
              <a:rPr lang="fr-FR" sz="1400" dirty="0"/>
              <a:t>Troponine</a:t>
            </a:r>
          </a:p>
          <a:p>
            <a:r>
              <a:rPr lang="fr-FR" sz="1400" dirty="0"/>
              <a:t>Urée sanguine</a:t>
            </a:r>
          </a:p>
          <a:p>
            <a:r>
              <a:rPr lang="fr-FR" sz="1400" dirty="0"/>
              <a:t>VS (vitesse de sédimentation</a:t>
            </a:r>
            <a:r>
              <a:rPr lang="fr-FR" sz="1400" dirty="0" smtClean="0"/>
              <a:t>)</a:t>
            </a:r>
            <a:endParaRPr lang="fr-FR" sz="1400" dirty="0"/>
          </a:p>
        </p:txBody>
      </p:sp>
      <p:sp>
        <p:nvSpPr>
          <p:cNvPr id="97" name="Rectangle 96"/>
          <p:cNvSpPr/>
          <p:nvPr/>
        </p:nvSpPr>
        <p:spPr>
          <a:xfrm>
            <a:off x="4123282" y="2047578"/>
            <a:ext cx="3479495" cy="3277998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0" name="Triangle isocèle 99"/>
          <p:cNvSpPr/>
          <p:nvPr/>
        </p:nvSpPr>
        <p:spPr>
          <a:xfrm rot="10800000">
            <a:off x="4273579" y="5693880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25" name="Connecteur droit 24"/>
          <p:cNvCxnSpPr/>
          <p:nvPr/>
        </p:nvCxnSpPr>
        <p:spPr>
          <a:xfrm>
            <a:off x="6208358" y="5531483"/>
            <a:ext cx="0" cy="1152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7" name="Connecteur droit avec flèche 26"/>
          <p:cNvCxnSpPr/>
          <p:nvPr/>
        </p:nvCxnSpPr>
        <p:spPr>
          <a:xfrm>
            <a:off x="2123380" y="2663687"/>
            <a:ext cx="232535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Accolade ouvrante 27"/>
          <p:cNvSpPr/>
          <p:nvPr/>
        </p:nvSpPr>
        <p:spPr>
          <a:xfrm>
            <a:off x="4568482" y="2218455"/>
            <a:ext cx="360844" cy="1266868"/>
          </a:xfrm>
          <a:prstGeom prst="leftBrace">
            <a:avLst>
              <a:gd name="adj1" fmla="val 8333"/>
              <a:gd name="adj2" fmla="val 25573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Rectangle 28"/>
          <p:cNvSpPr/>
          <p:nvPr/>
        </p:nvSpPr>
        <p:spPr>
          <a:xfrm>
            <a:off x="4847314" y="2185788"/>
            <a:ext cx="2694175" cy="147181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>
                <a:latin typeface="+mj-lt"/>
                <a:ea typeface="+mj-ea"/>
                <a:cs typeface="+mj-cs"/>
              </a:rPr>
              <a:t>Cytologie	</a:t>
            </a:r>
          </a:p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>
                <a:latin typeface="+mj-lt"/>
                <a:ea typeface="+mj-ea"/>
                <a:cs typeface="+mj-cs"/>
              </a:rPr>
              <a:t>Biologie	</a:t>
            </a:r>
          </a:p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>
                <a:latin typeface="+mj-lt"/>
                <a:ea typeface="+mj-ea"/>
                <a:cs typeface="+mj-cs"/>
              </a:rPr>
              <a:t>Hémostase	</a:t>
            </a:r>
          </a:p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>
                <a:latin typeface="+mj-lt"/>
                <a:ea typeface="+mj-ea"/>
                <a:cs typeface="+mj-cs"/>
              </a:rPr>
              <a:t>Groupage sanguins et anticorps irréguliers	</a:t>
            </a:r>
          </a:p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>
                <a:latin typeface="+mj-lt"/>
                <a:ea typeface="+mj-ea"/>
                <a:cs typeface="+mj-cs"/>
              </a:rPr>
              <a:t>Formule numération sanguine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4273578" y="3795388"/>
            <a:ext cx="2911907" cy="1440277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32" name="Connecteur droit avec flèche 31"/>
          <p:cNvCxnSpPr/>
          <p:nvPr/>
        </p:nvCxnSpPr>
        <p:spPr>
          <a:xfrm>
            <a:off x="5817705" y="3485323"/>
            <a:ext cx="390653" cy="3038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4671668" y="3878666"/>
            <a:ext cx="2996787" cy="131848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>
                <a:latin typeface="+mj-lt"/>
                <a:ea typeface="+mj-ea"/>
                <a:cs typeface="+mj-cs"/>
              </a:rPr>
              <a:t>Equilibre </a:t>
            </a:r>
            <a:r>
              <a:rPr lang="fr-FR" sz="1400" dirty="0" smtClean="0">
                <a:latin typeface="+mj-lt"/>
                <a:ea typeface="+mj-ea"/>
                <a:cs typeface="+mj-cs"/>
              </a:rPr>
              <a:t>leucocytaire</a:t>
            </a:r>
          </a:p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endParaRPr lang="fr-FR" sz="500" dirty="0">
              <a:latin typeface="+mj-lt"/>
              <a:ea typeface="+mj-ea"/>
              <a:cs typeface="+mj-cs"/>
            </a:endParaRPr>
          </a:p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>
                <a:latin typeface="+mj-lt"/>
                <a:ea typeface="+mj-ea"/>
                <a:cs typeface="+mj-cs"/>
              </a:rPr>
              <a:t>FNS</a:t>
            </a:r>
          </a:p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endParaRPr lang="fr-FR" sz="500" dirty="0" smtClean="0">
              <a:latin typeface="+mj-lt"/>
              <a:ea typeface="+mj-ea"/>
              <a:cs typeface="+mj-cs"/>
            </a:endParaRPr>
          </a:p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Myélogramme</a:t>
            </a:r>
            <a:endParaRPr lang="fr-FR" sz="1400" dirty="0">
              <a:latin typeface="+mj-lt"/>
              <a:ea typeface="+mj-ea"/>
              <a:cs typeface="+mj-cs"/>
            </a:endParaRPr>
          </a:p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endParaRPr lang="fr-FR" sz="500" dirty="0" smtClean="0">
              <a:latin typeface="+mj-lt"/>
              <a:ea typeface="+mj-ea"/>
              <a:cs typeface="+mj-cs"/>
            </a:endParaRPr>
          </a:p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Réticulocytes</a:t>
            </a:r>
            <a:endParaRPr lang="fr-FR" sz="1400" dirty="0">
              <a:latin typeface="+mj-lt"/>
              <a:ea typeface="+mj-ea"/>
              <a:cs typeface="+mj-cs"/>
            </a:endParaRPr>
          </a:p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endParaRPr lang="fr-FR" sz="500" dirty="0" smtClean="0">
              <a:latin typeface="+mj-lt"/>
              <a:ea typeface="+mj-ea"/>
              <a:cs typeface="+mj-cs"/>
            </a:endParaRPr>
          </a:p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VS </a:t>
            </a:r>
            <a:r>
              <a:rPr lang="fr-FR" sz="1400" dirty="0">
                <a:latin typeface="+mj-lt"/>
                <a:ea typeface="+mj-ea"/>
                <a:cs typeface="+mj-cs"/>
              </a:rPr>
              <a:t>(vitesse de sédimentation)</a:t>
            </a:r>
          </a:p>
        </p:txBody>
      </p:sp>
      <p:sp>
        <p:nvSpPr>
          <p:cNvPr id="38" name="Ellipse 37"/>
          <p:cNvSpPr/>
          <p:nvPr/>
        </p:nvSpPr>
        <p:spPr>
          <a:xfrm flipV="1">
            <a:off x="4473247" y="3915856"/>
            <a:ext cx="144000" cy="144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8" name="Ellipse 107"/>
          <p:cNvSpPr/>
          <p:nvPr/>
        </p:nvSpPr>
        <p:spPr>
          <a:xfrm flipV="1">
            <a:off x="4468078" y="4174236"/>
            <a:ext cx="144000" cy="144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9" name="Ellipse 108"/>
          <p:cNvSpPr/>
          <p:nvPr/>
        </p:nvSpPr>
        <p:spPr>
          <a:xfrm flipV="1">
            <a:off x="4466151" y="4435031"/>
            <a:ext cx="144000" cy="144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0" name="Ellipse 109"/>
          <p:cNvSpPr/>
          <p:nvPr/>
        </p:nvSpPr>
        <p:spPr>
          <a:xfrm flipV="1">
            <a:off x="4461990" y="4722330"/>
            <a:ext cx="144000" cy="144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1" name="Ellipse 110"/>
          <p:cNvSpPr/>
          <p:nvPr/>
        </p:nvSpPr>
        <p:spPr>
          <a:xfrm flipV="1">
            <a:off x="4465638" y="5002556"/>
            <a:ext cx="144000" cy="144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2" name="Ellipse 111"/>
          <p:cNvSpPr/>
          <p:nvPr/>
        </p:nvSpPr>
        <p:spPr>
          <a:xfrm flipV="1">
            <a:off x="616859" y="6243913"/>
            <a:ext cx="180000" cy="180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3" name="Ellipse 112"/>
          <p:cNvSpPr/>
          <p:nvPr/>
        </p:nvSpPr>
        <p:spPr>
          <a:xfrm flipV="1">
            <a:off x="8892857" y="1559267"/>
            <a:ext cx="180000" cy="180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4" name="Ellipse 113"/>
          <p:cNvSpPr/>
          <p:nvPr/>
        </p:nvSpPr>
        <p:spPr>
          <a:xfrm flipV="1">
            <a:off x="8945853" y="1603348"/>
            <a:ext cx="90000" cy="900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5" name="Rectangle 114"/>
          <p:cNvSpPr/>
          <p:nvPr/>
        </p:nvSpPr>
        <p:spPr>
          <a:xfrm>
            <a:off x="9930750" y="5609364"/>
            <a:ext cx="1332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Valider</a:t>
            </a:r>
          </a:p>
        </p:txBody>
      </p:sp>
    </p:spTree>
    <p:extLst>
      <p:ext uri="{BB962C8B-B14F-4D97-AF65-F5344CB8AC3E}">
        <p14:creationId xmlns:p14="http://schemas.microsoft.com/office/powerpoint/2010/main" val="11534926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 txBox="1">
            <a:spLocks/>
          </p:cNvSpPr>
          <p:nvPr/>
        </p:nvSpPr>
        <p:spPr>
          <a:xfrm>
            <a:off x="4273579" y="59579"/>
            <a:ext cx="3231012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04 –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Patient 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- Accueil /</a:t>
            </a:r>
            <a:b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</a:br>
            <a:r>
              <a:rPr lang="fr-FR" altLang="fr-FR" sz="1800" b="1" dirty="0" smtClean="0">
                <a:latin typeface="Times New Roman" panose="02020603050405020304" pitchFamily="18" charset="0"/>
              </a:rPr>
              <a:t>Acte médical - radiologie</a:t>
            </a:r>
            <a:endParaRPr lang="fr-FR" sz="1800" dirty="0"/>
          </a:p>
        </p:txBody>
      </p:sp>
      <p:sp>
        <p:nvSpPr>
          <p:cNvPr id="3" name="Rectangle 2"/>
          <p:cNvSpPr/>
          <p:nvPr/>
        </p:nvSpPr>
        <p:spPr>
          <a:xfrm>
            <a:off x="1949179" y="1588752"/>
            <a:ext cx="1691245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" name="Titre 1"/>
          <p:cNvSpPr txBox="1">
            <a:spLocks/>
          </p:cNvSpPr>
          <p:nvPr/>
        </p:nvSpPr>
        <p:spPr>
          <a:xfrm>
            <a:off x="1142318" y="1509127"/>
            <a:ext cx="776915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Famille</a:t>
            </a:r>
            <a:endParaRPr lang="fr-FR" sz="1400" dirty="0"/>
          </a:p>
        </p:txBody>
      </p:sp>
      <p:sp>
        <p:nvSpPr>
          <p:cNvPr id="5" name="Rectangle 4"/>
          <p:cNvSpPr/>
          <p:nvPr/>
        </p:nvSpPr>
        <p:spPr>
          <a:xfrm>
            <a:off x="5452682" y="1595354"/>
            <a:ext cx="1691245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" name="Titre 1"/>
          <p:cNvSpPr txBox="1">
            <a:spLocks/>
          </p:cNvSpPr>
          <p:nvPr/>
        </p:nvSpPr>
        <p:spPr>
          <a:xfrm>
            <a:off x="4580407" y="1566249"/>
            <a:ext cx="908699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Groupe</a:t>
            </a:r>
            <a:endParaRPr lang="fr-FR" sz="1400" dirty="0"/>
          </a:p>
        </p:txBody>
      </p:sp>
      <p:sp>
        <p:nvSpPr>
          <p:cNvPr id="23" name="Rectangle 22"/>
          <p:cNvSpPr/>
          <p:nvPr/>
        </p:nvSpPr>
        <p:spPr>
          <a:xfrm>
            <a:off x="191992" y="594181"/>
            <a:ext cx="11758269" cy="618479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4" name="Titre 1"/>
          <p:cNvSpPr txBox="1">
            <a:spLocks/>
          </p:cNvSpPr>
          <p:nvPr/>
        </p:nvSpPr>
        <p:spPr>
          <a:xfrm>
            <a:off x="6295196" y="5881791"/>
            <a:ext cx="3380916" cy="79620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000" dirty="0"/>
              <a:t>Chaque famille de radiologie contient </a:t>
            </a:r>
            <a:r>
              <a:rPr lang="fr-FR" sz="1000" dirty="0" smtClean="0"/>
              <a:t>des groupes des examens radiologies.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000" dirty="0" smtClean="0"/>
              <a:t>Quand </a:t>
            </a:r>
            <a:r>
              <a:rPr lang="fr-FR" sz="1000" dirty="0"/>
              <a:t>on choisir le groupe </a:t>
            </a:r>
            <a:r>
              <a:rPr lang="fr-FR" sz="1000" dirty="0" smtClean="0"/>
              <a:t>d’examen un </a:t>
            </a:r>
            <a:r>
              <a:rPr lang="fr-FR" sz="1000" dirty="0"/>
              <a:t>tableau s’affiche pour choisir </a:t>
            </a:r>
            <a:r>
              <a:rPr lang="fr-FR" sz="1000" dirty="0" smtClean="0"/>
              <a:t>l’examens </a:t>
            </a:r>
            <a:r>
              <a:rPr lang="fr-FR" sz="1000" dirty="0"/>
              <a:t>radiologique </a:t>
            </a:r>
            <a:r>
              <a:rPr lang="fr-FR" sz="1000" dirty="0" smtClean="0"/>
              <a:t>correspondant </a:t>
            </a:r>
            <a:r>
              <a:rPr lang="fr-FR" sz="1000" dirty="0"/>
              <a:t>au choix de </a:t>
            </a:r>
            <a:r>
              <a:rPr lang="fr-FR" sz="1000" dirty="0" smtClean="0"/>
              <a:t>patient.</a:t>
            </a:r>
            <a:endParaRPr lang="fr-FR" sz="1000" dirty="0"/>
          </a:p>
        </p:txBody>
      </p:sp>
      <p:sp>
        <p:nvSpPr>
          <p:cNvPr id="36" name="Rectangle 35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37" name="Rectangle 36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56" name="Rectangle 55"/>
          <p:cNvSpPr/>
          <p:nvPr/>
        </p:nvSpPr>
        <p:spPr>
          <a:xfrm>
            <a:off x="4729267" y="6199087"/>
            <a:ext cx="1332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Recherche</a:t>
            </a:r>
          </a:p>
        </p:txBody>
      </p:sp>
      <p:sp>
        <p:nvSpPr>
          <p:cNvPr id="90" name="ZoneTexte 89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91" name="Rectangle 90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98" name="Rectangle 97"/>
          <p:cNvSpPr/>
          <p:nvPr/>
        </p:nvSpPr>
        <p:spPr>
          <a:xfrm>
            <a:off x="311736" y="1415446"/>
            <a:ext cx="11160000" cy="4046083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9" name="Rectangle 118"/>
          <p:cNvSpPr/>
          <p:nvPr/>
        </p:nvSpPr>
        <p:spPr>
          <a:xfrm>
            <a:off x="1270248" y="5675813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0" name="Titre 1"/>
          <p:cNvSpPr txBox="1">
            <a:spLocks/>
          </p:cNvSpPr>
          <p:nvPr/>
        </p:nvSpPr>
        <p:spPr>
          <a:xfrm>
            <a:off x="477299" y="5620008"/>
            <a:ext cx="785951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Famille</a:t>
            </a:r>
            <a:endParaRPr lang="fr-FR" sz="1400" dirty="0"/>
          </a:p>
        </p:txBody>
      </p:sp>
      <p:sp>
        <p:nvSpPr>
          <p:cNvPr id="123" name="Rectangle 122"/>
          <p:cNvSpPr/>
          <p:nvPr/>
        </p:nvSpPr>
        <p:spPr>
          <a:xfrm>
            <a:off x="3402765" y="5666524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4" name="Titre 1"/>
          <p:cNvSpPr txBox="1">
            <a:spLocks/>
          </p:cNvSpPr>
          <p:nvPr/>
        </p:nvSpPr>
        <p:spPr>
          <a:xfrm>
            <a:off x="2651501" y="5646361"/>
            <a:ext cx="736635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Groupe</a:t>
            </a:r>
            <a:endParaRPr lang="fr-FR" sz="1400" dirty="0"/>
          </a:p>
        </p:txBody>
      </p:sp>
      <p:sp>
        <p:nvSpPr>
          <p:cNvPr id="125" name="Triangle isocèle 124"/>
          <p:cNvSpPr/>
          <p:nvPr/>
        </p:nvSpPr>
        <p:spPr>
          <a:xfrm rot="10800000">
            <a:off x="2160459" y="5686619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1" name="Rectangle 140"/>
          <p:cNvSpPr/>
          <p:nvPr/>
        </p:nvSpPr>
        <p:spPr>
          <a:xfrm>
            <a:off x="1660605" y="6199133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2" name="Titre 1"/>
          <p:cNvSpPr txBox="1">
            <a:spLocks/>
          </p:cNvSpPr>
          <p:nvPr/>
        </p:nvSpPr>
        <p:spPr>
          <a:xfrm>
            <a:off x="456498" y="6167073"/>
            <a:ext cx="1210233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Alphabétique</a:t>
            </a:r>
            <a:endParaRPr lang="fr-FR" sz="1400" dirty="0"/>
          </a:p>
        </p:txBody>
      </p:sp>
      <p:sp>
        <p:nvSpPr>
          <p:cNvPr id="143" name="Triangle isocèle 142"/>
          <p:cNvSpPr/>
          <p:nvPr/>
        </p:nvSpPr>
        <p:spPr>
          <a:xfrm rot="10800000">
            <a:off x="2556885" y="6223104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7" name="Rectangle 146"/>
          <p:cNvSpPr/>
          <p:nvPr/>
        </p:nvSpPr>
        <p:spPr>
          <a:xfrm>
            <a:off x="330438" y="5519329"/>
            <a:ext cx="11160000" cy="116339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3" name="Rectangle 82"/>
          <p:cNvSpPr/>
          <p:nvPr/>
        </p:nvSpPr>
        <p:spPr>
          <a:xfrm>
            <a:off x="396479" y="753011"/>
            <a:ext cx="133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Biologie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834340" y="759639"/>
            <a:ext cx="1332000" cy="360000"/>
          </a:xfrm>
          <a:prstGeom prst="rect">
            <a:avLst/>
          </a:prstGeom>
          <a:solidFill>
            <a:srgbClr val="92D05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Radiologie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262914" y="752659"/>
            <a:ext cx="168154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Spécialité médicale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056358" y="758528"/>
            <a:ext cx="2304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Actes </a:t>
            </a:r>
            <a:r>
              <a:rPr lang="fr-FR" sz="1400" dirty="0" smtClean="0"/>
              <a:t>Médicaux-chirurgicaux</a:t>
            </a:r>
            <a:endParaRPr lang="fr-FR" sz="1400" dirty="0"/>
          </a:p>
        </p:txBody>
      </p:sp>
      <p:sp>
        <p:nvSpPr>
          <p:cNvPr id="89" name="Triangle isocèle 88"/>
          <p:cNvSpPr/>
          <p:nvPr/>
        </p:nvSpPr>
        <p:spPr>
          <a:xfrm rot="10800000">
            <a:off x="3465777" y="1597521"/>
            <a:ext cx="161002" cy="452535"/>
          </a:xfrm>
          <a:prstGeom prst="triangle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6" name="Triangle isocèle 95"/>
          <p:cNvSpPr/>
          <p:nvPr/>
        </p:nvSpPr>
        <p:spPr>
          <a:xfrm rot="10800000">
            <a:off x="7004575" y="1604146"/>
            <a:ext cx="127406" cy="445910"/>
          </a:xfrm>
          <a:prstGeom prst="triangl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7" name="Rectangle 76"/>
          <p:cNvSpPr/>
          <p:nvPr/>
        </p:nvSpPr>
        <p:spPr>
          <a:xfrm>
            <a:off x="453179" y="2000305"/>
            <a:ext cx="3469463" cy="202055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8" name="Titre 1"/>
          <p:cNvSpPr txBox="1">
            <a:spLocks/>
          </p:cNvSpPr>
          <p:nvPr/>
        </p:nvSpPr>
        <p:spPr>
          <a:xfrm>
            <a:off x="517379" y="2091647"/>
            <a:ext cx="3220531" cy="192920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Examens spécialisés avec opacification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Radiographie standard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Scintigraphie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Radiologie interventionnelle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Echographie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Echo-doppler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IRM ‘’Imagerie Résonance Magnétique’’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scannographie</a:t>
            </a:r>
          </a:p>
        </p:txBody>
      </p:sp>
      <p:sp>
        <p:nvSpPr>
          <p:cNvPr id="97" name="Rectangle 96"/>
          <p:cNvSpPr/>
          <p:nvPr/>
        </p:nvSpPr>
        <p:spPr>
          <a:xfrm>
            <a:off x="5201747" y="2047372"/>
            <a:ext cx="2495442" cy="41553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0" name="Triangle isocèle 99"/>
          <p:cNvSpPr/>
          <p:nvPr/>
        </p:nvSpPr>
        <p:spPr>
          <a:xfrm rot="10800000">
            <a:off x="4273579" y="5693880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25" name="Connecteur droit 24"/>
          <p:cNvCxnSpPr/>
          <p:nvPr/>
        </p:nvCxnSpPr>
        <p:spPr>
          <a:xfrm>
            <a:off x="6208358" y="5531483"/>
            <a:ext cx="0" cy="1221195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5350813" y="2105127"/>
            <a:ext cx="938077" cy="2970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>
                <a:latin typeface="+mj-lt"/>
                <a:ea typeface="+mj-ea"/>
                <a:cs typeface="+mj-cs"/>
              </a:rPr>
              <a:t>Radiologie</a:t>
            </a:r>
          </a:p>
        </p:txBody>
      </p:sp>
      <p:cxnSp>
        <p:nvCxnSpPr>
          <p:cNvPr id="16" name="Connecteur droit avec flèche 15"/>
          <p:cNvCxnSpPr/>
          <p:nvPr/>
        </p:nvCxnSpPr>
        <p:spPr>
          <a:xfrm flipH="1">
            <a:off x="5819851" y="2455506"/>
            <a:ext cx="1" cy="4369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5840178" y="3683031"/>
            <a:ext cx="3362459" cy="2970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>
                <a:latin typeface="+mj-lt"/>
                <a:ea typeface="+mj-ea"/>
                <a:cs typeface="+mj-cs"/>
              </a:rPr>
              <a:t>Echo-Doppler artériel abdominal et rénal	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548661" y="2877999"/>
            <a:ext cx="938077" cy="2970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Choix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cxnSp>
        <p:nvCxnSpPr>
          <p:cNvPr id="58" name="Connecteur droit avec flèche 57"/>
          <p:cNvCxnSpPr>
            <a:stCxn id="18" idx="2"/>
            <a:endCxn id="59" idx="0"/>
          </p:cNvCxnSpPr>
          <p:nvPr/>
        </p:nvCxnSpPr>
        <p:spPr>
          <a:xfrm flipH="1">
            <a:off x="6443697" y="3980035"/>
            <a:ext cx="1077711" cy="3565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Rectangle 58"/>
          <p:cNvSpPr/>
          <p:nvPr/>
        </p:nvSpPr>
        <p:spPr>
          <a:xfrm>
            <a:off x="5705697" y="4336587"/>
            <a:ext cx="1476000" cy="2970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Médecin traitant 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60" name="Ellipse 59"/>
          <p:cNvSpPr/>
          <p:nvPr/>
        </p:nvSpPr>
        <p:spPr>
          <a:xfrm flipV="1">
            <a:off x="5705697" y="3770085"/>
            <a:ext cx="144000" cy="144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2" name="Rectangle 61"/>
          <p:cNvSpPr/>
          <p:nvPr/>
        </p:nvSpPr>
        <p:spPr>
          <a:xfrm>
            <a:off x="7148837" y="4365175"/>
            <a:ext cx="1691245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endParaRPr lang="fr-FR" sz="14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9983758" y="4999764"/>
            <a:ext cx="1332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Valider</a:t>
            </a:r>
          </a:p>
        </p:txBody>
      </p:sp>
      <p:cxnSp>
        <p:nvCxnSpPr>
          <p:cNvPr id="9" name="Connecteur en angle 8"/>
          <p:cNvCxnSpPr>
            <a:endCxn id="6" idx="1"/>
          </p:cNvCxnSpPr>
          <p:nvPr/>
        </p:nvCxnSpPr>
        <p:spPr>
          <a:xfrm flipV="1">
            <a:off x="1660605" y="1741134"/>
            <a:ext cx="2919802" cy="1624918"/>
          </a:xfrm>
          <a:prstGeom prst="bentConnector3">
            <a:avLst>
              <a:gd name="adj1" fmla="val 8767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necteur droit avec flèche 49"/>
          <p:cNvCxnSpPr/>
          <p:nvPr/>
        </p:nvCxnSpPr>
        <p:spPr>
          <a:xfrm flipH="1">
            <a:off x="5799975" y="3204256"/>
            <a:ext cx="1" cy="4369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riangle isocèle 52"/>
          <p:cNvSpPr/>
          <p:nvPr/>
        </p:nvSpPr>
        <p:spPr>
          <a:xfrm rot="10800000">
            <a:off x="8634998" y="4372739"/>
            <a:ext cx="180000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566064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 txBox="1">
            <a:spLocks/>
          </p:cNvSpPr>
          <p:nvPr/>
        </p:nvSpPr>
        <p:spPr>
          <a:xfrm>
            <a:off x="4530811" y="59579"/>
            <a:ext cx="3579519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05 –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Patient 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- Accueil /</a:t>
            </a:r>
            <a:b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</a:br>
            <a:r>
              <a:rPr lang="fr-FR" altLang="fr-FR" sz="1800" b="1" dirty="0" smtClean="0">
                <a:latin typeface="Times New Roman" panose="02020603050405020304" pitchFamily="18" charset="0"/>
              </a:rPr>
              <a:t>Acte médical – spécialité médicale</a:t>
            </a:r>
            <a:endParaRPr lang="fr-FR" sz="1800" dirty="0"/>
          </a:p>
        </p:txBody>
      </p:sp>
      <p:sp>
        <p:nvSpPr>
          <p:cNvPr id="3" name="Rectangle 2"/>
          <p:cNvSpPr/>
          <p:nvPr/>
        </p:nvSpPr>
        <p:spPr>
          <a:xfrm>
            <a:off x="1236692" y="4332983"/>
            <a:ext cx="1691245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" name="Titre 1"/>
          <p:cNvSpPr txBox="1">
            <a:spLocks/>
          </p:cNvSpPr>
          <p:nvPr/>
        </p:nvSpPr>
        <p:spPr>
          <a:xfrm>
            <a:off x="429831" y="4253358"/>
            <a:ext cx="776915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Famille</a:t>
            </a:r>
            <a:endParaRPr lang="fr-FR" sz="1400" dirty="0"/>
          </a:p>
        </p:txBody>
      </p:sp>
      <p:sp>
        <p:nvSpPr>
          <p:cNvPr id="5" name="Rectangle 4"/>
          <p:cNvSpPr/>
          <p:nvPr/>
        </p:nvSpPr>
        <p:spPr>
          <a:xfrm>
            <a:off x="4896087" y="1794137"/>
            <a:ext cx="1691245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" name="Titre 1"/>
          <p:cNvSpPr txBox="1">
            <a:spLocks/>
          </p:cNvSpPr>
          <p:nvPr/>
        </p:nvSpPr>
        <p:spPr>
          <a:xfrm>
            <a:off x="4023812" y="1765032"/>
            <a:ext cx="908699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Groupe</a:t>
            </a:r>
            <a:endParaRPr lang="fr-FR" sz="1400" dirty="0"/>
          </a:p>
        </p:txBody>
      </p:sp>
      <p:sp>
        <p:nvSpPr>
          <p:cNvPr id="23" name="Rectangle 22"/>
          <p:cNvSpPr/>
          <p:nvPr/>
        </p:nvSpPr>
        <p:spPr>
          <a:xfrm>
            <a:off x="191992" y="594181"/>
            <a:ext cx="11758269" cy="618479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4" name="Titre 1"/>
          <p:cNvSpPr txBox="1">
            <a:spLocks/>
          </p:cNvSpPr>
          <p:nvPr/>
        </p:nvSpPr>
        <p:spPr>
          <a:xfrm>
            <a:off x="6295195" y="5675813"/>
            <a:ext cx="5100697" cy="100217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000" dirty="0" smtClean="0"/>
              <a:t>Chaque spécialité médicale ayant des familles de spécialité et chaque famille contient des groupes des spécialités médicales. 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000" dirty="0"/>
              <a:t>Quand on choisir </a:t>
            </a:r>
            <a:r>
              <a:rPr lang="fr-FR" sz="1000" dirty="0" smtClean="0"/>
              <a:t>la spécialité un choix des familles s’affiche, pour sélectionner une, et quand on choisir la famille un choix des groupe de spécialité s’affiche aussi pour donner la main un </a:t>
            </a:r>
            <a:r>
              <a:rPr lang="fr-FR" sz="1000" dirty="0"/>
              <a:t>tableau </a:t>
            </a:r>
            <a:r>
              <a:rPr lang="fr-FR" sz="1000" dirty="0" smtClean="0"/>
              <a:t>qui s’affiche </a:t>
            </a:r>
            <a:r>
              <a:rPr lang="fr-FR" sz="1000" dirty="0"/>
              <a:t>pour choisir </a:t>
            </a:r>
            <a:r>
              <a:rPr lang="fr-FR" sz="1000" dirty="0" smtClean="0"/>
              <a:t>la spécialité médicales correspondante au choix de patient.</a:t>
            </a:r>
            <a:endParaRPr lang="fr-FR" sz="1000" dirty="0"/>
          </a:p>
        </p:txBody>
      </p:sp>
      <p:sp>
        <p:nvSpPr>
          <p:cNvPr id="36" name="Rectangle 35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37" name="Rectangle 36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56" name="Rectangle 55"/>
          <p:cNvSpPr/>
          <p:nvPr/>
        </p:nvSpPr>
        <p:spPr>
          <a:xfrm>
            <a:off x="4729267" y="6199087"/>
            <a:ext cx="1332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Recherche</a:t>
            </a:r>
          </a:p>
        </p:txBody>
      </p:sp>
      <p:sp>
        <p:nvSpPr>
          <p:cNvPr id="90" name="ZoneTexte 89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91" name="Rectangle 90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98" name="Rectangle 97"/>
          <p:cNvSpPr/>
          <p:nvPr/>
        </p:nvSpPr>
        <p:spPr>
          <a:xfrm>
            <a:off x="311736" y="1273370"/>
            <a:ext cx="11160000" cy="4038088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9" name="Rectangle 118"/>
          <p:cNvSpPr/>
          <p:nvPr/>
        </p:nvSpPr>
        <p:spPr>
          <a:xfrm>
            <a:off x="3496614" y="5556546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0" name="Titre 1"/>
          <p:cNvSpPr txBox="1">
            <a:spLocks/>
          </p:cNvSpPr>
          <p:nvPr/>
        </p:nvSpPr>
        <p:spPr>
          <a:xfrm>
            <a:off x="2703665" y="5500741"/>
            <a:ext cx="785951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Famille</a:t>
            </a:r>
            <a:endParaRPr lang="fr-FR" sz="1400" dirty="0"/>
          </a:p>
        </p:txBody>
      </p:sp>
      <p:sp>
        <p:nvSpPr>
          <p:cNvPr id="123" name="Rectangle 122"/>
          <p:cNvSpPr/>
          <p:nvPr/>
        </p:nvSpPr>
        <p:spPr>
          <a:xfrm>
            <a:off x="1269161" y="6090595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4" name="Titre 1"/>
          <p:cNvSpPr txBox="1">
            <a:spLocks/>
          </p:cNvSpPr>
          <p:nvPr/>
        </p:nvSpPr>
        <p:spPr>
          <a:xfrm>
            <a:off x="517897" y="6070432"/>
            <a:ext cx="736635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Groupe</a:t>
            </a:r>
            <a:endParaRPr lang="fr-FR" sz="1400" dirty="0"/>
          </a:p>
        </p:txBody>
      </p:sp>
      <p:sp>
        <p:nvSpPr>
          <p:cNvPr id="125" name="Triangle isocèle 124"/>
          <p:cNvSpPr/>
          <p:nvPr/>
        </p:nvSpPr>
        <p:spPr>
          <a:xfrm rot="10800000">
            <a:off x="4386825" y="5567352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1" name="Rectangle 140"/>
          <p:cNvSpPr/>
          <p:nvPr/>
        </p:nvSpPr>
        <p:spPr>
          <a:xfrm>
            <a:off x="3502655" y="6079865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2" name="Titre 1"/>
          <p:cNvSpPr txBox="1">
            <a:spLocks/>
          </p:cNvSpPr>
          <p:nvPr/>
        </p:nvSpPr>
        <p:spPr>
          <a:xfrm>
            <a:off x="2298548" y="6047805"/>
            <a:ext cx="1210233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Alphabétique</a:t>
            </a:r>
            <a:endParaRPr lang="fr-FR" sz="1400" dirty="0"/>
          </a:p>
        </p:txBody>
      </p:sp>
      <p:sp>
        <p:nvSpPr>
          <p:cNvPr id="143" name="Triangle isocèle 142"/>
          <p:cNvSpPr/>
          <p:nvPr/>
        </p:nvSpPr>
        <p:spPr>
          <a:xfrm rot="10800000">
            <a:off x="4398935" y="6103836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7" name="Rectangle 146"/>
          <p:cNvSpPr/>
          <p:nvPr/>
        </p:nvSpPr>
        <p:spPr>
          <a:xfrm>
            <a:off x="330438" y="5422303"/>
            <a:ext cx="11160000" cy="1260421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3" name="Rectangle 82"/>
          <p:cNvSpPr/>
          <p:nvPr/>
        </p:nvSpPr>
        <p:spPr>
          <a:xfrm>
            <a:off x="396479" y="753011"/>
            <a:ext cx="133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Biologie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834340" y="759639"/>
            <a:ext cx="133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Radiologie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262914" y="752659"/>
            <a:ext cx="1681540" cy="360000"/>
          </a:xfrm>
          <a:prstGeom prst="rect">
            <a:avLst/>
          </a:prstGeom>
          <a:solidFill>
            <a:srgbClr val="92D05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Spécialité médicale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056358" y="758528"/>
            <a:ext cx="2304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Actes </a:t>
            </a:r>
            <a:r>
              <a:rPr lang="fr-FR" sz="1400" dirty="0" smtClean="0"/>
              <a:t>Médicaux-chirurgicaux</a:t>
            </a:r>
            <a:endParaRPr lang="fr-FR" sz="1400" dirty="0"/>
          </a:p>
        </p:txBody>
      </p:sp>
      <p:sp>
        <p:nvSpPr>
          <p:cNvPr id="89" name="Triangle isocèle 88"/>
          <p:cNvSpPr/>
          <p:nvPr/>
        </p:nvSpPr>
        <p:spPr>
          <a:xfrm rot="10800000">
            <a:off x="2753290" y="4341752"/>
            <a:ext cx="161002" cy="452535"/>
          </a:xfrm>
          <a:prstGeom prst="triangle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6" name="Triangle isocèle 95"/>
          <p:cNvSpPr/>
          <p:nvPr/>
        </p:nvSpPr>
        <p:spPr>
          <a:xfrm rot="10800000">
            <a:off x="6447980" y="1802929"/>
            <a:ext cx="127406" cy="445910"/>
          </a:xfrm>
          <a:prstGeom prst="triangl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7" name="Rectangle 76"/>
          <p:cNvSpPr/>
          <p:nvPr/>
        </p:nvSpPr>
        <p:spPr>
          <a:xfrm>
            <a:off x="988151" y="2251732"/>
            <a:ext cx="2163484" cy="1945059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8" name="Titre 1"/>
          <p:cNvSpPr txBox="1">
            <a:spLocks/>
          </p:cNvSpPr>
          <p:nvPr/>
        </p:nvSpPr>
        <p:spPr>
          <a:xfrm>
            <a:off x="1070836" y="2326869"/>
            <a:ext cx="1975612" cy="186992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Anatomo-pathologie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Biologie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Cardiologie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Gastro-entérologie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Neurologie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Ophtalmologie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Pneumologie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Radiologie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vasculaire</a:t>
            </a:r>
          </a:p>
        </p:txBody>
      </p:sp>
      <p:sp>
        <p:nvSpPr>
          <p:cNvPr id="97" name="Rectangle 96"/>
          <p:cNvSpPr/>
          <p:nvPr/>
        </p:nvSpPr>
        <p:spPr>
          <a:xfrm>
            <a:off x="826300" y="4824985"/>
            <a:ext cx="2453333" cy="409496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0" name="Triangle isocèle 99"/>
          <p:cNvSpPr/>
          <p:nvPr/>
        </p:nvSpPr>
        <p:spPr>
          <a:xfrm rot="10800000">
            <a:off x="2153227" y="6091447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25" name="Connecteur droit 24"/>
          <p:cNvCxnSpPr/>
          <p:nvPr/>
        </p:nvCxnSpPr>
        <p:spPr>
          <a:xfrm>
            <a:off x="6208358" y="5412214"/>
            <a:ext cx="0" cy="126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" name="Rectangle 11"/>
          <p:cNvSpPr/>
          <p:nvPr/>
        </p:nvSpPr>
        <p:spPr>
          <a:xfrm>
            <a:off x="1206746" y="4872880"/>
            <a:ext cx="1862165" cy="32924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Examen endoscopique</a:t>
            </a:r>
          </a:p>
        </p:txBody>
      </p:sp>
      <p:sp>
        <p:nvSpPr>
          <p:cNvPr id="60" name="Ellipse 59"/>
          <p:cNvSpPr/>
          <p:nvPr/>
        </p:nvSpPr>
        <p:spPr>
          <a:xfrm flipV="1">
            <a:off x="3912072" y="2454786"/>
            <a:ext cx="144000" cy="144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3" name="Rectangle 62"/>
          <p:cNvSpPr/>
          <p:nvPr/>
        </p:nvSpPr>
        <p:spPr>
          <a:xfrm>
            <a:off x="6006342" y="4899981"/>
            <a:ext cx="1332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Valider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21708" y="1411265"/>
            <a:ext cx="2160000" cy="2970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fr-FR" sz="1400" dirty="0"/>
              <a:t>Exploration </a:t>
            </a:r>
            <a:r>
              <a:rPr lang="fr-FR" sz="1400" dirty="0" smtClean="0"/>
              <a:t>spécialisée</a:t>
            </a:r>
            <a:endParaRPr lang="fr-FR" sz="1400" dirty="0"/>
          </a:p>
        </p:txBody>
      </p:sp>
      <p:sp>
        <p:nvSpPr>
          <p:cNvPr id="48" name="Ellipse 47"/>
          <p:cNvSpPr/>
          <p:nvPr/>
        </p:nvSpPr>
        <p:spPr>
          <a:xfrm flipV="1">
            <a:off x="587227" y="1498319"/>
            <a:ext cx="144000" cy="144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9" name="Rectangle 48"/>
          <p:cNvSpPr/>
          <p:nvPr/>
        </p:nvSpPr>
        <p:spPr>
          <a:xfrm>
            <a:off x="7638757" y="1430630"/>
            <a:ext cx="2160000" cy="2970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fr-FR" sz="1400" dirty="0"/>
              <a:t>Consultation spécialisée</a:t>
            </a:r>
          </a:p>
        </p:txBody>
      </p:sp>
      <p:sp>
        <p:nvSpPr>
          <p:cNvPr id="50" name="Ellipse 49"/>
          <p:cNvSpPr/>
          <p:nvPr/>
        </p:nvSpPr>
        <p:spPr>
          <a:xfrm flipV="1">
            <a:off x="7504276" y="1517684"/>
            <a:ext cx="144000" cy="144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1" name="Rectangle 50"/>
          <p:cNvSpPr/>
          <p:nvPr/>
        </p:nvSpPr>
        <p:spPr>
          <a:xfrm>
            <a:off x="1452223" y="1807415"/>
            <a:ext cx="1691245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2" name="Titre 1"/>
          <p:cNvSpPr txBox="1">
            <a:spLocks/>
          </p:cNvSpPr>
          <p:nvPr/>
        </p:nvSpPr>
        <p:spPr>
          <a:xfrm>
            <a:off x="486337" y="1727790"/>
            <a:ext cx="9720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Spécialité</a:t>
            </a:r>
            <a:endParaRPr lang="fr-FR" sz="1400" dirty="0"/>
          </a:p>
        </p:txBody>
      </p:sp>
      <p:sp>
        <p:nvSpPr>
          <p:cNvPr id="53" name="Triangle isocèle 52"/>
          <p:cNvSpPr/>
          <p:nvPr/>
        </p:nvSpPr>
        <p:spPr>
          <a:xfrm rot="10800000">
            <a:off x="2968821" y="1816184"/>
            <a:ext cx="161002" cy="452535"/>
          </a:xfrm>
          <a:prstGeom prst="triangle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1" name="Rectangle 60"/>
          <p:cNvSpPr/>
          <p:nvPr/>
        </p:nvSpPr>
        <p:spPr>
          <a:xfrm>
            <a:off x="3798524" y="2232970"/>
            <a:ext cx="3291389" cy="259201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4" name="Ellipse 63"/>
          <p:cNvSpPr/>
          <p:nvPr/>
        </p:nvSpPr>
        <p:spPr>
          <a:xfrm flipV="1">
            <a:off x="3912072" y="3023785"/>
            <a:ext cx="144000" cy="144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5" name="Ellipse 64"/>
          <p:cNvSpPr/>
          <p:nvPr/>
        </p:nvSpPr>
        <p:spPr>
          <a:xfrm flipV="1">
            <a:off x="3915091" y="3653120"/>
            <a:ext cx="144000" cy="144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6" name="Ellipse 65"/>
          <p:cNvSpPr/>
          <p:nvPr/>
        </p:nvSpPr>
        <p:spPr>
          <a:xfrm flipV="1">
            <a:off x="3915739" y="4330845"/>
            <a:ext cx="144000" cy="144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7" name="Rectangle 66"/>
          <p:cNvSpPr/>
          <p:nvPr/>
        </p:nvSpPr>
        <p:spPr>
          <a:xfrm>
            <a:off x="1263622" y="5563174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8" name="Titre 1"/>
          <p:cNvSpPr txBox="1">
            <a:spLocks/>
          </p:cNvSpPr>
          <p:nvPr/>
        </p:nvSpPr>
        <p:spPr>
          <a:xfrm>
            <a:off x="391160" y="5533873"/>
            <a:ext cx="100800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Spécialité médicale</a:t>
            </a:r>
            <a:endParaRPr lang="fr-FR" sz="1400" dirty="0"/>
          </a:p>
        </p:txBody>
      </p:sp>
      <p:sp>
        <p:nvSpPr>
          <p:cNvPr id="69" name="Triangle isocèle 68"/>
          <p:cNvSpPr/>
          <p:nvPr/>
        </p:nvSpPr>
        <p:spPr>
          <a:xfrm rot="10800000">
            <a:off x="2153833" y="5573980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0" name="Ellipse 69"/>
          <p:cNvSpPr/>
          <p:nvPr/>
        </p:nvSpPr>
        <p:spPr>
          <a:xfrm flipV="1">
            <a:off x="620359" y="1531451"/>
            <a:ext cx="72000" cy="720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7" name="Connecteur en angle 16"/>
          <p:cNvCxnSpPr/>
          <p:nvPr/>
        </p:nvCxnSpPr>
        <p:spPr>
          <a:xfrm rot="5400000">
            <a:off x="305001" y="3556980"/>
            <a:ext cx="1320770" cy="307113"/>
          </a:xfrm>
          <a:prstGeom prst="bentConnector3">
            <a:avLst>
              <a:gd name="adj1" fmla="val -16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Connecteur en angle 91"/>
          <p:cNvCxnSpPr>
            <a:stCxn id="97" idx="3"/>
            <a:endCxn id="6" idx="1"/>
          </p:cNvCxnSpPr>
          <p:nvPr/>
        </p:nvCxnSpPr>
        <p:spPr>
          <a:xfrm flipV="1">
            <a:off x="3279633" y="1939917"/>
            <a:ext cx="744179" cy="3089816"/>
          </a:xfrm>
          <a:prstGeom prst="bentConnector3">
            <a:avLst>
              <a:gd name="adj1" fmla="val 2506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Rectangle 98"/>
          <p:cNvSpPr/>
          <p:nvPr/>
        </p:nvSpPr>
        <p:spPr>
          <a:xfrm>
            <a:off x="4233506" y="2347079"/>
            <a:ext cx="2700000" cy="33839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r>
              <a:rPr lang="fr-FR" sz="1400" dirty="0" smtClean="0"/>
              <a:t>CPRE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4242080" y="2818485"/>
            <a:ext cx="2700000" cy="51902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r>
              <a:rPr lang="fr-FR" sz="1400" dirty="0" smtClean="0"/>
              <a:t>Fibroscopie </a:t>
            </a:r>
            <a:r>
              <a:rPr lang="fr-FR" sz="1400" dirty="0"/>
              <a:t>Œsogastroduodénale </a:t>
            </a:r>
            <a:endParaRPr lang="fr-FR" sz="1400" dirty="0" smtClean="0"/>
          </a:p>
          <a:p>
            <a:r>
              <a:rPr lang="fr-FR" sz="1400" dirty="0" smtClean="0"/>
              <a:t>FOGD </a:t>
            </a:r>
            <a:r>
              <a:rPr lang="fr-FR" sz="1400" dirty="0"/>
              <a:t>sous </a:t>
            </a:r>
            <a:r>
              <a:rPr lang="fr-FR" sz="1400" dirty="0" smtClean="0"/>
              <a:t>AG</a:t>
            </a:r>
            <a:endParaRPr lang="fr-FR" sz="1400" dirty="0"/>
          </a:p>
        </p:txBody>
      </p:sp>
      <p:sp>
        <p:nvSpPr>
          <p:cNvPr id="102" name="Rectangle 101"/>
          <p:cNvSpPr/>
          <p:nvPr/>
        </p:nvSpPr>
        <p:spPr>
          <a:xfrm>
            <a:off x="4238100" y="3446709"/>
            <a:ext cx="2700000" cy="56458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r>
              <a:rPr lang="fr-FR" sz="1400" dirty="0" smtClean="0"/>
              <a:t>FOGD </a:t>
            </a:r>
            <a:r>
              <a:rPr lang="fr-FR" sz="1400" dirty="0"/>
              <a:t>sous AG avec Ligature </a:t>
            </a:r>
            <a:endParaRPr lang="fr-FR" sz="1400" dirty="0" smtClean="0"/>
          </a:p>
          <a:p>
            <a:r>
              <a:rPr lang="fr-FR" sz="1400" dirty="0" smtClean="0"/>
              <a:t>ou </a:t>
            </a:r>
            <a:r>
              <a:rPr lang="fr-FR" sz="1400" dirty="0"/>
              <a:t>Sclérose Varices </a:t>
            </a:r>
            <a:r>
              <a:rPr lang="fr-FR" sz="1400" dirty="0" err="1" smtClean="0"/>
              <a:t>oes</a:t>
            </a:r>
            <a:endParaRPr lang="fr-FR" sz="1400" dirty="0"/>
          </a:p>
        </p:txBody>
      </p:sp>
      <p:sp>
        <p:nvSpPr>
          <p:cNvPr id="103" name="Rectangle 102"/>
          <p:cNvSpPr/>
          <p:nvPr/>
        </p:nvSpPr>
        <p:spPr>
          <a:xfrm>
            <a:off x="4258880" y="4067595"/>
            <a:ext cx="2700000" cy="63627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r>
              <a:rPr lang="fr-FR" sz="1400" dirty="0">
                <a:solidFill>
                  <a:schemeClr val="dk1"/>
                </a:solidFill>
              </a:rPr>
              <a:t>Ponction d'Ascite </a:t>
            </a:r>
          </a:p>
          <a:p>
            <a:r>
              <a:rPr lang="fr-FR" sz="1400" dirty="0">
                <a:solidFill>
                  <a:schemeClr val="dk1"/>
                </a:solidFill>
              </a:rPr>
              <a:t>/Prise en </a:t>
            </a:r>
            <a:r>
              <a:rPr lang="fr-FR" sz="1400" dirty="0" smtClean="0">
                <a:solidFill>
                  <a:schemeClr val="dk1"/>
                </a:solidFill>
              </a:rPr>
              <a:t>charge</a:t>
            </a:r>
          </a:p>
          <a:p>
            <a:r>
              <a:rPr lang="fr-FR" sz="1400" dirty="0" smtClean="0">
                <a:solidFill>
                  <a:schemeClr val="dk1"/>
                </a:solidFill>
              </a:rPr>
              <a:t>/</a:t>
            </a:r>
            <a:r>
              <a:rPr lang="fr-FR" sz="1400" dirty="0">
                <a:solidFill>
                  <a:schemeClr val="dk1"/>
                </a:solidFill>
              </a:rPr>
              <a:t>injection Album</a:t>
            </a:r>
          </a:p>
        </p:txBody>
      </p:sp>
      <p:cxnSp>
        <p:nvCxnSpPr>
          <p:cNvPr id="104" name="Connecteur droit 103"/>
          <p:cNvCxnSpPr/>
          <p:nvPr/>
        </p:nvCxnSpPr>
        <p:spPr>
          <a:xfrm>
            <a:off x="7261906" y="1284155"/>
            <a:ext cx="11946" cy="3588725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5" name="Rectangle 104"/>
          <p:cNvSpPr/>
          <p:nvPr/>
        </p:nvSpPr>
        <p:spPr>
          <a:xfrm>
            <a:off x="8533809" y="1946537"/>
            <a:ext cx="1691245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8" name="Titre 1"/>
          <p:cNvSpPr txBox="1">
            <a:spLocks/>
          </p:cNvSpPr>
          <p:nvPr/>
        </p:nvSpPr>
        <p:spPr>
          <a:xfrm>
            <a:off x="7273852" y="1917432"/>
            <a:ext cx="1274638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Consultation spécialisée</a:t>
            </a:r>
            <a:endParaRPr lang="fr-FR" sz="1400" dirty="0"/>
          </a:p>
        </p:txBody>
      </p:sp>
      <p:sp>
        <p:nvSpPr>
          <p:cNvPr id="109" name="Triangle isocèle 108"/>
          <p:cNvSpPr/>
          <p:nvPr/>
        </p:nvSpPr>
        <p:spPr>
          <a:xfrm rot="10800000">
            <a:off x="10085702" y="1955329"/>
            <a:ext cx="127406" cy="445910"/>
          </a:xfrm>
          <a:prstGeom prst="triangl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1" name="Rectangle 80"/>
          <p:cNvSpPr/>
          <p:nvPr/>
        </p:nvSpPr>
        <p:spPr>
          <a:xfrm>
            <a:off x="7608081" y="2420375"/>
            <a:ext cx="2719926" cy="236876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r>
              <a:rPr lang="fr-FR" sz="1400" dirty="0"/>
              <a:t>Allergologie / Anatomo-pathologie</a:t>
            </a:r>
          </a:p>
          <a:p>
            <a:r>
              <a:rPr lang="fr-FR" sz="1400" dirty="0"/>
              <a:t>Anesthésie / </a:t>
            </a:r>
            <a:r>
              <a:rPr lang="fr-FR" sz="1400" dirty="0" smtClean="0"/>
              <a:t>Cancérologie</a:t>
            </a:r>
            <a:endParaRPr lang="fr-FR" sz="1400" dirty="0"/>
          </a:p>
          <a:p>
            <a:r>
              <a:rPr lang="fr-FR" sz="1400" dirty="0"/>
              <a:t>Cardiologie / Dentaire	</a:t>
            </a:r>
          </a:p>
          <a:p>
            <a:r>
              <a:rPr lang="fr-FR" sz="1400" dirty="0"/>
              <a:t>Dermatologie  / </a:t>
            </a:r>
            <a:r>
              <a:rPr lang="fr-FR" sz="1400" dirty="0" smtClean="0"/>
              <a:t>Endocrinologie</a:t>
            </a:r>
            <a:endParaRPr lang="fr-FR" sz="1400" dirty="0"/>
          </a:p>
          <a:p>
            <a:r>
              <a:rPr lang="fr-FR" sz="1400" dirty="0"/>
              <a:t>Gastro-entérologie / Gynécologie</a:t>
            </a:r>
          </a:p>
          <a:p>
            <a:r>
              <a:rPr lang="fr-FR" sz="1400" dirty="0"/>
              <a:t>Néphrologie / </a:t>
            </a:r>
            <a:r>
              <a:rPr lang="fr-FR" sz="1400" dirty="0" smtClean="0"/>
              <a:t>Neurologie</a:t>
            </a:r>
            <a:endParaRPr lang="fr-FR" sz="1400" dirty="0"/>
          </a:p>
          <a:p>
            <a:r>
              <a:rPr lang="fr-FR" sz="1400" dirty="0"/>
              <a:t>Ophtalmologie / ORL	</a:t>
            </a:r>
          </a:p>
          <a:p>
            <a:r>
              <a:rPr lang="fr-FR" sz="1400" dirty="0"/>
              <a:t>Orthopédie / Pédiatrie	</a:t>
            </a:r>
          </a:p>
          <a:p>
            <a:r>
              <a:rPr lang="fr-FR" sz="1400" dirty="0"/>
              <a:t>Pneumologie / </a:t>
            </a:r>
            <a:r>
              <a:rPr lang="fr-FR" sz="1400" dirty="0" smtClean="0"/>
              <a:t>Psychiatrie</a:t>
            </a:r>
            <a:endParaRPr lang="fr-FR" sz="1400" dirty="0"/>
          </a:p>
          <a:p>
            <a:r>
              <a:rPr lang="fr-FR" sz="1400" dirty="0"/>
              <a:t>Rhumatologie / </a:t>
            </a:r>
            <a:r>
              <a:rPr lang="fr-FR" sz="1400" dirty="0" smtClean="0"/>
              <a:t>Stomatologie</a:t>
            </a:r>
            <a:endParaRPr lang="fr-FR" sz="1400" dirty="0"/>
          </a:p>
          <a:p>
            <a:r>
              <a:rPr lang="fr-FR" sz="1400" dirty="0"/>
              <a:t>Urologie / Vasculaire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9070520" y="4881893"/>
            <a:ext cx="1691245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4" name="Titre 1"/>
          <p:cNvSpPr txBox="1">
            <a:spLocks/>
          </p:cNvSpPr>
          <p:nvPr/>
        </p:nvSpPr>
        <p:spPr>
          <a:xfrm>
            <a:off x="7625034" y="4852788"/>
            <a:ext cx="1418411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Médecin traitant</a:t>
            </a:r>
            <a:endParaRPr lang="fr-FR" sz="1400" dirty="0"/>
          </a:p>
        </p:txBody>
      </p:sp>
      <p:sp>
        <p:nvSpPr>
          <p:cNvPr id="115" name="Triangle isocèle 114"/>
          <p:cNvSpPr/>
          <p:nvPr/>
        </p:nvSpPr>
        <p:spPr>
          <a:xfrm rot="10800000">
            <a:off x="10556564" y="4889572"/>
            <a:ext cx="180000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86" name="Connecteur en angle 85"/>
          <p:cNvCxnSpPr>
            <a:stCxn id="81" idx="3"/>
            <a:endCxn id="113" idx="3"/>
          </p:cNvCxnSpPr>
          <p:nvPr/>
        </p:nvCxnSpPr>
        <p:spPr>
          <a:xfrm>
            <a:off x="10328007" y="3604756"/>
            <a:ext cx="433758" cy="1421137"/>
          </a:xfrm>
          <a:prstGeom prst="bentConnector3">
            <a:avLst>
              <a:gd name="adj1" fmla="val 15270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06948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 txBox="1">
            <a:spLocks/>
          </p:cNvSpPr>
          <p:nvPr/>
        </p:nvSpPr>
        <p:spPr>
          <a:xfrm>
            <a:off x="3489617" y="59579"/>
            <a:ext cx="4620714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06 –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Patient 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- Accueil /</a:t>
            </a:r>
            <a:b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</a:br>
            <a:r>
              <a:rPr lang="fr-FR" altLang="fr-FR" sz="1800" b="1" dirty="0" smtClean="0">
                <a:latin typeface="Times New Roman" panose="02020603050405020304" pitchFamily="18" charset="0"/>
              </a:rPr>
              <a:t>Acte médical – Actes médicaux chirurgicaux</a:t>
            </a:r>
            <a:endParaRPr lang="fr-FR" sz="1800" dirty="0"/>
          </a:p>
        </p:txBody>
      </p:sp>
      <p:sp>
        <p:nvSpPr>
          <p:cNvPr id="4" name="Titre 1"/>
          <p:cNvSpPr txBox="1">
            <a:spLocks/>
          </p:cNvSpPr>
          <p:nvPr/>
        </p:nvSpPr>
        <p:spPr>
          <a:xfrm>
            <a:off x="2494747" y="1311271"/>
            <a:ext cx="776915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Libellé</a:t>
            </a:r>
            <a:endParaRPr lang="fr-FR" sz="1400" dirty="0"/>
          </a:p>
        </p:txBody>
      </p:sp>
      <p:sp>
        <p:nvSpPr>
          <p:cNvPr id="5" name="Rectangle 4"/>
          <p:cNvSpPr/>
          <p:nvPr/>
        </p:nvSpPr>
        <p:spPr>
          <a:xfrm>
            <a:off x="4131787" y="1833999"/>
            <a:ext cx="1691245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3" name="Rectangle 22"/>
          <p:cNvSpPr/>
          <p:nvPr/>
        </p:nvSpPr>
        <p:spPr>
          <a:xfrm>
            <a:off x="191992" y="594181"/>
            <a:ext cx="11758269" cy="618479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4" name="Titre 1"/>
          <p:cNvSpPr txBox="1">
            <a:spLocks/>
          </p:cNvSpPr>
          <p:nvPr/>
        </p:nvSpPr>
        <p:spPr>
          <a:xfrm>
            <a:off x="6295195" y="5675813"/>
            <a:ext cx="5100697" cy="100217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000" dirty="0" smtClean="0"/>
              <a:t>Chaque spécialité médicale ayant des familles de spécialité et chaque famille contient des groupes des spécialités médicales. 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000" dirty="0"/>
              <a:t>Quand on choisir </a:t>
            </a:r>
            <a:r>
              <a:rPr lang="fr-FR" sz="1000" dirty="0" smtClean="0"/>
              <a:t>la spécialité un choix des familles s’affiche, pour sélectionner une, et quand on choisir la famille un choix des groupe de spécialité s’affiche aussi pour donner la main un </a:t>
            </a:r>
            <a:r>
              <a:rPr lang="fr-FR" sz="1000" dirty="0"/>
              <a:t>tableau </a:t>
            </a:r>
            <a:r>
              <a:rPr lang="fr-FR" sz="1000" dirty="0" smtClean="0"/>
              <a:t>qui s’affiche </a:t>
            </a:r>
            <a:r>
              <a:rPr lang="fr-FR" sz="1000" dirty="0"/>
              <a:t>pour choisir </a:t>
            </a:r>
            <a:r>
              <a:rPr lang="fr-FR" sz="1000" dirty="0" smtClean="0"/>
              <a:t>la spécialité médicales correspondante au choix de patient.</a:t>
            </a:r>
            <a:endParaRPr lang="fr-FR" sz="1000" dirty="0"/>
          </a:p>
        </p:txBody>
      </p:sp>
      <p:sp>
        <p:nvSpPr>
          <p:cNvPr id="36" name="Rectangle 35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37" name="Rectangle 36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56" name="Rectangle 55"/>
          <p:cNvSpPr/>
          <p:nvPr/>
        </p:nvSpPr>
        <p:spPr>
          <a:xfrm>
            <a:off x="4488013" y="6065317"/>
            <a:ext cx="1332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Recherche</a:t>
            </a:r>
          </a:p>
        </p:txBody>
      </p:sp>
      <p:sp>
        <p:nvSpPr>
          <p:cNvPr id="90" name="ZoneTexte 89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91" name="Rectangle 90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98" name="Rectangle 97"/>
          <p:cNvSpPr/>
          <p:nvPr/>
        </p:nvSpPr>
        <p:spPr>
          <a:xfrm>
            <a:off x="311736" y="1273370"/>
            <a:ext cx="7956000" cy="3497714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3" name="Rectangle 122"/>
          <p:cNvSpPr/>
          <p:nvPr/>
        </p:nvSpPr>
        <p:spPr>
          <a:xfrm>
            <a:off x="1269161" y="6090595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4" name="Titre 1"/>
          <p:cNvSpPr txBox="1">
            <a:spLocks/>
          </p:cNvSpPr>
          <p:nvPr/>
        </p:nvSpPr>
        <p:spPr>
          <a:xfrm>
            <a:off x="332369" y="6070432"/>
            <a:ext cx="996088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Code acte</a:t>
            </a:r>
            <a:endParaRPr lang="fr-FR" sz="1400" dirty="0"/>
          </a:p>
        </p:txBody>
      </p:sp>
      <p:sp>
        <p:nvSpPr>
          <p:cNvPr id="147" name="Rectangle 146"/>
          <p:cNvSpPr/>
          <p:nvPr/>
        </p:nvSpPr>
        <p:spPr>
          <a:xfrm>
            <a:off x="330438" y="5422303"/>
            <a:ext cx="11160000" cy="1260421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3" name="Rectangle 82"/>
          <p:cNvSpPr/>
          <p:nvPr/>
        </p:nvSpPr>
        <p:spPr>
          <a:xfrm>
            <a:off x="396479" y="753011"/>
            <a:ext cx="133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Biologie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834340" y="759639"/>
            <a:ext cx="133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Radiologie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262914" y="752659"/>
            <a:ext cx="168154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Spécialité médicale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056358" y="758528"/>
            <a:ext cx="2304000" cy="360000"/>
          </a:xfrm>
          <a:prstGeom prst="rect">
            <a:avLst/>
          </a:prstGeom>
          <a:solidFill>
            <a:srgbClr val="92D05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Actes Médicaux-chirurgicaux</a:t>
            </a:r>
          </a:p>
        </p:txBody>
      </p:sp>
      <p:sp>
        <p:nvSpPr>
          <p:cNvPr id="96" name="Triangle isocèle 95"/>
          <p:cNvSpPr/>
          <p:nvPr/>
        </p:nvSpPr>
        <p:spPr>
          <a:xfrm rot="10800000">
            <a:off x="5613507" y="1858579"/>
            <a:ext cx="180000" cy="324000"/>
          </a:xfrm>
          <a:prstGeom prst="triangl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0" name="Triangle isocèle 99"/>
          <p:cNvSpPr/>
          <p:nvPr/>
        </p:nvSpPr>
        <p:spPr>
          <a:xfrm rot="10800000">
            <a:off x="2153227" y="6091447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25" name="Connecteur droit 24"/>
          <p:cNvCxnSpPr/>
          <p:nvPr/>
        </p:nvCxnSpPr>
        <p:spPr>
          <a:xfrm>
            <a:off x="6208358" y="5412214"/>
            <a:ext cx="0" cy="126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0" name="Ellipse 59"/>
          <p:cNvSpPr/>
          <p:nvPr/>
        </p:nvSpPr>
        <p:spPr>
          <a:xfrm flipV="1">
            <a:off x="571399" y="2070128"/>
            <a:ext cx="144000" cy="144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3" name="Rectangle 62"/>
          <p:cNvSpPr/>
          <p:nvPr/>
        </p:nvSpPr>
        <p:spPr>
          <a:xfrm>
            <a:off x="6935736" y="4924112"/>
            <a:ext cx="1332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Ajouter</a:t>
            </a:r>
          </a:p>
        </p:txBody>
      </p:sp>
      <p:sp>
        <p:nvSpPr>
          <p:cNvPr id="52" name="Titre 1"/>
          <p:cNvSpPr txBox="1">
            <a:spLocks/>
          </p:cNvSpPr>
          <p:nvPr/>
        </p:nvSpPr>
        <p:spPr>
          <a:xfrm>
            <a:off x="1005772" y="1330461"/>
            <a:ext cx="614229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Code</a:t>
            </a:r>
            <a:endParaRPr lang="fr-FR" sz="1400" dirty="0"/>
          </a:p>
        </p:txBody>
      </p:sp>
      <p:sp>
        <p:nvSpPr>
          <p:cNvPr id="61" name="Rectangle 60"/>
          <p:cNvSpPr/>
          <p:nvPr/>
        </p:nvSpPr>
        <p:spPr>
          <a:xfrm>
            <a:off x="4099433" y="2219718"/>
            <a:ext cx="1694074" cy="1570403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4" name="Ellipse 63"/>
          <p:cNvSpPr/>
          <p:nvPr/>
        </p:nvSpPr>
        <p:spPr>
          <a:xfrm flipV="1">
            <a:off x="571399" y="2611619"/>
            <a:ext cx="144000" cy="144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5" name="Ellipse 64"/>
          <p:cNvSpPr/>
          <p:nvPr/>
        </p:nvSpPr>
        <p:spPr>
          <a:xfrm flipV="1">
            <a:off x="576231" y="3256172"/>
            <a:ext cx="144000" cy="144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6" name="Ellipse 65"/>
          <p:cNvSpPr/>
          <p:nvPr/>
        </p:nvSpPr>
        <p:spPr>
          <a:xfrm flipV="1">
            <a:off x="576231" y="3877714"/>
            <a:ext cx="144000" cy="144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7" name="Rectangle 66"/>
          <p:cNvSpPr/>
          <p:nvPr/>
        </p:nvSpPr>
        <p:spPr>
          <a:xfrm>
            <a:off x="1263622" y="5563174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8" name="Titre 1"/>
          <p:cNvSpPr txBox="1">
            <a:spLocks/>
          </p:cNvSpPr>
          <p:nvPr/>
        </p:nvSpPr>
        <p:spPr>
          <a:xfrm>
            <a:off x="391160" y="5533873"/>
            <a:ext cx="100800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Spécialité</a:t>
            </a:r>
            <a:endParaRPr lang="fr-FR" sz="1400" dirty="0"/>
          </a:p>
        </p:txBody>
      </p:sp>
      <p:sp>
        <p:nvSpPr>
          <p:cNvPr id="69" name="Triangle isocèle 68"/>
          <p:cNvSpPr/>
          <p:nvPr/>
        </p:nvSpPr>
        <p:spPr>
          <a:xfrm rot="10800000">
            <a:off x="2153833" y="5573980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9" name="Rectangle 98"/>
          <p:cNvSpPr/>
          <p:nvPr/>
        </p:nvSpPr>
        <p:spPr>
          <a:xfrm>
            <a:off x="4233506" y="2347078"/>
            <a:ext cx="1080000" cy="3600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r>
              <a:rPr lang="fr-FR" sz="1400" dirty="0" smtClean="0"/>
              <a:t>C 1 (100 %)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4242080" y="2818485"/>
            <a:ext cx="1080000" cy="3600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r>
              <a:rPr lang="fr-FR" sz="1400" dirty="0"/>
              <a:t>C </a:t>
            </a:r>
            <a:r>
              <a:rPr lang="fr-FR" sz="1400" dirty="0" smtClean="0"/>
              <a:t>2 (</a:t>
            </a:r>
            <a:r>
              <a:rPr lang="fr-FR" sz="1400" dirty="0"/>
              <a:t>5</a:t>
            </a:r>
            <a:r>
              <a:rPr lang="fr-FR" sz="1400" dirty="0" smtClean="0"/>
              <a:t>0 </a:t>
            </a:r>
            <a:r>
              <a:rPr lang="fr-FR" sz="1400" dirty="0"/>
              <a:t>%)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4238100" y="3314189"/>
            <a:ext cx="1080000" cy="3600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r>
              <a:rPr lang="fr-FR" sz="1400" dirty="0"/>
              <a:t>C </a:t>
            </a:r>
            <a:r>
              <a:rPr lang="fr-FR" sz="1400" dirty="0" smtClean="0"/>
              <a:t>3 (</a:t>
            </a:r>
            <a:r>
              <a:rPr lang="fr-FR" sz="1400" dirty="0"/>
              <a:t>3</a:t>
            </a:r>
            <a:r>
              <a:rPr lang="fr-FR" sz="1400" dirty="0" smtClean="0"/>
              <a:t>0 </a:t>
            </a:r>
            <a:r>
              <a:rPr lang="fr-FR" sz="1400" dirty="0"/>
              <a:t>%)</a:t>
            </a:r>
            <a:endParaRPr lang="fr-FR" sz="1400" dirty="0" smtClean="0"/>
          </a:p>
        </p:txBody>
      </p:sp>
      <p:cxnSp>
        <p:nvCxnSpPr>
          <p:cNvPr id="104" name="Connecteur droit 103"/>
          <p:cNvCxnSpPr/>
          <p:nvPr/>
        </p:nvCxnSpPr>
        <p:spPr>
          <a:xfrm>
            <a:off x="5923437" y="1284154"/>
            <a:ext cx="0" cy="3492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5" name="Rectangle 104"/>
          <p:cNvSpPr/>
          <p:nvPr/>
        </p:nvSpPr>
        <p:spPr>
          <a:xfrm>
            <a:off x="6055495" y="1867254"/>
            <a:ext cx="1691245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4" name="Titre 1"/>
          <p:cNvSpPr txBox="1">
            <a:spLocks/>
          </p:cNvSpPr>
          <p:nvPr/>
        </p:nvSpPr>
        <p:spPr>
          <a:xfrm>
            <a:off x="6197866" y="1328178"/>
            <a:ext cx="1418411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Médecin traitant</a:t>
            </a:r>
            <a:endParaRPr lang="fr-FR" sz="1400" dirty="0"/>
          </a:p>
        </p:txBody>
      </p:sp>
      <p:cxnSp>
        <p:nvCxnSpPr>
          <p:cNvPr id="71" name="Connecteur droit 70"/>
          <p:cNvCxnSpPr/>
          <p:nvPr/>
        </p:nvCxnSpPr>
        <p:spPr>
          <a:xfrm>
            <a:off x="1616470" y="1297406"/>
            <a:ext cx="0" cy="3492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2" name="Connecteur droit 71"/>
          <p:cNvCxnSpPr/>
          <p:nvPr/>
        </p:nvCxnSpPr>
        <p:spPr>
          <a:xfrm flipH="1" flipV="1">
            <a:off x="349226" y="1777201"/>
            <a:ext cx="7920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4" name="Connecteur droit 73"/>
          <p:cNvCxnSpPr/>
          <p:nvPr/>
        </p:nvCxnSpPr>
        <p:spPr>
          <a:xfrm>
            <a:off x="947236" y="1290782"/>
            <a:ext cx="0" cy="3492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5" name="Titre 1"/>
          <p:cNvSpPr txBox="1">
            <a:spLocks/>
          </p:cNvSpPr>
          <p:nvPr/>
        </p:nvSpPr>
        <p:spPr>
          <a:xfrm>
            <a:off x="336539" y="1323837"/>
            <a:ext cx="614229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Sélect</a:t>
            </a:r>
            <a:endParaRPr lang="fr-FR" sz="1400" dirty="0"/>
          </a:p>
        </p:txBody>
      </p:sp>
      <p:cxnSp>
        <p:nvCxnSpPr>
          <p:cNvPr id="76" name="Connecteur droit 75"/>
          <p:cNvCxnSpPr/>
          <p:nvPr/>
        </p:nvCxnSpPr>
        <p:spPr>
          <a:xfrm>
            <a:off x="4021744" y="1277530"/>
            <a:ext cx="0" cy="3492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9" name="Titre 1"/>
          <p:cNvSpPr txBox="1">
            <a:spLocks/>
          </p:cNvSpPr>
          <p:nvPr/>
        </p:nvSpPr>
        <p:spPr>
          <a:xfrm>
            <a:off x="4330173" y="1344403"/>
            <a:ext cx="1258754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Pourcentage %</a:t>
            </a:r>
            <a:endParaRPr lang="fr-FR" sz="1400" dirty="0"/>
          </a:p>
        </p:txBody>
      </p:sp>
      <p:sp>
        <p:nvSpPr>
          <p:cNvPr id="80" name="Triangle isocèle 79"/>
          <p:cNvSpPr/>
          <p:nvPr/>
        </p:nvSpPr>
        <p:spPr>
          <a:xfrm rot="10800000">
            <a:off x="7554953" y="1887955"/>
            <a:ext cx="180000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82" name="Connecteur droit 81"/>
          <p:cNvCxnSpPr/>
          <p:nvPr/>
        </p:nvCxnSpPr>
        <p:spPr>
          <a:xfrm flipH="1" flipV="1">
            <a:off x="329349" y="2393425"/>
            <a:ext cx="3672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8" name="Connecteur droit 87"/>
          <p:cNvCxnSpPr/>
          <p:nvPr/>
        </p:nvCxnSpPr>
        <p:spPr>
          <a:xfrm flipH="1" flipV="1">
            <a:off x="5928395" y="2400053"/>
            <a:ext cx="2304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3" name="Connecteur droit 92"/>
          <p:cNvCxnSpPr/>
          <p:nvPr/>
        </p:nvCxnSpPr>
        <p:spPr>
          <a:xfrm flipH="1" flipV="1">
            <a:off x="349229" y="2969895"/>
            <a:ext cx="3672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4" name="Connecteur droit 93"/>
          <p:cNvCxnSpPr/>
          <p:nvPr/>
        </p:nvCxnSpPr>
        <p:spPr>
          <a:xfrm flipH="1" flipV="1">
            <a:off x="5948275" y="2976523"/>
            <a:ext cx="2304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5" name="Connecteur droit 94"/>
          <p:cNvCxnSpPr/>
          <p:nvPr/>
        </p:nvCxnSpPr>
        <p:spPr>
          <a:xfrm flipH="1" flipV="1">
            <a:off x="349229" y="3645757"/>
            <a:ext cx="3672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0" name="Connecteur droit 109"/>
          <p:cNvCxnSpPr/>
          <p:nvPr/>
        </p:nvCxnSpPr>
        <p:spPr>
          <a:xfrm flipH="1" flipV="1">
            <a:off x="5948275" y="3652385"/>
            <a:ext cx="2304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1" name="Connecteur droit 110"/>
          <p:cNvCxnSpPr/>
          <p:nvPr/>
        </p:nvCxnSpPr>
        <p:spPr>
          <a:xfrm flipH="1" flipV="1">
            <a:off x="316097" y="4222228"/>
            <a:ext cx="7956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2" name="Rectangle 111"/>
          <p:cNvSpPr/>
          <p:nvPr/>
        </p:nvSpPr>
        <p:spPr>
          <a:xfrm>
            <a:off x="4151667" y="3841706"/>
            <a:ext cx="1691245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7" name="Rectangle 116"/>
          <p:cNvSpPr/>
          <p:nvPr/>
        </p:nvSpPr>
        <p:spPr>
          <a:xfrm>
            <a:off x="6075375" y="3835205"/>
            <a:ext cx="1691245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8" name="Triangle isocèle 117"/>
          <p:cNvSpPr/>
          <p:nvPr/>
        </p:nvSpPr>
        <p:spPr>
          <a:xfrm rot="10800000">
            <a:off x="7574833" y="3842654"/>
            <a:ext cx="180000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1" name="Ellipse 120"/>
          <p:cNvSpPr/>
          <p:nvPr/>
        </p:nvSpPr>
        <p:spPr>
          <a:xfrm flipV="1">
            <a:off x="557486" y="4431639"/>
            <a:ext cx="144000" cy="144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2" name="Rectangle 121"/>
          <p:cNvSpPr/>
          <p:nvPr/>
        </p:nvSpPr>
        <p:spPr>
          <a:xfrm>
            <a:off x="6075375" y="2562992"/>
            <a:ext cx="1691245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6" name="Triangle isocèle 125"/>
          <p:cNvSpPr/>
          <p:nvPr/>
        </p:nvSpPr>
        <p:spPr>
          <a:xfrm rot="10800000">
            <a:off x="7574833" y="2570441"/>
            <a:ext cx="180000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7" name="Rectangle 126"/>
          <p:cNvSpPr/>
          <p:nvPr/>
        </p:nvSpPr>
        <p:spPr>
          <a:xfrm>
            <a:off x="6088625" y="4365288"/>
            <a:ext cx="1691245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8" name="Triangle isocèle 127"/>
          <p:cNvSpPr/>
          <p:nvPr/>
        </p:nvSpPr>
        <p:spPr>
          <a:xfrm rot="10800000">
            <a:off x="7588083" y="4372737"/>
            <a:ext cx="180000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9" name="Rectangle 128"/>
          <p:cNvSpPr/>
          <p:nvPr/>
        </p:nvSpPr>
        <p:spPr>
          <a:xfrm>
            <a:off x="6088627" y="3159339"/>
            <a:ext cx="1691245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0" name="Triangle isocèle 129"/>
          <p:cNvSpPr/>
          <p:nvPr/>
        </p:nvSpPr>
        <p:spPr>
          <a:xfrm rot="10800000">
            <a:off x="7588085" y="3166788"/>
            <a:ext cx="180000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1" name="Triangle isocèle 130"/>
          <p:cNvSpPr/>
          <p:nvPr/>
        </p:nvSpPr>
        <p:spPr>
          <a:xfrm rot="10800000">
            <a:off x="5646639" y="3862528"/>
            <a:ext cx="180000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2" name="Rectangle 131"/>
          <p:cNvSpPr/>
          <p:nvPr/>
        </p:nvSpPr>
        <p:spPr>
          <a:xfrm>
            <a:off x="4145041" y="4351911"/>
            <a:ext cx="1691245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3" name="Triangle isocèle 132"/>
          <p:cNvSpPr/>
          <p:nvPr/>
        </p:nvSpPr>
        <p:spPr>
          <a:xfrm rot="10800000">
            <a:off x="5640013" y="4359481"/>
            <a:ext cx="180000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4" name="Titre 1"/>
          <p:cNvSpPr txBox="1">
            <a:spLocks/>
          </p:cNvSpPr>
          <p:nvPr/>
        </p:nvSpPr>
        <p:spPr>
          <a:xfrm>
            <a:off x="999149" y="1920180"/>
            <a:ext cx="452132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C 9</a:t>
            </a:r>
            <a:endParaRPr lang="fr-FR" sz="1400" dirty="0"/>
          </a:p>
        </p:txBody>
      </p:sp>
      <p:sp>
        <p:nvSpPr>
          <p:cNvPr id="135" name="Ellipse 134"/>
          <p:cNvSpPr/>
          <p:nvPr/>
        </p:nvSpPr>
        <p:spPr>
          <a:xfrm flipV="1">
            <a:off x="607107" y="2101296"/>
            <a:ext cx="72000" cy="720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Rectangle 8"/>
          <p:cNvSpPr/>
          <p:nvPr/>
        </p:nvSpPr>
        <p:spPr>
          <a:xfrm>
            <a:off x="1810084" y="1893538"/>
            <a:ext cx="1750094" cy="2970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>
                <a:latin typeface="+mj-lt"/>
                <a:ea typeface="+mj-ea"/>
                <a:cs typeface="+mj-cs"/>
              </a:rPr>
              <a:t>Dilatation pulmonaire</a:t>
            </a:r>
          </a:p>
        </p:txBody>
      </p:sp>
    </p:spTree>
    <p:extLst>
      <p:ext uri="{BB962C8B-B14F-4D97-AF65-F5344CB8AC3E}">
        <p14:creationId xmlns:p14="http://schemas.microsoft.com/office/powerpoint/2010/main" val="271677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 txBox="1">
            <a:spLocks/>
          </p:cNvSpPr>
          <p:nvPr/>
        </p:nvSpPr>
        <p:spPr>
          <a:xfrm>
            <a:off x="3489617" y="59579"/>
            <a:ext cx="4620714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07 –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Patient 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– Gestion des patients/</a:t>
            </a:r>
            <a:b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</a:br>
            <a:r>
              <a:rPr lang="fr-FR" altLang="fr-FR" sz="1800" b="1" dirty="0" smtClean="0">
                <a:latin typeface="Times New Roman" panose="02020603050405020304" pitchFamily="18" charset="0"/>
              </a:rPr>
              <a:t>Liste des patients</a:t>
            </a:r>
            <a:endParaRPr lang="fr-FR" sz="1800" dirty="0"/>
          </a:p>
        </p:txBody>
      </p:sp>
      <p:sp>
        <p:nvSpPr>
          <p:cNvPr id="4" name="Titre 1"/>
          <p:cNvSpPr txBox="1">
            <a:spLocks/>
          </p:cNvSpPr>
          <p:nvPr/>
        </p:nvSpPr>
        <p:spPr>
          <a:xfrm>
            <a:off x="1328478" y="2040141"/>
            <a:ext cx="12600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 d’entrée </a:t>
            </a:r>
            <a:endParaRPr lang="fr-FR" sz="1400" dirty="0"/>
          </a:p>
        </p:txBody>
      </p:sp>
      <p:sp>
        <p:nvSpPr>
          <p:cNvPr id="23" name="Rectangle 22"/>
          <p:cNvSpPr/>
          <p:nvPr/>
        </p:nvSpPr>
        <p:spPr>
          <a:xfrm>
            <a:off x="191992" y="594182"/>
            <a:ext cx="11758269" cy="542230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6" name="Rectangle 35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37" name="Rectangle 36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56" name="Rectangle 55"/>
          <p:cNvSpPr/>
          <p:nvPr/>
        </p:nvSpPr>
        <p:spPr>
          <a:xfrm>
            <a:off x="8190594" y="935112"/>
            <a:ext cx="1332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Recherche</a:t>
            </a:r>
          </a:p>
        </p:txBody>
      </p:sp>
      <p:sp>
        <p:nvSpPr>
          <p:cNvPr id="90" name="ZoneTexte 89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91" name="Rectangle 90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98" name="Rectangle 97"/>
          <p:cNvSpPr/>
          <p:nvPr/>
        </p:nvSpPr>
        <p:spPr>
          <a:xfrm>
            <a:off x="311736" y="1975736"/>
            <a:ext cx="9972000" cy="2700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3" name="Rectangle 122"/>
          <p:cNvSpPr/>
          <p:nvPr/>
        </p:nvSpPr>
        <p:spPr>
          <a:xfrm>
            <a:off x="3525849" y="958070"/>
            <a:ext cx="4507766" cy="305045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7" name="Rectangle 146"/>
          <p:cNvSpPr/>
          <p:nvPr/>
        </p:nvSpPr>
        <p:spPr>
          <a:xfrm>
            <a:off x="290682" y="757541"/>
            <a:ext cx="9936000" cy="714656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0" name="Ellipse 59"/>
          <p:cNvSpPr/>
          <p:nvPr/>
        </p:nvSpPr>
        <p:spPr>
          <a:xfrm flipV="1">
            <a:off x="8469709" y="2613470"/>
            <a:ext cx="144000" cy="144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2" name="Titre 1"/>
          <p:cNvSpPr txBox="1">
            <a:spLocks/>
          </p:cNvSpPr>
          <p:nvPr/>
        </p:nvSpPr>
        <p:spPr>
          <a:xfrm>
            <a:off x="288260" y="2032827"/>
            <a:ext cx="1026946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dossier</a:t>
            </a:r>
            <a:endParaRPr lang="fr-FR" sz="1400" dirty="0"/>
          </a:p>
        </p:txBody>
      </p:sp>
      <p:sp>
        <p:nvSpPr>
          <p:cNvPr id="67" name="Rectangle 66"/>
          <p:cNvSpPr/>
          <p:nvPr/>
        </p:nvSpPr>
        <p:spPr>
          <a:xfrm>
            <a:off x="2297295" y="951420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8" name="Titre 1"/>
          <p:cNvSpPr txBox="1">
            <a:spLocks/>
          </p:cNvSpPr>
          <p:nvPr/>
        </p:nvSpPr>
        <p:spPr>
          <a:xfrm>
            <a:off x="629702" y="922119"/>
            <a:ext cx="169200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Critère de recherche</a:t>
            </a:r>
            <a:endParaRPr lang="fr-FR" sz="1400" dirty="0"/>
          </a:p>
        </p:txBody>
      </p:sp>
      <p:sp>
        <p:nvSpPr>
          <p:cNvPr id="69" name="Triangle isocèle 68"/>
          <p:cNvSpPr/>
          <p:nvPr/>
        </p:nvSpPr>
        <p:spPr>
          <a:xfrm rot="10800000">
            <a:off x="3187506" y="962226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104" name="Connecteur droit 103"/>
          <p:cNvCxnSpPr/>
          <p:nvPr/>
        </p:nvCxnSpPr>
        <p:spPr>
          <a:xfrm>
            <a:off x="4384053" y="1999772"/>
            <a:ext cx="0" cy="270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4" name="Titre 1"/>
          <p:cNvSpPr txBox="1">
            <a:spLocks/>
          </p:cNvSpPr>
          <p:nvPr/>
        </p:nvSpPr>
        <p:spPr>
          <a:xfrm>
            <a:off x="4436560" y="2058568"/>
            <a:ext cx="162000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Prénom</a:t>
            </a:r>
            <a:endParaRPr lang="fr-FR" sz="1400" dirty="0"/>
          </a:p>
        </p:txBody>
      </p:sp>
      <p:cxnSp>
        <p:nvCxnSpPr>
          <p:cNvPr id="71" name="Connecteur droit 70"/>
          <p:cNvCxnSpPr/>
          <p:nvPr/>
        </p:nvCxnSpPr>
        <p:spPr>
          <a:xfrm>
            <a:off x="1285167" y="1999772"/>
            <a:ext cx="0" cy="270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2" name="Connecteur droit 71"/>
          <p:cNvCxnSpPr/>
          <p:nvPr/>
        </p:nvCxnSpPr>
        <p:spPr>
          <a:xfrm flipH="1" flipV="1">
            <a:off x="349226" y="2479567"/>
            <a:ext cx="9936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4" name="Connecteur droit 73"/>
          <p:cNvCxnSpPr/>
          <p:nvPr/>
        </p:nvCxnSpPr>
        <p:spPr>
          <a:xfrm>
            <a:off x="9110588" y="1993148"/>
            <a:ext cx="0" cy="270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5" name="Titre 1"/>
          <p:cNvSpPr txBox="1">
            <a:spLocks/>
          </p:cNvSpPr>
          <p:nvPr/>
        </p:nvSpPr>
        <p:spPr>
          <a:xfrm>
            <a:off x="8073371" y="2039455"/>
            <a:ext cx="881725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Sélection</a:t>
            </a:r>
            <a:endParaRPr lang="fr-FR" sz="1400" dirty="0"/>
          </a:p>
        </p:txBody>
      </p:sp>
      <p:cxnSp>
        <p:nvCxnSpPr>
          <p:cNvPr id="76" name="Connecteur droit 75"/>
          <p:cNvCxnSpPr/>
          <p:nvPr/>
        </p:nvCxnSpPr>
        <p:spPr>
          <a:xfrm>
            <a:off x="2683275" y="1979896"/>
            <a:ext cx="0" cy="270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9" name="Titre 1"/>
          <p:cNvSpPr txBox="1">
            <a:spLocks/>
          </p:cNvSpPr>
          <p:nvPr/>
        </p:nvSpPr>
        <p:spPr>
          <a:xfrm>
            <a:off x="2729055" y="2046769"/>
            <a:ext cx="16200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Nom de naissance</a:t>
            </a:r>
            <a:endParaRPr lang="fr-FR" sz="1400" dirty="0"/>
          </a:p>
        </p:txBody>
      </p:sp>
      <p:sp>
        <p:nvSpPr>
          <p:cNvPr id="134" name="Titre 1"/>
          <p:cNvSpPr txBox="1">
            <a:spLocks/>
          </p:cNvSpPr>
          <p:nvPr/>
        </p:nvSpPr>
        <p:spPr>
          <a:xfrm>
            <a:off x="449262" y="2515482"/>
            <a:ext cx="670716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02095</a:t>
            </a:r>
            <a:endParaRPr lang="fr-FR" sz="1400" dirty="0"/>
          </a:p>
        </p:txBody>
      </p:sp>
      <p:sp>
        <p:nvSpPr>
          <p:cNvPr id="9" name="Rectangle 8"/>
          <p:cNvSpPr/>
          <p:nvPr/>
        </p:nvSpPr>
        <p:spPr>
          <a:xfrm>
            <a:off x="1359068" y="2581742"/>
            <a:ext cx="1106599" cy="28904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14/05/2013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73" name="Ellipse 72"/>
          <p:cNvSpPr/>
          <p:nvPr/>
        </p:nvSpPr>
        <p:spPr>
          <a:xfrm flipV="1">
            <a:off x="9576263" y="2606846"/>
            <a:ext cx="144000" cy="144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86" name="Connecteur droit 85"/>
          <p:cNvCxnSpPr/>
          <p:nvPr/>
        </p:nvCxnSpPr>
        <p:spPr>
          <a:xfrm>
            <a:off x="6110568" y="1973272"/>
            <a:ext cx="0" cy="270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9" name="Titre 1"/>
          <p:cNvSpPr txBox="1">
            <a:spLocks/>
          </p:cNvSpPr>
          <p:nvPr/>
        </p:nvSpPr>
        <p:spPr>
          <a:xfrm>
            <a:off x="9261849" y="2032827"/>
            <a:ext cx="889001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Supprime </a:t>
            </a:r>
            <a:endParaRPr lang="fr-FR" sz="1400" dirty="0"/>
          </a:p>
        </p:txBody>
      </p:sp>
      <p:sp>
        <p:nvSpPr>
          <p:cNvPr id="103" name="Titre 1"/>
          <p:cNvSpPr txBox="1">
            <a:spLocks/>
          </p:cNvSpPr>
          <p:nvPr/>
        </p:nvSpPr>
        <p:spPr>
          <a:xfrm>
            <a:off x="6179524" y="2026770"/>
            <a:ext cx="16200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 de naissance</a:t>
            </a:r>
            <a:endParaRPr lang="fr-FR" sz="1400" dirty="0"/>
          </a:p>
        </p:txBody>
      </p:sp>
      <p:cxnSp>
        <p:nvCxnSpPr>
          <p:cNvPr id="108" name="Connecteur droit 107"/>
          <p:cNvCxnSpPr/>
          <p:nvPr/>
        </p:nvCxnSpPr>
        <p:spPr>
          <a:xfrm>
            <a:off x="7884760" y="1973272"/>
            <a:ext cx="0" cy="270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9" name="Rectangle 108"/>
          <p:cNvSpPr/>
          <p:nvPr/>
        </p:nvSpPr>
        <p:spPr>
          <a:xfrm>
            <a:off x="2902947" y="2575118"/>
            <a:ext cx="1106599" cy="28904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Amara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13" name="Rectangle 112"/>
          <p:cNvSpPr/>
          <p:nvPr/>
        </p:nvSpPr>
        <p:spPr>
          <a:xfrm>
            <a:off x="4645605" y="2581746"/>
            <a:ext cx="1106599" cy="28904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amine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15" name="Rectangle 114"/>
          <p:cNvSpPr/>
          <p:nvPr/>
        </p:nvSpPr>
        <p:spPr>
          <a:xfrm>
            <a:off x="6441278" y="2588370"/>
            <a:ext cx="1106599" cy="28904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22/04/1972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16" name="Titre 1"/>
          <p:cNvSpPr txBox="1">
            <a:spLocks/>
          </p:cNvSpPr>
          <p:nvPr/>
        </p:nvSpPr>
        <p:spPr>
          <a:xfrm>
            <a:off x="329351" y="1518537"/>
            <a:ext cx="2501672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/>
              <a:t>Liste des </a:t>
            </a:r>
            <a:r>
              <a:rPr lang="fr-FR" sz="1600" b="1" u="sng" dirty="0" smtClean="0"/>
              <a:t>patients </a:t>
            </a:r>
            <a:r>
              <a:rPr lang="fr-FR" sz="1600" dirty="0" smtClean="0"/>
              <a:t>  </a:t>
            </a:r>
            <a:r>
              <a:rPr lang="fr-FR" sz="1600" b="1" u="sng" dirty="0" smtClean="0"/>
              <a:t>Exemple</a:t>
            </a:r>
            <a:endParaRPr lang="fr-FR" sz="1600" b="1" u="sng" dirty="0"/>
          </a:p>
        </p:txBody>
      </p:sp>
      <p:sp>
        <p:nvSpPr>
          <p:cNvPr id="119" name="Ellipse 118"/>
          <p:cNvSpPr/>
          <p:nvPr/>
        </p:nvSpPr>
        <p:spPr>
          <a:xfrm flipV="1">
            <a:off x="8436579" y="3123678"/>
            <a:ext cx="144000" cy="144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20" name="Connecteur droit 119"/>
          <p:cNvCxnSpPr/>
          <p:nvPr/>
        </p:nvCxnSpPr>
        <p:spPr>
          <a:xfrm flipH="1" flipV="1">
            <a:off x="316096" y="2936767"/>
            <a:ext cx="9936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36" name="Ellipse 135"/>
          <p:cNvSpPr/>
          <p:nvPr/>
        </p:nvSpPr>
        <p:spPr>
          <a:xfrm flipV="1">
            <a:off x="9543133" y="3130306"/>
            <a:ext cx="144000" cy="144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0" name="Ellipse 139"/>
          <p:cNvSpPr/>
          <p:nvPr/>
        </p:nvSpPr>
        <p:spPr>
          <a:xfrm flipV="1">
            <a:off x="8449833" y="3706774"/>
            <a:ext cx="144000" cy="144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41" name="Connecteur droit 140"/>
          <p:cNvCxnSpPr/>
          <p:nvPr/>
        </p:nvCxnSpPr>
        <p:spPr>
          <a:xfrm flipH="1" flipV="1">
            <a:off x="329350" y="3506611"/>
            <a:ext cx="9936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43" name="Ellipse 142"/>
          <p:cNvSpPr/>
          <p:nvPr/>
        </p:nvSpPr>
        <p:spPr>
          <a:xfrm flipV="1">
            <a:off x="9556387" y="3700150"/>
            <a:ext cx="144000" cy="144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8" name="Ellipse 147"/>
          <p:cNvSpPr/>
          <p:nvPr/>
        </p:nvSpPr>
        <p:spPr>
          <a:xfrm flipV="1">
            <a:off x="8449833" y="4316372"/>
            <a:ext cx="144000" cy="144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49" name="Connecteur droit 148"/>
          <p:cNvCxnSpPr/>
          <p:nvPr/>
        </p:nvCxnSpPr>
        <p:spPr>
          <a:xfrm flipH="1" flipV="1">
            <a:off x="329350" y="4076453"/>
            <a:ext cx="9936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1" name="Ellipse 150"/>
          <p:cNvSpPr/>
          <p:nvPr/>
        </p:nvSpPr>
        <p:spPr>
          <a:xfrm flipV="1">
            <a:off x="9556387" y="4309748"/>
            <a:ext cx="144000" cy="144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5" name="Titre 1"/>
          <p:cNvSpPr txBox="1">
            <a:spLocks/>
          </p:cNvSpPr>
          <p:nvPr/>
        </p:nvSpPr>
        <p:spPr>
          <a:xfrm>
            <a:off x="469142" y="2992212"/>
            <a:ext cx="670716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</a:t>
            </a:r>
            <a:endParaRPr lang="fr-FR" sz="1800" b="1" dirty="0"/>
          </a:p>
        </p:txBody>
      </p:sp>
      <p:sp>
        <p:nvSpPr>
          <p:cNvPr id="157" name="Titre 1"/>
          <p:cNvSpPr txBox="1">
            <a:spLocks/>
          </p:cNvSpPr>
          <p:nvPr/>
        </p:nvSpPr>
        <p:spPr>
          <a:xfrm>
            <a:off x="462518" y="3568679"/>
            <a:ext cx="670716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</a:t>
            </a:r>
            <a:endParaRPr lang="fr-FR" sz="1800" b="1" dirty="0"/>
          </a:p>
        </p:txBody>
      </p:sp>
      <p:sp>
        <p:nvSpPr>
          <p:cNvPr id="158" name="Titre 1"/>
          <p:cNvSpPr txBox="1">
            <a:spLocks/>
          </p:cNvSpPr>
          <p:nvPr/>
        </p:nvSpPr>
        <p:spPr>
          <a:xfrm>
            <a:off x="469142" y="4131895"/>
            <a:ext cx="670716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</a:t>
            </a:r>
            <a:endParaRPr lang="fr-FR" sz="1800" b="1" dirty="0"/>
          </a:p>
        </p:txBody>
      </p:sp>
      <p:sp>
        <p:nvSpPr>
          <p:cNvPr id="159" name="Titre 1"/>
          <p:cNvSpPr txBox="1">
            <a:spLocks/>
          </p:cNvSpPr>
          <p:nvPr/>
        </p:nvSpPr>
        <p:spPr>
          <a:xfrm>
            <a:off x="1410047" y="2978960"/>
            <a:ext cx="119974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……………….</a:t>
            </a:r>
            <a:endParaRPr lang="fr-FR" sz="1800" b="1" dirty="0"/>
          </a:p>
        </p:txBody>
      </p:sp>
      <p:sp>
        <p:nvSpPr>
          <p:cNvPr id="160" name="Titre 1"/>
          <p:cNvSpPr txBox="1">
            <a:spLocks/>
          </p:cNvSpPr>
          <p:nvPr/>
        </p:nvSpPr>
        <p:spPr>
          <a:xfrm>
            <a:off x="1403423" y="3581935"/>
            <a:ext cx="119974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……………….</a:t>
            </a:r>
            <a:endParaRPr lang="fr-FR" sz="1800" b="1" dirty="0"/>
          </a:p>
        </p:txBody>
      </p:sp>
      <p:sp>
        <p:nvSpPr>
          <p:cNvPr id="161" name="Titre 1"/>
          <p:cNvSpPr txBox="1">
            <a:spLocks/>
          </p:cNvSpPr>
          <p:nvPr/>
        </p:nvSpPr>
        <p:spPr>
          <a:xfrm>
            <a:off x="1390170" y="4138524"/>
            <a:ext cx="119974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……………….</a:t>
            </a:r>
            <a:endParaRPr lang="fr-FR" sz="1800" b="1" dirty="0"/>
          </a:p>
        </p:txBody>
      </p:sp>
      <p:sp>
        <p:nvSpPr>
          <p:cNvPr id="162" name="Titre 1"/>
          <p:cNvSpPr txBox="1">
            <a:spLocks/>
          </p:cNvSpPr>
          <p:nvPr/>
        </p:nvSpPr>
        <p:spPr>
          <a:xfrm>
            <a:off x="2940671" y="2972336"/>
            <a:ext cx="119974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……………….</a:t>
            </a:r>
            <a:endParaRPr lang="fr-FR" sz="1800" b="1" dirty="0"/>
          </a:p>
        </p:txBody>
      </p:sp>
      <p:sp>
        <p:nvSpPr>
          <p:cNvPr id="163" name="Titre 1"/>
          <p:cNvSpPr txBox="1">
            <a:spLocks/>
          </p:cNvSpPr>
          <p:nvPr/>
        </p:nvSpPr>
        <p:spPr>
          <a:xfrm>
            <a:off x="2934047" y="3575311"/>
            <a:ext cx="119974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……………….</a:t>
            </a:r>
            <a:endParaRPr lang="fr-FR" sz="1800" b="1" dirty="0"/>
          </a:p>
        </p:txBody>
      </p:sp>
      <p:sp>
        <p:nvSpPr>
          <p:cNvPr id="164" name="Titre 1"/>
          <p:cNvSpPr txBox="1">
            <a:spLocks/>
          </p:cNvSpPr>
          <p:nvPr/>
        </p:nvSpPr>
        <p:spPr>
          <a:xfrm>
            <a:off x="2920794" y="4131900"/>
            <a:ext cx="119974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……………….</a:t>
            </a:r>
            <a:endParaRPr lang="fr-FR" sz="1800" b="1" dirty="0"/>
          </a:p>
        </p:txBody>
      </p:sp>
      <p:sp>
        <p:nvSpPr>
          <p:cNvPr id="165" name="Titre 1"/>
          <p:cNvSpPr txBox="1">
            <a:spLocks/>
          </p:cNvSpPr>
          <p:nvPr/>
        </p:nvSpPr>
        <p:spPr>
          <a:xfrm>
            <a:off x="4636953" y="2998840"/>
            <a:ext cx="119974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……………….</a:t>
            </a:r>
            <a:endParaRPr lang="fr-FR" sz="1800" b="1" dirty="0"/>
          </a:p>
        </p:txBody>
      </p:sp>
      <p:sp>
        <p:nvSpPr>
          <p:cNvPr id="166" name="Titre 1"/>
          <p:cNvSpPr txBox="1">
            <a:spLocks/>
          </p:cNvSpPr>
          <p:nvPr/>
        </p:nvSpPr>
        <p:spPr>
          <a:xfrm>
            <a:off x="4630329" y="3601815"/>
            <a:ext cx="119974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……………….</a:t>
            </a:r>
            <a:endParaRPr lang="fr-FR" sz="1800" b="1" dirty="0"/>
          </a:p>
        </p:txBody>
      </p:sp>
      <p:sp>
        <p:nvSpPr>
          <p:cNvPr id="167" name="Titre 1"/>
          <p:cNvSpPr txBox="1">
            <a:spLocks/>
          </p:cNvSpPr>
          <p:nvPr/>
        </p:nvSpPr>
        <p:spPr>
          <a:xfrm>
            <a:off x="4617076" y="4158404"/>
            <a:ext cx="119974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……………….</a:t>
            </a:r>
            <a:endParaRPr lang="fr-FR" sz="1800" b="1" dirty="0"/>
          </a:p>
        </p:txBody>
      </p:sp>
      <p:sp>
        <p:nvSpPr>
          <p:cNvPr id="168" name="Titre 1"/>
          <p:cNvSpPr txBox="1">
            <a:spLocks/>
          </p:cNvSpPr>
          <p:nvPr/>
        </p:nvSpPr>
        <p:spPr>
          <a:xfrm>
            <a:off x="6439250" y="2985586"/>
            <a:ext cx="119974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……………….</a:t>
            </a:r>
            <a:endParaRPr lang="fr-FR" sz="1800" b="1" dirty="0"/>
          </a:p>
        </p:txBody>
      </p:sp>
      <p:sp>
        <p:nvSpPr>
          <p:cNvPr id="169" name="Titre 1"/>
          <p:cNvSpPr txBox="1">
            <a:spLocks/>
          </p:cNvSpPr>
          <p:nvPr/>
        </p:nvSpPr>
        <p:spPr>
          <a:xfrm>
            <a:off x="6432626" y="3588561"/>
            <a:ext cx="119974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……………….</a:t>
            </a:r>
            <a:endParaRPr lang="fr-FR" sz="1800" b="1" dirty="0"/>
          </a:p>
        </p:txBody>
      </p:sp>
      <p:sp>
        <p:nvSpPr>
          <p:cNvPr id="170" name="Titre 1"/>
          <p:cNvSpPr txBox="1">
            <a:spLocks/>
          </p:cNvSpPr>
          <p:nvPr/>
        </p:nvSpPr>
        <p:spPr>
          <a:xfrm>
            <a:off x="6419373" y="4145150"/>
            <a:ext cx="119974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……………….</a:t>
            </a:r>
            <a:endParaRPr lang="fr-FR" sz="1800" b="1" dirty="0"/>
          </a:p>
        </p:txBody>
      </p:sp>
      <p:sp>
        <p:nvSpPr>
          <p:cNvPr id="172" name="Titre 1"/>
          <p:cNvSpPr txBox="1">
            <a:spLocks/>
          </p:cNvSpPr>
          <p:nvPr/>
        </p:nvSpPr>
        <p:spPr>
          <a:xfrm>
            <a:off x="440660" y="5312738"/>
            <a:ext cx="1026946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dossier</a:t>
            </a:r>
            <a:endParaRPr lang="fr-FR" sz="1400" dirty="0"/>
          </a:p>
        </p:txBody>
      </p:sp>
      <p:sp>
        <p:nvSpPr>
          <p:cNvPr id="174" name="Titre 1"/>
          <p:cNvSpPr txBox="1">
            <a:spLocks/>
          </p:cNvSpPr>
          <p:nvPr/>
        </p:nvSpPr>
        <p:spPr>
          <a:xfrm>
            <a:off x="2831022" y="5299633"/>
            <a:ext cx="9591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Patient </a:t>
            </a:r>
            <a:endParaRPr lang="fr-FR" sz="1400" dirty="0"/>
          </a:p>
        </p:txBody>
      </p:sp>
      <p:sp>
        <p:nvSpPr>
          <p:cNvPr id="175" name="Titre 1"/>
          <p:cNvSpPr txBox="1">
            <a:spLocks/>
          </p:cNvSpPr>
          <p:nvPr/>
        </p:nvSpPr>
        <p:spPr>
          <a:xfrm>
            <a:off x="1821443" y="5290752"/>
            <a:ext cx="670716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02095</a:t>
            </a:r>
            <a:endParaRPr lang="fr-FR" sz="1400" dirty="0"/>
          </a:p>
        </p:txBody>
      </p:sp>
      <p:sp>
        <p:nvSpPr>
          <p:cNvPr id="177" name="Titre 1"/>
          <p:cNvSpPr txBox="1">
            <a:spLocks/>
          </p:cNvSpPr>
          <p:nvPr/>
        </p:nvSpPr>
        <p:spPr>
          <a:xfrm>
            <a:off x="5658389" y="5319145"/>
            <a:ext cx="560942" cy="3850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Age </a:t>
            </a:r>
            <a:endParaRPr lang="fr-FR" sz="1400" dirty="0"/>
          </a:p>
        </p:txBody>
      </p:sp>
      <p:sp>
        <p:nvSpPr>
          <p:cNvPr id="178" name="Rectangle 177"/>
          <p:cNvSpPr/>
          <p:nvPr/>
        </p:nvSpPr>
        <p:spPr>
          <a:xfrm>
            <a:off x="3691406" y="5365442"/>
            <a:ext cx="1106599" cy="28904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Amara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79" name="Rectangle 178"/>
          <p:cNvSpPr/>
          <p:nvPr/>
        </p:nvSpPr>
        <p:spPr>
          <a:xfrm>
            <a:off x="4355884" y="5371483"/>
            <a:ext cx="1106599" cy="28904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amine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80" name="Rectangle 179"/>
          <p:cNvSpPr/>
          <p:nvPr/>
        </p:nvSpPr>
        <p:spPr>
          <a:xfrm>
            <a:off x="6003571" y="5378712"/>
            <a:ext cx="1106599" cy="28904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43 ans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81" name="Rectangle 180"/>
          <p:cNvSpPr/>
          <p:nvPr/>
        </p:nvSpPr>
        <p:spPr>
          <a:xfrm>
            <a:off x="1628058" y="5357764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82" name="Rectangle 181"/>
          <p:cNvSpPr/>
          <p:nvPr/>
        </p:nvSpPr>
        <p:spPr>
          <a:xfrm>
            <a:off x="3821294" y="5351140"/>
            <a:ext cx="1641189" cy="35303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83" name="Rectangle 182"/>
          <p:cNvSpPr/>
          <p:nvPr/>
        </p:nvSpPr>
        <p:spPr>
          <a:xfrm>
            <a:off x="6193437" y="5364392"/>
            <a:ext cx="7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84" name="Rectangle 183"/>
          <p:cNvSpPr/>
          <p:nvPr/>
        </p:nvSpPr>
        <p:spPr>
          <a:xfrm>
            <a:off x="350318" y="5150633"/>
            <a:ext cx="9936000" cy="714656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85" name="Titre 1"/>
          <p:cNvSpPr txBox="1">
            <a:spLocks/>
          </p:cNvSpPr>
          <p:nvPr/>
        </p:nvSpPr>
        <p:spPr>
          <a:xfrm>
            <a:off x="294888" y="4746692"/>
            <a:ext cx="1828492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 smtClean="0"/>
              <a:t>Affichage</a:t>
            </a:r>
            <a:r>
              <a:rPr lang="fr-FR" sz="1600" dirty="0"/>
              <a:t> </a:t>
            </a:r>
            <a:r>
              <a:rPr lang="fr-FR" sz="1600" dirty="0" smtClean="0"/>
              <a:t>  </a:t>
            </a:r>
            <a:r>
              <a:rPr lang="fr-FR" sz="1600" b="1" u="sng" dirty="0" smtClean="0"/>
              <a:t>Exemple</a:t>
            </a:r>
            <a:endParaRPr lang="fr-FR" sz="1600" b="1" u="sng" dirty="0"/>
          </a:p>
        </p:txBody>
      </p:sp>
      <p:sp>
        <p:nvSpPr>
          <p:cNvPr id="186" name="Titre 1"/>
          <p:cNvSpPr txBox="1">
            <a:spLocks/>
          </p:cNvSpPr>
          <p:nvPr/>
        </p:nvSpPr>
        <p:spPr>
          <a:xfrm>
            <a:off x="86068" y="6277866"/>
            <a:ext cx="9814594" cy="42390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b="1" dirty="0" smtClean="0"/>
              <a:t>Critère de recherche</a:t>
            </a:r>
            <a:r>
              <a:rPr lang="fr-FR" sz="1400" b="1" dirty="0"/>
              <a:t> </a:t>
            </a:r>
            <a:r>
              <a:rPr lang="fr-FR" sz="1400" b="1" dirty="0" smtClean="0"/>
              <a:t>: </a:t>
            </a:r>
            <a:r>
              <a:rPr lang="fr-FR" sz="1400" dirty="0" smtClean="0"/>
              <a:t>Nom de naissance, prénom, service, N° dossier</a:t>
            </a:r>
          </a:p>
        </p:txBody>
      </p:sp>
    </p:spTree>
    <p:extLst>
      <p:ext uri="{BB962C8B-B14F-4D97-AF65-F5344CB8AC3E}">
        <p14:creationId xmlns:p14="http://schemas.microsoft.com/office/powerpoint/2010/main" val="8616917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 txBox="1">
            <a:spLocks/>
          </p:cNvSpPr>
          <p:nvPr/>
        </p:nvSpPr>
        <p:spPr>
          <a:xfrm>
            <a:off x="3489617" y="59579"/>
            <a:ext cx="4620714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08 –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Patient 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– Fiche patient/</a:t>
            </a:r>
            <a:endParaRPr lang="fr-FR" altLang="fr-FR" sz="1800" b="1" dirty="0">
              <a:solidFill>
                <a:srgbClr val="000000"/>
              </a:solidFill>
              <a:latin typeface="Times New Roman" panose="02020603050405020304" pitchFamily="18" charset="0"/>
              <a:ea typeface="Microsoft YaHei" panose="020B0503020204020204" pitchFamily="34" charset="-122"/>
            </a:endParaRP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Etat civil</a:t>
            </a:r>
            <a:endParaRPr lang="fr-FR" sz="1800" dirty="0"/>
          </a:p>
        </p:txBody>
      </p:sp>
      <p:sp>
        <p:nvSpPr>
          <p:cNvPr id="23" name="Rectangle 22"/>
          <p:cNvSpPr/>
          <p:nvPr/>
        </p:nvSpPr>
        <p:spPr>
          <a:xfrm>
            <a:off x="191992" y="594180"/>
            <a:ext cx="11758269" cy="6192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6" name="Rectangle 35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37" name="Rectangle 36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90" name="ZoneTexte 89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91" name="Rectangle 90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3892310" y="1845105"/>
            <a:ext cx="1800000" cy="286059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7" name="Rectangle 146"/>
          <p:cNvSpPr/>
          <p:nvPr/>
        </p:nvSpPr>
        <p:spPr>
          <a:xfrm>
            <a:off x="1920696" y="1297413"/>
            <a:ext cx="9936000" cy="1337322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7" name="Rectangle 66"/>
          <p:cNvSpPr/>
          <p:nvPr/>
        </p:nvSpPr>
        <p:spPr>
          <a:xfrm>
            <a:off x="3896717" y="1430164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8" name="Titre 1"/>
          <p:cNvSpPr txBox="1">
            <a:spLocks/>
          </p:cNvSpPr>
          <p:nvPr/>
        </p:nvSpPr>
        <p:spPr>
          <a:xfrm>
            <a:off x="2768325" y="1410495"/>
            <a:ext cx="1191741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Provenance</a:t>
            </a:r>
            <a:endParaRPr lang="fr-FR" sz="1400" dirty="0"/>
          </a:p>
        </p:txBody>
      </p:sp>
      <p:sp>
        <p:nvSpPr>
          <p:cNvPr id="69" name="Triangle isocèle 68"/>
          <p:cNvSpPr/>
          <p:nvPr/>
        </p:nvSpPr>
        <p:spPr>
          <a:xfrm rot="10800000">
            <a:off x="4801558" y="1426004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7" name="Titre 1"/>
          <p:cNvSpPr txBox="1">
            <a:spLocks/>
          </p:cNvSpPr>
          <p:nvPr/>
        </p:nvSpPr>
        <p:spPr>
          <a:xfrm>
            <a:off x="1964661" y="700986"/>
            <a:ext cx="1026946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dossier</a:t>
            </a:r>
            <a:endParaRPr lang="fr-FR" sz="1400" dirty="0"/>
          </a:p>
        </p:txBody>
      </p:sp>
      <p:sp>
        <p:nvSpPr>
          <p:cNvPr id="78" name="Titre 1"/>
          <p:cNvSpPr txBox="1">
            <a:spLocks/>
          </p:cNvSpPr>
          <p:nvPr/>
        </p:nvSpPr>
        <p:spPr>
          <a:xfrm>
            <a:off x="4355023" y="687881"/>
            <a:ext cx="9591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Patient </a:t>
            </a:r>
            <a:endParaRPr lang="fr-FR" sz="1400" dirty="0"/>
          </a:p>
        </p:txBody>
      </p:sp>
      <p:sp>
        <p:nvSpPr>
          <p:cNvPr id="80" name="Titre 1"/>
          <p:cNvSpPr txBox="1">
            <a:spLocks/>
          </p:cNvSpPr>
          <p:nvPr/>
        </p:nvSpPr>
        <p:spPr>
          <a:xfrm>
            <a:off x="3345444" y="771764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02095</a:t>
            </a:r>
            <a:endParaRPr lang="fr-FR" sz="1400" dirty="0"/>
          </a:p>
        </p:txBody>
      </p:sp>
      <p:sp>
        <p:nvSpPr>
          <p:cNvPr id="81" name="Titre 1"/>
          <p:cNvSpPr txBox="1">
            <a:spLocks/>
          </p:cNvSpPr>
          <p:nvPr/>
        </p:nvSpPr>
        <p:spPr>
          <a:xfrm>
            <a:off x="7182390" y="707393"/>
            <a:ext cx="560942" cy="3850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Age </a:t>
            </a:r>
            <a:endParaRPr lang="fr-FR" sz="1400" dirty="0"/>
          </a:p>
        </p:txBody>
      </p:sp>
      <p:sp>
        <p:nvSpPr>
          <p:cNvPr id="82" name="Rectangle 81"/>
          <p:cNvSpPr/>
          <p:nvPr/>
        </p:nvSpPr>
        <p:spPr>
          <a:xfrm>
            <a:off x="5453943" y="793446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Amara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83" name="Rectangle 82"/>
          <p:cNvSpPr/>
          <p:nvPr/>
        </p:nvSpPr>
        <p:spPr>
          <a:xfrm>
            <a:off x="6118421" y="799487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amine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84" name="Rectangle 83"/>
          <p:cNvSpPr/>
          <p:nvPr/>
        </p:nvSpPr>
        <p:spPr>
          <a:xfrm>
            <a:off x="7766108" y="780212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43 ans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85" name="Rectangle 84"/>
          <p:cNvSpPr/>
          <p:nvPr/>
        </p:nvSpPr>
        <p:spPr>
          <a:xfrm>
            <a:off x="3152059" y="746012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7" name="Rectangle 86"/>
          <p:cNvSpPr/>
          <p:nvPr/>
        </p:nvSpPr>
        <p:spPr>
          <a:xfrm>
            <a:off x="5345295" y="739388"/>
            <a:ext cx="1641189" cy="35303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8" name="Rectangle 87"/>
          <p:cNvSpPr/>
          <p:nvPr/>
        </p:nvSpPr>
        <p:spPr>
          <a:xfrm>
            <a:off x="7717438" y="752640"/>
            <a:ext cx="7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2" name="Rectangle 91"/>
          <p:cNvSpPr/>
          <p:nvPr/>
        </p:nvSpPr>
        <p:spPr>
          <a:xfrm>
            <a:off x="1914072" y="631644"/>
            <a:ext cx="9936000" cy="53385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3" name="Titre 1"/>
          <p:cNvSpPr txBox="1">
            <a:spLocks/>
          </p:cNvSpPr>
          <p:nvPr/>
        </p:nvSpPr>
        <p:spPr>
          <a:xfrm>
            <a:off x="776035" y="817807"/>
            <a:ext cx="972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 smtClean="0"/>
              <a:t>Affichage</a:t>
            </a:r>
            <a:endParaRPr lang="fr-FR" sz="1600" b="1" u="sng" dirty="0"/>
          </a:p>
        </p:txBody>
      </p:sp>
      <p:sp>
        <p:nvSpPr>
          <p:cNvPr id="94" name="Titre 1"/>
          <p:cNvSpPr txBox="1">
            <a:spLocks/>
          </p:cNvSpPr>
          <p:nvPr/>
        </p:nvSpPr>
        <p:spPr>
          <a:xfrm>
            <a:off x="487049" y="1480037"/>
            <a:ext cx="1440000" cy="54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 smtClean="0"/>
              <a:t>Fiche d’identification</a:t>
            </a:r>
            <a:endParaRPr lang="fr-FR" sz="1600" b="1" u="sng" dirty="0"/>
          </a:p>
        </p:txBody>
      </p:sp>
      <p:sp>
        <p:nvSpPr>
          <p:cNvPr id="95" name="Titre 1"/>
          <p:cNvSpPr txBox="1">
            <a:spLocks/>
          </p:cNvSpPr>
          <p:nvPr/>
        </p:nvSpPr>
        <p:spPr>
          <a:xfrm>
            <a:off x="1911649" y="1813849"/>
            <a:ext cx="205200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Service d’hospitalisation</a:t>
            </a:r>
            <a:endParaRPr lang="fr-FR" sz="1400" dirty="0"/>
          </a:p>
        </p:txBody>
      </p:sp>
      <p:sp>
        <p:nvSpPr>
          <p:cNvPr id="96" name="Triangle isocèle 95"/>
          <p:cNvSpPr/>
          <p:nvPr/>
        </p:nvSpPr>
        <p:spPr>
          <a:xfrm rot="10800000">
            <a:off x="5510711" y="1859698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9" name="Titre 1"/>
          <p:cNvSpPr txBox="1">
            <a:spLocks/>
          </p:cNvSpPr>
          <p:nvPr/>
        </p:nvSpPr>
        <p:spPr>
          <a:xfrm>
            <a:off x="2412186" y="2215180"/>
            <a:ext cx="1574045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Service d’accueil</a:t>
            </a:r>
            <a:endParaRPr lang="fr-FR" sz="1400" dirty="0"/>
          </a:p>
        </p:txBody>
      </p:sp>
      <p:sp>
        <p:nvSpPr>
          <p:cNvPr id="101" name="Rectangle 100"/>
          <p:cNvSpPr/>
          <p:nvPr/>
        </p:nvSpPr>
        <p:spPr>
          <a:xfrm>
            <a:off x="3892310" y="2262549"/>
            <a:ext cx="180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2" name="Titre 1"/>
          <p:cNvSpPr txBox="1">
            <a:spLocks/>
          </p:cNvSpPr>
          <p:nvPr/>
        </p:nvSpPr>
        <p:spPr>
          <a:xfrm>
            <a:off x="5804035" y="1793420"/>
            <a:ext cx="1519928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 d’admission</a:t>
            </a:r>
            <a:endParaRPr lang="fr-FR" sz="1400" dirty="0"/>
          </a:p>
        </p:txBody>
      </p:sp>
      <p:sp>
        <p:nvSpPr>
          <p:cNvPr id="105" name="Triangle isocèle 104"/>
          <p:cNvSpPr/>
          <p:nvPr/>
        </p:nvSpPr>
        <p:spPr>
          <a:xfrm rot="10800000">
            <a:off x="5510710" y="2262146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1" name="Titre 1"/>
          <p:cNvSpPr txBox="1">
            <a:spLocks/>
          </p:cNvSpPr>
          <p:nvPr/>
        </p:nvSpPr>
        <p:spPr>
          <a:xfrm>
            <a:off x="5665777" y="2198473"/>
            <a:ext cx="1574045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 de dépôt</a:t>
            </a:r>
            <a:endParaRPr lang="fr-FR" sz="1400" dirty="0"/>
          </a:p>
        </p:txBody>
      </p:sp>
      <p:sp>
        <p:nvSpPr>
          <p:cNvPr id="117" name="Rectangle 116"/>
          <p:cNvSpPr/>
          <p:nvPr/>
        </p:nvSpPr>
        <p:spPr>
          <a:xfrm>
            <a:off x="7344512" y="1838481"/>
            <a:ext cx="1440000" cy="28605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1" name="Rectangle 120"/>
          <p:cNvSpPr/>
          <p:nvPr/>
        </p:nvSpPr>
        <p:spPr>
          <a:xfrm>
            <a:off x="10210593" y="2217711"/>
            <a:ext cx="1440000" cy="286059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2" name="Triangle isocèle 121"/>
          <p:cNvSpPr/>
          <p:nvPr/>
        </p:nvSpPr>
        <p:spPr>
          <a:xfrm rot="10800000">
            <a:off x="11449157" y="2217850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4" name="Titre 1"/>
          <p:cNvSpPr txBox="1">
            <a:spLocks/>
          </p:cNvSpPr>
          <p:nvPr/>
        </p:nvSpPr>
        <p:spPr>
          <a:xfrm>
            <a:off x="9241353" y="1800632"/>
            <a:ext cx="996943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dossier</a:t>
            </a:r>
            <a:endParaRPr lang="fr-FR" sz="1400" dirty="0"/>
          </a:p>
        </p:txBody>
      </p:sp>
      <p:sp>
        <p:nvSpPr>
          <p:cNvPr id="125" name="Rectangle 124"/>
          <p:cNvSpPr/>
          <p:nvPr/>
        </p:nvSpPr>
        <p:spPr>
          <a:xfrm>
            <a:off x="10210593" y="1804450"/>
            <a:ext cx="1440000" cy="28605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7" name="Rectangle 126"/>
          <p:cNvSpPr/>
          <p:nvPr/>
        </p:nvSpPr>
        <p:spPr>
          <a:xfrm>
            <a:off x="7354749" y="2224339"/>
            <a:ext cx="1440000" cy="286059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8" name="Titre 1"/>
          <p:cNvSpPr txBox="1">
            <a:spLocks/>
          </p:cNvSpPr>
          <p:nvPr/>
        </p:nvSpPr>
        <p:spPr>
          <a:xfrm>
            <a:off x="9247981" y="2204823"/>
            <a:ext cx="996943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Statut</a:t>
            </a:r>
            <a:endParaRPr lang="fr-FR" sz="1400" dirty="0"/>
          </a:p>
        </p:txBody>
      </p:sp>
      <p:sp>
        <p:nvSpPr>
          <p:cNvPr id="97" name="Rectangle 96"/>
          <p:cNvSpPr/>
          <p:nvPr/>
        </p:nvSpPr>
        <p:spPr>
          <a:xfrm>
            <a:off x="3526185" y="3205523"/>
            <a:ext cx="1620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0" name="Titre 1"/>
          <p:cNvSpPr txBox="1">
            <a:spLocks/>
          </p:cNvSpPr>
          <p:nvPr/>
        </p:nvSpPr>
        <p:spPr>
          <a:xfrm>
            <a:off x="1940119" y="3110754"/>
            <a:ext cx="1619955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Nom de naissance *</a:t>
            </a:r>
            <a:endParaRPr lang="fr-FR" sz="1400" dirty="0"/>
          </a:p>
        </p:txBody>
      </p:sp>
      <p:sp>
        <p:nvSpPr>
          <p:cNvPr id="110" name="Rectangle 109"/>
          <p:cNvSpPr/>
          <p:nvPr/>
        </p:nvSpPr>
        <p:spPr>
          <a:xfrm>
            <a:off x="6393584" y="3212125"/>
            <a:ext cx="1620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2" name="Titre 1"/>
          <p:cNvSpPr txBox="1">
            <a:spLocks/>
          </p:cNvSpPr>
          <p:nvPr/>
        </p:nvSpPr>
        <p:spPr>
          <a:xfrm>
            <a:off x="5521309" y="3183020"/>
            <a:ext cx="908699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Prénom *</a:t>
            </a:r>
            <a:endParaRPr lang="fr-FR" sz="1400" dirty="0"/>
          </a:p>
        </p:txBody>
      </p:sp>
      <p:sp>
        <p:nvSpPr>
          <p:cNvPr id="116" name="Rectangle 115"/>
          <p:cNvSpPr/>
          <p:nvPr/>
        </p:nvSpPr>
        <p:spPr>
          <a:xfrm>
            <a:off x="3526184" y="3602351"/>
            <a:ext cx="1620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8" name="Titre 1"/>
          <p:cNvSpPr txBox="1">
            <a:spLocks/>
          </p:cNvSpPr>
          <p:nvPr/>
        </p:nvSpPr>
        <p:spPr>
          <a:xfrm>
            <a:off x="1918572" y="3532780"/>
            <a:ext cx="1678782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 de  naissance *</a:t>
            </a:r>
            <a:endParaRPr lang="fr-FR" sz="1400" dirty="0"/>
          </a:p>
        </p:txBody>
      </p:sp>
      <p:sp>
        <p:nvSpPr>
          <p:cNvPr id="126" name="Rectangle 125"/>
          <p:cNvSpPr/>
          <p:nvPr/>
        </p:nvSpPr>
        <p:spPr>
          <a:xfrm>
            <a:off x="6399277" y="3605302"/>
            <a:ext cx="1620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9" name="Titre 1"/>
          <p:cNvSpPr txBox="1">
            <a:spLocks/>
          </p:cNvSpPr>
          <p:nvPr/>
        </p:nvSpPr>
        <p:spPr>
          <a:xfrm>
            <a:off x="5408537" y="3574604"/>
            <a:ext cx="97200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Wilaya de  naissance</a:t>
            </a:r>
            <a:endParaRPr lang="fr-FR" sz="1400" dirty="0"/>
          </a:p>
        </p:txBody>
      </p:sp>
      <p:sp>
        <p:nvSpPr>
          <p:cNvPr id="135" name="Rectangle 134"/>
          <p:cNvSpPr/>
          <p:nvPr/>
        </p:nvSpPr>
        <p:spPr>
          <a:xfrm>
            <a:off x="9395135" y="3205523"/>
            <a:ext cx="900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7" name="Titre 1"/>
          <p:cNvSpPr txBox="1">
            <a:spLocks/>
          </p:cNvSpPr>
          <p:nvPr/>
        </p:nvSpPr>
        <p:spPr>
          <a:xfrm>
            <a:off x="8740812" y="3183010"/>
            <a:ext cx="582889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Sexe</a:t>
            </a:r>
            <a:endParaRPr lang="fr-FR" sz="1400" dirty="0"/>
          </a:p>
        </p:txBody>
      </p:sp>
      <p:sp>
        <p:nvSpPr>
          <p:cNvPr id="145" name="Rectangle 144"/>
          <p:cNvSpPr/>
          <p:nvPr/>
        </p:nvSpPr>
        <p:spPr>
          <a:xfrm>
            <a:off x="9393907" y="3630558"/>
            <a:ext cx="1440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6" name="Titre 1"/>
          <p:cNvSpPr txBox="1">
            <a:spLocks/>
          </p:cNvSpPr>
          <p:nvPr/>
        </p:nvSpPr>
        <p:spPr>
          <a:xfrm>
            <a:off x="8196079" y="3597468"/>
            <a:ext cx="126000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Commune de  naissance</a:t>
            </a:r>
            <a:endParaRPr lang="fr-FR" sz="1400" dirty="0"/>
          </a:p>
        </p:txBody>
      </p:sp>
      <p:sp>
        <p:nvSpPr>
          <p:cNvPr id="150" name="Titre 1"/>
          <p:cNvSpPr txBox="1">
            <a:spLocks/>
          </p:cNvSpPr>
          <p:nvPr/>
        </p:nvSpPr>
        <p:spPr>
          <a:xfrm>
            <a:off x="6480516" y="4741583"/>
            <a:ext cx="764815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Wilaya </a:t>
            </a:r>
            <a:endParaRPr lang="fr-FR" sz="1200" dirty="0"/>
          </a:p>
        </p:txBody>
      </p:sp>
      <p:sp>
        <p:nvSpPr>
          <p:cNvPr id="152" name="Rectangle 151"/>
          <p:cNvSpPr/>
          <p:nvPr/>
        </p:nvSpPr>
        <p:spPr>
          <a:xfrm>
            <a:off x="3544438" y="4791841"/>
            <a:ext cx="2808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53" name="Titre 1"/>
          <p:cNvSpPr txBox="1">
            <a:spLocks/>
          </p:cNvSpPr>
          <p:nvPr/>
        </p:nvSpPr>
        <p:spPr>
          <a:xfrm>
            <a:off x="2703780" y="4754141"/>
            <a:ext cx="929476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Adresse * </a:t>
            </a:r>
            <a:endParaRPr lang="fr-FR" sz="1400" dirty="0"/>
          </a:p>
        </p:txBody>
      </p:sp>
      <p:sp>
        <p:nvSpPr>
          <p:cNvPr id="154" name="Rectangle 153"/>
          <p:cNvSpPr/>
          <p:nvPr/>
        </p:nvSpPr>
        <p:spPr>
          <a:xfrm>
            <a:off x="7184879" y="4774641"/>
            <a:ext cx="900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56" name="Titre 1"/>
          <p:cNvSpPr txBox="1">
            <a:spLocks/>
          </p:cNvSpPr>
          <p:nvPr/>
        </p:nvSpPr>
        <p:spPr>
          <a:xfrm>
            <a:off x="8041883" y="4732086"/>
            <a:ext cx="97200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Commune</a:t>
            </a:r>
            <a:endParaRPr lang="fr-FR" sz="1200" dirty="0" smtClean="0"/>
          </a:p>
        </p:txBody>
      </p:sp>
      <p:sp>
        <p:nvSpPr>
          <p:cNvPr id="171" name="Rectangle 170"/>
          <p:cNvSpPr/>
          <p:nvPr/>
        </p:nvSpPr>
        <p:spPr>
          <a:xfrm>
            <a:off x="8972082" y="4762509"/>
            <a:ext cx="1080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72" name="Titre 1"/>
          <p:cNvSpPr txBox="1">
            <a:spLocks/>
          </p:cNvSpPr>
          <p:nvPr/>
        </p:nvSpPr>
        <p:spPr>
          <a:xfrm>
            <a:off x="10095309" y="4747104"/>
            <a:ext cx="1083001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Code Postal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11077044" y="4762971"/>
            <a:ext cx="671988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74" name="Titre 1"/>
          <p:cNvSpPr txBox="1">
            <a:spLocks/>
          </p:cNvSpPr>
          <p:nvPr/>
        </p:nvSpPr>
        <p:spPr>
          <a:xfrm>
            <a:off x="5648661" y="5177416"/>
            <a:ext cx="679072" cy="33714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E-mail</a:t>
            </a:r>
            <a:endParaRPr lang="fr-FR" sz="1400" dirty="0"/>
          </a:p>
        </p:txBody>
      </p:sp>
      <p:sp>
        <p:nvSpPr>
          <p:cNvPr id="175" name="Rectangle 174"/>
          <p:cNvSpPr/>
          <p:nvPr/>
        </p:nvSpPr>
        <p:spPr>
          <a:xfrm>
            <a:off x="6400925" y="5160104"/>
            <a:ext cx="1660572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76" name="Titre 1"/>
          <p:cNvSpPr txBox="1">
            <a:spLocks/>
          </p:cNvSpPr>
          <p:nvPr/>
        </p:nvSpPr>
        <p:spPr>
          <a:xfrm>
            <a:off x="2613783" y="5185725"/>
            <a:ext cx="1063710" cy="27108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Téléphone</a:t>
            </a:r>
            <a:endParaRPr lang="fr-FR" sz="1400" dirty="0"/>
          </a:p>
        </p:txBody>
      </p:sp>
      <p:sp>
        <p:nvSpPr>
          <p:cNvPr id="177" name="Rectangle 176"/>
          <p:cNvSpPr/>
          <p:nvPr/>
        </p:nvSpPr>
        <p:spPr>
          <a:xfrm>
            <a:off x="3550917" y="5183124"/>
            <a:ext cx="1332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78" name="Rectangle 177"/>
          <p:cNvSpPr/>
          <p:nvPr/>
        </p:nvSpPr>
        <p:spPr>
          <a:xfrm>
            <a:off x="1888742" y="3124982"/>
            <a:ext cx="9972000" cy="3204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79" name="Rectangle 178"/>
          <p:cNvSpPr/>
          <p:nvPr/>
        </p:nvSpPr>
        <p:spPr>
          <a:xfrm>
            <a:off x="3555871" y="5941349"/>
            <a:ext cx="1332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80" name="Titre 1"/>
          <p:cNvSpPr txBox="1">
            <a:spLocks/>
          </p:cNvSpPr>
          <p:nvPr/>
        </p:nvSpPr>
        <p:spPr>
          <a:xfrm>
            <a:off x="2776174" y="5885544"/>
            <a:ext cx="785951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/>
              <a:t>Type </a:t>
            </a:r>
            <a:r>
              <a:rPr lang="fr-FR" sz="1400" dirty="0" smtClean="0"/>
              <a:t>P.I</a:t>
            </a:r>
            <a:endParaRPr lang="fr-FR" sz="1400" dirty="0"/>
          </a:p>
        </p:txBody>
      </p:sp>
      <p:sp>
        <p:nvSpPr>
          <p:cNvPr id="181" name="Rectangle 180"/>
          <p:cNvSpPr/>
          <p:nvPr/>
        </p:nvSpPr>
        <p:spPr>
          <a:xfrm>
            <a:off x="8776585" y="5940935"/>
            <a:ext cx="1080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82" name="Rectangle 181"/>
          <p:cNvSpPr/>
          <p:nvPr/>
        </p:nvSpPr>
        <p:spPr>
          <a:xfrm>
            <a:off x="6390754" y="5932060"/>
            <a:ext cx="1332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83" name="Titre 1"/>
          <p:cNvSpPr txBox="1">
            <a:spLocks/>
          </p:cNvSpPr>
          <p:nvPr/>
        </p:nvSpPr>
        <p:spPr>
          <a:xfrm>
            <a:off x="5702375" y="5899314"/>
            <a:ext cx="604425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P.I</a:t>
            </a:r>
            <a:endParaRPr lang="fr-FR" sz="1400" dirty="0"/>
          </a:p>
        </p:txBody>
      </p:sp>
      <p:sp>
        <p:nvSpPr>
          <p:cNvPr id="184" name="Triangle isocèle 183"/>
          <p:cNvSpPr/>
          <p:nvPr/>
        </p:nvSpPr>
        <p:spPr>
          <a:xfrm rot="10800000">
            <a:off x="4693029" y="5952155"/>
            <a:ext cx="180000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85" name="Rectangle 184"/>
          <p:cNvSpPr/>
          <p:nvPr/>
        </p:nvSpPr>
        <p:spPr>
          <a:xfrm>
            <a:off x="10779649" y="5925420"/>
            <a:ext cx="987416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87" name="Titre 1"/>
          <p:cNvSpPr txBox="1">
            <a:spLocks/>
          </p:cNvSpPr>
          <p:nvPr/>
        </p:nvSpPr>
        <p:spPr>
          <a:xfrm>
            <a:off x="9919997" y="5904935"/>
            <a:ext cx="900000" cy="324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/>
              <a:t>Délivré le</a:t>
            </a:r>
          </a:p>
        </p:txBody>
      </p:sp>
      <p:sp>
        <p:nvSpPr>
          <p:cNvPr id="188" name="Titre 1"/>
          <p:cNvSpPr txBox="1">
            <a:spLocks/>
          </p:cNvSpPr>
          <p:nvPr/>
        </p:nvSpPr>
        <p:spPr>
          <a:xfrm>
            <a:off x="7823677" y="5906376"/>
            <a:ext cx="97200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/>
              <a:t>Délivré </a:t>
            </a:r>
            <a:r>
              <a:rPr lang="fr-FR" sz="1400" dirty="0" smtClean="0"/>
              <a:t>par</a:t>
            </a:r>
            <a:endParaRPr lang="fr-FR" sz="1400" dirty="0"/>
          </a:p>
        </p:txBody>
      </p:sp>
      <p:sp>
        <p:nvSpPr>
          <p:cNvPr id="197" name="Rectangle 196"/>
          <p:cNvSpPr/>
          <p:nvPr/>
        </p:nvSpPr>
        <p:spPr>
          <a:xfrm>
            <a:off x="3537665" y="4000567"/>
            <a:ext cx="1620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98" name="Titre 1"/>
          <p:cNvSpPr txBox="1">
            <a:spLocks/>
          </p:cNvSpPr>
          <p:nvPr/>
        </p:nvSpPr>
        <p:spPr>
          <a:xfrm>
            <a:off x="2064541" y="3931205"/>
            <a:ext cx="151200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Situation familiale</a:t>
            </a:r>
            <a:endParaRPr lang="fr-FR" sz="1400" dirty="0"/>
          </a:p>
        </p:txBody>
      </p:sp>
      <p:sp>
        <p:nvSpPr>
          <p:cNvPr id="199" name="Rectangle 198"/>
          <p:cNvSpPr/>
          <p:nvPr/>
        </p:nvSpPr>
        <p:spPr>
          <a:xfrm>
            <a:off x="6406306" y="3997317"/>
            <a:ext cx="1620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00" name="Titre 1"/>
          <p:cNvSpPr txBox="1">
            <a:spLocks/>
          </p:cNvSpPr>
          <p:nvPr/>
        </p:nvSpPr>
        <p:spPr>
          <a:xfrm>
            <a:off x="5289681" y="4004860"/>
            <a:ext cx="1080000" cy="324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Nom marital</a:t>
            </a:r>
            <a:endParaRPr lang="fr-FR" sz="1400" dirty="0"/>
          </a:p>
        </p:txBody>
      </p:sp>
      <p:sp>
        <p:nvSpPr>
          <p:cNvPr id="201" name="Rectangle 200"/>
          <p:cNvSpPr/>
          <p:nvPr/>
        </p:nvSpPr>
        <p:spPr>
          <a:xfrm>
            <a:off x="3549247" y="4397473"/>
            <a:ext cx="1332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02" name="Titre 1"/>
          <p:cNvSpPr txBox="1">
            <a:spLocks/>
          </p:cNvSpPr>
          <p:nvPr/>
        </p:nvSpPr>
        <p:spPr>
          <a:xfrm>
            <a:off x="2225273" y="4368534"/>
            <a:ext cx="133200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Niveau scolaire</a:t>
            </a:r>
            <a:endParaRPr lang="fr-FR" sz="1400" dirty="0"/>
          </a:p>
        </p:txBody>
      </p:sp>
      <p:sp>
        <p:nvSpPr>
          <p:cNvPr id="203" name="Triangle isocèle 202"/>
          <p:cNvSpPr/>
          <p:nvPr/>
        </p:nvSpPr>
        <p:spPr>
          <a:xfrm rot="10800000">
            <a:off x="4687993" y="4410355"/>
            <a:ext cx="180000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04" name="Rectangle 203"/>
          <p:cNvSpPr/>
          <p:nvPr/>
        </p:nvSpPr>
        <p:spPr>
          <a:xfrm>
            <a:off x="6387840" y="4382780"/>
            <a:ext cx="1625743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05" name="Titre 1"/>
          <p:cNvSpPr txBox="1">
            <a:spLocks/>
          </p:cNvSpPr>
          <p:nvPr/>
        </p:nvSpPr>
        <p:spPr>
          <a:xfrm>
            <a:off x="5428566" y="4366218"/>
            <a:ext cx="104400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Profession </a:t>
            </a:r>
            <a:endParaRPr lang="fr-FR" sz="1400" dirty="0"/>
          </a:p>
        </p:txBody>
      </p:sp>
      <p:sp>
        <p:nvSpPr>
          <p:cNvPr id="208" name="Rectangle 207"/>
          <p:cNvSpPr/>
          <p:nvPr/>
        </p:nvSpPr>
        <p:spPr>
          <a:xfrm>
            <a:off x="3549245" y="5563665"/>
            <a:ext cx="1332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09" name="Titre 1"/>
          <p:cNvSpPr txBox="1">
            <a:spLocks/>
          </p:cNvSpPr>
          <p:nvPr/>
        </p:nvSpPr>
        <p:spPr>
          <a:xfrm>
            <a:off x="2862312" y="5507860"/>
            <a:ext cx="785951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Parent</a:t>
            </a:r>
            <a:endParaRPr lang="fr-FR" sz="1400" dirty="0"/>
          </a:p>
        </p:txBody>
      </p:sp>
      <p:sp>
        <p:nvSpPr>
          <p:cNvPr id="210" name="Rectangle 209"/>
          <p:cNvSpPr/>
          <p:nvPr/>
        </p:nvSpPr>
        <p:spPr>
          <a:xfrm>
            <a:off x="6383447" y="5542541"/>
            <a:ext cx="1512000" cy="29587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11" name="Titre 1"/>
          <p:cNvSpPr txBox="1">
            <a:spLocks/>
          </p:cNvSpPr>
          <p:nvPr/>
        </p:nvSpPr>
        <p:spPr>
          <a:xfrm>
            <a:off x="5455623" y="5507860"/>
            <a:ext cx="100463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Téléphone </a:t>
            </a:r>
            <a:endParaRPr lang="fr-FR" sz="1400" dirty="0"/>
          </a:p>
        </p:txBody>
      </p:sp>
      <p:sp>
        <p:nvSpPr>
          <p:cNvPr id="212" name="Triangle isocèle 211"/>
          <p:cNvSpPr/>
          <p:nvPr/>
        </p:nvSpPr>
        <p:spPr>
          <a:xfrm rot="10800000">
            <a:off x="4699655" y="5574471"/>
            <a:ext cx="180000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13" name="Titre 1"/>
          <p:cNvSpPr txBox="1">
            <a:spLocks/>
          </p:cNvSpPr>
          <p:nvPr/>
        </p:nvSpPr>
        <p:spPr>
          <a:xfrm>
            <a:off x="8432822" y="3983340"/>
            <a:ext cx="900000" cy="4177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Groupe sanguine</a:t>
            </a:r>
            <a:endParaRPr lang="fr-FR" sz="1200" dirty="0" smtClean="0"/>
          </a:p>
        </p:txBody>
      </p:sp>
      <p:sp>
        <p:nvSpPr>
          <p:cNvPr id="214" name="Rectangle 213"/>
          <p:cNvSpPr/>
          <p:nvPr/>
        </p:nvSpPr>
        <p:spPr>
          <a:xfrm>
            <a:off x="9393907" y="4051900"/>
            <a:ext cx="900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15" name="Rectangle 214"/>
          <p:cNvSpPr/>
          <p:nvPr/>
        </p:nvSpPr>
        <p:spPr>
          <a:xfrm>
            <a:off x="9939877" y="6395016"/>
            <a:ext cx="1980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Imprimer code barre</a:t>
            </a:r>
          </a:p>
        </p:txBody>
      </p:sp>
      <p:sp>
        <p:nvSpPr>
          <p:cNvPr id="216" name="Rectangle 215"/>
          <p:cNvSpPr/>
          <p:nvPr/>
        </p:nvSpPr>
        <p:spPr>
          <a:xfrm>
            <a:off x="8502016" y="6401644"/>
            <a:ext cx="1332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Annuler</a:t>
            </a:r>
          </a:p>
        </p:txBody>
      </p:sp>
      <p:sp>
        <p:nvSpPr>
          <p:cNvPr id="217" name="Rectangle 216"/>
          <p:cNvSpPr/>
          <p:nvPr/>
        </p:nvSpPr>
        <p:spPr>
          <a:xfrm>
            <a:off x="7077403" y="6395018"/>
            <a:ext cx="1332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Modifier</a:t>
            </a:r>
          </a:p>
        </p:txBody>
      </p:sp>
      <p:sp>
        <p:nvSpPr>
          <p:cNvPr id="219" name="Rectangle 218"/>
          <p:cNvSpPr/>
          <p:nvPr/>
        </p:nvSpPr>
        <p:spPr>
          <a:xfrm>
            <a:off x="2967401" y="2701077"/>
            <a:ext cx="1332000" cy="360000"/>
          </a:xfrm>
          <a:prstGeom prst="rect">
            <a:avLst/>
          </a:prstGeom>
          <a:solidFill>
            <a:srgbClr val="92D05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Etat civil</a:t>
            </a:r>
            <a:endParaRPr lang="fr-FR" sz="1400" dirty="0"/>
          </a:p>
        </p:txBody>
      </p:sp>
      <p:sp>
        <p:nvSpPr>
          <p:cNvPr id="220" name="Rectangle 219"/>
          <p:cNvSpPr/>
          <p:nvPr/>
        </p:nvSpPr>
        <p:spPr>
          <a:xfrm>
            <a:off x="4405262" y="2707705"/>
            <a:ext cx="133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smtClean="0"/>
              <a:t>Sécurité sociale</a:t>
            </a:r>
            <a:endParaRPr lang="fr-FR" sz="1400" dirty="0" smtClean="0"/>
          </a:p>
        </p:txBody>
      </p:sp>
      <p:sp>
        <p:nvSpPr>
          <p:cNvPr id="221" name="Rectangle 220"/>
          <p:cNvSpPr/>
          <p:nvPr/>
        </p:nvSpPr>
        <p:spPr>
          <a:xfrm>
            <a:off x="5833836" y="2700725"/>
            <a:ext cx="168154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Mode de transport</a:t>
            </a:r>
          </a:p>
        </p:txBody>
      </p:sp>
      <p:sp>
        <p:nvSpPr>
          <p:cNvPr id="222" name="Rectangle 221"/>
          <p:cNvSpPr/>
          <p:nvPr/>
        </p:nvSpPr>
        <p:spPr>
          <a:xfrm>
            <a:off x="7627280" y="2706594"/>
            <a:ext cx="313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Personne à prévenir en cas de nécessité</a:t>
            </a:r>
            <a:endParaRPr lang="fr-FR" sz="1400" dirty="0"/>
          </a:p>
        </p:txBody>
      </p:sp>
    </p:spTree>
    <p:extLst>
      <p:ext uri="{BB962C8B-B14F-4D97-AF65-F5344CB8AC3E}">
        <p14:creationId xmlns:p14="http://schemas.microsoft.com/office/powerpoint/2010/main" val="9142752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 txBox="1">
            <a:spLocks/>
          </p:cNvSpPr>
          <p:nvPr/>
        </p:nvSpPr>
        <p:spPr>
          <a:xfrm>
            <a:off x="3489617" y="59579"/>
            <a:ext cx="4620714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09 –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Patient 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– Fiche patient/</a:t>
            </a:r>
            <a:endParaRPr lang="fr-FR" altLang="fr-FR" sz="1800" b="1" dirty="0">
              <a:solidFill>
                <a:srgbClr val="000000"/>
              </a:solidFill>
              <a:latin typeface="Times New Roman" panose="02020603050405020304" pitchFamily="18" charset="0"/>
              <a:ea typeface="Microsoft YaHei" panose="020B0503020204020204" pitchFamily="34" charset="-122"/>
            </a:endParaRP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Sécurité sociale</a:t>
            </a:r>
            <a:endParaRPr lang="fr-FR" sz="1800" dirty="0"/>
          </a:p>
        </p:txBody>
      </p:sp>
      <p:sp>
        <p:nvSpPr>
          <p:cNvPr id="23" name="Rectangle 22"/>
          <p:cNvSpPr/>
          <p:nvPr/>
        </p:nvSpPr>
        <p:spPr>
          <a:xfrm>
            <a:off x="191992" y="594180"/>
            <a:ext cx="11758269" cy="6192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6" name="Rectangle 35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37" name="Rectangle 36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90" name="ZoneTexte 89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91" name="Rectangle 90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3892310" y="1871612"/>
            <a:ext cx="1800000" cy="286059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7" name="Rectangle 146"/>
          <p:cNvSpPr/>
          <p:nvPr/>
        </p:nvSpPr>
        <p:spPr>
          <a:xfrm>
            <a:off x="1920696" y="1323920"/>
            <a:ext cx="9936000" cy="1337322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7" name="Rectangle 66"/>
          <p:cNvSpPr/>
          <p:nvPr/>
        </p:nvSpPr>
        <p:spPr>
          <a:xfrm>
            <a:off x="3896717" y="1456671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8" name="Titre 1"/>
          <p:cNvSpPr txBox="1">
            <a:spLocks/>
          </p:cNvSpPr>
          <p:nvPr/>
        </p:nvSpPr>
        <p:spPr>
          <a:xfrm>
            <a:off x="2768325" y="1437002"/>
            <a:ext cx="1191741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Provenance</a:t>
            </a:r>
            <a:endParaRPr lang="fr-FR" sz="1400" dirty="0"/>
          </a:p>
        </p:txBody>
      </p:sp>
      <p:sp>
        <p:nvSpPr>
          <p:cNvPr id="69" name="Triangle isocèle 68"/>
          <p:cNvSpPr/>
          <p:nvPr/>
        </p:nvSpPr>
        <p:spPr>
          <a:xfrm rot="10800000">
            <a:off x="4801558" y="1452511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7" name="Titre 1"/>
          <p:cNvSpPr txBox="1">
            <a:spLocks/>
          </p:cNvSpPr>
          <p:nvPr/>
        </p:nvSpPr>
        <p:spPr>
          <a:xfrm>
            <a:off x="1964661" y="727493"/>
            <a:ext cx="1026946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dossier</a:t>
            </a:r>
            <a:endParaRPr lang="fr-FR" sz="1400" dirty="0"/>
          </a:p>
        </p:txBody>
      </p:sp>
      <p:sp>
        <p:nvSpPr>
          <p:cNvPr id="78" name="Titre 1"/>
          <p:cNvSpPr txBox="1">
            <a:spLocks/>
          </p:cNvSpPr>
          <p:nvPr/>
        </p:nvSpPr>
        <p:spPr>
          <a:xfrm>
            <a:off x="4355023" y="714388"/>
            <a:ext cx="9591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Patient </a:t>
            </a:r>
            <a:endParaRPr lang="fr-FR" sz="1400" dirty="0"/>
          </a:p>
        </p:txBody>
      </p:sp>
      <p:sp>
        <p:nvSpPr>
          <p:cNvPr id="81" name="Titre 1"/>
          <p:cNvSpPr txBox="1">
            <a:spLocks/>
          </p:cNvSpPr>
          <p:nvPr/>
        </p:nvSpPr>
        <p:spPr>
          <a:xfrm>
            <a:off x="7182390" y="733900"/>
            <a:ext cx="560942" cy="3850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Age </a:t>
            </a:r>
            <a:endParaRPr lang="fr-FR" sz="1400" dirty="0"/>
          </a:p>
        </p:txBody>
      </p:sp>
      <p:sp>
        <p:nvSpPr>
          <p:cNvPr id="85" name="Rectangle 84"/>
          <p:cNvSpPr/>
          <p:nvPr/>
        </p:nvSpPr>
        <p:spPr>
          <a:xfrm>
            <a:off x="3152059" y="772519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7" name="Rectangle 86"/>
          <p:cNvSpPr/>
          <p:nvPr/>
        </p:nvSpPr>
        <p:spPr>
          <a:xfrm>
            <a:off x="5345295" y="765895"/>
            <a:ext cx="1641189" cy="35303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8" name="Rectangle 87"/>
          <p:cNvSpPr/>
          <p:nvPr/>
        </p:nvSpPr>
        <p:spPr>
          <a:xfrm>
            <a:off x="7717438" y="779147"/>
            <a:ext cx="7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2" name="Rectangle 91"/>
          <p:cNvSpPr/>
          <p:nvPr/>
        </p:nvSpPr>
        <p:spPr>
          <a:xfrm>
            <a:off x="1914072" y="658151"/>
            <a:ext cx="9936000" cy="53385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3" name="Titre 1"/>
          <p:cNvSpPr txBox="1">
            <a:spLocks/>
          </p:cNvSpPr>
          <p:nvPr/>
        </p:nvSpPr>
        <p:spPr>
          <a:xfrm>
            <a:off x="776035" y="751547"/>
            <a:ext cx="972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 smtClean="0"/>
              <a:t>Affichage</a:t>
            </a:r>
            <a:endParaRPr lang="fr-FR" sz="1600" b="1" u="sng" dirty="0"/>
          </a:p>
        </p:txBody>
      </p:sp>
      <p:sp>
        <p:nvSpPr>
          <p:cNvPr id="94" name="Titre 1"/>
          <p:cNvSpPr txBox="1">
            <a:spLocks/>
          </p:cNvSpPr>
          <p:nvPr/>
        </p:nvSpPr>
        <p:spPr>
          <a:xfrm>
            <a:off x="487049" y="1347517"/>
            <a:ext cx="1440000" cy="54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 smtClean="0"/>
              <a:t>Fiche d’identification</a:t>
            </a:r>
            <a:endParaRPr lang="fr-FR" sz="1600" b="1" u="sng" dirty="0"/>
          </a:p>
        </p:txBody>
      </p:sp>
      <p:sp>
        <p:nvSpPr>
          <p:cNvPr id="95" name="Titre 1"/>
          <p:cNvSpPr txBox="1">
            <a:spLocks/>
          </p:cNvSpPr>
          <p:nvPr/>
        </p:nvSpPr>
        <p:spPr>
          <a:xfrm>
            <a:off x="1911649" y="1840356"/>
            <a:ext cx="205200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Service d’hospitalisation</a:t>
            </a:r>
            <a:endParaRPr lang="fr-FR" sz="1400" dirty="0"/>
          </a:p>
        </p:txBody>
      </p:sp>
      <p:sp>
        <p:nvSpPr>
          <p:cNvPr id="96" name="Triangle isocèle 95"/>
          <p:cNvSpPr/>
          <p:nvPr/>
        </p:nvSpPr>
        <p:spPr>
          <a:xfrm rot="10800000">
            <a:off x="5510711" y="1886205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9" name="Titre 1"/>
          <p:cNvSpPr txBox="1">
            <a:spLocks/>
          </p:cNvSpPr>
          <p:nvPr/>
        </p:nvSpPr>
        <p:spPr>
          <a:xfrm>
            <a:off x="2412186" y="2241687"/>
            <a:ext cx="1574045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Service d’accueil</a:t>
            </a:r>
            <a:endParaRPr lang="fr-FR" sz="1400" dirty="0"/>
          </a:p>
        </p:txBody>
      </p:sp>
      <p:sp>
        <p:nvSpPr>
          <p:cNvPr id="101" name="Rectangle 100"/>
          <p:cNvSpPr/>
          <p:nvPr/>
        </p:nvSpPr>
        <p:spPr>
          <a:xfrm>
            <a:off x="3892310" y="2289056"/>
            <a:ext cx="180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2" name="Titre 1"/>
          <p:cNvSpPr txBox="1">
            <a:spLocks/>
          </p:cNvSpPr>
          <p:nvPr/>
        </p:nvSpPr>
        <p:spPr>
          <a:xfrm>
            <a:off x="5804035" y="1819927"/>
            <a:ext cx="1519928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 d’admission</a:t>
            </a:r>
            <a:endParaRPr lang="fr-FR" sz="1400" dirty="0"/>
          </a:p>
        </p:txBody>
      </p:sp>
      <p:sp>
        <p:nvSpPr>
          <p:cNvPr id="105" name="Triangle isocèle 104"/>
          <p:cNvSpPr/>
          <p:nvPr/>
        </p:nvSpPr>
        <p:spPr>
          <a:xfrm rot="10800000">
            <a:off x="5510710" y="2288653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1" name="Titre 1"/>
          <p:cNvSpPr txBox="1">
            <a:spLocks/>
          </p:cNvSpPr>
          <p:nvPr/>
        </p:nvSpPr>
        <p:spPr>
          <a:xfrm>
            <a:off x="5983827" y="2224980"/>
            <a:ext cx="1332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 de dépôt</a:t>
            </a:r>
            <a:endParaRPr lang="fr-FR" sz="1400" dirty="0"/>
          </a:p>
        </p:txBody>
      </p:sp>
      <p:sp>
        <p:nvSpPr>
          <p:cNvPr id="117" name="Rectangle 116"/>
          <p:cNvSpPr/>
          <p:nvPr/>
        </p:nvSpPr>
        <p:spPr>
          <a:xfrm>
            <a:off x="7344512" y="1864988"/>
            <a:ext cx="1440000" cy="28605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1" name="Rectangle 120"/>
          <p:cNvSpPr/>
          <p:nvPr/>
        </p:nvSpPr>
        <p:spPr>
          <a:xfrm>
            <a:off x="10210593" y="2244218"/>
            <a:ext cx="1440000" cy="286059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2" name="Triangle isocèle 121"/>
          <p:cNvSpPr/>
          <p:nvPr/>
        </p:nvSpPr>
        <p:spPr>
          <a:xfrm rot="10800000">
            <a:off x="11449157" y="2244357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4" name="Titre 1"/>
          <p:cNvSpPr txBox="1">
            <a:spLocks/>
          </p:cNvSpPr>
          <p:nvPr/>
        </p:nvSpPr>
        <p:spPr>
          <a:xfrm>
            <a:off x="9241353" y="1827139"/>
            <a:ext cx="996943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dossier</a:t>
            </a:r>
            <a:endParaRPr lang="fr-FR" sz="1400" dirty="0"/>
          </a:p>
        </p:txBody>
      </p:sp>
      <p:sp>
        <p:nvSpPr>
          <p:cNvPr id="125" name="Rectangle 124"/>
          <p:cNvSpPr/>
          <p:nvPr/>
        </p:nvSpPr>
        <p:spPr>
          <a:xfrm>
            <a:off x="10210593" y="1830957"/>
            <a:ext cx="1440000" cy="28605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7" name="Rectangle 126"/>
          <p:cNvSpPr/>
          <p:nvPr/>
        </p:nvSpPr>
        <p:spPr>
          <a:xfrm>
            <a:off x="7354749" y="2250846"/>
            <a:ext cx="1440000" cy="286059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8" name="Titre 1"/>
          <p:cNvSpPr txBox="1">
            <a:spLocks/>
          </p:cNvSpPr>
          <p:nvPr/>
        </p:nvSpPr>
        <p:spPr>
          <a:xfrm>
            <a:off x="9247981" y="2231330"/>
            <a:ext cx="996943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Statut</a:t>
            </a:r>
            <a:endParaRPr lang="fr-FR" sz="1400" dirty="0"/>
          </a:p>
        </p:txBody>
      </p:sp>
      <p:sp>
        <p:nvSpPr>
          <p:cNvPr id="97" name="Rectangle 96"/>
          <p:cNvSpPr/>
          <p:nvPr/>
        </p:nvSpPr>
        <p:spPr>
          <a:xfrm>
            <a:off x="3889654" y="3220669"/>
            <a:ext cx="1620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0" name="Titre 1"/>
          <p:cNvSpPr txBox="1">
            <a:spLocks/>
          </p:cNvSpPr>
          <p:nvPr/>
        </p:nvSpPr>
        <p:spPr>
          <a:xfrm>
            <a:off x="2906231" y="3164157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Organisme</a:t>
            </a:r>
            <a:endParaRPr lang="fr-FR" sz="1400" dirty="0"/>
          </a:p>
        </p:txBody>
      </p:sp>
      <p:sp>
        <p:nvSpPr>
          <p:cNvPr id="116" name="Rectangle 115"/>
          <p:cNvSpPr/>
          <p:nvPr/>
        </p:nvSpPr>
        <p:spPr>
          <a:xfrm>
            <a:off x="3896717" y="3669546"/>
            <a:ext cx="1620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8" name="Titre 1"/>
          <p:cNvSpPr txBox="1">
            <a:spLocks/>
          </p:cNvSpPr>
          <p:nvPr/>
        </p:nvSpPr>
        <p:spPr>
          <a:xfrm>
            <a:off x="3105967" y="3600296"/>
            <a:ext cx="792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Agence</a:t>
            </a:r>
            <a:endParaRPr lang="fr-FR" sz="1400" dirty="0"/>
          </a:p>
        </p:txBody>
      </p:sp>
      <p:sp>
        <p:nvSpPr>
          <p:cNvPr id="152" name="Rectangle 151"/>
          <p:cNvSpPr/>
          <p:nvPr/>
        </p:nvSpPr>
        <p:spPr>
          <a:xfrm>
            <a:off x="3915501" y="4102727"/>
            <a:ext cx="2808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53" name="Titre 1"/>
          <p:cNvSpPr txBox="1">
            <a:spLocks/>
          </p:cNvSpPr>
          <p:nvPr/>
        </p:nvSpPr>
        <p:spPr>
          <a:xfrm>
            <a:off x="3035087" y="4065027"/>
            <a:ext cx="929476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Adresse  </a:t>
            </a:r>
            <a:endParaRPr lang="fr-FR" sz="1400" dirty="0"/>
          </a:p>
        </p:txBody>
      </p:sp>
      <p:sp>
        <p:nvSpPr>
          <p:cNvPr id="176" name="Titre 1"/>
          <p:cNvSpPr txBox="1">
            <a:spLocks/>
          </p:cNvSpPr>
          <p:nvPr/>
        </p:nvSpPr>
        <p:spPr>
          <a:xfrm>
            <a:off x="6608484" y="4561466"/>
            <a:ext cx="756000" cy="27108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Malade</a:t>
            </a:r>
            <a:endParaRPr lang="fr-FR" sz="1400" dirty="0"/>
          </a:p>
        </p:txBody>
      </p:sp>
      <p:sp>
        <p:nvSpPr>
          <p:cNvPr id="177" name="Rectangle 176"/>
          <p:cNvSpPr/>
          <p:nvPr/>
        </p:nvSpPr>
        <p:spPr>
          <a:xfrm>
            <a:off x="7381253" y="4568517"/>
            <a:ext cx="1332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78" name="Rectangle 177"/>
          <p:cNvSpPr/>
          <p:nvPr/>
        </p:nvSpPr>
        <p:spPr>
          <a:xfrm>
            <a:off x="1884696" y="3125644"/>
            <a:ext cx="9972000" cy="3276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79" name="Rectangle 178"/>
          <p:cNvSpPr/>
          <p:nvPr/>
        </p:nvSpPr>
        <p:spPr>
          <a:xfrm>
            <a:off x="7386542" y="4988956"/>
            <a:ext cx="1332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80" name="Titre 1"/>
          <p:cNvSpPr txBox="1">
            <a:spLocks/>
          </p:cNvSpPr>
          <p:nvPr/>
        </p:nvSpPr>
        <p:spPr>
          <a:xfrm>
            <a:off x="5749163" y="4933151"/>
            <a:ext cx="1658049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 ouverture droit</a:t>
            </a:r>
            <a:endParaRPr lang="fr-FR" sz="1400" dirty="0"/>
          </a:p>
        </p:txBody>
      </p:sp>
      <p:sp>
        <p:nvSpPr>
          <p:cNvPr id="197" name="Rectangle 196"/>
          <p:cNvSpPr/>
          <p:nvPr/>
        </p:nvSpPr>
        <p:spPr>
          <a:xfrm>
            <a:off x="7354749" y="3670930"/>
            <a:ext cx="1620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98" name="Titre 1"/>
          <p:cNvSpPr txBox="1">
            <a:spLocks/>
          </p:cNvSpPr>
          <p:nvPr/>
        </p:nvSpPr>
        <p:spPr>
          <a:xfrm>
            <a:off x="6247851" y="3600310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Code centre</a:t>
            </a:r>
            <a:endParaRPr lang="fr-FR" sz="1400" dirty="0"/>
          </a:p>
        </p:txBody>
      </p:sp>
      <p:sp>
        <p:nvSpPr>
          <p:cNvPr id="201" name="Rectangle 200"/>
          <p:cNvSpPr/>
          <p:nvPr/>
        </p:nvSpPr>
        <p:spPr>
          <a:xfrm>
            <a:off x="3920306" y="4529993"/>
            <a:ext cx="1332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02" name="Titre 1"/>
          <p:cNvSpPr txBox="1">
            <a:spLocks/>
          </p:cNvSpPr>
          <p:nvPr/>
        </p:nvSpPr>
        <p:spPr>
          <a:xfrm>
            <a:off x="2322159" y="4501054"/>
            <a:ext cx="1552952" cy="38396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</a:t>
            </a:r>
            <a:r>
              <a:rPr lang="fr-FR" sz="1400" smtClean="0"/>
              <a:t>sécurité sociale</a:t>
            </a:r>
            <a:endParaRPr lang="fr-FR" sz="1400" dirty="0"/>
          </a:p>
        </p:txBody>
      </p:sp>
      <p:sp>
        <p:nvSpPr>
          <p:cNvPr id="203" name="Triangle isocèle 202"/>
          <p:cNvSpPr/>
          <p:nvPr/>
        </p:nvSpPr>
        <p:spPr>
          <a:xfrm rot="10800000">
            <a:off x="5059052" y="4542875"/>
            <a:ext cx="180000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08" name="Rectangle 207"/>
          <p:cNvSpPr/>
          <p:nvPr/>
        </p:nvSpPr>
        <p:spPr>
          <a:xfrm>
            <a:off x="3920305" y="4980572"/>
            <a:ext cx="1332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09" name="Titre 1"/>
          <p:cNvSpPr txBox="1">
            <a:spLocks/>
          </p:cNvSpPr>
          <p:nvPr/>
        </p:nvSpPr>
        <p:spPr>
          <a:xfrm>
            <a:off x="2769994" y="4964523"/>
            <a:ext cx="1236077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bordereau </a:t>
            </a:r>
            <a:endParaRPr lang="fr-FR" sz="1400" dirty="0"/>
          </a:p>
        </p:txBody>
      </p:sp>
      <p:sp>
        <p:nvSpPr>
          <p:cNvPr id="215" name="Rectangle 214"/>
          <p:cNvSpPr/>
          <p:nvPr/>
        </p:nvSpPr>
        <p:spPr>
          <a:xfrm>
            <a:off x="9939877" y="6395016"/>
            <a:ext cx="1980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Imprimer code barre</a:t>
            </a:r>
          </a:p>
        </p:txBody>
      </p:sp>
      <p:sp>
        <p:nvSpPr>
          <p:cNvPr id="216" name="Rectangle 215"/>
          <p:cNvSpPr/>
          <p:nvPr/>
        </p:nvSpPr>
        <p:spPr>
          <a:xfrm>
            <a:off x="8502016" y="6401644"/>
            <a:ext cx="1332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Annuler</a:t>
            </a:r>
          </a:p>
        </p:txBody>
      </p:sp>
      <p:sp>
        <p:nvSpPr>
          <p:cNvPr id="217" name="Rectangle 216"/>
          <p:cNvSpPr/>
          <p:nvPr/>
        </p:nvSpPr>
        <p:spPr>
          <a:xfrm>
            <a:off x="7077403" y="6395018"/>
            <a:ext cx="1332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Modifier</a:t>
            </a:r>
          </a:p>
        </p:txBody>
      </p:sp>
      <p:sp>
        <p:nvSpPr>
          <p:cNvPr id="98" name="Triangle isocèle 97"/>
          <p:cNvSpPr/>
          <p:nvPr/>
        </p:nvSpPr>
        <p:spPr>
          <a:xfrm rot="10800000">
            <a:off x="5317473" y="3237536"/>
            <a:ext cx="180000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3" name="Triangle isocèle 102"/>
          <p:cNvSpPr/>
          <p:nvPr/>
        </p:nvSpPr>
        <p:spPr>
          <a:xfrm rot="10800000">
            <a:off x="5324100" y="3681480"/>
            <a:ext cx="180000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4" name="Rectangle 103"/>
          <p:cNvSpPr/>
          <p:nvPr/>
        </p:nvSpPr>
        <p:spPr>
          <a:xfrm>
            <a:off x="7407212" y="5419641"/>
            <a:ext cx="1332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8" name="Titre 1"/>
          <p:cNvSpPr txBox="1">
            <a:spLocks/>
          </p:cNvSpPr>
          <p:nvPr/>
        </p:nvSpPr>
        <p:spPr>
          <a:xfrm>
            <a:off x="5728493" y="5388588"/>
            <a:ext cx="1658049" cy="432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 dépôt de prise en charge</a:t>
            </a:r>
            <a:endParaRPr lang="fr-FR" sz="1400" dirty="0"/>
          </a:p>
        </p:txBody>
      </p:sp>
      <p:sp>
        <p:nvSpPr>
          <p:cNvPr id="113" name="Rectangle 112"/>
          <p:cNvSpPr/>
          <p:nvPr/>
        </p:nvSpPr>
        <p:spPr>
          <a:xfrm>
            <a:off x="3927573" y="5435690"/>
            <a:ext cx="1332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4" name="Titre 1"/>
          <p:cNvSpPr txBox="1">
            <a:spLocks/>
          </p:cNvSpPr>
          <p:nvPr/>
        </p:nvSpPr>
        <p:spPr>
          <a:xfrm>
            <a:off x="2276942" y="5419641"/>
            <a:ext cx="1658049" cy="432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 expiration de prise en charge</a:t>
            </a:r>
            <a:endParaRPr lang="fr-FR" sz="1400" dirty="0"/>
          </a:p>
        </p:txBody>
      </p:sp>
      <p:sp>
        <p:nvSpPr>
          <p:cNvPr id="115" name="Titre 1"/>
          <p:cNvSpPr txBox="1">
            <a:spLocks/>
          </p:cNvSpPr>
          <p:nvPr/>
        </p:nvSpPr>
        <p:spPr>
          <a:xfrm>
            <a:off x="3010519" y="5933066"/>
            <a:ext cx="900000" cy="27108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Praticien</a:t>
            </a:r>
            <a:endParaRPr lang="fr-FR" sz="1400" dirty="0"/>
          </a:p>
        </p:txBody>
      </p:sp>
      <p:sp>
        <p:nvSpPr>
          <p:cNvPr id="119" name="Rectangle 118"/>
          <p:cNvSpPr/>
          <p:nvPr/>
        </p:nvSpPr>
        <p:spPr>
          <a:xfrm>
            <a:off x="3915808" y="5940117"/>
            <a:ext cx="1332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9" name="Rectangle 138"/>
          <p:cNvSpPr/>
          <p:nvPr/>
        </p:nvSpPr>
        <p:spPr>
          <a:xfrm>
            <a:off x="3007159" y="2714329"/>
            <a:ext cx="133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Etat civil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4445020" y="2720957"/>
            <a:ext cx="1332000" cy="360000"/>
          </a:xfrm>
          <a:prstGeom prst="rect">
            <a:avLst/>
          </a:prstGeom>
          <a:solidFill>
            <a:srgbClr val="92D05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/>
              <a:t>Sécurité </a:t>
            </a:r>
            <a:r>
              <a:rPr lang="fr-FR" sz="1400" smtClean="0"/>
              <a:t>sociale</a:t>
            </a:r>
            <a:endParaRPr lang="fr-FR" sz="1400" dirty="0"/>
          </a:p>
        </p:txBody>
      </p:sp>
      <p:sp>
        <p:nvSpPr>
          <p:cNvPr id="141" name="Rectangle 140"/>
          <p:cNvSpPr/>
          <p:nvPr/>
        </p:nvSpPr>
        <p:spPr>
          <a:xfrm>
            <a:off x="5873594" y="2713977"/>
            <a:ext cx="168154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Mode de transport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7667038" y="2719846"/>
            <a:ext cx="313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Personne à prévenir en cas de nécessité</a:t>
            </a:r>
            <a:endParaRPr lang="fr-FR" sz="1400" dirty="0"/>
          </a:p>
        </p:txBody>
      </p:sp>
      <p:sp>
        <p:nvSpPr>
          <p:cNvPr id="143" name="Titre 1"/>
          <p:cNvSpPr txBox="1">
            <a:spLocks/>
          </p:cNvSpPr>
          <p:nvPr/>
        </p:nvSpPr>
        <p:spPr>
          <a:xfrm>
            <a:off x="3345444" y="798268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02095</a:t>
            </a:r>
            <a:endParaRPr lang="fr-FR" sz="1400" dirty="0"/>
          </a:p>
        </p:txBody>
      </p:sp>
      <p:sp>
        <p:nvSpPr>
          <p:cNvPr id="144" name="Rectangle 143"/>
          <p:cNvSpPr/>
          <p:nvPr/>
        </p:nvSpPr>
        <p:spPr>
          <a:xfrm>
            <a:off x="5453943" y="819950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Amara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8" name="Rectangle 147"/>
          <p:cNvSpPr/>
          <p:nvPr/>
        </p:nvSpPr>
        <p:spPr>
          <a:xfrm>
            <a:off x="6118421" y="825991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amine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9" name="Rectangle 148"/>
          <p:cNvSpPr/>
          <p:nvPr/>
        </p:nvSpPr>
        <p:spPr>
          <a:xfrm>
            <a:off x="7766108" y="806716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43 ans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6903083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 txBox="1">
            <a:spLocks/>
          </p:cNvSpPr>
          <p:nvPr/>
        </p:nvSpPr>
        <p:spPr>
          <a:xfrm>
            <a:off x="3489617" y="59579"/>
            <a:ext cx="4620714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10 –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Patient 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– Fiche patient/</a:t>
            </a:r>
            <a:endParaRPr lang="fr-FR" altLang="fr-FR" sz="1800" b="1" dirty="0">
              <a:solidFill>
                <a:srgbClr val="000000"/>
              </a:solidFill>
              <a:latin typeface="Times New Roman" panose="02020603050405020304" pitchFamily="18" charset="0"/>
              <a:ea typeface="Microsoft YaHei" panose="020B0503020204020204" pitchFamily="34" charset="-122"/>
            </a:endParaRP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Mode de transport</a:t>
            </a:r>
            <a:endParaRPr lang="fr-FR" sz="1800" dirty="0"/>
          </a:p>
        </p:txBody>
      </p:sp>
      <p:sp>
        <p:nvSpPr>
          <p:cNvPr id="23" name="Rectangle 22"/>
          <p:cNvSpPr/>
          <p:nvPr/>
        </p:nvSpPr>
        <p:spPr>
          <a:xfrm>
            <a:off x="191992" y="594180"/>
            <a:ext cx="11758269" cy="6192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6" name="Rectangle 35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37" name="Rectangle 36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90" name="ZoneTexte 89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91" name="Rectangle 90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3892310" y="1871612"/>
            <a:ext cx="1800000" cy="286059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7" name="Rectangle 146"/>
          <p:cNvSpPr/>
          <p:nvPr/>
        </p:nvSpPr>
        <p:spPr>
          <a:xfrm>
            <a:off x="1920696" y="1323920"/>
            <a:ext cx="9936000" cy="1337322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7" name="Rectangle 66"/>
          <p:cNvSpPr/>
          <p:nvPr/>
        </p:nvSpPr>
        <p:spPr>
          <a:xfrm>
            <a:off x="3896717" y="1456671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8" name="Titre 1"/>
          <p:cNvSpPr txBox="1">
            <a:spLocks/>
          </p:cNvSpPr>
          <p:nvPr/>
        </p:nvSpPr>
        <p:spPr>
          <a:xfrm>
            <a:off x="2768325" y="1437002"/>
            <a:ext cx="1191741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Provenance</a:t>
            </a:r>
            <a:endParaRPr lang="fr-FR" sz="1400" dirty="0"/>
          </a:p>
        </p:txBody>
      </p:sp>
      <p:sp>
        <p:nvSpPr>
          <p:cNvPr id="69" name="Triangle isocèle 68"/>
          <p:cNvSpPr/>
          <p:nvPr/>
        </p:nvSpPr>
        <p:spPr>
          <a:xfrm rot="10800000">
            <a:off x="4801558" y="1452511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7" name="Titre 1"/>
          <p:cNvSpPr txBox="1">
            <a:spLocks/>
          </p:cNvSpPr>
          <p:nvPr/>
        </p:nvSpPr>
        <p:spPr>
          <a:xfrm>
            <a:off x="1964661" y="727493"/>
            <a:ext cx="1026946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dossier</a:t>
            </a:r>
            <a:endParaRPr lang="fr-FR" sz="1400" dirty="0"/>
          </a:p>
        </p:txBody>
      </p:sp>
      <p:sp>
        <p:nvSpPr>
          <p:cNvPr id="78" name="Titre 1"/>
          <p:cNvSpPr txBox="1">
            <a:spLocks/>
          </p:cNvSpPr>
          <p:nvPr/>
        </p:nvSpPr>
        <p:spPr>
          <a:xfrm>
            <a:off x="4355023" y="714388"/>
            <a:ext cx="9591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Patient </a:t>
            </a:r>
            <a:endParaRPr lang="fr-FR" sz="1400" dirty="0"/>
          </a:p>
        </p:txBody>
      </p:sp>
      <p:sp>
        <p:nvSpPr>
          <p:cNvPr id="81" name="Titre 1"/>
          <p:cNvSpPr txBox="1">
            <a:spLocks/>
          </p:cNvSpPr>
          <p:nvPr/>
        </p:nvSpPr>
        <p:spPr>
          <a:xfrm>
            <a:off x="7182390" y="733900"/>
            <a:ext cx="560942" cy="3850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Age </a:t>
            </a:r>
            <a:endParaRPr lang="fr-FR" sz="1400" dirty="0"/>
          </a:p>
        </p:txBody>
      </p:sp>
      <p:sp>
        <p:nvSpPr>
          <p:cNvPr id="85" name="Rectangle 84"/>
          <p:cNvSpPr/>
          <p:nvPr/>
        </p:nvSpPr>
        <p:spPr>
          <a:xfrm>
            <a:off x="3152059" y="772519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7" name="Rectangle 86"/>
          <p:cNvSpPr/>
          <p:nvPr/>
        </p:nvSpPr>
        <p:spPr>
          <a:xfrm>
            <a:off x="5345295" y="765895"/>
            <a:ext cx="1641189" cy="35303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8" name="Rectangle 87"/>
          <p:cNvSpPr/>
          <p:nvPr/>
        </p:nvSpPr>
        <p:spPr>
          <a:xfrm>
            <a:off x="7717438" y="779147"/>
            <a:ext cx="7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2" name="Rectangle 91"/>
          <p:cNvSpPr/>
          <p:nvPr/>
        </p:nvSpPr>
        <p:spPr>
          <a:xfrm>
            <a:off x="1914072" y="658151"/>
            <a:ext cx="9936000" cy="53385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3" name="Titre 1"/>
          <p:cNvSpPr txBox="1">
            <a:spLocks/>
          </p:cNvSpPr>
          <p:nvPr/>
        </p:nvSpPr>
        <p:spPr>
          <a:xfrm>
            <a:off x="776035" y="751547"/>
            <a:ext cx="972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 smtClean="0"/>
              <a:t>Affichage</a:t>
            </a:r>
            <a:endParaRPr lang="fr-FR" sz="1600" b="1" u="sng" dirty="0"/>
          </a:p>
        </p:txBody>
      </p:sp>
      <p:sp>
        <p:nvSpPr>
          <p:cNvPr id="94" name="Titre 1"/>
          <p:cNvSpPr txBox="1">
            <a:spLocks/>
          </p:cNvSpPr>
          <p:nvPr/>
        </p:nvSpPr>
        <p:spPr>
          <a:xfrm>
            <a:off x="487049" y="1347517"/>
            <a:ext cx="1440000" cy="54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 smtClean="0"/>
              <a:t>Fiche d’identification</a:t>
            </a:r>
            <a:endParaRPr lang="fr-FR" sz="1600" b="1" u="sng" dirty="0"/>
          </a:p>
        </p:txBody>
      </p:sp>
      <p:sp>
        <p:nvSpPr>
          <p:cNvPr id="95" name="Titre 1"/>
          <p:cNvSpPr txBox="1">
            <a:spLocks/>
          </p:cNvSpPr>
          <p:nvPr/>
        </p:nvSpPr>
        <p:spPr>
          <a:xfrm>
            <a:off x="1911649" y="1840356"/>
            <a:ext cx="205200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Service d’hospitalisation</a:t>
            </a:r>
            <a:endParaRPr lang="fr-FR" sz="1400" dirty="0"/>
          </a:p>
        </p:txBody>
      </p:sp>
      <p:sp>
        <p:nvSpPr>
          <p:cNvPr id="96" name="Triangle isocèle 95"/>
          <p:cNvSpPr/>
          <p:nvPr/>
        </p:nvSpPr>
        <p:spPr>
          <a:xfrm rot="10800000">
            <a:off x="5510711" y="1886205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9" name="Titre 1"/>
          <p:cNvSpPr txBox="1">
            <a:spLocks/>
          </p:cNvSpPr>
          <p:nvPr/>
        </p:nvSpPr>
        <p:spPr>
          <a:xfrm>
            <a:off x="2412186" y="2241687"/>
            <a:ext cx="1574045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Service d’accueil</a:t>
            </a:r>
            <a:endParaRPr lang="fr-FR" sz="1400" dirty="0"/>
          </a:p>
        </p:txBody>
      </p:sp>
      <p:sp>
        <p:nvSpPr>
          <p:cNvPr id="101" name="Rectangle 100"/>
          <p:cNvSpPr/>
          <p:nvPr/>
        </p:nvSpPr>
        <p:spPr>
          <a:xfrm>
            <a:off x="3892310" y="2289056"/>
            <a:ext cx="180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2" name="Titre 1"/>
          <p:cNvSpPr txBox="1">
            <a:spLocks/>
          </p:cNvSpPr>
          <p:nvPr/>
        </p:nvSpPr>
        <p:spPr>
          <a:xfrm>
            <a:off x="5804035" y="1819927"/>
            <a:ext cx="1519928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 d’admission</a:t>
            </a:r>
            <a:endParaRPr lang="fr-FR" sz="1400" dirty="0"/>
          </a:p>
        </p:txBody>
      </p:sp>
      <p:sp>
        <p:nvSpPr>
          <p:cNvPr id="105" name="Triangle isocèle 104"/>
          <p:cNvSpPr/>
          <p:nvPr/>
        </p:nvSpPr>
        <p:spPr>
          <a:xfrm rot="10800000">
            <a:off x="5510710" y="2288653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1" name="Titre 1"/>
          <p:cNvSpPr txBox="1">
            <a:spLocks/>
          </p:cNvSpPr>
          <p:nvPr/>
        </p:nvSpPr>
        <p:spPr>
          <a:xfrm>
            <a:off x="5983827" y="2224980"/>
            <a:ext cx="1332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 de dépôt</a:t>
            </a:r>
            <a:endParaRPr lang="fr-FR" sz="1400" dirty="0"/>
          </a:p>
        </p:txBody>
      </p:sp>
      <p:sp>
        <p:nvSpPr>
          <p:cNvPr id="117" name="Rectangle 116"/>
          <p:cNvSpPr/>
          <p:nvPr/>
        </p:nvSpPr>
        <p:spPr>
          <a:xfrm>
            <a:off x="7344512" y="1864988"/>
            <a:ext cx="1440000" cy="28605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1" name="Rectangle 120"/>
          <p:cNvSpPr/>
          <p:nvPr/>
        </p:nvSpPr>
        <p:spPr>
          <a:xfrm>
            <a:off x="10210593" y="2244218"/>
            <a:ext cx="1440000" cy="286059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2" name="Triangle isocèle 121"/>
          <p:cNvSpPr/>
          <p:nvPr/>
        </p:nvSpPr>
        <p:spPr>
          <a:xfrm rot="10800000">
            <a:off x="11449157" y="2244357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4" name="Titre 1"/>
          <p:cNvSpPr txBox="1">
            <a:spLocks/>
          </p:cNvSpPr>
          <p:nvPr/>
        </p:nvSpPr>
        <p:spPr>
          <a:xfrm>
            <a:off x="9241353" y="1827139"/>
            <a:ext cx="996943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dossier</a:t>
            </a:r>
            <a:endParaRPr lang="fr-FR" sz="1400" dirty="0"/>
          </a:p>
        </p:txBody>
      </p:sp>
      <p:sp>
        <p:nvSpPr>
          <p:cNvPr id="125" name="Rectangle 124"/>
          <p:cNvSpPr/>
          <p:nvPr/>
        </p:nvSpPr>
        <p:spPr>
          <a:xfrm>
            <a:off x="10210593" y="1830957"/>
            <a:ext cx="1440000" cy="28605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7" name="Rectangle 126"/>
          <p:cNvSpPr/>
          <p:nvPr/>
        </p:nvSpPr>
        <p:spPr>
          <a:xfrm>
            <a:off x="7354749" y="2250846"/>
            <a:ext cx="1440000" cy="286059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8" name="Titre 1"/>
          <p:cNvSpPr txBox="1">
            <a:spLocks/>
          </p:cNvSpPr>
          <p:nvPr/>
        </p:nvSpPr>
        <p:spPr>
          <a:xfrm>
            <a:off x="9247981" y="2231330"/>
            <a:ext cx="996943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Statut</a:t>
            </a:r>
            <a:endParaRPr lang="fr-FR" sz="1400" dirty="0"/>
          </a:p>
        </p:txBody>
      </p:sp>
      <p:sp>
        <p:nvSpPr>
          <p:cNvPr id="97" name="Rectangle 96"/>
          <p:cNvSpPr/>
          <p:nvPr/>
        </p:nvSpPr>
        <p:spPr>
          <a:xfrm>
            <a:off x="3889654" y="3445955"/>
            <a:ext cx="1620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0" name="Titre 1"/>
          <p:cNvSpPr txBox="1">
            <a:spLocks/>
          </p:cNvSpPr>
          <p:nvPr/>
        </p:nvSpPr>
        <p:spPr>
          <a:xfrm>
            <a:off x="2627938" y="3429199"/>
            <a:ext cx="126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smtClean="0"/>
              <a:t>Raison social</a:t>
            </a:r>
            <a:endParaRPr lang="fr-FR" sz="1400" dirty="0"/>
          </a:p>
        </p:txBody>
      </p:sp>
      <p:sp>
        <p:nvSpPr>
          <p:cNvPr id="152" name="Rectangle 151"/>
          <p:cNvSpPr/>
          <p:nvPr/>
        </p:nvSpPr>
        <p:spPr>
          <a:xfrm>
            <a:off x="3915501" y="3970203"/>
            <a:ext cx="2808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53" name="Titre 1"/>
          <p:cNvSpPr txBox="1">
            <a:spLocks/>
          </p:cNvSpPr>
          <p:nvPr/>
        </p:nvSpPr>
        <p:spPr>
          <a:xfrm>
            <a:off x="2995331" y="3919251"/>
            <a:ext cx="972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Adresse</a:t>
            </a:r>
            <a:endParaRPr lang="fr-FR" sz="1400" dirty="0"/>
          </a:p>
        </p:txBody>
      </p:sp>
      <p:sp>
        <p:nvSpPr>
          <p:cNvPr id="178" name="Rectangle 177"/>
          <p:cNvSpPr/>
          <p:nvPr/>
        </p:nvSpPr>
        <p:spPr>
          <a:xfrm>
            <a:off x="1884696" y="3195842"/>
            <a:ext cx="9972000" cy="2662861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01" name="Rectangle 200"/>
          <p:cNvSpPr/>
          <p:nvPr/>
        </p:nvSpPr>
        <p:spPr>
          <a:xfrm>
            <a:off x="3920306" y="4476985"/>
            <a:ext cx="1332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02" name="Titre 1"/>
          <p:cNvSpPr txBox="1">
            <a:spLocks/>
          </p:cNvSpPr>
          <p:nvPr/>
        </p:nvSpPr>
        <p:spPr>
          <a:xfrm>
            <a:off x="2911757" y="4443509"/>
            <a:ext cx="972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Téléphone</a:t>
            </a:r>
            <a:endParaRPr lang="fr-FR" sz="1400" dirty="0"/>
          </a:p>
        </p:txBody>
      </p:sp>
      <p:sp>
        <p:nvSpPr>
          <p:cNvPr id="208" name="Rectangle 207"/>
          <p:cNvSpPr/>
          <p:nvPr/>
        </p:nvSpPr>
        <p:spPr>
          <a:xfrm>
            <a:off x="3920305" y="4927564"/>
            <a:ext cx="1332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09" name="Titre 1"/>
          <p:cNvSpPr txBox="1">
            <a:spLocks/>
          </p:cNvSpPr>
          <p:nvPr/>
        </p:nvSpPr>
        <p:spPr>
          <a:xfrm>
            <a:off x="3097966" y="4872299"/>
            <a:ext cx="972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Faxe</a:t>
            </a:r>
            <a:endParaRPr lang="fr-FR" sz="1400" dirty="0"/>
          </a:p>
        </p:txBody>
      </p:sp>
      <p:sp>
        <p:nvSpPr>
          <p:cNvPr id="215" name="Rectangle 214"/>
          <p:cNvSpPr/>
          <p:nvPr/>
        </p:nvSpPr>
        <p:spPr>
          <a:xfrm>
            <a:off x="9860365" y="6023955"/>
            <a:ext cx="1980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Imprimer code barre</a:t>
            </a:r>
          </a:p>
        </p:txBody>
      </p:sp>
      <p:sp>
        <p:nvSpPr>
          <p:cNvPr id="216" name="Rectangle 215"/>
          <p:cNvSpPr/>
          <p:nvPr/>
        </p:nvSpPr>
        <p:spPr>
          <a:xfrm>
            <a:off x="8422504" y="6030583"/>
            <a:ext cx="1332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Annuler</a:t>
            </a:r>
          </a:p>
        </p:txBody>
      </p:sp>
      <p:sp>
        <p:nvSpPr>
          <p:cNvPr id="217" name="Rectangle 216"/>
          <p:cNvSpPr/>
          <p:nvPr/>
        </p:nvSpPr>
        <p:spPr>
          <a:xfrm>
            <a:off x="6997891" y="6023957"/>
            <a:ext cx="1332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Modifier</a:t>
            </a:r>
          </a:p>
        </p:txBody>
      </p:sp>
      <p:sp>
        <p:nvSpPr>
          <p:cNvPr id="98" name="Triangle isocèle 97"/>
          <p:cNvSpPr/>
          <p:nvPr/>
        </p:nvSpPr>
        <p:spPr>
          <a:xfrm rot="10800000">
            <a:off x="5317473" y="3462822"/>
            <a:ext cx="180000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3" name="Rectangle 112"/>
          <p:cNvSpPr/>
          <p:nvPr/>
        </p:nvSpPr>
        <p:spPr>
          <a:xfrm>
            <a:off x="3927573" y="5382682"/>
            <a:ext cx="1332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4" name="Titre 1"/>
          <p:cNvSpPr txBox="1">
            <a:spLocks/>
          </p:cNvSpPr>
          <p:nvPr/>
        </p:nvSpPr>
        <p:spPr>
          <a:xfrm>
            <a:off x="3007159" y="5326509"/>
            <a:ext cx="972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E-mail</a:t>
            </a:r>
            <a:endParaRPr lang="fr-FR" sz="1400" dirty="0"/>
          </a:p>
        </p:txBody>
      </p:sp>
      <p:sp>
        <p:nvSpPr>
          <p:cNvPr id="139" name="Rectangle 138"/>
          <p:cNvSpPr/>
          <p:nvPr/>
        </p:nvSpPr>
        <p:spPr>
          <a:xfrm>
            <a:off x="3007159" y="2714329"/>
            <a:ext cx="133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Etat civil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4445020" y="2720957"/>
            <a:ext cx="133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/>
              <a:t>Sécurité </a:t>
            </a:r>
            <a:r>
              <a:rPr lang="fr-FR" sz="1400" smtClean="0"/>
              <a:t>sociale</a:t>
            </a:r>
            <a:endParaRPr lang="fr-FR" sz="1400" dirty="0"/>
          </a:p>
        </p:txBody>
      </p:sp>
      <p:sp>
        <p:nvSpPr>
          <p:cNvPr id="141" name="Rectangle 140"/>
          <p:cNvSpPr/>
          <p:nvPr/>
        </p:nvSpPr>
        <p:spPr>
          <a:xfrm>
            <a:off x="5873594" y="2713977"/>
            <a:ext cx="1681540" cy="360000"/>
          </a:xfrm>
          <a:prstGeom prst="rect">
            <a:avLst/>
          </a:prstGeom>
          <a:solidFill>
            <a:srgbClr val="92D05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Mode de transport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7667038" y="2719846"/>
            <a:ext cx="313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Personne à prévenir en cas de nécessité</a:t>
            </a:r>
            <a:endParaRPr lang="fr-FR" sz="1400" dirty="0"/>
          </a:p>
        </p:txBody>
      </p:sp>
      <p:sp>
        <p:nvSpPr>
          <p:cNvPr id="75" name="Titre 1"/>
          <p:cNvSpPr txBox="1">
            <a:spLocks/>
          </p:cNvSpPr>
          <p:nvPr/>
        </p:nvSpPr>
        <p:spPr>
          <a:xfrm>
            <a:off x="3345444" y="798268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02095</a:t>
            </a:r>
            <a:endParaRPr lang="fr-FR" sz="1400" dirty="0"/>
          </a:p>
        </p:txBody>
      </p:sp>
      <p:sp>
        <p:nvSpPr>
          <p:cNvPr id="76" name="Rectangle 75"/>
          <p:cNvSpPr/>
          <p:nvPr/>
        </p:nvSpPr>
        <p:spPr>
          <a:xfrm>
            <a:off x="5453943" y="819950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Amara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79" name="Rectangle 78"/>
          <p:cNvSpPr/>
          <p:nvPr/>
        </p:nvSpPr>
        <p:spPr>
          <a:xfrm>
            <a:off x="6118421" y="825991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amine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86" name="Rectangle 85"/>
          <p:cNvSpPr/>
          <p:nvPr/>
        </p:nvSpPr>
        <p:spPr>
          <a:xfrm>
            <a:off x="7766108" y="806716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43 ans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2662005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 txBox="1">
            <a:spLocks/>
          </p:cNvSpPr>
          <p:nvPr/>
        </p:nvSpPr>
        <p:spPr>
          <a:xfrm>
            <a:off x="3489617" y="59579"/>
            <a:ext cx="4620714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11 –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Patient 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– Fiche patient/</a:t>
            </a:r>
            <a:endParaRPr lang="fr-FR" altLang="fr-FR" sz="1800" b="1" dirty="0">
              <a:solidFill>
                <a:srgbClr val="000000"/>
              </a:solidFill>
              <a:latin typeface="Times New Roman" panose="02020603050405020304" pitchFamily="18" charset="0"/>
              <a:ea typeface="Microsoft YaHei" panose="020B0503020204020204" pitchFamily="34" charset="-122"/>
            </a:endParaRP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Personne à prévenir</a:t>
            </a:r>
            <a:endParaRPr lang="fr-FR" sz="1800" dirty="0"/>
          </a:p>
        </p:txBody>
      </p:sp>
      <p:sp>
        <p:nvSpPr>
          <p:cNvPr id="23" name="Rectangle 22"/>
          <p:cNvSpPr/>
          <p:nvPr/>
        </p:nvSpPr>
        <p:spPr>
          <a:xfrm>
            <a:off x="191992" y="594180"/>
            <a:ext cx="11758269" cy="6192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6" name="Rectangle 35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37" name="Rectangle 36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90" name="ZoneTexte 89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91" name="Rectangle 90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3892310" y="1845105"/>
            <a:ext cx="1800000" cy="286059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7" name="Rectangle 146"/>
          <p:cNvSpPr/>
          <p:nvPr/>
        </p:nvSpPr>
        <p:spPr>
          <a:xfrm>
            <a:off x="1920696" y="1297413"/>
            <a:ext cx="9936000" cy="1337322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7" name="Rectangle 66"/>
          <p:cNvSpPr/>
          <p:nvPr/>
        </p:nvSpPr>
        <p:spPr>
          <a:xfrm>
            <a:off x="3896717" y="1430164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8" name="Titre 1"/>
          <p:cNvSpPr txBox="1">
            <a:spLocks/>
          </p:cNvSpPr>
          <p:nvPr/>
        </p:nvSpPr>
        <p:spPr>
          <a:xfrm>
            <a:off x="2768325" y="1410495"/>
            <a:ext cx="1191741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Provenance</a:t>
            </a:r>
            <a:endParaRPr lang="fr-FR" sz="1400" dirty="0"/>
          </a:p>
        </p:txBody>
      </p:sp>
      <p:sp>
        <p:nvSpPr>
          <p:cNvPr id="69" name="Triangle isocèle 68"/>
          <p:cNvSpPr/>
          <p:nvPr/>
        </p:nvSpPr>
        <p:spPr>
          <a:xfrm rot="10800000">
            <a:off x="4801558" y="1426004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7" name="Titre 1"/>
          <p:cNvSpPr txBox="1">
            <a:spLocks/>
          </p:cNvSpPr>
          <p:nvPr/>
        </p:nvSpPr>
        <p:spPr>
          <a:xfrm>
            <a:off x="1964661" y="700986"/>
            <a:ext cx="1026946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dossier</a:t>
            </a:r>
            <a:endParaRPr lang="fr-FR" sz="1400" dirty="0"/>
          </a:p>
        </p:txBody>
      </p:sp>
      <p:sp>
        <p:nvSpPr>
          <p:cNvPr id="78" name="Titre 1"/>
          <p:cNvSpPr txBox="1">
            <a:spLocks/>
          </p:cNvSpPr>
          <p:nvPr/>
        </p:nvSpPr>
        <p:spPr>
          <a:xfrm>
            <a:off x="4355023" y="687881"/>
            <a:ext cx="9591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Patient </a:t>
            </a:r>
            <a:endParaRPr lang="fr-FR" sz="1400" dirty="0"/>
          </a:p>
        </p:txBody>
      </p:sp>
      <p:sp>
        <p:nvSpPr>
          <p:cNvPr id="81" name="Titre 1"/>
          <p:cNvSpPr txBox="1">
            <a:spLocks/>
          </p:cNvSpPr>
          <p:nvPr/>
        </p:nvSpPr>
        <p:spPr>
          <a:xfrm>
            <a:off x="7182390" y="707393"/>
            <a:ext cx="560942" cy="3850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Age </a:t>
            </a:r>
            <a:endParaRPr lang="fr-FR" sz="1400" dirty="0"/>
          </a:p>
        </p:txBody>
      </p:sp>
      <p:sp>
        <p:nvSpPr>
          <p:cNvPr id="85" name="Rectangle 84"/>
          <p:cNvSpPr/>
          <p:nvPr/>
        </p:nvSpPr>
        <p:spPr>
          <a:xfrm>
            <a:off x="3152059" y="746012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7" name="Rectangle 86"/>
          <p:cNvSpPr/>
          <p:nvPr/>
        </p:nvSpPr>
        <p:spPr>
          <a:xfrm>
            <a:off x="5345295" y="739388"/>
            <a:ext cx="1641189" cy="35303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8" name="Rectangle 87"/>
          <p:cNvSpPr/>
          <p:nvPr/>
        </p:nvSpPr>
        <p:spPr>
          <a:xfrm>
            <a:off x="7717438" y="752640"/>
            <a:ext cx="7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2" name="Rectangle 91"/>
          <p:cNvSpPr/>
          <p:nvPr/>
        </p:nvSpPr>
        <p:spPr>
          <a:xfrm>
            <a:off x="1914072" y="631644"/>
            <a:ext cx="9936000" cy="53385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3" name="Titre 1"/>
          <p:cNvSpPr txBox="1">
            <a:spLocks/>
          </p:cNvSpPr>
          <p:nvPr/>
        </p:nvSpPr>
        <p:spPr>
          <a:xfrm>
            <a:off x="776035" y="817807"/>
            <a:ext cx="972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 smtClean="0"/>
              <a:t>Affichage</a:t>
            </a:r>
            <a:endParaRPr lang="fr-FR" sz="1600" b="1" u="sng" dirty="0"/>
          </a:p>
        </p:txBody>
      </p:sp>
      <p:sp>
        <p:nvSpPr>
          <p:cNvPr id="94" name="Titre 1"/>
          <p:cNvSpPr txBox="1">
            <a:spLocks/>
          </p:cNvSpPr>
          <p:nvPr/>
        </p:nvSpPr>
        <p:spPr>
          <a:xfrm>
            <a:off x="487049" y="1480037"/>
            <a:ext cx="1440000" cy="54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 smtClean="0"/>
              <a:t>Fiche d’identification</a:t>
            </a:r>
            <a:endParaRPr lang="fr-FR" sz="1600" b="1" u="sng" dirty="0"/>
          </a:p>
        </p:txBody>
      </p:sp>
      <p:sp>
        <p:nvSpPr>
          <p:cNvPr id="95" name="Titre 1"/>
          <p:cNvSpPr txBox="1">
            <a:spLocks/>
          </p:cNvSpPr>
          <p:nvPr/>
        </p:nvSpPr>
        <p:spPr>
          <a:xfrm>
            <a:off x="1911649" y="1813849"/>
            <a:ext cx="205200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Service d’hospitalisation</a:t>
            </a:r>
            <a:endParaRPr lang="fr-FR" sz="1400" dirty="0"/>
          </a:p>
        </p:txBody>
      </p:sp>
      <p:sp>
        <p:nvSpPr>
          <p:cNvPr id="96" name="Triangle isocèle 95"/>
          <p:cNvSpPr/>
          <p:nvPr/>
        </p:nvSpPr>
        <p:spPr>
          <a:xfrm rot="10800000">
            <a:off x="5510711" y="1859698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9" name="Titre 1"/>
          <p:cNvSpPr txBox="1">
            <a:spLocks/>
          </p:cNvSpPr>
          <p:nvPr/>
        </p:nvSpPr>
        <p:spPr>
          <a:xfrm>
            <a:off x="2412186" y="2215180"/>
            <a:ext cx="1574045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Service d’accueil</a:t>
            </a:r>
            <a:endParaRPr lang="fr-FR" sz="1400" dirty="0"/>
          </a:p>
        </p:txBody>
      </p:sp>
      <p:sp>
        <p:nvSpPr>
          <p:cNvPr id="101" name="Rectangle 100"/>
          <p:cNvSpPr/>
          <p:nvPr/>
        </p:nvSpPr>
        <p:spPr>
          <a:xfrm>
            <a:off x="3892310" y="2262549"/>
            <a:ext cx="180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2" name="Titre 1"/>
          <p:cNvSpPr txBox="1">
            <a:spLocks/>
          </p:cNvSpPr>
          <p:nvPr/>
        </p:nvSpPr>
        <p:spPr>
          <a:xfrm>
            <a:off x="5804035" y="1793420"/>
            <a:ext cx="1519928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 d’admission</a:t>
            </a:r>
            <a:endParaRPr lang="fr-FR" sz="1400" dirty="0"/>
          </a:p>
        </p:txBody>
      </p:sp>
      <p:sp>
        <p:nvSpPr>
          <p:cNvPr id="105" name="Triangle isocèle 104"/>
          <p:cNvSpPr/>
          <p:nvPr/>
        </p:nvSpPr>
        <p:spPr>
          <a:xfrm rot="10800000">
            <a:off x="5510710" y="2262146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1" name="Titre 1"/>
          <p:cNvSpPr txBox="1">
            <a:spLocks/>
          </p:cNvSpPr>
          <p:nvPr/>
        </p:nvSpPr>
        <p:spPr>
          <a:xfrm>
            <a:off x="5665777" y="2198473"/>
            <a:ext cx="1574045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 de dépôt</a:t>
            </a:r>
            <a:endParaRPr lang="fr-FR" sz="1400" dirty="0"/>
          </a:p>
        </p:txBody>
      </p:sp>
      <p:sp>
        <p:nvSpPr>
          <p:cNvPr id="117" name="Rectangle 116"/>
          <p:cNvSpPr/>
          <p:nvPr/>
        </p:nvSpPr>
        <p:spPr>
          <a:xfrm>
            <a:off x="7344512" y="1838481"/>
            <a:ext cx="1440000" cy="28605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1" name="Rectangle 120"/>
          <p:cNvSpPr/>
          <p:nvPr/>
        </p:nvSpPr>
        <p:spPr>
          <a:xfrm>
            <a:off x="10210593" y="2217711"/>
            <a:ext cx="1440000" cy="286059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2" name="Triangle isocèle 121"/>
          <p:cNvSpPr/>
          <p:nvPr/>
        </p:nvSpPr>
        <p:spPr>
          <a:xfrm rot="10800000">
            <a:off x="11449157" y="2217850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4" name="Titre 1"/>
          <p:cNvSpPr txBox="1">
            <a:spLocks/>
          </p:cNvSpPr>
          <p:nvPr/>
        </p:nvSpPr>
        <p:spPr>
          <a:xfrm>
            <a:off x="9241353" y="1800632"/>
            <a:ext cx="996943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dossier</a:t>
            </a:r>
            <a:endParaRPr lang="fr-FR" sz="1400" dirty="0"/>
          </a:p>
        </p:txBody>
      </p:sp>
      <p:sp>
        <p:nvSpPr>
          <p:cNvPr id="125" name="Rectangle 124"/>
          <p:cNvSpPr/>
          <p:nvPr/>
        </p:nvSpPr>
        <p:spPr>
          <a:xfrm>
            <a:off x="10210593" y="1804450"/>
            <a:ext cx="1440000" cy="28605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7" name="Rectangle 126"/>
          <p:cNvSpPr/>
          <p:nvPr/>
        </p:nvSpPr>
        <p:spPr>
          <a:xfrm>
            <a:off x="7354749" y="2224339"/>
            <a:ext cx="1440000" cy="286059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8" name="Titre 1"/>
          <p:cNvSpPr txBox="1">
            <a:spLocks/>
          </p:cNvSpPr>
          <p:nvPr/>
        </p:nvSpPr>
        <p:spPr>
          <a:xfrm>
            <a:off x="9247981" y="2204823"/>
            <a:ext cx="996943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Statut</a:t>
            </a:r>
            <a:endParaRPr lang="fr-FR" sz="1400" dirty="0"/>
          </a:p>
        </p:txBody>
      </p:sp>
      <p:sp>
        <p:nvSpPr>
          <p:cNvPr id="97" name="Rectangle 96"/>
          <p:cNvSpPr/>
          <p:nvPr/>
        </p:nvSpPr>
        <p:spPr>
          <a:xfrm>
            <a:off x="3539437" y="3854877"/>
            <a:ext cx="1800000" cy="36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0" name="Titre 1"/>
          <p:cNvSpPr txBox="1">
            <a:spLocks/>
          </p:cNvSpPr>
          <p:nvPr/>
        </p:nvSpPr>
        <p:spPr>
          <a:xfrm>
            <a:off x="1953371" y="3799864"/>
            <a:ext cx="1619955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Nom de naissance *</a:t>
            </a:r>
            <a:endParaRPr lang="fr-FR" sz="1400" dirty="0"/>
          </a:p>
        </p:txBody>
      </p:sp>
      <p:sp>
        <p:nvSpPr>
          <p:cNvPr id="110" name="Rectangle 109"/>
          <p:cNvSpPr/>
          <p:nvPr/>
        </p:nvSpPr>
        <p:spPr>
          <a:xfrm>
            <a:off x="3544366" y="4365066"/>
            <a:ext cx="1800000" cy="36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2" name="Titre 1"/>
          <p:cNvSpPr txBox="1">
            <a:spLocks/>
          </p:cNvSpPr>
          <p:nvPr/>
        </p:nvSpPr>
        <p:spPr>
          <a:xfrm>
            <a:off x="2672091" y="4388969"/>
            <a:ext cx="908699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Prénom *</a:t>
            </a:r>
            <a:endParaRPr lang="fr-FR" sz="1400" dirty="0"/>
          </a:p>
        </p:txBody>
      </p:sp>
      <p:sp>
        <p:nvSpPr>
          <p:cNvPr id="152" name="Rectangle 151"/>
          <p:cNvSpPr/>
          <p:nvPr/>
        </p:nvSpPr>
        <p:spPr>
          <a:xfrm>
            <a:off x="3544438" y="5852012"/>
            <a:ext cx="3600000" cy="36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53" name="Titre 1"/>
          <p:cNvSpPr txBox="1">
            <a:spLocks/>
          </p:cNvSpPr>
          <p:nvPr/>
        </p:nvSpPr>
        <p:spPr>
          <a:xfrm>
            <a:off x="2703780" y="5814312"/>
            <a:ext cx="929476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Adresse </a:t>
            </a:r>
            <a:endParaRPr lang="fr-FR" sz="1400" dirty="0"/>
          </a:p>
        </p:txBody>
      </p:sp>
      <p:sp>
        <p:nvSpPr>
          <p:cNvPr id="174" name="Titre 1"/>
          <p:cNvSpPr txBox="1">
            <a:spLocks/>
          </p:cNvSpPr>
          <p:nvPr/>
        </p:nvSpPr>
        <p:spPr>
          <a:xfrm>
            <a:off x="2799439" y="5362946"/>
            <a:ext cx="679072" cy="33714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E-mail</a:t>
            </a:r>
            <a:endParaRPr lang="fr-FR" sz="1400" dirty="0"/>
          </a:p>
        </p:txBody>
      </p:sp>
      <p:sp>
        <p:nvSpPr>
          <p:cNvPr id="175" name="Rectangle 174"/>
          <p:cNvSpPr/>
          <p:nvPr/>
        </p:nvSpPr>
        <p:spPr>
          <a:xfrm>
            <a:off x="3551703" y="5385390"/>
            <a:ext cx="1800000" cy="36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76" name="Titre 1"/>
          <p:cNvSpPr txBox="1">
            <a:spLocks/>
          </p:cNvSpPr>
          <p:nvPr/>
        </p:nvSpPr>
        <p:spPr>
          <a:xfrm>
            <a:off x="2471091" y="4921855"/>
            <a:ext cx="1063710" cy="27108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Téléphone *</a:t>
            </a:r>
            <a:endParaRPr lang="fr-FR" sz="1400" dirty="0"/>
          </a:p>
        </p:txBody>
      </p:sp>
      <p:sp>
        <p:nvSpPr>
          <p:cNvPr id="177" name="Rectangle 176"/>
          <p:cNvSpPr/>
          <p:nvPr/>
        </p:nvSpPr>
        <p:spPr>
          <a:xfrm>
            <a:off x="3550917" y="4904829"/>
            <a:ext cx="1800000" cy="36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78" name="Rectangle 177"/>
          <p:cNvSpPr/>
          <p:nvPr/>
        </p:nvSpPr>
        <p:spPr>
          <a:xfrm>
            <a:off x="1888742" y="3124982"/>
            <a:ext cx="9972000" cy="3204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15" name="Rectangle 214"/>
          <p:cNvSpPr/>
          <p:nvPr/>
        </p:nvSpPr>
        <p:spPr>
          <a:xfrm>
            <a:off x="9939877" y="6395016"/>
            <a:ext cx="1980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Imprimer code barre</a:t>
            </a:r>
          </a:p>
        </p:txBody>
      </p:sp>
      <p:sp>
        <p:nvSpPr>
          <p:cNvPr id="216" name="Rectangle 215"/>
          <p:cNvSpPr/>
          <p:nvPr/>
        </p:nvSpPr>
        <p:spPr>
          <a:xfrm>
            <a:off x="8502016" y="6401644"/>
            <a:ext cx="1332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Annuler</a:t>
            </a:r>
          </a:p>
        </p:txBody>
      </p:sp>
      <p:sp>
        <p:nvSpPr>
          <p:cNvPr id="217" name="Rectangle 216"/>
          <p:cNvSpPr/>
          <p:nvPr/>
        </p:nvSpPr>
        <p:spPr>
          <a:xfrm>
            <a:off x="7077403" y="6395018"/>
            <a:ext cx="1332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Modifier</a:t>
            </a:r>
          </a:p>
        </p:txBody>
      </p:sp>
      <p:sp>
        <p:nvSpPr>
          <p:cNvPr id="219" name="Rectangle 218"/>
          <p:cNvSpPr/>
          <p:nvPr/>
        </p:nvSpPr>
        <p:spPr>
          <a:xfrm>
            <a:off x="2967401" y="2701077"/>
            <a:ext cx="133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Etat civil</a:t>
            </a:r>
          </a:p>
        </p:txBody>
      </p:sp>
      <p:sp>
        <p:nvSpPr>
          <p:cNvPr id="220" name="Rectangle 219"/>
          <p:cNvSpPr/>
          <p:nvPr/>
        </p:nvSpPr>
        <p:spPr>
          <a:xfrm>
            <a:off x="4405262" y="2707705"/>
            <a:ext cx="133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smtClean="0"/>
              <a:t>Sécurité sociale</a:t>
            </a:r>
            <a:endParaRPr lang="fr-FR" sz="1400" dirty="0" smtClean="0"/>
          </a:p>
        </p:txBody>
      </p:sp>
      <p:sp>
        <p:nvSpPr>
          <p:cNvPr id="221" name="Rectangle 220"/>
          <p:cNvSpPr/>
          <p:nvPr/>
        </p:nvSpPr>
        <p:spPr>
          <a:xfrm>
            <a:off x="5833836" y="2700725"/>
            <a:ext cx="168154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Mode de transport</a:t>
            </a:r>
          </a:p>
        </p:txBody>
      </p:sp>
      <p:sp>
        <p:nvSpPr>
          <p:cNvPr id="222" name="Rectangle 221"/>
          <p:cNvSpPr/>
          <p:nvPr/>
        </p:nvSpPr>
        <p:spPr>
          <a:xfrm>
            <a:off x="7627280" y="2706594"/>
            <a:ext cx="3132000" cy="360000"/>
          </a:xfrm>
          <a:prstGeom prst="rect">
            <a:avLst/>
          </a:prstGeom>
          <a:solidFill>
            <a:srgbClr val="92D05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Personne à prévenir en cas de nécessité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3535993" y="3324049"/>
            <a:ext cx="1800000" cy="36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4" name="Titre 1"/>
          <p:cNvSpPr txBox="1">
            <a:spLocks/>
          </p:cNvSpPr>
          <p:nvPr/>
        </p:nvSpPr>
        <p:spPr>
          <a:xfrm>
            <a:off x="2862312" y="3321252"/>
            <a:ext cx="785951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Parent</a:t>
            </a:r>
            <a:endParaRPr lang="fr-FR" sz="1400" dirty="0"/>
          </a:p>
        </p:txBody>
      </p:sp>
      <p:sp>
        <p:nvSpPr>
          <p:cNvPr id="108" name="Triangle isocèle 107"/>
          <p:cNvSpPr/>
          <p:nvPr/>
        </p:nvSpPr>
        <p:spPr>
          <a:xfrm rot="10800000">
            <a:off x="5155095" y="3348106"/>
            <a:ext cx="175133" cy="322745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9" name="Titre 1"/>
          <p:cNvSpPr txBox="1">
            <a:spLocks/>
          </p:cNvSpPr>
          <p:nvPr/>
        </p:nvSpPr>
        <p:spPr>
          <a:xfrm>
            <a:off x="3345444" y="771764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02095</a:t>
            </a:r>
            <a:endParaRPr lang="fr-FR" sz="1400" dirty="0"/>
          </a:p>
        </p:txBody>
      </p:sp>
      <p:sp>
        <p:nvSpPr>
          <p:cNvPr id="113" name="Rectangle 112"/>
          <p:cNvSpPr/>
          <p:nvPr/>
        </p:nvSpPr>
        <p:spPr>
          <a:xfrm>
            <a:off x="5453943" y="793446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Amara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14" name="Rectangle 113"/>
          <p:cNvSpPr/>
          <p:nvPr/>
        </p:nvSpPr>
        <p:spPr>
          <a:xfrm>
            <a:off x="6118421" y="799487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amine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15" name="Rectangle 114"/>
          <p:cNvSpPr/>
          <p:nvPr/>
        </p:nvSpPr>
        <p:spPr>
          <a:xfrm>
            <a:off x="7766108" y="780212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43 ans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6812495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 txBox="1">
            <a:spLocks/>
          </p:cNvSpPr>
          <p:nvPr/>
        </p:nvSpPr>
        <p:spPr>
          <a:xfrm>
            <a:off x="3573326" y="103211"/>
            <a:ext cx="4620714" cy="40380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12 –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Patient 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– Suivi vaccination</a:t>
            </a:r>
            <a:endParaRPr lang="fr-FR" altLang="fr-FR" sz="1800" b="1" dirty="0">
              <a:solidFill>
                <a:srgbClr val="000000"/>
              </a:solidFill>
              <a:latin typeface="Times New Roman" panose="02020603050405020304" pitchFamily="18" charset="0"/>
              <a:ea typeface="Microsoft YaHei" panose="020B0503020204020204" pitchFamily="3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191992" y="612638"/>
            <a:ext cx="11758269" cy="528588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6" name="Rectangle 35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37" name="Rectangle 36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90" name="ZoneTexte 89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91" name="Rectangle 90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1920696" y="1522697"/>
            <a:ext cx="6852243" cy="3075804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7" name="Rectangle 66"/>
          <p:cNvSpPr/>
          <p:nvPr/>
        </p:nvSpPr>
        <p:spPr>
          <a:xfrm>
            <a:off x="3896717" y="1801220"/>
            <a:ext cx="16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8" name="Titre 1"/>
          <p:cNvSpPr txBox="1">
            <a:spLocks/>
          </p:cNvSpPr>
          <p:nvPr/>
        </p:nvSpPr>
        <p:spPr>
          <a:xfrm>
            <a:off x="2991607" y="1768188"/>
            <a:ext cx="90000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Vaccin</a:t>
            </a:r>
            <a:endParaRPr lang="fr-FR" sz="1400" dirty="0"/>
          </a:p>
        </p:txBody>
      </p:sp>
      <p:sp>
        <p:nvSpPr>
          <p:cNvPr id="69" name="Triangle isocèle 68"/>
          <p:cNvSpPr/>
          <p:nvPr/>
        </p:nvSpPr>
        <p:spPr>
          <a:xfrm rot="10800000">
            <a:off x="5400865" y="1809065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7" name="Titre 1"/>
          <p:cNvSpPr txBox="1">
            <a:spLocks/>
          </p:cNvSpPr>
          <p:nvPr/>
        </p:nvSpPr>
        <p:spPr>
          <a:xfrm>
            <a:off x="1964661" y="926270"/>
            <a:ext cx="1026946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dossier</a:t>
            </a:r>
            <a:endParaRPr lang="fr-FR" sz="1400" dirty="0"/>
          </a:p>
        </p:txBody>
      </p:sp>
      <p:sp>
        <p:nvSpPr>
          <p:cNvPr id="78" name="Titre 1"/>
          <p:cNvSpPr txBox="1">
            <a:spLocks/>
          </p:cNvSpPr>
          <p:nvPr/>
        </p:nvSpPr>
        <p:spPr>
          <a:xfrm>
            <a:off x="4355023" y="913165"/>
            <a:ext cx="9591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Patient </a:t>
            </a:r>
            <a:endParaRPr lang="fr-FR" sz="1400" dirty="0"/>
          </a:p>
        </p:txBody>
      </p:sp>
      <p:sp>
        <p:nvSpPr>
          <p:cNvPr id="80" name="Titre 1"/>
          <p:cNvSpPr txBox="1">
            <a:spLocks/>
          </p:cNvSpPr>
          <p:nvPr/>
        </p:nvSpPr>
        <p:spPr>
          <a:xfrm>
            <a:off x="3345444" y="970544"/>
            <a:ext cx="670716" cy="28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02095</a:t>
            </a:r>
            <a:endParaRPr lang="fr-FR" sz="1400" dirty="0"/>
          </a:p>
        </p:txBody>
      </p:sp>
      <p:sp>
        <p:nvSpPr>
          <p:cNvPr id="81" name="Titre 1"/>
          <p:cNvSpPr txBox="1">
            <a:spLocks/>
          </p:cNvSpPr>
          <p:nvPr/>
        </p:nvSpPr>
        <p:spPr>
          <a:xfrm>
            <a:off x="7182390" y="932677"/>
            <a:ext cx="560942" cy="3850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Age </a:t>
            </a:r>
            <a:endParaRPr lang="fr-FR" sz="1400" dirty="0"/>
          </a:p>
        </p:txBody>
      </p:sp>
      <p:sp>
        <p:nvSpPr>
          <p:cNvPr id="82" name="Rectangle 81"/>
          <p:cNvSpPr/>
          <p:nvPr/>
        </p:nvSpPr>
        <p:spPr>
          <a:xfrm>
            <a:off x="5450982" y="1005479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Amara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83" name="Rectangle 82"/>
          <p:cNvSpPr/>
          <p:nvPr/>
        </p:nvSpPr>
        <p:spPr>
          <a:xfrm>
            <a:off x="6145778" y="1011519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amine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84" name="Rectangle 83"/>
          <p:cNvSpPr/>
          <p:nvPr/>
        </p:nvSpPr>
        <p:spPr>
          <a:xfrm>
            <a:off x="7779361" y="992244"/>
            <a:ext cx="684000" cy="28904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43 ans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85" name="Rectangle 84"/>
          <p:cNvSpPr/>
          <p:nvPr/>
        </p:nvSpPr>
        <p:spPr>
          <a:xfrm>
            <a:off x="3152059" y="971296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7" name="Rectangle 86"/>
          <p:cNvSpPr/>
          <p:nvPr/>
        </p:nvSpPr>
        <p:spPr>
          <a:xfrm>
            <a:off x="5345295" y="951420"/>
            <a:ext cx="1641189" cy="35303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8" name="Rectangle 87"/>
          <p:cNvSpPr/>
          <p:nvPr/>
        </p:nvSpPr>
        <p:spPr>
          <a:xfrm>
            <a:off x="7717438" y="977924"/>
            <a:ext cx="7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2" name="Rectangle 91"/>
          <p:cNvSpPr/>
          <p:nvPr/>
        </p:nvSpPr>
        <p:spPr>
          <a:xfrm>
            <a:off x="1914072" y="856928"/>
            <a:ext cx="6858867" cy="53385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3" name="Titre 1"/>
          <p:cNvSpPr txBox="1">
            <a:spLocks/>
          </p:cNvSpPr>
          <p:nvPr/>
        </p:nvSpPr>
        <p:spPr>
          <a:xfrm>
            <a:off x="776762" y="856928"/>
            <a:ext cx="972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 smtClean="0"/>
              <a:t>Affichage</a:t>
            </a:r>
            <a:endParaRPr lang="fr-FR" sz="1600" b="1" u="sng" dirty="0"/>
          </a:p>
        </p:txBody>
      </p:sp>
      <p:sp>
        <p:nvSpPr>
          <p:cNvPr id="94" name="Titre 1"/>
          <p:cNvSpPr txBox="1">
            <a:spLocks/>
          </p:cNvSpPr>
          <p:nvPr/>
        </p:nvSpPr>
        <p:spPr>
          <a:xfrm>
            <a:off x="119438" y="1522697"/>
            <a:ext cx="1915028" cy="50148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 smtClean="0"/>
              <a:t>Suivi vaccination</a:t>
            </a:r>
            <a:endParaRPr lang="fr-FR" sz="1600" b="1" u="sng" dirty="0"/>
          </a:p>
        </p:txBody>
      </p:sp>
      <p:sp>
        <p:nvSpPr>
          <p:cNvPr id="102" name="Titre 1"/>
          <p:cNvSpPr txBox="1">
            <a:spLocks/>
          </p:cNvSpPr>
          <p:nvPr/>
        </p:nvSpPr>
        <p:spPr>
          <a:xfrm>
            <a:off x="2358470" y="2805616"/>
            <a:ext cx="144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 d’injection</a:t>
            </a:r>
            <a:endParaRPr lang="fr-FR" sz="1400" dirty="0"/>
          </a:p>
        </p:txBody>
      </p:sp>
      <p:sp>
        <p:nvSpPr>
          <p:cNvPr id="111" name="Titre 1"/>
          <p:cNvSpPr txBox="1">
            <a:spLocks/>
          </p:cNvSpPr>
          <p:nvPr/>
        </p:nvSpPr>
        <p:spPr>
          <a:xfrm>
            <a:off x="2887515" y="2297634"/>
            <a:ext cx="90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Médecin</a:t>
            </a:r>
            <a:endParaRPr lang="fr-FR" sz="1400" dirty="0"/>
          </a:p>
        </p:txBody>
      </p:sp>
      <p:sp>
        <p:nvSpPr>
          <p:cNvPr id="124" name="Titre 1"/>
          <p:cNvSpPr txBox="1">
            <a:spLocks/>
          </p:cNvSpPr>
          <p:nvPr/>
        </p:nvSpPr>
        <p:spPr>
          <a:xfrm>
            <a:off x="2335487" y="3987180"/>
            <a:ext cx="165600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Prochaine injection</a:t>
            </a:r>
            <a:endParaRPr lang="fr-FR" sz="1400" dirty="0"/>
          </a:p>
        </p:txBody>
      </p:sp>
      <p:sp>
        <p:nvSpPr>
          <p:cNvPr id="125" name="Rectangle 124"/>
          <p:cNvSpPr/>
          <p:nvPr/>
        </p:nvSpPr>
        <p:spPr>
          <a:xfrm>
            <a:off x="3915810" y="4017556"/>
            <a:ext cx="1692000" cy="286059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7" name="Rectangle 126"/>
          <p:cNvSpPr/>
          <p:nvPr/>
        </p:nvSpPr>
        <p:spPr>
          <a:xfrm>
            <a:off x="3874123" y="2336752"/>
            <a:ext cx="1692000" cy="286059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17" name="Rectangle 216"/>
          <p:cNvSpPr/>
          <p:nvPr/>
        </p:nvSpPr>
        <p:spPr>
          <a:xfrm>
            <a:off x="7177438" y="4156950"/>
            <a:ext cx="1332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Ajouter</a:t>
            </a:r>
          </a:p>
        </p:txBody>
      </p:sp>
      <p:sp>
        <p:nvSpPr>
          <p:cNvPr id="63" name="Titre 1"/>
          <p:cNvSpPr txBox="1">
            <a:spLocks/>
          </p:cNvSpPr>
          <p:nvPr/>
        </p:nvSpPr>
        <p:spPr>
          <a:xfrm>
            <a:off x="6178247" y="1767750"/>
            <a:ext cx="90000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Première</a:t>
            </a:r>
            <a:endParaRPr lang="fr-FR" sz="1400" dirty="0"/>
          </a:p>
        </p:txBody>
      </p:sp>
      <p:sp>
        <p:nvSpPr>
          <p:cNvPr id="64" name="Ellipse 63"/>
          <p:cNvSpPr/>
          <p:nvPr/>
        </p:nvSpPr>
        <p:spPr>
          <a:xfrm flipV="1">
            <a:off x="5944240" y="1844180"/>
            <a:ext cx="180000" cy="180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5" name="Titre 1"/>
          <p:cNvSpPr txBox="1">
            <a:spLocks/>
          </p:cNvSpPr>
          <p:nvPr/>
        </p:nvSpPr>
        <p:spPr>
          <a:xfrm>
            <a:off x="7616109" y="1774378"/>
            <a:ext cx="90000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Rappel</a:t>
            </a:r>
            <a:endParaRPr lang="fr-FR" sz="1400" dirty="0"/>
          </a:p>
        </p:txBody>
      </p:sp>
      <p:sp>
        <p:nvSpPr>
          <p:cNvPr id="66" name="Ellipse 65"/>
          <p:cNvSpPr/>
          <p:nvPr/>
        </p:nvSpPr>
        <p:spPr>
          <a:xfrm flipV="1">
            <a:off x="7382102" y="1850808"/>
            <a:ext cx="180000" cy="180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0" name="Rectangle 69"/>
          <p:cNvSpPr/>
          <p:nvPr/>
        </p:nvSpPr>
        <p:spPr>
          <a:xfrm>
            <a:off x="3903345" y="2859802"/>
            <a:ext cx="54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1" name="Triangle isocèle 70"/>
          <p:cNvSpPr/>
          <p:nvPr/>
        </p:nvSpPr>
        <p:spPr>
          <a:xfrm rot="10800000">
            <a:off x="4252137" y="2867647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2" name="Rectangle 71"/>
          <p:cNvSpPr/>
          <p:nvPr/>
        </p:nvSpPr>
        <p:spPr>
          <a:xfrm>
            <a:off x="4479815" y="2853178"/>
            <a:ext cx="54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3" name="Triangle isocèle 72"/>
          <p:cNvSpPr/>
          <p:nvPr/>
        </p:nvSpPr>
        <p:spPr>
          <a:xfrm rot="10800000">
            <a:off x="4828607" y="2861023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4" name="Rectangle 73"/>
          <p:cNvSpPr/>
          <p:nvPr/>
        </p:nvSpPr>
        <p:spPr>
          <a:xfrm>
            <a:off x="5062911" y="2853178"/>
            <a:ext cx="54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5" name="Triangle isocèle 74"/>
          <p:cNvSpPr/>
          <p:nvPr/>
        </p:nvSpPr>
        <p:spPr>
          <a:xfrm rot="10800000">
            <a:off x="5424955" y="2861023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6" name="Titre 1"/>
          <p:cNvSpPr txBox="1">
            <a:spLocks/>
          </p:cNvSpPr>
          <p:nvPr/>
        </p:nvSpPr>
        <p:spPr>
          <a:xfrm>
            <a:off x="174627" y="6089970"/>
            <a:ext cx="9090992" cy="58348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b="1" dirty="0" smtClean="0"/>
              <a:t>Vaccin :</a:t>
            </a:r>
            <a:r>
              <a:rPr lang="fr-FR" sz="1400" dirty="0" smtClean="0"/>
              <a:t> BCG – Diphtérie – DT-Coq – Grippe – Hépatite B – Méningo-Coq – Pneumo-Coq – Polio inactive – Tétanos. 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 un tableau dynamique s’affiche quand on ajoutent un vaccin pour le patient.</a:t>
            </a:r>
            <a:endParaRPr lang="fr-FR" sz="1400" dirty="0"/>
          </a:p>
        </p:txBody>
      </p:sp>
      <p:sp>
        <p:nvSpPr>
          <p:cNvPr id="79" name="Rectangle 78"/>
          <p:cNvSpPr/>
          <p:nvPr/>
        </p:nvSpPr>
        <p:spPr>
          <a:xfrm>
            <a:off x="9123261" y="1529324"/>
            <a:ext cx="2098768" cy="3095307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0" name="Titre 1"/>
          <p:cNvSpPr txBox="1">
            <a:spLocks/>
          </p:cNvSpPr>
          <p:nvPr/>
        </p:nvSpPr>
        <p:spPr>
          <a:xfrm>
            <a:off x="9578925" y="2238016"/>
            <a:ext cx="108000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Aujourd'hui</a:t>
            </a:r>
            <a:endParaRPr lang="fr-FR" sz="1400" dirty="0"/>
          </a:p>
        </p:txBody>
      </p:sp>
      <p:sp>
        <p:nvSpPr>
          <p:cNvPr id="131" name="Ellipse 130"/>
          <p:cNvSpPr/>
          <p:nvPr/>
        </p:nvSpPr>
        <p:spPr>
          <a:xfrm flipV="1">
            <a:off x="9344918" y="2314446"/>
            <a:ext cx="180000" cy="180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2" name="Titre 1"/>
          <p:cNvSpPr txBox="1">
            <a:spLocks/>
          </p:cNvSpPr>
          <p:nvPr/>
        </p:nvSpPr>
        <p:spPr>
          <a:xfrm>
            <a:off x="9600112" y="2708286"/>
            <a:ext cx="144000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Dans trois mois</a:t>
            </a:r>
            <a:endParaRPr lang="fr-FR" sz="1400" dirty="0"/>
          </a:p>
        </p:txBody>
      </p:sp>
      <p:sp>
        <p:nvSpPr>
          <p:cNvPr id="133" name="Ellipse 132"/>
          <p:cNvSpPr/>
          <p:nvPr/>
        </p:nvSpPr>
        <p:spPr>
          <a:xfrm flipV="1">
            <a:off x="9366105" y="2784716"/>
            <a:ext cx="180000" cy="180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0" name="Titre 1"/>
          <p:cNvSpPr txBox="1">
            <a:spLocks/>
          </p:cNvSpPr>
          <p:nvPr/>
        </p:nvSpPr>
        <p:spPr>
          <a:xfrm>
            <a:off x="9233805" y="1621220"/>
            <a:ext cx="972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 smtClean="0"/>
              <a:t>R.D.V</a:t>
            </a:r>
            <a:endParaRPr lang="fr-FR" sz="1600" b="1" u="sng" dirty="0"/>
          </a:p>
        </p:txBody>
      </p:sp>
      <p:sp>
        <p:nvSpPr>
          <p:cNvPr id="141" name="Titre 1"/>
          <p:cNvSpPr txBox="1">
            <a:spLocks/>
          </p:cNvSpPr>
          <p:nvPr/>
        </p:nvSpPr>
        <p:spPr>
          <a:xfrm>
            <a:off x="9597964" y="3156900"/>
            <a:ext cx="144000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Dans six mois</a:t>
            </a:r>
            <a:endParaRPr lang="fr-FR" sz="1400" dirty="0"/>
          </a:p>
        </p:txBody>
      </p:sp>
      <p:sp>
        <p:nvSpPr>
          <p:cNvPr id="142" name="Ellipse 141"/>
          <p:cNvSpPr/>
          <p:nvPr/>
        </p:nvSpPr>
        <p:spPr>
          <a:xfrm flipV="1">
            <a:off x="9363957" y="3233330"/>
            <a:ext cx="180000" cy="180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3" name="Titre 1"/>
          <p:cNvSpPr txBox="1">
            <a:spLocks/>
          </p:cNvSpPr>
          <p:nvPr/>
        </p:nvSpPr>
        <p:spPr>
          <a:xfrm>
            <a:off x="9597964" y="3620542"/>
            <a:ext cx="144000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Raté</a:t>
            </a:r>
            <a:endParaRPr lang="fr-FR" sz="1400" dirty="0"/>
          </a:p>
        </p:txBody>
      </p:sp>
      <p:sp>
        <p:nvSpPr>
          <p:cNvPr id="144" name="Ellipse 143"/>
          <p:cNvSpPr/>
          <p:nvPr/>
        </p:nvSpPr>
        <p:spPr>
          <a:xfrm flipV="1">
            <a:off x="9363957" y="3696972"/>
            <a:ext cx="180000" cy="180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5" name="Titre 1"/>
          <p:cNvSpPr txBox="1">
            <a:spLocks/>
          </p:cNvSpPr>
          <p:nvPr/>
        </p:nvSpPr>
        <p:spPr>
          <a:xfrm>
            <a:off x="2976975" y="4821982"/>
            <a:ext cx="9000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Type</a:t>
            </a:r>
            <a:endParaRPr lang="fr-FR" sz="1400" dirty="0"/>
          </a:p>
        </p:txBody>
      </p:sp>
      <p:sp>
        <p:nvSpPr>
          <p:cNvPr id="146" name="Rectangle 145"/>
          <p:cNvSpPr/>
          <p:nvPr/>
        </p:nvSpPr>
        <p:spPr>
          <a:xfrm>
            <a:off x="1921596" y="4757577"/>
            <a:ext cx="9300433" cy="1008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9" name="Titre 1"/>
          <p:cNvSpPr txBox="1">
            <a:spLocks/>
          </p:cNvSpPr>
          <p:nvPr/>
        </p:nvSpPr>
        <p:spPr>
          <a:xfrm>
            <a:off x="1936757" y="4814668"/>
            <a:ext cx="9000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Vaccin</a:t>
            </a:r>
            <a:endParaRPr lang="fr-FR" sz="1400" dirty="0"/>
          </a:p>
        </p:txBody>
      </p:sp>
      <p:cxnSp>
        <p:nvCxnSpPr>
          <p:cNvPr id="150" name="Connecteur droit 149"/>
          <p:cNvCxnSpPr/>
          <p:nvPr/>
        </p:nvCxnSpPr>
        <p:spPr>
          <a:xfrm>
            <a:off x="5200837" y="4751282"/>
            <a:ext cx="0" cy="1008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1" name="Titre 1"/>
          <p:cNvSpPr txBox="1">
            <a:spLocks/>
          </p:cNvSpPr>
          <p:nvPr/>
        </p:nvSpPr>
        <p:spPr>
          <a:xfrm>
            <a:off x="5260812" y="4840409"/>
            <a:ext cx="162000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 d’injection</a:t>
            </a:r>
            <a:endParaRPr lang="fr-FR" sz="1400" dirty="0"/>
          </a:p>
        </p:txBody>
      </p:sp>
      <p:cxnSp>
        <p:nvCxnSpPr>
          <p:cNvPr id="154" name="Connecteur droit 153"/>
          <p:cNvCxnSpPr/>
          <p:nvPr/>
        </p:nvCxnSpPr>
        <p:spPr>
          <a:xfrm>
            <a:off x="2895027" y="4781613"/>
            <a:ext cx="0" cy="1008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55" name="Connecteur droit 154"/>
          <p:cNvCxnSpPr>
            <a:stCxn id="146" idx="3"/>
          </p:cNvCxnSpPr>
          <p:nvPr/>
        </p:nvCxnSpPr>
        <p:spPr>
          <a:xfrm flipH="1" flipV="1">
            <a:off x="1959087" y="5261409"/>
            <a:ext cx="9262942" cy="168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56" name="Connecteur droit 155"/>
          <p:cNvCxnSpPr/>
          <p:nvPr/>
        </p:nvCxnSpPr>
        <p:spPr>
          <a:xfrm>
            <a:off x="9509832" y="4762110"/>
            <a:ext cx="0" cy="1008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7" name="Titre 1"/>
          <p:cNvSpPr txBox="1">
            <a:spLocks/>
          </p:cNvSpPr>
          <p:nvPr/>
        </p:nvSpPr>
        <p:spPr>
          <a:xfrm>
            <a:off x="8472614" y="4821296"/>
            <a:ext cx="9000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de lot</a:t>
            </a:r>
            <a:endParaRPr lang="fr-FR" sz="1400" dirty="0"/>
          </a:p>
        </p:txBody>
      </p:sp>
      <p:cxnSp>
        <p:nvCxnSpPr>
          <p:cNvPr id="158" name="Connecteur droit 157"/>
          <p:cNvCxnSpPr/>
          <p:nvPr/>
        </p:nvCxnSpPr>
        <p:spPr>
          <a:xfrm>
            <a:off x="3945402" y="4761737"/>
            <a:ext cx="0" cy="1008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9" name="Titre 1"/>
          <p:cNvSpPr txBox="1">
            <a:spLocks/>
          </p:cNvSpPr>
          <p:nvPr/>
        </p:nvSpPr>
        <p:spPr>
          <a:xfrm>
            <a:off x="4145730" y="4828610"/>
            <a:ext cx="9000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Médecin</a:t>
            </a:r>
            <a:endParaRPr lang="fr-FR" sz="1400" dirty="0"/>
          </a:p>
        </p:txBody>
      </p:sp>
      <p:cxnSp>
        <p:nvCxnSpPr>
          <p:cNvPr id="163" name="Connecteur droit 162"/>
          <p:cNvCxnSpPr/>
          <p:nvPr/>
        </p:nvCxnSpPr>
        <p:spPr>
          <a:xfrm>
            <a:off x="6927086" y="4751282"/>
            <a:ext cx="0" cy="1008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64" name="Titre 1"/>
          <p:cNvSpPr txBox="1">
            <a:spLocks/>
          </p:cNvSpPr>
          <p:nvPr/>
        </p:nvSpPr>
        <p:spPr>
          <a:xfrm>
            <a:off x="9520423" y="4828296"/>
            <a:ext cx="1706135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Prochaine injection</a:t>
            </a:r>
            <a:endParaRPr lang="fr-FR" sz="1400" dirty="0"/>
          </a:p>
        </p:txBody>
      </p:sp>
      <p:sp>
        <p:nvSpPr>
          <p:cNvPr id="165" name="Titre 1"/>
          <p:cNvSpPr txBox="1">
            <a:spLocks/>
          </p:cNvSpPr>
          <p:nvPr/>
        </p:nvSpPr>
        <p:spPr>
          <a:xfrm>
            <a:off x="7106802" y="4808611"/>
            <a:ext cx="9000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Produit</a:t>
            </a:r>
            <a:endParaRPr lang="fr-FR" sz="1400" dirty="0"/>
          </a:p>
        </p:txBody>
      </p:sp>
      <p:cxnSp>
        <p:nvCxnSpPr>
          <p:cNvPr id="166" name="Connecteur droit 165"/>
          <p:cNvCxnSpPr/>
          <p:nvPr/>
        </p:nvCxnSpPr>
        <p:spPr>
          <a:xfrm>
            <a:off x="8248446" y="4757533"/>
            <a:ext cx="0" cy="1008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84" name="Titre 1"/>
          <p:cNvSpPr txBox="1">
            <a:spLocks/>
          </p:cNvSpPr>
          <p:nvPr/>
        </p:nvSpPr>
        <p:spPr>
          <a:xfrm>
            <a:off x="2079002" y="5271775"/>
            <a:ext cx="670716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</a:t>
            </a:r>
            <a:endParaRPr lang="fr-FR" sz="1800" b="1" dirty="0"/>
          </a:p>
        </p:txBody>
      </p:sp>
      <p:sp>
        <p:nvSpPr>
          <p:cNvPr id="187" name="Titre 1"/>
          <p:cNvSpPr txBox="1">
            <a:spLocks/>
          </p:cNvSpPr>
          <p:nvPr/>
        </p:nvSpPr>
        <p:spPr>
          <a:xfrm>
            <a:off x="8282858" y="5257667"/>
            <a:ext cx="119974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……………….</a:t>
            </a:r>
            <a:endParaRPr lang="fr-FR" sz="1800" b="1" dirty="0"/>
          </a:p>
        </p:txBody>
      </p:sp>
      <p:sp>
        <p:nvSpPr>
          <p:cNvPr id="190" name="Titre 1"/>
          <p:cNvSpPr txBox="1">
            <a:spLocks/>
          </p:cNvSpPr>
          <p:nvPr/>
        </p:nvSpPr>
        <p:spPr>
          <a:xfrm>
            <a:off x="3995860" y="5265148"/>
            <a:ext cx="119974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……………….</a:t>
            </a:r>
            <a:endParaRPr lang="fr-FR" sz="1800" b="1" dirty="0"/>
          </a:p>
        </p:txBody>
      </p:sp>
      <p:sp>
        <p:nvSpPr>
          <p:cNvPr id="193" name="Titre 1"/>
          <p:cNvSpPr txBox="1">
            <a:spLocks/>
          </p:cNvSpPr>
          <p:nvPr/>
        </p:nvSpPr>
        <p:spPr>
          <a:xfrm>
            <a:off x="5461205" y="5278403"/>
            <a:ext cx="119974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……………….</a:t>
            </a:r>
            <a:endParaRPr lang="fr-FR" sz="1800" b="1" dirty="0"/>
          </a:p>
        </p:txBody>
      </p:sp>
      <p:sp>
        <p:nvSpPr>
          <p:cNvPr id="196" name="Titre 1"/>
          <p:cNvSpPr txBox="1">
            <a:spLocks/>
          </p:cNvSpPr>
          <p:nvPr/>
        </p:nvSpPr>
        <p:spPr>
          <a:xfrm>
            <a:off x="6979902" y="5265148"/>
            <a:ext cx="119974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……………….</a:t>
            </a:r>
            <a:endParaRPr lang="fr-FR" sz="1800" b="1" dirty="0"/>
          </a:p>
        </p:txBody>
      </p:sp>
      <p:sp>
        <p:nvSpPr>
          <p:cNvPr id="199" name="Titre 1"/>
          <p:cNvSpPr txBox="1">
            <a:spLocks/>
          </p:cNvSpPr>
          <p:nvPr/>
        </p:nvSpPr>
        <p:spPr>
          <a:xfrm>
            <a:off x="3081403" y="5269627"/>
            <a:ext cx="670716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</a:t>
            </a:r>
            <a:endParaRPr lang="fr-FR" sz="1800" b="1" dirty="0"/>
          </a:p>
        </p:txBody>
      </p:sp>
      <p:sp>
        <p:nvSpPr>
          <p:cNvPr id="200" name="Titre 1"/>
          <p:cNvSpPr txBox="1">
            <a:spLocks/>
          </p:cNvSpPr>
          <p:nvPr/>
        </p:nvSpPr>
        <p:spPr>
          <a:xfrm>
            <a:off x="9748903" y="5255519"/>
            <a:ext cx="119974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……………….</a:t>
            </a:r>
            <a:endParaRPr lang="fr-FR" sz="1800" b="1" dirty="0"/>
          </a:p>
        </p:txBody>
      </p:sp>
      <p:sp>
        <p:nvSpPr>
          <p:cNvPr id="201" name="Titre 1"/>
          <p:cNvSpPr txBox="1">
            <a:spLocks/>
          </p:cNvSpPr>
          <p:nvPr/>
        </p:nvSpPr>
        <p:spPr>
          <a:xfrm>
            <a:off x="2372057" y="3351877"/>
            <a:ext cx="144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Nom commercial</a:t>
            </a:r>
            <a:endParaRPr lang="fr-FR" sz="1400" dirty="0"/>
          </a:p>
        </p:txBody>
      </p:sp>
      <p:sp>
        <p:nvSpPr>
          <p:cNvPr id="202" name="Rectangle 201"/>
          <p:cNvSpPr/>
          <p:nvPr/>
        </p:nvSpPr>
        <p:spPr>
          <a:xfrm>
            <a:off x="3891937" y="3399246"/>
            <a:ext cx="16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03" name="Rectangle 202"/>
          <p:cNvSpPr/>
          <p:nvPr/>
        </p:nvSpPr>
        <p:spPr>
          <a:xfrm>
            <a:off x="6725036" y="3392880"/>
            <a:ext cx="1692000" cy="286059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04" name="Titre 1"/>
          <p:cNvSpPr txBox="1">
            <a:spLocks/>
          </p:cNvSpPr>
          <p:nvPr/>
        </p:nvSpPr>
        <p:spPr>
          <a:xfrm>
            <a:off x="5762424" y="3379992"/>
            <a:ext cx="996943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de lot</a:t>
            </a:r>
            <a:endParaRPr lang="fr-FR" sz="1400" dirty="0"/>
          </a:p>
        </p:txBody>
      </p:sp>
    </p:spTree>
    <p:extLst>
      <p:ext uri="{BB962C8B-B14F-4D97-AF65-F5344CB8AC3E}">
        <p14:creationId xmlns:p14="http://schemas.microsoft.com/office/powerpoint/2010/main" val="15193662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 txBox="1">
            <a:spLocks/>
          </p:cNvSpPr>
          <p:nvPr/>
        </p:nvSpPr>
        <p:spPr>
          <a:xfrm>
            <a:off x="3573326" y="103211"/>
            <a:ext cx="4620714" cy="40380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13 –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Patient 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– Archive hors application</a:t>
            </a:r>
            <a:endParaRPr lang="fr-FR" altLang="fr-FR" sz="1800" b="1" dirty="0">
              <a:solidFill>
                <a:srgbClr val="000000"/>
              </a:solidFill>
              <a:latin typeface="Times New Roman" panose="02020603050405020304" pitchFamily="18" charset="0"/>
              <a:ea typeface="Microsoft YaHei" panose="020B0503020204020204" pitchFamily="3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191992" y="612638"/>
            <a:ext cx="11758269" cy="528588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6" name="Rectangle 35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37" name="Rectangle 36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90" name="ZoneTexte 89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91" name="Rectangle 90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1920696" y="1953941"/>
            <a:ext cx="6852243" cy="2293341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7" name="Titre 1"/>
          <p:cNvSpPr txBox="1">
            <a:spLocks/>
          </p:cNvSpPr>
          <p:nvPr/>
        </p:nvSpPr>
        <p:spPr>
          <a:xfrm>
            <a:off x="1964661" y="1029302"/>
            <a:ext cx="1026946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dossier</a:t>
            </a:r>
            <a:endParaRPr lang="fr-FR" sz="1400" dirty="0"/>
          </a:p>
        </p:txBody>
      </p:sp>
      <p:sp>
        <p:nvSpPr>
          <p:cNvPr id="78" name="Titre 1"/>
          <p:cNvSpPr txBox="1">
            <a:spLocks/>
          </p:cNvSpPr>
          <p:nvPr/>
        </p:nvSpPr>
        <p:spPr>
          <a:xfrm>
            <a:off x="4355023" y="1016197"/>
            <a:ext cx="9591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Patient </a:t>
            </a:r>
            <a:endParaRPr lang="fr-FR" sz="1400" dirty="0"/>
          </a:p>
        </p:txBody>
      </p:sp>
      <p:sp>
        <p:nvSpPr>
          <p:cNvPr id="80" name="Titre 1"/>
          <p:cNvSpPr txBox="1">
            <a:spLocks/>
          </p:cNvSpPr>
          <p:nvPr/>
        </p:nvSpPr>
        <p:spPr>
          <a:xfrm>
            <a:off x="3345444" y="1073576"/>
            <a:ext cx="670716" cy="28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02095</a:t>
            </a:r>
            <a:endParaRPr lang="fr-FR" sz="1400" dirty="0"/>
          </a:p>
        </p:txBody>
      </p:sp>
      <p:sp>
        <p:nvSpPr>
          <p:cNvPr id="81" name="Titre 1"/>
          <p:cNvSpPr txBox="1">
            <a:spLocks/>
          </p:cNvSpPr>
          <p:nvPr/>
        </p:nvSpPr>
        <p:spPr>
          <a:xfrm>
            <a:off x="7182390" y="1035709"/>
            <a:ext cx="560942" cy="3850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Age </a:t>
            </a:r>
            <a:endParaRPr lang="fr-FR" sz="1400" dirty="0"/>
          </a:p>
        </p:txBody>
      </p:sp>
      <p:sp>
        <p:nvSpPr>
          <p:cNvPr id="82" name="Rectangle 81"/>
          <p:cNvSpPr/>
          <p:nvPr/>
        </p:nvSpPr>
        <p:spPr>
          <a:xfrm>
            <a:off x="5450982" y="1108511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Amara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83" name="Rectangle 82"/>
          <p:cNvSpPr/>
          <p:nvPr/>
        </p:nvSpPr>
        <p:spPr>
          <a:xfrm>
            <a:off x="6145778" y="1114551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amine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84" name="Rectangle 83"/>
          <p:cNvSpPr/>
          <p:nvPr/>
        </p:nvSpPr>
        <p:spPr>
          <a:xfrm>
            <a:off x="7779361" y="1095276"/>
            <a:ext cx="684000" cy="28904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43 ans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85" name="Rectangle 84"/>
          <p:cNvSpPr/>
          <p:nvPr/>
        </p:nvSpPr>
        <p:spPr>
          <a:xfrm>
            <a:off x="3152059" y="1074328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7" name="Rectangle 86"/>
          <p:cNvSpPr/>
          <p:nvPr/>
        </p:nvSpPr>
        <p:spPr>
          <a:xfrm>
            <a:off x="5345295" y="1054452"/>
            <a:ext cx="1641189" cy="35303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8" name="Rectangle 87"/>
          <p:cNvSpPr/>
          <p:nvPr/>
        </p:nvSpPr>
        <p:spPr>
          <a:xfrm>
            <a:off x="7717438" y="1080956"/>
            <a:ext cx="7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2" name="Rectangle 91"/>
          <p:cNvSpPr/>
          <p:nvPr/>
        </p:nvSpPr>
        <p:spPr>
          <a:xfrm>
            <a:off x="1914072" y="959960"/>
            <a:ext cx="6858867" cy="53385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3" name="Titre 1"/>
          <p:cNvSpPr txBox="1">
            <a:spLocks/>
          </p:cNvSpPr>
          <p:nvPr/>
        </p:nvSpPr>
        <p:spPr>
          <a:xfrm>
            <a:off x="1849487" y="611727"/>
            <a:ext cx="972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 smtClean="0"/>
              <a:t>Affichage</a:t>
            </a:r>
            <a:endParaRPr lang="fr-FR" sz="1600" b="1" u="sng" dirty="0"/>
          </a:p>
        </p:txBody>
      </p:sp>
      <p:sp>
        <p:nvSpPr>
          <p:cNvPr id="94" name="Titre 1"/>
          <p:cNvSpPr txBox="1">
            <a:spLocks/>
          </p:cNvSpPr>
          <p:nvPr/>
        </p:nvSpPr>
        <p:spPr>
          <a:xfrm>
            <a:off x="1686923" y="1444407"/>
            <a:ext cx="2340000" cy="50148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 smtClean="0"/>
              <a:t>Archive hors application </a:t>
            </a:r>
            <a:endParaRPr lang="fr-FR" sz="1600" b="1" u="sng" dirty="0"/>
          </a:p>
        </p:txBody>
      </p:sp>
      <p:sp>
        <p:nvSpPr>
          <p:cNvPr id="102" name="Titre 1"/>
          <p:cNvSpPr txBox="1">
            <a:spLocks/>
          </p:cNvSpPr>
          <p:nvPr/>
        </p:nvSpPr>
        <p:spPr>
          <a:xfrm>
            <a:off x="2358470" y="2805616"/>
            <a:ext cx="144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Commentaire</a:t>
            </a:r>
            <a:endParaRPr lang="fr-FR" sz="1400" dirty="0"/>
          </a:p>
        </p:txBody>
      </p:sp>
      <p:sp>
        <p:nvSpPr>
          <p:cNvPr id="111" name="Titre 1"/>
          <p:cNvSpPr txBox="1">
            <a:spLocks/>
          </p:cNvSpPr>
          <p:nvPr/>
        </p:nvSpPr>
        <p:spPr>
          <a:xfrm>
            <a:off x="2749718" y="2297634"/>
            <a:ext cx="1037797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Document</a:t>
            </a:r>
            <a:endParaRPr lang="fr-FR" sz="1400" dirty="0"/>
          </a:p>
        </p:txBody>
      </p:sp>
      <p:sp>
        <p:nvSpPr>
          <p:cNvPr id="70" name="Rectangle 69"/>
          <p:cNvSpPr/>
          <p:nvPr/>
        </p:nvSpPr>
        <p:spPr>
          <a:xfrm>
            <a:off x="3903344" y="2859802"/>
            <a:ext cx="4606093" cy="72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6" name="Titre 1"/>
          <p:cNvSpPr txBox="1">
            <a:spLocks/>
          </p:cNvSpPr>
          <p:nvPr/>
        </p:nvSpPr>
        <p:spPr>
          <a:xfrm>
            <a:off x="174627" y="6089970"/>
            <a:ext cx="9090992" cy="58348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un tableau dynamique s’affiche quand on jointer un fichier.</a:t>
            </a:r>
            <a:endParaRPr lang="fr-FR" sz="1400" dirty="0"/>
          </a:p>
        </p:txBody>
      </p:sp>
      <p:sp>
        <p:nvSpPr>
          <p:cNvPr id="145" name="Titre 1"/>
          <p:cNvSpPr txBox="1">
            <a:spLocks/>
          </p:cNvSpPr>
          <p:nvPr/>
        </p:nvSpPr>
        <p:spPr>
          <a:xfrm>
            <a:off x="4016160" y="4808714"/>
            <a:ext cx="14400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 de joint</a:t>
            </a:r>
            <a:endParaRPr lang="fr-FR" sz="1400" dirty="0"/>
          </a:p>
        </p:txBody>
      </p:sp>
      <p:sp>
        <p:nvSpPr>
          <p:cNvPr id="146" name="Rectangle 145"/>
          <p:cNvSpPr/>
          <p:nvPr/>
        </p:nvSpPr>
        <p:spPr>
          <a:xfrm>
            <a:off x="1921596" y="4757577"/>
            <a:ext cx="6840000" cy="1008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9" name="Titre 1"/>
          <p:cNvSpPr txBox="1">
            <a:spLocks/>
          </p:cNvSpPr>
          <p:nvPr/>
        </p:nvSpPr>
        <p:spPr>
          <a:xfrm>
            <a:off x="2039000" y="4802254"/>
            <a:ext cx="14400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Nom de fichier</a:t>
            </a:r>
            <a:endParaRPr lang="fr-FR" sz="1400" dirty="0"/>
          </a:p>
        </p:txBody>
      </p:sp>
      <p:cxnSp>
        <p:nvCxnSpPr>
          <p:cNvPr id="155" name="Connecteur droit 154"/>
          <p:cNvCxnSpPr>
            <a:stCxn id="146" idx="3"/>
          </p:cNvCxnSpPr>
          <p:nvPr/>
        </p:nvCxnSpPr>
        <p:spPr>
          <a:xfrm flipH="1" flipV="1">
            <a:off x="1959086" y="5261409"/>
            <a:ext cx="6840000" cy="168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58" name="Connecteur droit 157"/>
          <p:cNvCxnSpPr/>
          <p:nvPr/>
        </p:nvCxnSpPr>
        <p:spPr>
          <a:xfrm>
            <a:off x="3945402" y="4761737"/>
            <a:ext cx="0" cy="1008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9" name="Titre 1"/>
          <p:cNvSpPr txBox="1">
            <a:spLocks/>
          </p:cNvSpPr>
          <p:nvPr/>
        </p:nvSpPr>
        <p:spPr>
          <a:xfrm>
            <a:off x="6391063" y="4802253"/>
            <a:ext cx="14400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Commentaire</a:t>
            </a:r>
            <a:endParaRPr lang="fr-FR" sz="1400" dirty="0"/>
          </a:p>
        </p:txBody>
      </p:sp>
      <p:cxnSp>
        <p:nvCxnSpPr>
          <p:cNvPr id="163" name="Connecteur droit 162"/>
          <p:cNvCxnSpPr/>
          <p:nvPr/>
        </p:nvCxnSpPr>
        <p:spPr>
          <a:xfrm>
            <a:off x="5618940" y="4753667"/>
            <a:ext cx="0" cy="1008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87" name="Titre 1"/>
          <p:cNvSpPr txBox="1">
            <a:spLocks/>
          </p:cNvSpPr>
          <p:nvPr/>
        </p:nvSpPr>
        <p:spPr>
          <a:xfrm>
            <a:off x="6197195" y="5206211"/>
            <a:ext cx="2266166" cy="56762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…………………………...............................................</a:t>
            </a:r>
            <a:endParaRPr lang="fr-FR" sz="1800" b="1" dirty="0"/>
          </a:p>
        </p:txBody>
      </p:sp>
      <p:sp>
        <p:nvSpPr>
          <p:cNvPr id="193" name="Titre 1"/>
          <p:cNvSpPr txBox="1">
            <a:spLocks/>
          </p:cNvSpPr>
          <p:nvPr/>
        </p:nvSpPr>
        <p:spPr>
          <a:xfrm>
            <a:off x="4074192" y="5265751"/>
            <a:ext cx="133200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…………………</a:t>
            </a:r>
            <a:endParaRPr lang="fr-FR" sz="1800" b="1" dirty="0"/>
          </a:p>
        </p:txBody>
      </p:sp>
      <p:sp>
        <p:nvSpPr>
          <p:cNvPr id="200" name="Titre 1"/>
          <p:cNvSpPr txBox="1">
            <a:spLocks/>
          </p:cNvSpPr>
          <p:nvPr/>
        </p:nvSpPr>
        <p:spPr>
          <a:xfrm>
            <a:off x="2070780" y="5244428"/>
            <a:ext cx="1502546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…………………..</a:t>
            </a:r>
            <a:endParaRPr lang="fr-FR" sz="1800" b="1" dirty="0"/>
          </a:p>
        </p:txBody>
      </p:sp>
      <p:sp>
        <p:nvSpPr>
          <p:cNvPr id="86" name="Rectangle 85"/>
          <p:cNvSpPr/>
          <p:nvPr/>
        </p:nvSpPr>
        <p:spPr>
          <a:xfrm>
            <a:off x="3903344" y="2289778"/>
            <a:ext cx="1704465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Choisissez un fichier</a:t>
            </a:r>
          </a:p>
        </p:txBody>
      </p:sp>
      <p:sp>
        <p:nvSpPr>
          <p:cNvPr id="89" name="Rectangle 88"/>
          <p:cNvSpPr/>
          <p:nvPr/>
        </p:nvSpPr>
        <p:spPr>
          <a:xfrm>
            <a:off x="7429437" y="3755161"/>
            <a:ext cx="1080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Joindre</a:t>
            </a:r>
          </a:p>
        </p:txBody>
      </p:sp>
    </p:spTree>
    <p:extLst>
      <p:ext uri="{BB962C8B-B14F-4D97-AF65-F5344CB8AC3E}">
        <p14:creationId xmlns:p14="http://schemas.microsoft.com/office/powerpoint/2010/main" val="17262953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 txBox="1">
            <a:spLocks/>
          </p:cNvSpPr>
          <p:nvPr/>
        </p:nvSpPr>
        <p:spPr>
          <a:xfrm>
            <a:off x="3479000" y="103211"/>
            <a:ext cx="4715040" cy="59569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14 –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Patient 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– Gestion des mouvements/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Liste des mouvements</a:t>
            </a:r>
            <a:endParaRPr lang="fr-FR" altLang="fr-FR" sz="1800" b="1" dirty="0">
              <a:solidFill>
                <a:srgbClr val="000000"/>
              </a:solidFill>
              <a:latin typeface="Times New Roman" panose="02020603050405020304" pitchFamily="18" charset="0"/>
              <a:ea typeface="Microsoft YaHei" panose="020B0503020204020204" pitchFamily="3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191992" y="658368"/>
            <a:ext cx="11758269" cy="52401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6" name="Rectangle 35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37" name="Rectangle 36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90" name="ZoneTexte 89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91" name="Rectangle 90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77" name="Titre 1"/>
          <p:cNvSpPr txBox="1">
            <a:spLocks/>
          </p:cNvSpPr>
          <p:nvPr/>
        </p:nvSpPr>
        <p:spPr>
          <a:xfrm>
            <a:off x="1964661" y="1029302"/>
            <a:ext cx="1026946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dossier</a:t>
            </a:r>
            <a:endParaRPr lang="fr-FR" sz="1400" dirty="0"/>
          </a:p>
        </p:txBody>
      </p:sp>
      <p:sp>
        <p:nvSpPr>
          <p:cNvPr id="78" name="Titre 1"/>
          <p:cNvSpPr txBox="1">
            <a:spLocks/>
          </p:cNvSpPr>
          <p:nvPr/>
        </p:nvSpPr>
        <p:spPr>
          <a:xfrm>
            <a:off x="4355023" y="1016197"/>
            <a:ext cx="9591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Patient </a:t>
            </a:r>
            <a:endParaRPr lang="fr-FR" sz="1400" dirty="0"/>
          </a:p>
        </p:txBody>
      </p:sp>
      <p:sp>
        <p:nvSpPr>
          <p:cNvPr id="80" name="Titre 1"/>
          <p:cNvSpPr txBox="1">
            <a:spLocks/>
          </p:cNvSpPr>
          <p:nvPr/>
        </p:nvSpPr>
        <p:spPr>
          <a:xfrm>
            <a:off x="3345444" y="1073576"/>
            <a:ext cx="670716" cy="28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02095</a:t>
            </a:r>
            <a:endParaRPr lang="fr-FR" sz="1400" dirty="0"/>
          </a:p>
        </p:txBody>
      </p:sp>
      <p:sp>
        <p:nvSpPr>
          <p:cNvPr id="81" name="Titre 1"/>
          <p:cNvSpPr txBox="1">
            <a:spLocks/>
          </p:cNvSpPr>
          <p:nvPr/>
        </p:nvSpPr>
        <p:spPr>
          <a:xfrm>
            <a:off x="7182390" y="1035709"/>
            <a:ext cx="560942" cy="3850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Age </a:t>
            </a:r>
            <a:endParaRPr lang="fr-FR" sz="1400" dirty="0"/>
          </a:p>
        </p:txBody>
      </p:sp>
      <p:sp>
        <p:nvSpPr>
          <p:cNvPr id="82" name="Rectangle 81"/>
          <p:cNvSpPr/>
          <p:nvPr/>
        </p:nvSpPr>
        <p:spPr>
          <a:xfrm>
            <a:off x="5450982" y="1108511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Amara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83" name="Rectangle 82"/>
          <p:cNvSpPr/>
          <p:nvPr/>
        </p:nvSpPr>
        <p:spPr>
          <a:xfrm>
            <a:off x="6145778" y="1114551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amine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84" name="Rectangle 83"/>
          <p:cNvSpPr/>
          <p:nvPr/>
        </p:nvSpPr>
        <p:spPr>
          <a:xfrm>
            <a:off x="7779361" y="1095276"/>
            <a:ext cx="684000" cy="28904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43 ans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85" name="Rectangle 84"/>
          <p:cNvSpPr/>
          <p:nvPr/>
        </p:nvSpPr>
        <p:spPr>
          <a:xfrm>
            <a:off x="3152059" y="1074328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7" name="Rectangle 86"/>
          <p:cNvSpPr/>
          <p:nvPr/>
        </p:nvSpPr>
        <p:spPr>
          <a:xfrm>
            <a:off x="5345295" y="1054452"/>
            <a:ext cx="1641189" cy="35303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8" name="Rectangle 87"/>
          <p:cNvSpPr/>
          <p:nvPr/>
        </p:nvSpPr>
        <p:spPr>
          <a:xfrm>
            <a:off x="7717438" y="1080956"/>
            <a:ext cx="7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2" name="Rectangle 91"/>
          <p:cNvSpPr/>
          <p:nvPr/>
        </p:nvSpPr>
        <p:spPr>
          <a:xfrm>
            <a:off x="1914072" y="959960"/>
            <a:ext cx="6858867" cy="53385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3" name="Titre 1"/>
          <p:cNvSpPr txBox="1">
            <a:spLocks/>
          </p:cNvSpPr>
          <p:nvPr/>
        </p:nvSpPr>
        <p:spPr>
          <a:xfrm>
            <a:off x="1849487" y="611727"/>
            <a:ext cx="972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 smtClean="0"/>
              <a:t>Affichage</a:t>
            </a:r>
            <a:endParaRPr lang="fr-FR" sz="1600" b="1" u="sng" dirty="0"/>
          </a:p>
        </p:txBody>
      </p:sp>
      <p:sp>
        <p:nvSpPr>
          <p:cNvPr id="159" name="Titre 1"/>
          <p:cNvSpPr txBox="1">
            <a:spLocks/>
          </p:cNvSpPr>
          <p:nvPr/>
        </p:nvSpPr>
        <p:spPr>
          <a:xfrm>
            <a:off x="9960807" y="2034707"/>
            <a:ext cx="18000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Commentaire</a:t>
            </a:r>
            <a:endParaRPr lang="fr-FR" sz="1400" dirty="0"/>
          </a:p>
        </p:txBody>
      </p:sp>
      <p:cxnSp>
        <p:nvCxnSpPr>
          <p:cNvPr id="163" name="Connecteur droit 162"/>
          <p:cNvCxnSpPr/>
          <p:nvPr/>
        </p:nvCxnSpPr>
        <p:spPr>
          <a:xfrm>
            <a:off x="10030111" y="1975595"/>
            <a:ext cx="0" cy="3024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87" name="Titre 1"/>
          <p:cNvSpPr txBox="1">
            <a:spLocks/>
          </p:cNvSpPr>
          <p:nvPr/>
        </p:nvSpPr>
        <p:spPr>
          <a:xfrm>
            <a:off x="9944020" y="2280619"/>
            <a:ext cx="1800000" cy="74591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…………..……………</a:t>
            </a:r>
          </a:p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...........................</a:t>
            </a:r>
            <a:endParaRPr lang="fr-FR" sz="1800" b="1" dirty="0"/>
          </a:p>
        </p:txBody>
      </p:sp>
      <p:sp>
        <p:nvSpPr>
          <p:cNvPr id="38" name="Titre 1"/>
          <p:cNvSpPr txBox="1">
            <a:spLocks/>
          </p:cNvSpPr>
          <p:nvPr/>
        </p:nvSpPr>
        <p:spPr>
          <a:xfrm>
            <a:off x="1832196" y="2029528"/>
            <a:ext cx="10800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39" name="Rectangle 38"/>
          <p:cNvSpPr/>
          <p:nvPr/>
        </p:nvSpPr>
        <p:spPr>
          <a:xfrm>
            <a:off x="519014" y="1975794"/>
            <a:ext cx="11160000" cy="3024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0" name="Titre 1"/>
          <p:cNvSpPr txBox="1">
            <a:spLocks/>
          </p:cNvSpPr>
          <p:nvPr/>
        </p:nvSpPr>
        <p:spPr>
          <a:xfrm>
            <a:off x="249621" y="2032830"/>
            <a:ext cx="18000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Évènement</a:t>
            </a:r>
            <a:endParaRPr lang="fr-FR" sz="1400" dirty="0"/>
          </a:p>
        </p:txBody>
      </p:sp>
      <p:cxnSp>
        <p:nvCxnSpPr>
          <p:cNvPr id="41" name="Connecteur droit 40"/>
          <p:cNvCxnSpPr/>
          <p:nvPr/>
        </p:nvCxnSpPr>
        <p:spPr>
          <a:xfrm>
            <a:off x="4425244" y="1966807"/>
            <a:ext cx="0" cy="3024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2" name="Titre 1"/>
          <p:cNvSpPr txBox="1">
            <a:spLocks/>
          </p:cNvSpPr>
          <p:nvPr/>
        </p:nvSpPr>
        <p:spPr>
          <a:xfrm>
            <a:off x="4217625" y="2058571"/>
            <a:ext cx="180000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Établissement</a:t>
            </a:r>
            <a:endParaRPr lang="fr-FR" sz="1400" dirty="0"/>
          </a:p>
        </p:txBody>
      </p:sp>
      <p:cxnSp>
        <p:nvCxnSpPr>
          <p:cNvPr id="43" name="Connecteur droit 42"/>
          <p:cNvCxnSpPr/>
          <p:nvPr/>
        </p:nvCxnSpPr>
        <p:spPr>
          <a:xfrm>
            <a:off x="1769494" y="1969444"/>
            <a:ext cx="0" cy="3024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4" name="Connecteur droit 43"/>
          <p:cNvCxnSpPr/>
          <p:nvPr/>
        </p:nvCxnSpPr>
        <p:spPr>
          <a:xfrm flipH="1" flipV="1">
            <a:off x="517867" y="2466747"/>
            <a:ext cx="11160000" cy="168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5" name="Connecteur droit 44"/>
          <p:cNvCxnSpPr/>
          <p:nvPr/>
        </p:nvCxnSpPr>
        <p:spPr>
          <a:xfrm>
            <a:off x="8808747" y="1952204"/>
            <a:ext cx="0" cy="3024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6" name="Titre 1"/>
          <p:cNvSpPr txBox="1">
            <a:spLocks/>
          </p:cNvSpPr>
          <p:nvPr/>
        </p:nvSpPr>
        <p:spPr>
          <a:xfrm>
            <a:off x="7133210" y="2039458"/>
            <a:ext cx="18000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Heure de sortie</a:t>
            </a:r>
            <a:endParaRPr lang="fr-FR" sz="1400" dirty="0"/>
          </a:p>
        </p:txBody>
      </p:sp>
      <p:cxnSp>
        <p:nvCxnSpPr>
          <p:cNvPr id="47" name="Connecteur droit 46"/>
          <p:cNvCxnSpPr/>
          <p:nvPr/>
        </p:nvCxnSpPr>
        <p:spPr>
          <a:xfrm>
            <a:off x="2980502" y="1979686"/>
            <a:ext cx="0" cy="3024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8" name="Titre 1"/>
          <p:cNvSpPr txBox="1">
            <a:spLocks/>
          </p:cNvSpPr>
          <p:nvPr/>
        </p:nvSpPr>
        <p:spPr>
          <a:xfrm>
            <a:off x="2806326" y="2046772"/>
            <a:ext cx="18000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Service accueil</a:t>
            </a:r>
            <a:endParaRPr lang="fr-FR" sz="1400" dirty="0"/>
          </a:p>
        </p:txBody>
      </p:sp>
      <p:cxnSp>
        <p:nvCxnSpPr>
          <p:cNvPr id="49" name="Connecteur droit 48"/>
          <p:cNvCxnSpPr/>
          <p:nvPr/>
        </p:nvCxnSpPr>
        <p:spPr>
          <a:xfrm>
            <a:off x="5819505" y="1969444"/>
            <a:ext cx="0" cy="3024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0" name="Titre 1"/>
          <p:cNvSpPr txBox="1">
            <a:spLocks/>
          </p:cNvSpPr>
          <p:nvPr/>
        </p:nvSpPr>
        <p:spPr>
          <a:xfrm>
            <a:off x="8876815" y="2021487"/>
            <a:ext cx="10800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Médecin</a:t>
            </a:r>
            <a:endParaRPr lang="fr-FR" sz="1400" dirty="0"/>
          </a:p>
        </p:txBody>
      </p:sp>
      <p:sp>
        <p:nvSpPr>
          <p:cNvPr id="51" name="Titre 1"/>
          <p:cNvSpPr txBox="1">
            <a:spLocks/>
          </p:cNvSpPr>
          <p:nvPr/>
        </p:nvSpPr>
        <p:spPr>
          <a:xfrm>
            <a:off x="5649796" y="2026269"/>
            <a:ext cx="18000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 de sortie</a:t>
            </a:r>
            <a:endParaRPr lang="fr-FR" sz="1400" dirty="0"/>
          </a:p>
        </p:txBody>
      </p:sp>
      <p:cxnSp>
        <p:nvCxnSpPr>
          <p:cNvPr id="52" name="Connecteur droit 51"/>
          <p:cNvCxnSpPr/>
          <p:nvPr/>
        </p:nvCxnSpPr>
        <p:spPr>
          <a:xfrm>
            <a:off x="7269822" y="1973058"/>
            <a:ext cx="0" cy="3024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3" name="Titre 1"/>
          <p:cNvSpPr txBox="1">
            <a:spLocks/>
          </p:cNvSpPr>
          <p:nvPr/>
        </p:nvSpPr>
        <p:spPr>
          <a:xfrm>
            <a:off x="546417" y="2489937"/>
            <a:ext cx="126000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……………..</a:t>
            </a:r>
            <a:endParaRPr lang="fr-FR" sz="1800" b="1" dirty="0"/>
          </a:p>
        </p:txBody>
      </p:sp>
      <p:sp>
        <p:nvSpPr>
          <p:cNvPr id="54" name="Titre 1"/>
          <p:cNvSpPr txBox="1">
            <a:spLocks/>
          </p:cNvSpPr>
          <p:nvPr/>
        </p:nvSpPr>
        <p:spPr>
          <a:xfrm>
            <a:off x="7471577" y="2502361"/>
            <a:ext cx="126000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……………….</a:t>
            </a:r>
            <a:endParaRPr lang="fr-FR" sz="1800" b="1" dirty="0"/>
          </a:p>
        </p:txBody>
      </p:sp>
      <p:sp>
        <p:nvSpPr>
          <p:cNvPr id="55" name="Titre 1"/>
          <p:cNvSpPr txBox="1">
            <a:spLocks/>
          </p:cNvSpPr>
          <p:nvPr/>
        </p:nvSpPr>
        <p:spPr>
          <a:xfrm>
            <a:off x="3133196" y="2483096"/>
            <a:ext cx="126000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……………….</a:t>
            </a:r>
            <a:endParaRPr lang="fr-FR" sz="1800" b="1" dirty="0"/>
          </a:p>
        </p:txBody>
      </p:sp>
      <p:sp>
        <p:nvSpPr>
          <p:cNvPr id="56" name="Titre 1"/>
          <p:cNvSpPr txBox="1">
            <a:spLocks/>
          </p:cNvSpPr>
          <p:nvPr/>
        </p:nvSpPr>
        <p:spPr>
          <a:xfrm>
            <a:off x="4519871" y="2496564"/>
            <a:ext cx="126000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……………….</a:t>
            </a:r>
            <a:endParaRPr lang="fr-FR" sz="1800" b="1" dirty="0"/>
          </a:p>
        </p:txBody>
      </p:sp>
      <p:sp>
        <p:nvSpPr>
          <p:cNvPr id="57" name="Titre 1"/>
          <p:cNvSpPr txBox="1">
            <a:spLocks/>
          </p:cNvSpPr>
          <p:nvPr/>
        </p:nvSpPr>
        <p:spPr>
          <a:xfrm>
            <a:off x="5910655" y="2496564"/>
            <a:ext cx="126000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……………….</a:t>
            </a:r>
            <a:endParaRPr lang="fr-FR" sz="1800" b="1" dirty="0"/>
          </a:p>
        </p:txBody>
      </p:sp>
      <p:sp>
        <p:nvSpPr>
          <p:cNvPr id="58" name="Titre 1"/>
          <p:cNvSpPr txBox="1">
            <a:spLocks/>
          </p:cNvSpPr>
          <p:nvPr/>
        </p:nvSpPr>
        <p:spPr>
          <a:xfrm>
            <a:off x="1767761" y="2487789"/>
            <a:ext cx="126000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…………….</a:t>
            </a:r>
            <a:endParaRPr lang="fr-FR" sz="1800" b="1" dirty="0"/>
          </a:p>
        </p:txBody>
      </p:sp>
      <p:sp>
        <p:nvSpPr>
          <p:cNvPr id="59" name="Titre 1"/>
          <p:cNvSpPr txBox="1">
            <a:spLocks/>
          </p:cNvSpPr>
          <p:nvPr/>
        </p:nvSpPr>
        <p:spPr>
          <a:xfrm>
            <a:off x="8830589" y="2500019"/>
            <a:ext cx="126000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……………….</a:t>
            </a:r>
            <a:endParaRPr lang="fr-FR" sz="1800" b="1" dirty="0"/>
          </a:p>
        </p:txBody>
      </p:sp>
      <p:sp>
        <p:nvSpPr>
          <p:cNvPr id="62" name="Titre 1"/>
          <p:cNvSpPr txBox="1">
            <a:spLocks/>
          </p:cNvSpPr>
          <p:nvPr/>
        </p:nvSpPr>
        <p:spPr>
          <a:xfrm>
            <a:off x="544269" y="3080222"/>
            <a:ext cx="126000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……………..</a:t>
            </a:r>
            <a:endParaRPr lang="fr-FR" sz="1800" b="1" dirty="0"/>
          </a:p>
        </p:txBody>
      </p:sp>
      <p:sp>
        <p:nvSpPr>
          <p:cNvPr id="63" name="Titre 1"/>
          <p:cNvSpPr txBox="1">
            <a:spLocks/>
          </p:cNvSpPr>
          <p:nvPr/>
        </p:nvSpPr>
        <p:spPr>
          <a:xfrm>
            <a:off x="7469429" y="3092646"/>
            <a:ext cx="126000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……………….</a:t>
            </a:r>
            <a:endParaRPr lang="fr-FR" sz="1800" b="1" dirty="0"/>
          </a:p>
        </p:txBody>
      </p:sp>
      <p:sp>
        <p:nvSpPr>
          <p:cNvPr id="64" name="Titre 1"/>
          <p:cNvSpPr txBox="1">
            <a:spLocks/>
          </p:cNvSpPr>
          <p:nvPr/>
        </p:nvSpPr>
        <p:spPr>
          <a:xfrm>
            <a:off x="3131048" y="3073381"/>
            <a:ext cx="126000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……………….</a:t>
            </a:r>
            <a:endParaRPr lang="fr-FR" sz="1800" b="1" dirty="0"/>
          </a:p>
        </p:txBody>
      </p:sp>
      <p:sp>
        <p:nvSpPr>
          <p:cNvPr id="65" name="Titre 1"/>
          <p:cNvSpPr txBox="1">
            <a:spLocks/>
          </p:cNvSpPr>
          <p:nvPr/>
        </p:nvSpPr>
        <p:spPr>
          <a:xfrm>
            <a:off x="4517723" y="3086849"/>
            <a:ext cx="126000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……………….</a:t>
            </a:r>
            <a:endParaRPr lang="fr-FR" sz="1800" b="1" dirty="0"/>
          </a:p>
        </p:txBody>
      </p:sp>
      <p:sp>
        <p:nvSpPr>
          <p:cNvPr id="66" name="Titre 1"/>
          <p:cNvSpPr txBox="1">
            <a:spLocks/>
          </p:cNvSpPr>
          <p:nvPr/>
        </p:nvSpPr>
        <p:spPr>
          <a:xfrm>
            <a:off x="5908507" y="3086849"/>
            <a:ext cx="126000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……………….</a:t>
            </a:r>
            <a:endParaRPr lang="fr-FR" sz="1800" b="1" dirty="0"/>
          </a:p>
        </p:txBody>
      </p:sp>
      <p:sp>
        <p:nvSpPr>
          <p:cNvPr id="67" name="Titre 1"/>
          <p:cNvSpPr txBox="1">
            <a:spLocks/>
          </p:cNvSpPr>
          <p:nvPr/>
        </p:nvSpPr>
        <p:spPr>
          <a:xfrm>
            <a:off x="1765613" y="3078074"/>
            <a:ext cx="126000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…………….</a:t>
            </a:r>
            <a:endParaRPr lang="fr-FR" sz="1800" b="1" dirty="0"/>
          </a:p>
        </p:txBody>
      </p:sp>
      <p:sp>
        <p:nvSpPr>
          <p:cNvPr id="68" name="Titre 1"/>
          <p:cNvSpPr txBox="1">
            <a:spLocks/>
          </p:cNvSpPr>
          <p:nvPr/>
        </p:nvSpPr>
        <p:spPr>
          <a:xfrm>
            <a:off x="8828441" y="3090304"/>
            <a:ext cx="126000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……………….</a:t>
            </a:r>
            <a:endParaRPr lang="fr-FR" sz="1800" b="1" dirty="0"/>
          </a:p>
        </p:txBody>
      </p:sp>
      <p:sp>
        <p:nvSpPr>
          <p:cNvPr id="69" name="Titre 1"/>
          <p:cNvSpPr txBox="1">
            <a:spLocks/>
          </p:cNvSpPr>
          <p:nvPr/>
        </p:nvSpPr>
        <p:spPr>
          <a:xfrm>
            <a:off x="9980509" y="2832262"/>
            <a:ext cx="1800000" cy="74591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…………..……………</a:t>
            </a:r>
          </a:p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...........................</a:t>
            </a:r>
            <a:endParaRPr lang="fr-FR" sz="1800" b="1" dirty="0"/>
          </a:p>
        </p:txBody>
      </p:sp>
      <p:cxnSp>
        <p:nvCxnSpPr>
          <p:cNvPr id="71" name="Connecteur droit 70"/>
          <p:cNvCxnSpPr/>
          <p:nvPr/>
        </p:nvCxnSpPr>
        <p:spPr>
          <a:xfrm flipH="1" flipV="1">
            <a:off x="541477" y="3636583"/>
            <a:ext cx="11160000" cy="168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2" name="Titre 1"/>
          <p:cNvSpPr txBox="1">
            <a:spLocks/>
          </p:cNvSpPr>
          <p:nvPr/>
        </p:nvSpPr>
        <p:spPr>
          <a:xfrm>
            <a:off x="567879" y="3773535"/>
            <a:ext cx="126000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……………..</a:t>
            </a:r>
            <a:endParaRPr lang="fr-FR" sz="1800" b="1" dirty="0"/>
          </a:p>
        </p:txBody>
      </p:sp>
      <p:sp>
        <p:nvSpPr>
          <p:cNvPr id="73" name="Titre 1"/>
          <p:cNvSpPr txBox="1">
            <a:spLocks/>
          </p:cNvSpPr>
          <p:nvPr/>
        </p:nvSpPr>
        <p:spPr>
          <a:xfrm>
            <a:off x="7493039" y="3785959"/>
            <a:ext cx="126000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……………….</a:t>
            </a:r>
            <a:endParaRPr lang="fr-FR" sz="1800" b="1" dirty="0"/>
          </a:p>
        </p:txBody>
      </p:sp>
      <p:sp>
        <p:nvSpPr>
          <p:cNvPr id="74" name="Titre 1"/>
          <p:cNvSpPr txBox="1">
            <a:spLocks/>
          </p:cNvSpPr>
          <p:nvPr/>
        </p:nvSpPr>
        <p:spPr>
          <a:xfrm>
            <a:off x="3154658" y="3766694"/>
            <a:ext cx="126000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……………….</a:t>
            </a:r>
            <a:endParaRPr lang="fr-FR" sz="1800" b="1" dirty="0"/>
          </a:p>
        </p:txBody>
      </p:sp>
      <p:sp>
        <p:nvSpPr>
          <p:cNvPr id="75" name="Titre 1"/>
          <p:cNvSpPr txBox="1">
            <a:spLocks/>
          </p:cNvSpPr>
          <p:nvPr/>
        </p:nvSpPr>
        <p:spPr>
          <a:xfrm>
            <a:off x="4541333" y="3780162"/>
            <a:ext cx="126000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……………….</a:t>
            </a:r>
            <a:endParaRPr lang="fr-FR" sz="1800" b="1" dirty="0"/>
          </a:p>
        </p:txBody>
      </p:sp>
      <p:sp>
        <p:nvSpPr>
          <p:cNvPr id="79" name="Titre 1"/>
          <p:cNvSpPr txBox="1">
            <a:spLocks/>
          </p:cNvSpPr>
          <p:nvPr/>
        </p:nvSpPr>
        <p:spPr>
          <a:xfrm>
            <a:off x="5932117" y="3780162"/>
            <a:ext cx="126000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……………….</a:t>
            </a:r>
            <a:endParaRPr lang="fr-FR" sz="1800" b="1" dirty="0"/>
          </a:p>
        </p:txBody>
      </p:sp>
      <p:sp>
        <p:nvSpPr>
          <p:cNvPr id="95" name="Titre 1"/>
          <p:cNvSpPr txBox="1">
            <a:spLocks/>
          </p:cNvSpPr>
          <p:nvPr/>
        </p:nvSpPr>
        <p:spPr>
          <a:xfrm>
            <a:off x="1789223" y="3771387"/>
            <a:ext cx="126000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…………….</a:t>
            </a:r>
            <a:endParaRPr lang="fr-FR" sz="1800" b="1" dirty="0"/>
          </a:p>
        </p:txBody>
      </p:sp>
      <p:sp>
        <p:nvSpPr>
          <p:cNvPr id="96" name="Titre 1"/>
          <p:cNvSpPr txBox="1">
            <a:spLocks/>
          </p:cNvSpPr>
          <p:nvPr/>
        </p:nvSpPr>
        <p:spPr>
          <a:xfrm>
            <a:off x="8852051" y="3783617"/>
            <a:ext cx="126000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……………….</a:t>
            </a:r>
            <a:endParaRPr lang="fr-FR" sz="1800" b="1" dirty="0"/>
          </a:p>
        </p:txBody>
      </p:sp>
      <p:sp>
        <p:nvSpPr>
          <p:cNvPr id="97" name="Titre 1"/>
          <p:cNvSpPr txBox="1">
            <a:spLocks/>
          </p:cNvSpPr>
          <p:nvPr/>
        </p:nvSpPr>
        <p:spPr>
          <a:xfrm>
            <a:off x="10004119" y="3525575"/>
            <a:ext cx="1800000" cy="74591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…………..……………</a:t>
            </a:r>
          </a:p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...........................</a:t>
            </a:r>
            <a:endParaRPr lang="fr-FR" sz="1800" b="1" dirty="0"/>
          </a:p>
        </p:txBody>
      </p:sp>
      <p:cxnSp>
        <p:nvCxnSpPr>
          <p:cNvPr id="98" name="Connecteur droit 97"/>
          <p:cNvCxnSpPr/>
          <p:nvPr/>
        </p:nvCxnSpPr>
        <p:spPr>
          <a:xfrm flipH="1" flipV="1">
            <a:off x="552208" y="4304137"/>
            <a:ext cx="11160000" cy="168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99" name="Titre 1"/>
          <p:cNvSpPr txBox="1">
            <a:spLocks/>
          </p:cNvSpPr>
          <p:nvPr/>
        </p:nvSpPr>
        <p:spPr>
          <a:xfrm>
            <a:off x="578610" y="4441089"/>
            <a:ext cx="126000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……………..</a:t>
            </a:r>
            <a:endParaRPr lang="fr-FR" sz="1800" b="1" dirty="0"/>
          </a:p>
        </p:txBody>
      </p:sp>
      <p:sp>
        <p:nvSpPr>
          <p:cNvPr id="100" name="Titre 1"/>
          <p:cNvSpPr txBox="1">
            <a:spLocks/>
          </p:cNvSpPr>
          <p:nvPr/>
        </p:nvSpPr>
        <p:spPr>
          <a:xfrm>
            <a:off x="7503770" y="4453513"/>
            <a:ext cx="126000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……………….</a:t>
            </a:r>
            <a:endParaRPr lang="fr-FR" sz="1800" b="1" dirty="0"/>
          </a:p>
        </p:txBody>
      </p:sp>
      <p:sp>
        <p:nvSpPr>
          <p:cNvPr id="101" name="Titre 1"/>
          <p:cNvSpPr txBox="1">
            <a:spLocks/>
          </p:cNvSpPr>
          <p:nvPr/>
        </p:nvSpPr>
        <p:spPr>
          <a:xfrm>
            <a:off x="3165389" y="4434248"/>
            <a:ext cx="126000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……………….</a:t>
            </a:r>
            <a:endParaRPr lang="fr-FR" sz="1800" b="1" dirty="0"/>
          </a:p>
        </p:txBody>
      </p:sp>
      <p:sp>
        <p:nvSpPr>
          <p:cNvPr id="103" name="Titre 1"/>
          <p:cNvSpPr txBox="1">
            <a:spLocks/>
          </p:cNvSpPr>
          <p:nvPr/>
        </p:nvSpPr>
        <p:spPr>
          <a:xfrm>
            <a:off x="4552064" y="4447716"/>
            <a:ext cx="126000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……………….</a:t>
            </a:r>
            <a:endParaRPr lang="fr-FR" sz="1800" b="1" dirty="0"/>
          </a:p>
        </p:txBody>
      </p:sp>
      <p:sp>
        <p:nvSpPr>
          <p:cNvPr id="104" name="Titre 1"/>
          <p:cNvSpPr txBox="1">
            <a:spLocks/>
          </p:cNvSpPr>
          <p:nvPr/>
        </p:nvSpPr>
        <p:spPr>
          <a:xfrm>
            <a:off x="5942848" y="4447716"/>
            <a:ext cx="126000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……………….</a:t>
            </a:r>
            <a:endParaRPr lang="fr-FR" sz="1800" b="1" dirty="0"/>
          </a:p>
        </p:txBody>
      </p:sp>
      <p:sp>
        <p:nvSpPr>
          <p:cNvPr id="105" name="Titre 1"/>
          <p:cNvSpPr txBox="1">
            <a:spLocks/>
          </p:cNvSpPr>
          <p:nvPr/>
        </p:nvSpPr>
        <p:spPr>
          <a:xfrm>
            <a:off x="1799954" y="4438941"/>
            <a:ext cx="126000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…………….</a:t>
            </a:r>
            <a:endParaRPr lang="fr-FR" sz="1800" b="1" dirty="0"/>
          </a:p>
        </p:txBody>
      </p:sp>
      <p:sp>
        <p:nvSpPr>
          <p:cNvPr id="106" name="Titre 1"/>
          <p:cNvSpPr txBox="1">
            <a:spLocks/>
          </p:cNvSpPr>
          <p:nvPr/>
        </p:nvSpPr>
        <p:spPr>
          <a:xfrm>
            <a:off x="8862782" y="4451171"/>
            <a:ext cx="126000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……………….</a:t>
            </a:r>
            <a:endParaRPr lang="fr-FR" sz="1800" b="1" dirty="0"/>
          </a:p>
        </p:txBody>
      </p:sp>
      <p:sp>
        <p:nvSpPr>
          <p:cNvPr id="107" name="Titre 1"/>
          <p:cNvSpPr txBox="1">
            <a:spLocks/>
          </p:cNvSpPr>
          <p:nvPr/>
        </p:nvSpPr>
        <p:spPr>
          <a:xfrm>
            <a:off x="10014850" y="4193129"/>
            <a:ext cx="1800000" cy="74591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…………..……………</a:t>
            </a:r>
          </a:p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...........................</a:t>
            </a:r>
            <a:endParaRPr lang="fr-FR" sz="1800" b="1" dirty="0"/>
          </a:p>
        </p:txBody>
      </p:sp>
      <p:cxnSp>
        <p:nvCxnSpPr>
          <p:cNvPr id="108" name="Connecteur droit 107"/>
          <p:cNvCxnSpPr/>
          <p:nvPr/>
        </p:nvCxnSpPr>
        <p:spPr>
          <a:xfrm flipH="1" flipV="1">
            <a:off x="513571" y="3016248"/>
            <a:ext cx="11160000" cy="168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26723384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 txBox="1">
            <a:spLocks/>
          </p:cNvSpPr>
          <p:nvPr/>
        </p:nvSpPr>
        <p:spPr>
          <a:xfrm>
            <a:off x="2772340" y="157193"/>
            <a:ext cx="5510518" cy="72744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15 –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Patient 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–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Reporting /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Liste des caisses d’assurance (CNAS/CASNOS/CAISSE MILITAIRE)</a:t>
            </a:r>
            <a:endParaRPr lang="fr-FR" altLang="fr-FR" sz="1800" b="1" dirty="0">
              <a:solidFill>
                <a:srgbClr val="000000"/>
              </a:solidFill>
              <a:latin typeface="Times New Roman" panose="02020603050405020304" pitchFamily="18" charset="0"/>
              <a:ea typeface="Microsoft YaHei" panose="020B0503020204020204" pitchFamily="3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191992" y="987671"/>
            <a:ext cx="11758269" cy="491085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6" name="Rectangle 35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37" name="Rectangle 36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90" name="ZoneTexte 89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91" name="Rectangle 90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1920697" y="1522697"/>
            <a:ext cx="4248284" cy="1722779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7" name="Rectangle 66"/>
          <p:cNvSpPr/>
          <p:nvPr/>
        </p:nvSpPr>
        <p:spPr>
          <a:xfrm>
            <a:off x="3896717" y="1801220"/>
            <a:ext cx="16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8" name="Titre 1"/>
          <p:cNvSpPr txBox="1">
            <a:spLocks/>
          </p:cNvSpPr>
          <p:nvPr/>
        </p:nvSpPr>
        <p:spPr>
          <a:xfrm>
            <a:off x="2223543" y="1768188"/>
            <a:ext cx="1668064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Caisse d’assurance</a:t>
            </a:r>
            <a:endParaRPr lang="fr-FR" sz="1400" dirty="0"/>
          </a:p>
        </p:txBody>
      </p:sp>
      <p:sp>
        <p:nvSpPr>
          <p:cNvPr id="69" name="Triangle isocèle 68"/>
          <p:cNvSpPr/>
          <p:nvPr/>
        </p:nvSpPr>
        <p:spPr>
          <a:xfrm rot="10800000">
            <a:off x="5400865" y="1809065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4" name="Titre 1"/>
          <p:cNvSpPr txBox="1">
            <a:spLocks/>
          </p:cNvSpPr>
          <p:nvPr/>
        </p:nvSpPr>
        <p:spPr>
          <a:xfrm>
            <a:off x="201521" y="1007486"/>
            <a:ext cx="2891365" cy="50148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600" b="1" u="sng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Liste des </a:t>
            </a:r>
            <a:r>
              <a:rPr lang="fr-FR" altLang="fr-FR" sz="1600" b="1" u="sng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caisses d’assurance</a:t>
            </a:r>
            <a:endParaRPr lang="fr-FR" sz="1600" b="1" u="sng" dirty="0"/>
          </a:p>
        </p:txBody>
      </p:sp>
      <p:sp>
        <p:nvSpPr>
          <p:cNvPr id="217" name="Rectangle 216"/>
          <p:cNvSpPr/>
          <p:nvPr/>
        </p:nvSpPr>
        <p:spPr>
          <a:xfrm>
            <a:off x="4275810" y="2379231"/>
            <a:ext cx="1332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Imprimer</a:t>
            </a:r>
          </a:p>
        </p:txBody>
      </p:sp>
      <p:sp>
        <p:nvSpPr>
          <p:cNvPr id="76" name="Titre 1"/>
          <p:cNvSpPr txBox="1">
            <a:spLocks/>
          </p:cNvSpPr>
          <p:nvPr/>
        </p:nvSpPr>
        <p:spPr>
          <a:xfrm>
            <a:off x="174627" y="6089970"/>
            <a:ext cx="9090992" cy="43961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b="1" dirty="0" smtClean="0"/>
              <a:t>Caisse d’assurance :</a:t>
            </a:r>
            <a:r>
              <a:rPr lang="fr-FR" sz="1400" dirty="0" smtClean="0"/>
              <a:t> CNAS / CASNOS / CAISSE MILITAIRE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Cet écran permis de sélectionner les patients selon les établissements d’assurance correspondant </a:t>
            </a:r>
            <a:endParaRPr lang="fr-FR" sz="1400" dirty="0"/>
          </a:p>
        </p:txBody>
      </p:sp>
    </p:spTree>
    <p:extLst>
      <p:ext uri="{BB962C8B-B14F-4D97-AF65-F5344CB8AC3E}">
        <p14:creationId xmlns:p14="http://schemas.microsoft.com/office/powerpoint/2010/main" val="40772244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 txBox="1">
            <a:spLocks/>
          </p:cNvSpPr>
          <p:nvPr/>
        </p:nvSpPr>
        <p:spPr>
          <a:xfrm>
            <a:off x="2772340" y="42891"/>
            <a:ext cx="5510518" cy="84174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15 –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Patient 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–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Reporting /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Liste des caisses d’assurance (CNAS/CASNOS/CAISSE MILITAIRE)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- Fichier PDF - </a:t>
            </a:r>
            <a:endParaRPr lang="fr-FR" altLang="fr-FR" sz="1800" b="1" dirty="0">
              <a:solidFill>
                <a:srgbClr val="000000"/>
              </a:solidFill>
              <a:latin typeface="Times New Roman" panose="02020603050405020304" pitchFamily="18" charset="0"/>
              <a:ea typeface="Microsoft YaHei" panose="020B0503020204020204" pitchFamily="3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191992" y="987671"/>
            <a:ext cx="11758269" cy="491085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6" name="Rectangle 35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37" name="Rectangle 36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90" name="ZoneTexte 89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91" name="Rectangle 90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94" name="Titre 1"/>
          <p:cNvSpPr txBox="1">
            <a:spLocks/>
          </p:cNvSpPr>
          <p:nvPr/>
        </p:nvSpPr>
        <p:spPr>
          <a:xfrm>
            <a:off x="191992" y="1382114"/>
            <a:ext cx="2891365" cy="50148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600" b="1" u="sng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Liste des </a:t>
            </a:r>
            <a:r>
              <a:rPr lang="fr-FR" altLang="fr-FR" sz="1600" b="1" u="sng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caisses d’assurance</a:t>
            </a:r>
            <a:endParaRPr lang="fr-FR" sz="1600" b="1" u="sng" dirty="0"/>
          </a:p>
        </p:txBody>
      </p:sp>
      <p:sp>
        <p:nvSpPr>
          <p:cNvPr id="15" name="Titre 1"/>
          <p:cNvSpPr txBox="1">
            <a:spLocks/>
          </p:cNvSpPr>
          <p:nvPr/>
        </p:nvSpPr>
        <p:spPr>
          <a:xfrm>
            <a:off x="8538469" y="2006589"/>
            <a:ext cx="14400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/>
              <a:t>Validité PEC</a:t>
            </a:r>
          </a:p>
        </p:txBody>
      </p:sp>
      <p:cxnSp>
        <p:nvCxnSpPr>
          <p:cNvPr id="16" name="Connecteur droit 15"/>
          <p:cNvCxnSpPr/>
          <p:nvPr/>
        </p:nvCxnSpPr>
        <p:spPr>
          <a:xfrm>
            <a:off x="8656718" y="1973646"/>
            <a:ext cx="0" cy="234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7" name="Titre 1"/>
          <p:cNvSpPr txBox="1">
            <a:spLocks/>
          </p:cNvSpPr>
          <p:nvPr/>
        </p:nvSpPr>
        <p:spPr>
          <a:xfrm>
            <a:off x="10177317" y="2500018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…………..…</a:t>
            </a:r>
          </a:p>
        </p:txBody>
      </p:sp>
      <p:sp>
        <p:nvSpPr>
          <p:cNvPr id="18" name="Titre 1"/>
          <p:cNvSpPr txBox="1">
            <a:spLocks/>
          </p:cNvSpPr>
          <p:nvPr/>
        </p:nvSpPr>
        <p:spPr>
          <a:xfrm>
            <a:off x="1677251" y="2028938"/>
            <a:ext cx="14400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/>
              <a:t>Date </a:t>
            </a:r>
            <a:r>
              <a:rPr lang="fr-FR" sz="1400" dirty="0" smtClean="0"/>
              <a:t>dépôt</a:t>
            </a:r>
            <a:endParaRPr lang="fr-FR" sz="1400" dirty="0"/>
          </a:p>
        </p:txBody>
      </p:sp>
      <p:sp>
        <p:nvSpPr>
          <p:cNvPr id="19" name="Rectangle 18"/>
          <p:cNvSpPr/>
          <p:nvPr/>
        </p:nvSpPr>
        <p:spPr>
          <a:xfrm>
            <a:off x="312950" y="1975794"/>
            <a:ext cx="11160000" cy="2340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0" name="Titre 1"/>
          <p:cNvSpPr txBox="1">
            <a:spLocks/>
          </p:cNvSpPr>
          <p:nvPr/>
        </p:nvSpPr>
        <p:spPr>
          <a:xfrm>
            <a:off x="326894" y="2032830"/>
            <a:ext cx="14400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/>
              <a:t>N</a:t>
            </a:r>
            <a:r>
              <a:rPr lang="fr-FR" sz="1400" dirty="0" smtClean="0"/>
              <a:t>° d'assurance</a:t>
            </a:r>
            <a:endParaRPr lang="fr-FR" sz="1400" dirty="0"/>
          </a:p>
        </p:txBody>
      </p:sp>
      <p:cxnSp>
        <p:nvCxnSpPr>
          <p:cNvPr id="21" name="Connecteur droit 20"/>
          <p:cNvCxnSpPr/>
          <p:nvPr/>
        </p:nvCxnSpPr>
        <p:spPr>
          <a:xfrm>
            <a:off x="4169052" y="1995264"/>
            <a:ext cx="0" cy="234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2" name="Titre 1"/>
          <p:cNvSpPr txBox="1">
            <a:spLocks/>
          </p:cNvSpPr>
          <p:nvPr/>
        </p:nvSpPr>
        <p:spPr>
          <a:xfrm>
            <a:off x="3960045" y="2058571"/>
            <a:ext cx="144000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1400" dirty="0" smtClean="0"/>
              <a:t>Prénom</a:t>
            </a:r>
            <a:endParaRPr lang="fr-FR" sz="1400" dirty="0"/>
          </a:p>
        </p:txBody>
      </p:sp>
      <p:cxnSp>
        <p:nvCxnSpPr>
          <p:cNvPr id="24" name="Connecteur droit 23"/>
          <p:cNvCxnSpPr/>
          <p:nvPr/>
        </p:nvCxnSpPr>
        <p:spPr>
          <a:xfrm>
            <a:off x="1769767" y="1966807"/>
            <a:ext cx="0" cy="234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5" name="Connecteur droit 24"/>
          <p:cNvCxnSpPr/>
          <p:nvPr/>
        </p:nvCxnSpPr>
        <p:spPr>
          <a:xfrm flipH="1" flipV="1">
            <a:off x="267338" y="2484089"/>
            <a:ext cx="11160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6" name="Connecteur droit 25"/>
          <p:cNvCxnSpPr/>
          <p:nvPr/>
        </p:nvCxnSpPr>
        <p:spPr>
          <a:xfrm>
            <a:off x="7476653" y="1989887"/>
            <a:ext cx="0" cy="234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7" name="Titre 1"/>
          <p:cNvSpPr txBox="1">
            <a:spLocks/>
          </p:cNvSpPr>
          <p:nvPr/>
        </p:nvSpPr>
        <p:spPr>
          <a:xfrm>
            <a:off x="6203926" y="2039098"/>
            <a:ext cx="14400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1400" dirty="0"/>
              <a:t>Validité OD</a:t>
            </a:r>
          </a:p>
        </p:txBody>
      </p:sp>
      <p:cxnSp>
        <p:nvCxnSpPr>
          <p:cNvPr id="28" name="Connecteur droit 27"/>
          <p:cNvCxnSpPr/>
          <p:nvPr/>
        </p:nvCxnSpPr>
        <p:spPr>
          <a:xfrm>
            <a:off x="2954741" y="1973646"/>
            <a:ext cx="0" cy="234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9" name="Titre 1"/>
          <p:cNvSpPr txBox="1">
            <a:spLocks/>
          </p:cNvSpPr>
          <p:nvPr/>
        </p:nvSpPr>
        <p:spPr>
          <a:xfrm>
            <a:off x="2793818" y="2046811"/>
            <a:ext cx="14400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1400" dirty="0" smtClean="0"/>
              <a:t>Nom</a:t>
            </a:r>
            <a:endParaRPr lang="fr-FR" sz="1400" dirty="0"/>
          </a:p>
        </p:txBody>
      </p:sp>
      <p:cxnSp>
        <p:nvCxnSpPr>
          <p:cNvPr id="30" name="Connecteur droit 29"/>
          <p:cNvCxnSpPr/>
          <p:nvPr/>
        </p:nvCxnSpPr>
        <p:spPr>
          <a:xfrm>
            <a:off x="5260813" y="1985373"/>
            <a:ext cx="0" cy="234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1" name="Titre 1"/>
          <p:cNvSpPr txBox="1">
            <a:spLocks/>
          </p:cNvSpPr>
          <p:nvPr/>
        </p:nvSpPr>
        <p:spPr>
          <a:xfrm>
            <a:off x="7397247" y="1997493"/>
            <a:ext cx="14400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1400" dirty="0"/>
              <a:t>Date PEC</a:t>
            </a:r>
          </a:p>
        </p:txBody>
      </p:sp>
      <p:sp>
        <p:nvSpPr>
          <p:cNvPr id="32" name="Titre 1"/>
          <p:cNvSpPr txBox="1">
            <a:spLocks/>
          </p:cNvSpPr>
          <p:nvPr/>
        </p:nvSpPr>
        <p:spPr>
          <a:xfrm>
            <a:off x="5095935" y="2039099"/>
            <a:ext cx="14400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1400" dirty="0" smtClean="0"/>
              <a:t>Date</a:t>
            </a:r>
            <a:endParaRPr lang="fr-FR" sz="1400" dirty="0"/>
          </a:p>
        </p:txBody>
      </p:sp>
      <p:cxnSp>
        <p:nvCxnSpPr>
          <p:cNvPr id="33" name="Connecteur droit 32"/>
          <p:cNvCxnSpPr/>
          <p:nvPr/>
        </p:nvCxnSpPr>
        <p:spPr>
          <a:xfrm>
            <a:off x="6366784" y="1973646"/>
            <a:ext cx="0" cy="234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4" name="Titre 1"/>
          <p:cNvSpPr txBox="1">
            <a:spLocks/>
          </p:cNvSpPr>
          <p:nvPr/>
        </p:nvSpPr>
        <p:spPr>
          <a:xfrm>
            <a:off x="494901" y="2489936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……………..</a:t>
            </a:r>
            <a:endParaRPr lang="fr-FR" sz="1800" b="1" dirty="0"/>
          </a:p>
        </p:txBody>
      </p:sp>
      <p:sp>
        <p:nvSpPr>
          <p:cNvPr id="35" name="Titre 1"/>
          <p:cNvSpPr txBox="1">
            <a:spLocks/>
          </p:cNvSpPr>
          <p:nvPr/>
        </p:nvSpPr>
        <p:spPr>
          <a:xfrm>
            <a:off x="6390673" y="2463589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39" name="Titre 1"/>
          <p:cNvSpPr txBox="1">
            <a:spLocks/>
          </p:cNvSpPr>
          <p:nvPr/>
        </p:nvSpPr>
        <p:spPr>
          <a:xfrm>
            <a:off x="4172139" y="2496563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40" name="Titre 1"/>
          <p:cNvSpPr txBox="1">
            <a:spLocks/>
          </p:cNvSpPr>
          <p:nvPr/>
        </p:nvSpPr>
        <p:spPr>
          <a:xfrm>
            <a:off x="5267261" y="2483420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41" name="Titre 1"/>
          <p:cNvSpPr txBox="1">
            <a:spLocks/>
          </p:cNvSpPr>
          <p:nvPr/>
        </p:nvSpPr>
        <p:spPr>
          <a:xfrm>
            <a:off x="1819276" y="2500667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…………….</a:t>
            </a:r>
            <a:endParaRPr lang="fr-FR" sz="1800" b="1" dirty="0"/>
          </a:p>
        </p:txBody>
      </p:sp>
      <p:sp>
        <p:nvSpPr>
          <p:cNvPr id="42" name="Titre 1"/>
          <p:cNvSpPr txBox="1">
            <a:spLocks/>
          </p:cNvSpPr>
          <p:nvPr/>
        </p:nvSpPr>
        <p:spPr>
          <a:xfrm>
            <a:off x="8741353" y="2499778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43" name="Titre 1"/>
          <p:cNvSpPr txBox="1">
            <a:spLocks/>
          </p:cNvSpPr>
          <p:nvPr/>
        </p:nvSpPr>
        <p:spPr>
          <a:xfrm>
            <a:off x="492752" y="2938552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……………..</a:t>
            </a:r>
            <a:endParaRPr lang="fr-FR" sz="1800" b="1" dirty="0"/>
          </a:p>
        </p:txBody>
      </p:sp>
      <p:sp>
        <p:nvSpPr>
          <p:cNvPr id="44" name="Titre 1"/>
          <p:cNvSpPr txBox="1">
            <a:spLocks/>
          </p:cNvSpPr>
          <p:nvPr/>
        </p:nvSpPr>
        <p:spPr>
          <a:xfrm>
            <a:off x="6387561" y="2937391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45" name="Titre 1"/>
          <p:cNvSpPr txBox="1">
            <a:spLocks/>
          </p:cNvSpPr>
          <p:nvPr/>
        </p:nvSpPr>
        <p:spPr>
          <a:xfrm>
            <a:off x="3027359" y="2945179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………….....</a:t>
            </a:r>
            <a:endParaRPr lang="fr-FR" sz="1800" b="1" dirty="0"/>
          </a:p>
        </p:txBody>
      </p:sp>
      <p:sp>
        <p:nvSpPr>
          <p:cNvPr id="46" name="Titre 1"/>
          <p:cNvSpPr txBox="1">
            <a:spLocks/>
          </p:cNvSpPr>
          <p:nvPr/>
        </p:nvSpPr>
        <p:spPr>
          <a:xfrm>
            <a:off x="4169990" y="2945179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47" name="Titre 1"/>
          <p:cNvSpPr txBox="1">
            <a:spLocks/>
          </p:cNvSpPr>
          <p:nvPr/>
        </p:nvSpPr>
        <p:spPr>
          <a:xfrm>
            <a:off x="5276590" y="2956954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48" name="Titre 1"/>
          <p:cNvSpPr txBox="1">
            <a:spLocks/>
          </p:cNvSpPr>
          <p:nvPr/>
        </p:nvSpPr>
        <p:spPr>
          <a:xfrm>
            <a:off x="1817127" y="2949283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…………….</a:t>
            </a:r>
            <a:endParaRPr lang="fr-FR" sz="1800" b="1" dirty="0"/>
          </a:p>
        </p:txBody>
      </p:sp>
      <p:sp>
        <p:nvSpPr>
          <p:cNvPr id="49" name="Titre 1"/>
          <p:cNvSpPr txBox="1">
            <a:spLocks/>
          </p:cNvSpPr>
          <p:nvPr/>
        </p:nvSpPr>
        <p:spPr>
          <a:xfrm>
            <a:off x="8725619" y="2948875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50" name="Titre 1"/>
          <p:cNvSpPr txBox="1">
            <a:spLocks/>
          </p:cNvSpPr>
          <p:nvPr/>
        </p:nvSpPr>
        <p:spPr>
          <a:xfrm>
            <a:off x="10185767" y="2948875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…………..…</a:t>
            </a:r>
          </a:p>
        </p:txBody>
      </p:sp>
      <p:cxnSp>
        <p:nvCxnSpPr>
          <p:cNvPr id="51" name="Connecteur droit 50"/>
          <p:cNvCxnSpPr/>
          <p:nvPr/>
        </p:nvCxnSpPr>
        <p:spPr>
          <a:xfrm flipH="1" flipV="1">
            <a:off x="309655" y="3404761"/>
            <a:ext cx="11160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2" name="Titre 1"/>
          <p:cNvSpPr txBox="1">
            <a:spLocks/>
          </p:cNvSpPr>
          <p:nvPr/>
        </p:nvSpPr>
        <p:spPr>
          <a:xfrm>
            <a:off x="464847" y="3374285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……………..</a:t>
            </a:r>
            <a:endParaRPr lang="fr-FR" sz="1800" b="1" dirty="0"/>
          </a:p>
        </p:txBody>
      </p:sp>
      <p:sp>
        <p:nvSpPr>
          <p:cNvPr id="53" name="Titre 1"/>
          <p:cNvSpPr txBox="1">
            <a:spLocks/>
          </p:cNvSpPr>
          <p:nvPr/>
        </p:nvSpPr>
        <p:spPr>
          <a:xfrm>
            <a:off x="6383612" y="3348343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55" name="Titre 1"/>
          <p:cNvSpPr txBox="1">
            <a:spLocks/>
          </p:cNvSpPr>
          <p:nvPr/>
        </p:nvSpPr>
        <p:spPr>
          <a:xfrm>
            <a:off x="4142085" y="3380912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56" name="Titre 1"/>
          <p:cNvSpPr txBox="1">
            <a:spLocks/>
          </p:cNvSpPr>
          <p:nvPr/>
        </p:nvSpPr>
        <p:spPr>
          <a:xfrm>
            <a:off x="5275288" y="3380912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57" name="Titre 1"/>
          <p:cNvSpPr txBox="1">
            <a:spLocks/>
          </p:cNvSpPr>
          <p:nvPr/>
        </p:nvSpPr>
        <p:spPr>
          <a:xfrm>
            <a:off x="1789222" y="3385016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…………….</a:t>
            </a:r>
            <a:endParaRPr lang="fr-FR" sz="1800" b="1" dirty="0"/>
          </a:p>
        </p:txBody>
      </p:sp>
      <p:sp>
        <p:nvSpPr>
          <p:cNvPr id="58" name="Titre 1"/>
          <p:cNvSpPr txBox="1">
            <a:spLocks/>
          </p:cNvSpPr>
          <p:nvPr/>
        </p:nvSpPr>
        <p:spPr>
          <a:xfrm>
            <a:off x="8749019" y="3384367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59" name="Titre 1"/>
          <p:cNvSpPr txBox="1">
            <a:spLocks/>
          </p:cNvSpPr>
          <p:nvPr/>
        </p:nvSpPr>
        <p:spPr>
          <a:xfrm>
            <a:off x="10183117" y="3393481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…………..…</a:t>
            </a:r>
          </a:p>
        </p:txBody>
      </p:sp>
      <p:cxnSp>
        <p:nvCxnSpPr>
          <p:cNvPr id="60" name="Connecteur droit 59"/>
          <p:cNvCxnSpPr/>
          <p:nvPr/>
        </p:nvCxnSpPr>
        <p:spPr>
          <a:xfrm flipH="1" flipV="1">
            <a:off x="320386" y="3827618"/>
            <a:ext cx="11160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2" name="Connecteur droit 71"/>
          <p:cNvCxnSpPr/>
          <p:nvPr/>
        </p:nvCxnSpPr>
        <p:spPr>
          <a:xfrm flipH="1" flipV="1">
            <a:off x="307507" y="2964732"/>
            <a:ext cx="11160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" name="Rectangle 2"/>
          <p:cNvSpPr/>
          <p:nvPr/>
        </p:nvSpPr>
        <p:spPr>
          <a:xfrm>
            <a:off x="9981008" y="2079184"/>
            <a:ext cx="1440000" cy="2970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>
                <a:latin typeface="+mj-lt"/>
                <a:ea typeface="+mj-ea"/>
                <a:cs typeface="+mj-cs"/>
              </a:rPr>
              <a:t>Actes</a:t>
            </a:r>
          </a:p>
        </p:txBody>
      </p:sp>
      <p:cxnSp>
        <p:nvCxnSpPr>
          <p:cNvPr id="67" name="Connecteur droit 66"/>
          <p:cNvCxnSpPr/>
          <p:nvPr/>
        </p:nvCxnSpPr>
        <p:spPr>
          <a:xfrm>
            <a:off x="9916718" y="1989887"/>
            <a:ext cx="0" cy="234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8" name="Titre 1"/>
          <p:cNvSpPr txBox="1">
            <a:spLocks/>
          </p:cNvSpPr>
          <p:nvPr/>
        </p:nvSpPr>
        <p:spPr>
          <a:xfrm>
            <a:off x="3025212" y="2518032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………….....</a:t>
            </a:r>
            <a:endParaRPr lang="fr-FR" sz="1800" b="1" dirty="0"/>
          </a:p>
        </p:txBody>
      </p:sp>
      <p:sp>
        <p:nvSpPr>
          <p:cNvPr id="73" name="Titre 1"/>
          <p:cNvSpPr txBox="1">
            <a:spLocks/>
          </p:cNvSpPr>
          <p:nvPr/>
        </p:nvSpPr>
        <p:spPr>
          <a:xfrm>
            <a:off x="2971548" y="3365893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………….....</a:t>
            </a:r>
            <a:endParaRPr lang="fr-FR" sz="1800" b="1" dirty="0"/>
          </a:p>
        </p:txBody>
      </p:sp>
      <p:sp>
        <p:nvSpPr>
          <p:cNvPr id="74" name="Titre 1"/>
          <p:cNvSpPr txBox="1">
            <a:spLocks/>
          </p:cNvSpPr>
          <p:nvPr/>
        </p:nvSpPr>
        <p:spPr>
          <a:xfrm>
            <a:off x="7519944" y="2955910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………….....</a:t>
            </a:r>
            <a:endParaRPr lang="fr-FR" sz="1800" b="1" dirty="0"/>
          </a:p>
        </p:txBody>
      </p:sp>
      <p:sp>
        <p:nvSpPr>
          <p:cNvPr id="75" name="Titre 1"/>
          <p:cNvSpPr txBox="1">
            <a:spLocks/>
          </p:cNvSpPr>
          <p:nvPr/>
        </p:nvSpPr>
        <p:spPr>
          <a:xfrm>
            <a:off x="7517797" y="2477247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………….....</a:t>
            </a:r>
            <a:endParaRPr lang="fr-FR" sz="1800" b="1" dirty="0"/>
          </a:p>
        </p:txBody>
      </p:sp>
      <p:sp>
        <p:nvSpPr>
          <p:cNvPr id="78" name="Titre 1"/>
          <p:cNvSpPr txBox="1">
            <a:spLocks/>
          </p:cNvSpPr>
          <p:nvPr/>
        </p:nvSpPr>
        <p:spPr>
          <a:xfrm>
            <a:off x="7541407" y="3376624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………….....</a:t>
            </a:r>
            <a:endParaRPr lang="fr-FR" sz="1800" b="1" dirty="0"/>
          </a:p>
        </p:txBody>
      </p:sp>
      <p:sp>
        <p:nvSpPr>
          <p:cNvPr id="79" name="Titre 1"/>
          <p:cNvSpPr txBox="1">
            <a:spLocks/>
          </p:cNvSpPr>
          <p:nvPr/>
        </p:nvSpPr>
        <p:spPr>
          <a:xfrm>
            <a:off x="10175169" y="3837273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…………..…</a:t>
            </a:r>
          </a:p>
        </p:txBody>
      </p:sp>
      <p:sp>
        <p:nvSpPr>
          <p:cNvPr id="80" name="Titre 1"/>
          <p:cNvSpPr txBox="1">
            <a:spLocks/>
          </p:cNvSpPr>
          <p:nvPr/>
        </p:nvSpPr>
        <p:spPr>
          <a:xfrm>
            <a:off x="492753" y="3827191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……………..</a:t>
            </a:r>
            <a:endParaRPr lang="fr-FR" sz="1800" b="1" dirty="0"/>
          </a:p>
        </p:txBody>
      </p:sp>
      <p:sp>
        <p:nvSpPr>
          <p:cNvPr id="81" name="Titre 1"/>
          <p:cNvSpPr txBox="1">
            <a:spLocks/>
          </p:cNvSpPr>
          <p:nvPr/>
        </p:nvSpPr>
        <p:spPr>
          <a:xfrm>
            <a:off x="6388525" y="3800844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82" name="Titre 1"/>
          <p:cNvSpPr txBox="1">
            <a:spLocks/>
          </p:cNvSpPr>
          <p:nvPr/>
        </p:nvSpPr>
        <p:spPr>
          <a:xfrm>
            <a:off x="4169991" y="3833818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83" name="Titre 1"/>
          <p:cNvSpPr txBox="1">
            <a:spLocks/>
          </p:cNvSpPr>
          <p:nvPr/>
        </p:nvSpPr>
        <p:spPr>
          <a:xfrm>
            <a:off x="5265113" y="3820675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84" name="Titre 1"/>
          <p:cNvSpPr txBox="1">
            <a:spLocks/>
          </p:cNvSpPr>
          <p:nvPr/>
        </p:nvSpPr>
        <p:spPr>
          <a:xfrm>
            <a:off x="1817128" y="3837922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…………….</a:t>
            </a:r>
            <a:endParaRPr lang="fr-FR" sz="1800" b="1" dirty="0"/>
          </a:p>
        </p:txBody>
      </p:sp>
      <p:sp>
        <p:nvSpPr>
          <p:cNvPr id="85" name="Titre 1"/>
          <p:cNvSpPr txBox="1">
            <a:spLocks/>
          </p:cNvSpPr>
          <p:nvPr/>
        </p:nvSpPr>
        <p:spPr>
          <a:xfrm>
            <a:off x="8739205" y="3837033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87" name="Titre 1"/>
          <p:cNvSpPr txBox="1">
            <a:spLocks/>
          </p:cNvSpPr>
          <p:nvPr/>
        </p:nvSpPr>
        <p:spPr>
          <a:xfrm>
            <a:off x="3023064" y="3855287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………….....</a:t>
            </a:r>
            <a:endParaRPr lang="fr-FR" sz="1800" b="1" dirty="0"/>
          </a:p>
        </p:txBody>
      </p:sp>
      <p:sp>
        <p:nvSpPr>
          <p:cNvPr id="88" name="Titre 1"/>
          <p:cNvSpPr txBox="1">
            <a:spLocks/>
          </p:cNvSpPr>
          <p:nvPr/>
        </p:nvSpPr>
        <p:spPr>
          <a:xfrm>
            <a:off x="7515649" y="3814502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………….....</a:t>
            </a:r>
            <a:endParaRPr lang="fr-FR" sz="1800" b="1" dirty="0"/>
          </a:p>
        </p:txBody>
      </p:sp>
    </p:spTree>
    <p:extLst>
      <p:ext uri="{BB962C8B-B14F-4D97-AF65-F5344CB8AC3E}">
        <p14:creationId xmlns:p14="http://schemas.microsoft.com/office/powerpoint/2010/main" val="36450814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 txBox="1">
            <a:spLocks/>
          </p:cNvSpPr>
          <p:nvPr/>
        </p:nvSpPr>
        <p:spPr>
          <a:xfrm>
            <a:off x="2820765" y="280671"/>
            <a:ext cx="5510518" cy="48946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16 –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Patient 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–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Reporting 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/ Report d’envoi</a:t>
            </a:r>
            <a:endParaRPr lang="fr-FR" altLang="fr-FR" sz="1800" b="1" dirty="0">
              <a:solidFill>
                <a:srgbClr val="000000"/>
              </a:solidFill>
              <a:latin typeface="Times New Roman" panose="02020603050405020304" pitchFamily="18" charset="0"/>
              <a:ea typeface="Microsoft YaHei" panose="020B0503020204020204" pitchFamily="3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191992" y="830624"/>
            <a:ext cx="11758269" cy="506789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6" name="Rectangle 35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37" name="Rectangle 36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90" name="ZoneTexte 89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91" name="Rectangle 90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1920697" y="1522697"/>
            <a:ext cx="4248284" cy="1722779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7" name="Rectangle 66"/>
          <p:cNvSpPr/>
          <p:nvPr/>
        </p:nvSpPr>
        <p:spPr>
          <a:xfrm>
            <a:off x="3896717" y="1801220"/>
            <a:ext cx="16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8" name="Titre 1"/>
          <p:cNvSpPr txBox="1">
            <a:spLocks/>
          </p:cNvSpPr>
          <p:nvPr/>
        </p:nvSpPr>
        <p:spPr>
          <a:xfrm>
            <a:off x="2223543" y="1768188"/>
            <a:ext cx="108000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Recherche</a:t>
            </a:r>
            <a:endParaRPr lang="fr-FR" sz="1400" dirty="0"/>
          </a:p>
        </p:txBody>
      </p:sp>
      <p:sp>
        <p:nvSpPr>
          <p:cNvPr id="69" name="Triangle isocèle 68"/>
          <p:cNvSpPr/>
          <p:nvPr/>
        </p:nvSpPr>
        <p:spPr>
          <a:xfrm rot="10800000">
            <a:off x="5400865" y="1809065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4" name="Titre 1"/>
          <p:cNvSpPr txBox="1">
            <a:spLocks/>
          </p:cNvSpPr>
          <p:nvPr/>
        </p:nvSpPr>
        <p:spPr>
          <a:xfrm>
            <a:off x="201521" y="1007486"/>
            <a:ext cx="2022022" cy="50148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600" b="1" u="sng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Bordereau d’envoi</a:t>
            </a:r>
            <a:endParaRPr lang="fr-FR" sz="1600" b="1" u="sng" dirty="0"/>
          </a:p>
        </p:txBody>
      </p:sp>
      <p:sp>
        <p:nvSpPr>
          <p:cNvPr id="217" name="Rectangle 216"/>
          <p:cNvSpPr/>
          <p:nvPr/>
        </p:nvSpPr>
        <p:spPr>
          <a:xfrm>
            <a:off x="4275810" y="2379231"/>
            <a:ext cx="1332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Imprimer</a:t>
            </a:r>
          </a:p>
        </p:txBody>
      </p:sp>
      <p:sp>
        <p:nvSpPr>
          <p:cNvPr id="76" name="Titre 1"/>
          <p:cNvSpPr txBox="1">
            <a:spLocks/>
          </p:cNvSpPr>
          <p:nvPr/>
        </p:nvSpPr>
        <p:spPr>
          <a:xfrm>
            <a:off x="174627" y="6089970"/>
            <a:ext cx="9090992" cy="43961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Cet écran permis de sélectionner et d’imprimer le bordereau d’envoi d’un patient</a:t>
            </a:r>
            <a:endParaRPr lang="fr-FR" sz="1400" dirty="0"/>
          </a:p>
        </p:txBody>
      </p:sp>
    </p:spTree>
    <p:extLst>
      <p:ext uri="{BB962C8B-B14F-4D97-AF65-F5344CB8AC3E}">
        <p14:creationId xmlns:p14="http://schemas.microsoft.com/office/powerpoint/2010/main" val="19808788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/>
        </p:nvSpPr>
        <p:spPr>
          <a:xfrm>
            <a:off x="191992" y="987671"/>
            <a:ext cx="11758269" cy="491085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6" name="Rectangle 35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37" name="Rectangle 36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90" name="ZoneTexte 89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91" name="Rectangle 90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94" name="Titre 1"/>
          <p:cNvSpPr txBox="1">
            <a:spLocks/>
          </p:cNvSpPr>
          <p:nvPr/>
        </p:nvSpPr>
        <p:spPr>
          <a:xfrm>
            <a:off x="221062" y="1382246"/>
            <a:ext cx="2891365" cy="50148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fr-FR"/>
            </a:defPPr>
            <a:lvl1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 sz="1600" b="1" u="sng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+mj-cs"/>
              </a:defRPr>
            </a:lvl1pPr>
          </a:lstStyle>
          <a:p>
            <a:r>
              <a:rPr lang="fr-FR" dirty="0"/>
              <a:t>Liste des patients ayant droits</a:t>
            </a:r>
          </a:p>
        </p:txBody>
      </p:sp>
      <p:sp>
        <p:nvSpPr>
          <p:cNvPr id="15" name="Titre 1"/>
          <p:cNvSpPr txBox="1">
            <a:spLocks/>
          </p:cNvSpPr>
          <p:nvPr/>
        </p:nvSpPr>
        <p:spPr>
          <a:xfrm>
            <a:off x="8641501" y="2006589"/>
            <a:ext cx="14400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 des accords</a:t>
            </a:r>
            <a:endParaRPr lang="fr-FR" sz="1400" dirty="0"/>
          </a:p>
        </p:txBody>
      </p:sp>
      <p:cxnSp>
        <p:nvCxnSpPr>
          <p:cNvPr id="16" name="Connecteur droit 15"/>
          <p:cNvCxnSpPr/>
          <p:nvPr/>
        </p:nvCxnSpPr>
        <p:spPr>
          <a:xfrm>
            <a:off x="8618081" y="1973646"/>
            <a:ext cx="0" cy="234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7" name="Titre 1"/>
          <p:cNvSpPr txBox="1">
            <a:spLocks/>
          </p:cNvSpPr>
          <p:nvPr/>
        </p:nvSpPr>
        <p:spPr>
          <a:xfrm>
            <a:off x="10280349" y="2500018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…………..…</a:t>
            </a:r>
          </a:p>
        </p:txBody>
      </p:sp>
      <p:sp>
        <p:nvSpPr>
          <p:cNvPr id="18" name="Titre 1"/>
          <p:cNvSpPr txBox="1">
            <a:spLocks/>
          </p:cNvSpPr>
          <p:nvPr/>
        </p:nvSpPr>
        <p:spPr>
          <a:xfrm>
            <a:off x="1586170" y="2014554"/>
            <a:ext cx="118519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sécurité sociale</a:t>
            </a:r>
            <a:endParaRPr lang="fr-FR" sz="1400" dirty="0"/>
          </a:p>
        </p:txBody>
      </p:sp>
      <p:sp>
        <p:nvSpPr>
          <p:cNvPr id="19" name="Rectangle 18"/>
          <p:cNvSpPr/>
          <p:nvPr/>
        </p:nvSpPr>
        <p:spPr>
          <a:xfrm>
            <a:off x="415982" y="1975794"/>
            <a:ext cx="11160000" cy="2340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0" name="Titre 1"/>
          <p:cNvSpPr txBox="1">
            <a:spLocks/>
          </p:cNvSpPr>
          <p:nvPr/>
        </p:nvSpPr>
        <p:spPr>
          <a:xfrm>
            <a:off x="597353" y="2032830"/>
            <a:ext cx="7200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/>
              <a:t>N</a:t>
            </a:r>
            <a:r>
              <a:rPr lang="fr-FR" sz="1400" dirty="0" smtClean="0"/>
              <a:t>°</a:t>
            </a:r>
            <a:endParaRPr lang="fr-FR" sz="1400" dirty="0"/>
          </a:p>
        </p:txBody>
      </p:sp>
      <p:cxnSp>
        <p:nvCxnSpPr>
          <p:cNvPr id="21" name="Connecteur droit 20"/>
          <p:cNvCxnSpPr/>
          <p:nvPr/>
        </p:nvCxnSpPr>
        <p:spPr>
          <a:xfrm>
            <a:off x="4272084" y="1995264"/>
            <a:ext cx="0" cy="234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4" name="Connecteur droit 23"/>
          <p:cNvCxnSpPr/>
          <p:nvPr/>
        </p:nvCxnSpPr>
        <p:spPr>
          <a:xfrm>
            <a:off x="1537945" y="1966807"/>
            <a:ext cx="0" cy="234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5" name="Connecteur droit 24"/>
          <p:cNvCxnSpPr/>
          <p:nvPr/>
        </p:nvCxnSpPr>
        <p:spPr>
          <a:xfrm flipH="1" flipV="1">
            <a:off x="370370" y="2484089"/>
            <a:ext cx="11160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7" name="Titre 1"/>
          <p:cNvSpPr txBox="1">
            <a:spLocks/>
          </p:cNvSpPr>
          <p:nvPr/>
        </p:nvSpPr>
        <p:spPr>
          <a:xfrm>
            <a:off x="5379677" y="2039098"/>
            <a:ext cx="10800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1400" dirty="0" smtClean="0"/>
              <a:t>Bénéficière </a:t>
            </a:r>
            <a:endParaRPr lang="fr-FR" sz="1400" dirty="0"/>
          </a:p>
        </p:txBody>
      </p:sp>
      <p:cxnSp>
        <p:nvCxnSpPr>
          <p:cNvPr id="28" name="Connecteur droit 27"/>
          <p:cNvCxnSpPr/>
          <p:nvPr/>
        </p:nvCxnSpPr>
        <p:spPr>
          <a:xfrm>
            <a:off x="2787314" y="1973646"/>
            <a:ext cx="0" cy="234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9" name="Titre 1"/>
          <p:cNvSpPr txBox="1">
            <a:spLocks/>
          </p:cNvSpPr>
          <p:nvPr/>
        </p:nvSpPr>
        <p:spPr>
          <a:xfrm>
            <a:off x="2819576" y="2046811"/>
            <a:ext cx="14400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1400" dirty="0" smtClean="0"/>
              <a:t>Nom et prénom</a:t>
            </a:r>
            <a:endParaRPr lang="fr-FR" sz="1400" dirty="0"/>
          </a:p>
        </p:txBody>
      </p:sp>
      <p:cxnSp>
        <p:nvCxnSpPr>
          <p:cNvPr id="30" name="Connecteur droit 29"/>
          <p:cNvCxnSpPr/>
          <p:nvPr/>
        </p:nvCxnSpPr>
        <p:spPr>
          <a:xfrm>
            <a:off x="5363845" y="1985373"/>
            <a:ext cx="0" cy="234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1" name="Titre 1"/>
          <p:cNvSpPr txBox="1">
            <a:spLocks/>
          </p:cNvSpPr>
          <p:nvPr/>
        </p:nvSpPr>
        <p:spPr>
          <a:xfrm>
            <a:off x="6779751" y="2021368"/>
            <a:ext cx="14400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1400" dirty="0" smtClean="0"/>
              <a:t>Acte prévu</a:t>
            </a:r>
            <a:endParaRPr lang="fr-FR" sz="1400" dirty="0"/>
          </a:p>
        </p:txBody>
      </p:sp>
      <p:sp>
        <p:nvSpPr>
          <p:cNvPr id="32" name="Titre 1"/>
          <p:cNvSpPr txBox="1">
            <a:spLocks/>
          </p:cNvSpPr>
          <p:nvPr/>
        </p:nvSpPr>
        <p:spPr>
          <a:xfrm>
            <a:off x="4490626" y="2039099"/>
            <a:ext cx="7200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1400" dirty="0" smtClean="0"/>
              <a:t>AOD</a:t>
            </a:r>
            <a:endParaRPr lang="fr-FR" sz="1400" dirty="0"/>
          </a:p>
        </p:txBody>
      </p:sp>
      <p:cxnSp>
        <p:nvCxnSpPr>
          <p:cNvPr id="33" name="Connecteur droit 32"/>
          <p:cNvCxnSpPr/>
          <p:nvPr/>
        </p:nvCxnSpPr>
        <p:spPr>
          <a:xfrm>
            <a:off x="6469816" y="1973646"/>
            <a:ext cx="0" cy="234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4" name="Titre 1"/>
          <p:cNvSpPr txBox="1">
            <a:spLocks/>
          </p:cNvSpPr>
          <p:nvPr/>
        </p:nvSpPr>
        <p:spPr>
          <a:xfrm>
            <a:off x="443385" y="2489936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……………..</a:t>
            </a:r>
            <a:endParaRPr lang="fr-FR" sz="1800" b="1" dirty="0"/>
          </a:p>
        </p:txBody>
      </p:sp>
      <p:sp>
        <p:nvSpPr>
          <p:cNvPr id="39" name="Titre 1"/>
          <p:cNvSpPr txBox="1">
            <a:spLocks/>
          </p:cNvSpPr>
          <p:nvPr/>
        </p:nvSpPr>
        <p:spPr>
          <a:xfrm>
            <a:off x="4275171" y="2496563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40" name="Titre 1"/>
          <p:cNvSpPr txBox="1">
            <a:spLocks/>
          </p:cNvSpPr>
          <p:nvPr/>
        </p:nvSpPr>
        <p:spPr>
          <a:xfrm>
            <a:off x="5370293" y="2483420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41" name="Titre 1"/>
          <p:cNvSpPr txBox="1">
            <a:spLocks/>
          </p:cNvSpPr>
          <p:nvPr/>
        </p:nvSpPr>
        <p:spPr>
          <a:xfrm>
            <a:off x="1626091" y="2500667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…………….</a:t>
            </a:r>
            <a:endParaRPr lang="fr-FR" sz="1800" b="1" dirty="0"/>
          </a:p>
        </p:txBody>
      </p:sp>
      <p:sp>
        <p:nvSpPr>
          <p:cNvPr id="42" name="Titre 1"/>
          <p:cNvSpPr txBox="1">
            <a:spLocks/>
          </p:cNvSpPr>
          <p:nvPr/>
        </p:nvSpPr>
        <p:spPr>
          <a:xfrm>
            <a:off x="8844385" y="2499778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43" name="Titre 1"/>
          <p:cNvSpPr txBox="1">
            <a:spLocks/>
          </p:cNvSpPr>
          <p:nvPr/>
        </p:nvSpPr>
        <p:spPr>
          <a:xfrm>
            <a:off x="441236" y="2938552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……………..</a:t>
            </a:r>
            <a:endParaRPr lang="fr-FR" sz="1800" b="1" dirty="0"/>
          </a:p>
        </p:txBody>
      </p:sp>
      <p:sp>
        <p:nvSpPr>
          <p:cNvPr id="45" name="Titre 1"/>
          <p:cNvSpPr txBox="1">
            <a:spLocks/>
          </p:cNvSpPr>
          <p:nvPr/>
        </p:nvSpPr>
        <p:spPr>
          <a:xfrm>
            <a:off x="2975843" y="2945179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………….....</a:t>
            </a:r>
            <a:endParaRPr lang="fr-FR" sz="1800" b="1" dirty="0"/>
          </a:p>
        </p:txBody>
      </p:sp>
      <p:sp>
        <p:nvSpPr>
          <p:cNvPr id="46" name="Titre 1"/>
          <p:cNvSpPr txBox="1">
            <a:spLocks/>
          </p:cNvSpPr>
          <p:nvPr/>
        </p:nvSpPr>
        <p:spPr>
          <a:xfrm>
            <a:off x="4273022" y="2945179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47" name="Titre 1"/>
          <p:cNvSpPr txBox="1">
            <a:spLocks/>
          </p:cNvSpPr>
          <p:nvPr/>
        </p:nvSpPr>
        <p:spPr>
          <a:xfrm>
            <a:off x="5379622" y="2956954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48" name="Titre 1"/>
          <p:cNvSpPr txBox="1">
            <a:spLocks/>
          </p:cNvSpPr>
          <p:nvPr/>
        </p:nvSpPr>
        <p:spPr>
          <a:xfrm>
            <a:off x="1623942" y="2949283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…………….</a:t>
            </a:r>
            <a:endParaRPr lang="fr-FR" sz="1800" b="1" dirty="0"/>
          </a:p>
        </p:txBody>
      </p:sp>
      <p:sp>
        <p:nvSpPr>
          <p:cNvPr id="49" name="Titre 1"/>
          <p:cNvSpPr txBox="1">
            <a:spLocks/>
          </p:cNvSpPr>
          <p:nvPr/>
        </p:nvSpPr>
        <p:spPr>
          <a:xfrm>
            <a:off x="8828651" y="2948875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50" name="Titre 1"/>
          <p:cNvSpPr txBox="1">
            <a:spLocks/>
          </p:cNvSpPr>
          <p:nvPr/>
        </p:nvSpPr>
        <p:spPr>
          <a:xfrm>
            <a:off x="10288799" y="2948875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…………..…</a:t>
            </a:r>
          </a:p>
        </p:txBody>
      </p:sp>
      <p:cxnSp>
        <p:nvCxnSpPr>
          <p:cNvPr id="51" name="Connecteur droit 50"/>
          <p:cNvCxnSpPr/>
          <p:nvPr/>
        </p:nvCxnSpPr>
        <p:spPr>
          <a:xfrm flipH="1" flipV="1">
            <a:off x="412687" y="3404761"/>
            <a:ext cx="11160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2" name="Titre 1"/>
          <p:cNvSpPr txBox="1">
            <a:spLocks/>
          </p:cNvSpPr>
          <p:nvPr/>
        </p:nvSpPr>
        <p:spPr>
          <a:xfrm>
            <a:off x="439089" y="3374285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……………..</a:t>
            </a:r>
            <a:endParaRPr lang="fr-FR" sz="1800" b="1" dirty="0"/>
          </a:p>
        </p:txBody>
      </p:sp>
      <p:sp>
        <p:nvSpPr>
          <p:cNvPr id="55" name="Titre 1"/>
          <p:cNvSpPr txBox="1">
            <a:spLocks/>
          </p:cNvSpPr>
          <p:nvPr/>
        </p:nvSpPr>
        <p:spPr>
          <a:xfrm>
            <a:off x="4245117" y="3380912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56" name="Titre 1"/>
          <p:cNvSpPr txBox="1">
            <a:spLocks/>
          </p:cNvSpPr>
          <p:nvPr/>
        </p:nvSpPr>
        <p:spPr>
          <a:xfrm>
            <a:off x="5378320" y="3380912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57" name="Titre 1"/>
          <p:cNvSpPr txBox="1">
            <a:spLocks/>
          </p:cNvSpPr>
          <p:nvPr/>
        </p:nvSpPr>
        <p:spPr>
          <a:xfrm>
            <a:off x="1634674" y="3385016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…………….</a:t>
            </a:r>
            <a:endParaRPr lang="fr-FR" sz="1800" b="1" dirty="0"/>
          </a:p>
        </p:txBody>
      </p:sp>
      <p:sp>
        <p:nvSpPr>
          <p:cNvPr id="58" name="Titre 1"/>
          <p:cNvSpPr txBox="1">
            <a:spLocks/>
          </p:cNvSpPr>
          <p:nvPr/>
        </p:nvSpPr>
        <p:spPr>
          <a:xfrm>
            <a:off x="8852051" y="3384367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59" name="Titre 1"/>
          <p:cNvSpPr txBox="1">
            <a:spLocks/>
          </p:cNvSpPr>
          <p:nvPr/>
        </p:nvSpPr>
        <p:spPr>
          <a:xfrm>
            <a:off x="10286149" y="3393481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…………..…</a:t>
            </a:r>
          </a:p>
        </p:txBody>
      </p:sp>
      <p:cxnSp>
        <p:nvCxnSpPr>
          <p:cNvPr id="60" name="Connecteur droit 59"/>
          <p:cNvCxnSpPr/>
          <p:nvPr/>
        </p:nvCxnSpPr>
        <p:spPr>
          <a:xfrm flipH="1" flipV="1">
            <a:off x="423418" y="3827618"/>
            <a:ext cx="11160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2" name="Connecteur droit 71"/>
          <p:cNvCxnSpPr/>
          <p:nvPr/>
        </p:nvCxnSpPr>
        <p:spPr>
          <a:xfrm flipH="1" flipV="1">
            <a:off x="410539" y="2964732"/>
            <a:ext cx="11160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" name="Rectangle 2"/>
          <p:cNvSpPr/>
          <p:nvPr/>
        </p:nvSpPr>
        <p:spPr>
          <a:xfrm>
            <a:off x="10084040" y="2079184"/>
            <a:ext cx="1440000" cy="2970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N° du BX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cxnSp>
        <p:nvCxnSpPr>
          <p:cNvPr id="67" name="Connecteur droit 66"/>
          <p:cNvCxnSpPr/>
          <p:nvPr/>
        </p:nvCxnSpPr>
        <p:spPr>
          <a:xfrm>
            <a:off x="10135661" y="1989887"/>
            <a:ext cx="0" cy="234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8" name="Titre 1"/>
          <p:cNvSpPr txBox="1">
            <a:spLocks/>
          </p:cNvSpPr>
          <p:nvPr/>
        </p:nvSpPr>
        <p:spPr>
          <a:xfrm>
            <a:off x="2973696" y="2518032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………….....</a:t>
            </a:r>
            <a:endParaRPr lang="fr-FR" sz="1800" b="1" dirty="0"/>
          </a:p>
        </p:txBody>
      </p:sp>
      <p:sp>
        <p:nvSpPr>
          <p:cNvPr id="73" name="Titre 1"/>
          <p:cNvSpPr txBox="1">
            <a:spLocks/>
          </p:cNvSpPr>
          <p:nvPr/>
        </p:nvSpPr>
        <p:spPr>
          <a:xfrm>
            <a:off x="2984427" y="3365893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………….....</a:t>
            </a:r>
            <a:endParaRPr lang="fr-FR" sz="1800" b="1" dirty="0"/>
          </a:p>
        </p:txBody>
      </p:sp>
      <p:sp>
        <p:nvSpPr>
          <p:cNvPr id="75" name="Titre 1"/>
          <p:cNvSpPr txBox="1">
            <a:spLocks/>
          </p:cNvSpPr>
          <p:nvPr/>
        </p:nvSpPr>
        <p:spPr>
          <a:xfrm>
            <a:off x="6513243" y="2477247"/>
            <a:ext cx="2106204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…………......................</a:t>
            </a:r>
            <a:endParaRPr lang="fr-FR" sz="1800" b="1" dirty="0"/>
          </a:p>
        </p:txBody>
      </p:sp>
      <p:sp>
        <p:nvSpPr>
          <p:cNvPr id="79" name="Titre 1"/>
          <p:cNvSpPr txBox="1">
            <a:spLocks/>
          </p:cNvSpPr>
          <p:nvPr/>
        </p:nvSpPr>
        <p:spPr>
          <a:xfrm>
            <a:off x="10278201" y="3837273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…………..…</a:t>
            </a:r>
          </a:p>
        </p:txBody>
      </p:sp>
      <p:sp>
        <p:nvSpPr>
          <p:cNvPr id="80" name="Titre 1"/>
          <p:cNvSpPr txBox="1">
            <a:spLocks/>
          </p:cNvSpPr>
          <p:nvPr/>
        </p:nvSpPr>
        <p:spPr>
          <a:xfrm>
            <a:off x="441237" y="3827191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……………..</a:t>
            </a:r>
            <a:endParaRPr lang="fr-FR" sz="1800" b="1" dirty="0"/>
          </a:p>
        </p:txBody>
      </p:sp>
      <p:sp>
        <p:nvSpPr>
          <p:cNvPr id="82" name="Titre 1"/>
          <p:cNvSpPr txBox="1">
            <a:spLocks/>
          </p:cNvSpPr>
          <p:nvPr/>
        </p:nvSpPr>
        <p:spPr>
          <a:xfrm>
            <a:off x="4273023" y="3833818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83" name="Titre 1"/>
          <p:cNvSpPr txBox="1">
            <a:spLocks/>
          </p:cNvSpPr>
          <p:nvPr/>
        </p:nvSpPr>
        <p:spPr>
          <a:xfrm>
            <a:off x="5368145" y="3820675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84" name="Titre 1"/>
          <p:cNvSpPr txBox="1">
            <a:spLocks/>
          </p:cNvSpPr>
          <p:nvPr/>
        </p:nvSpPr>
        <p:spPr>
          <a:xfrm>
            <a:off x="1623943" y="3837922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…………….</a:t>
            </a:r>
            <a:endParaRPr lang="fr-FR" sz="1800" b="1" dirty="0"/>
          </a:p>
        </p:txBody>
      </p:sp>
      <p:sp>
        <p:nvSpPr>
          <p:cNvPr id="85" name="Titre 1"/>
          <p:cNvSpPr txBox="1">
            <a:spLocks/>
          </p:cNvSpPr>
          <p:nvPr/>
        </p:nvSpPr>
        <p:spPr>
          <a:xfrm>
            <a:off x="8842237" y="3837033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87" name="Titre 1"/>
          <p:cNvSpPr txBox="1">
            <a:spLocks/>
          </p:cNvSpPr>
          <p:nvPr/>
        </p:nvSpPr>
        <p:spPr>
          <a:xfrm>
            <a:off x="2971548" y="3855287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………….....</a:t>
            </a:r>
            <a:endParaRPr lang="fr-FR" sz="1800" b="1" dirty="0"/>
          </a:p>
        </p:txBody>
      </p:sp>
      <p:sp>
        <p:nvSpPr>
          <p:cNvPr id="69" name="Titre 1"/>
          <p:cNvSpPr txBox="1">
            <a:spLocks/>
          </p:cNvSpPr>
          <p:nvPr/>
        </p:nvSpPr>
        <p:spPr>
          <a:xfrm>
            <a:off x="2820764" y="96454"/>
            <a:ext cx="5835953" cy="67367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16 –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Patient 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–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Reporting 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/ Report d’envoi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- Fichier PDF 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-</a:t>
            </a:r>
            <a:endParaRPr lang="fr-FR" altLang="fr-FR" sz="1800" b="1" dirty="0">
              <a:solidFill>
                <a:srgbClr val="000000"/>
              </a:solidFill>
              <a:latin typeface="Times New Roman" panose="02020603050405020304" pitchFamily="18" charset="0"/>
              <a:ea typeface="Microsoft YaHei" panose="020B0503020204020204" pitchFamily="34" charset="-122"/>
            </a:endParaRPr>
          </a:p>
        </p:txBody>
      </p:sp>
      <p:sp>
        <p:nvSpPr>
          <p:cNvPr id="70" name="Titre 1"/>
          <p:cNvSpPr txBox="1">
            <a:spLocks/>
          </p:cNvSpPr>
          <p:nvPr/>
        </p:nvSpPr>
        <p:spPr>
          <a:xfrm>
            <a:off x="6511095" y="2951621"/>
            <a:ext cx="2106204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…………......................</a:t>
            </a:r>
            <a:endParaRPr lang="fr-FR" sz="1800" b="1" dirty="0"/>
          </a:p>
        </p:txBody>
      </p:sp>
      <p:sp>
        <p:nvSpPr>
          <p:cNvPr id="71" name="Titre 1"/>
          <p:cNvSpPr txBox="1">
            <a:spLocks/>
          </p:cNvSpPr>
          <p:nvPr/>
        </p:nvSpPr>
        <p:spPr>
          <a:xfrm>
            <a:off x="6498216" y="3337989"/>
            <a:ext cx="2106204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…………......................</a:t>
            </a:r>
            <a:endParaRPr lang="fr-FR" sz="1800" b="1" dirty="0"/>
          </a:p>
        </p:txBody>
      </p:sp>
      <p:sp>
        <p:nvSpPr>
          <p:cNvPr id="76" name="Titre 1"/>
          <p:cNvSpPr txBox="1">
            <a:spLocks/>
          </p:cNvSpPr>
          <p:nvPr/>
        </p:nvSpPr>
        <p:spPr>
          <a:xfrm>
            <a:off x="6496068" y="3812363"/>
            <a:ext cx="2106204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…………......................</a:t>
            </a:r>
            <a:endParaRPr lang="fr-FR" sz="1800" b="1" dirty="0"/>
          </a:p>
        </p:txBody>
      </p:sp>
    </p:spTree>
    <p:extLst>
      <p:ext uri="{BB962C8B-B14F-4D97-AF65-F5344CB8AC3E}">
        <p14:creationId xmlns:p14="http://schemas.microsoft.com/office/powerpoint/2010/main" val="29824464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 txBox="1">
            <a:spLocks/>
          </p:cNvSpPr>
          <p:nvPr/>
        </p:nvSpPr>
        <p:spPr>
          <a:xfrm>
            <a:off x="3716838" y="59579"/>
            <a:ext cx="5101042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17– Patient -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Reporting /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/>
            </a:r>
            <a:b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</a:br>
            <a:r>
              <a:rPr lang="fr-FR" altLang="fr-FR" sz="1800" b="1" dirty="0" smtClean="0">
                <a:latin typeface="Times New Roman" panose="02020603050405020304" pitchFamily="18" charset="0"/>
              </a:rPr>
              <a:t>Demande prise en charge / nouvelle demande</a:t>
            </a:r>
            <a:endParaRPr lang="fr-FR" sz="1800" dirty="0"/>
          </a:p>
        </p:txBody>
      </p:sp>
      <p:sp>
        <p:nvSpPr>
          <p:cNvPr id="3" name="Rectangle 2"/>
          <p:cNvSpPr/>
          <p:nvPr/>
        </p:nvSpPr>
        <p:spPr>
          <a:xfrm>
            <a:off x="3739345" y="2371937"/>
            <a:ext cx="1691245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" name="Titre 1"/>
          <p:cNvSpPr txBox="1">
            <a:spLocks/>
          </p:cNvSpPr>
          <p:nvPr/>
        </p:nvSpPr>
        <p:spPr>
          <a:xfrm>
            <a:off x="2153278" y="2328684"/>
            <a:ext cx="16200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Nom de l’assuré</a:t>
            </a:r>
            <a:endParaRPr lang="fr-FR" sz="1400" dirty="0"/>
          </a:p>
        </p:txBody>
      </p:sp>
      <p:sp>
        <p:nvSpPr>
          <p:cNvPr id="5" name="Rectangle 4"/>
          <p:cNvSpPr/>
          <p:nvPr/>
        </p:nvSpPr>
        <p:spPr>
          <a:xfrm>
            <a:off x="7521140" y="2378539"/>
            <a:ext cx="1691245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" name="Titre 1"/>
          <p:cNvSpPr txBox="1">
            <a:spLocks/>
          </p:cNvSpPr>
          <p:nvPr/>
        </p:nvSpPr>
        <p:spPr>
          <a:xfrm>
            <a:off x="5901883" y="2349434"/>
            <a:ext cx="162000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Prénom</a:t>
            </a:r>
            <a:endParaRPr lang="fr-FR" sz="1400" dirty="0"/>
          </a:p>
        </p:txBody>
      </p:sp>
      <p:sp>
        <p:nvSpPr>
          <p:cNvPr id="7" name="Rectangle 6"/>
          <p:cNvSpPr/>
          <p:nvPr/>
        </p:nvSpPr>
        <p:spPr>
          <a:xfrm>
            <a:off x="3739344" y="2768765"/>
            <a:ext cx="1691245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" name="Titre 1"/>
          <p:cNvSpPr txBox="1">
            <a:spLocks/>
          </p:cNvSpPr>
          <p:nvPr/>
        </p:nvSpPr>
        <p:spPr>
          <a:xfrm>
            <a:off x="2131732" y="2737831"/>
            <a:ext cx="162000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 de  naissance</a:t>
            </a:r>
            <a:endParaRPr lang="fr-FR" sz="1400" dirty="0"/>
          </a:p>
        </p:txBody>
      </p:sp>
      <p:sp>
        <p:nvSpPr>
          <p:cNvPr id="9" name="Rectangle 8"/>
          <p:cNvSpPr/>
          <p:nvPr/>
        </p:nvSpPr>
        <p:spPr>
          <a:xfrm>
            <a:off x="7506441" y="2772120"/>
            <a:ext cx="1708252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" name="Titre 1"/>
          <p:cNvSpPr txBox="1">
            <a:spLocks/>
          </p:cNvSpPr>
          <p:nvPr/>
        </p:nvSpPr>
        <p:spPr>
          <a:xfrm>
            <a:off x="5893219" y="2725535"/>
            <a:ext cx="162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Lieu de  naissance</a:t>
            </a:r>
            <a:endParaRPr lang="fr-FR" sz="1400" dirty="0"/>
          </a:p>
        </p:txBody>
      </p:sp>
      <p:sp>
        <p:nvSpPr>
          <p:cNvPr id="23" name="Rectangle 22"/>
          <p:cNvSpPr/>
          <p:nvPr/>
        </p:nvSpPr>
        <p:spPr>
          <a:xfrm>
            <a:off x="311736" y="670584"/>
            <a:ext cx="11758269" cy="598779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6" name="Rectangle 35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37" name="Rectangle 36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45" name="Triangle isocèle 44"/>
          <p:cNvSpPr/>
          <p:nvPr/>
        </p:nvSpPr>
        <p:spPr>
          <a:xfrm rot="10800000">
            <a:off x="9020384" y="2771281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7" name="Titre 1"/>
          <p:cNvSpPr txBox="1">
            <a:spLocks/>
          </p:cNvSpPr>
          <p:nvPr/>
        </p:nvSpPr>
        <p:spPr>
          <a:xfrm>
            <a:off x="5895398" y="3178343"/>
            <a:ext cx="162000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fr-FR"/>
            </a:defPPr>
            <a:lvl1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 sz="1400"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/>
              <a:t>Code centre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743975" y="3201202"/>
            <a:ext cx="16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1" name="Titre 1"/>
          <p:cNvSpPr txBox="1">
            <a:spLocks/>
          </p:cNvSpPr>
          <p:nvPr/>
        </p:nvSpPr>
        <p:spPr>
          <a:xfrm>
            <a:off x="2131534" y="3176381"/>
            <a:ext cx="162000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Code d’agence</a:t>
            </a:r>
            <a:endParaRPr lang="fr-FR" sz="1400" dirty="0"/>
          </a:p>
        </p:txBody>
      </p:sp>
      <p:sp>
        <p:nvSpPr>
          <p:cNvPr id="72" name="Rectangle 71"/>
          <p:cNvSpPr/>
          <p:nvPr/>
        </p:nvSpPr>
        <p:spPr>
          <a:xfrm>
            <a:off x="7523414" y="3209572"/>
            <a:ext cx="16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8" name="Triangle isocèle 87"/>
          <p:cNvSpPr/>
          <p:nvPr/>
        </p:nvSpPr>
        <p:spPr>
          <a:xfrm rot="10800000">
            <a:off x="5223501" y="3230764"/>
            <a:ext cx="180000" cy="252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0" name="ZoneTexte 89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91" name="Rectangle 90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92" name="Titre 1"/>
          <p:cNvSpPr txBox="1">
            <a:spLocks/>
          </p:cNvSpPr>
          <p:nvPr/>
        </p:nvSpPr>
        <p:spPr>
          <a:xfrm>
            <a:off x="2139069" y="1912790"/>
            <a:ext cx="162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sécurité sociale</a:t>
            </a:r>
            <a:endParaRPr lang="fr-FR" sz="1400" dirty="0"/>
          </a:p>
        </p:txBody>
      </p:sp>
      <p:sp>
        <p:nvSpPr>
          <p:cNvPr id="93" name="Rectangle 92"/>
          <p:cNvSpPr/>
          <p:nvPr/>
        </p:nvSpPr>
        <p:spPr>
          <a:xfrm>
            <a:off x="3754707" y="1936148"/>
            <a:ext cx="1660572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8" name="Rectangle 97"/>
          <p:cNvSpPr/>
          <p:nvPr/>
        </p:nvSpPr>
        <p:spPr>
          <a:xfrm>
            <a:off x="401889" y="1786507"/>
            <a:ext cx="9360000" cy="185826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0" name="Titre 1"/>
          <p:cNvSpPr txBox="1">
            <a:spLocks/>
          </p:cNvSpPr>
          <p:nvPr/>
        </p:nvSpPr>
        <p:spPr>
          <a:xfrm>
            <a:off x="2164008" y="782411"/>
            <a:ext cx="1620000" cy="360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Recherche</a:t>
            </a:r>
            <a:endParaRPr lang="fr-FR" sz="1400" dirty="0"/>
          </a:p>
        </p:txBody>
      </p:sp>
      <p:sp>
        <p:nvSpPr>
          <p:cNvPr id="101" name="Rectangle 100"/>
          <p:cNvSpPr/>
          <p:nvPr/>
        </p:nvSpPr>
        <p:spPr>
          <a:xfrm>
            <a:off x="3788707" y="825819"/>
            <a:ext cx="28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2" name="Rectangle 101"/>
          <p:cNvSpPr/>
          <p:nvPr/>
        </p:nvSpPr>
        <p:spPr>
          <a:xfrm>
            <a:off x="367324" y="743688"/>
            <a:ext cx="9360000" cy="904491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3" name="Titre 1"/>
          <p:cNvSpPr txBox="1">
            <a:spLocks/>
          </p:cNvSpPr>
          <p:nvPr/>
        </p:nvSpPr>
        <p:spPr>
          <a:xfrm>
            <a:off x="2148086" y="1202282"/>
            <a:ext cx="1620000" cy="34977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defPPr>
              <a:defRPr lang="fr-FR"/>
            </a:defPPr>
            <a:lvl1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 sz="1400"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 smtClean="0"/>
              <a:t>N° Réf. </a:t>
            </a:r>
            <a:endParaRPr lang="fr-FR" dirty="0"/>
          </a:p>
        </p:txBody>
      </p:sp>
      <p:sp>
        <p:nvSpPr>
          <p:cNvPr id="104" name="Rectangle 103"/>
          <p:cNvSpPr/>
          <p:nvPr/>
        </p:nvSpPr>
        <p:spPr>
          <a:xfrm>
            <a:off x="3769067" y="1220288"/>
            <a:ext cx="16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0" name="Titre 1"/>
          <p:cNvSpPr txBox="1">
            <a:spLocks/>
          </p:cNvSpPr>
          <p:nvPr/>
        </p:nvSpPr>
        <p:spPr>
          <a:xfrm>
            <a:off x="5932217" y="1184405"/>
            <a:ext cx="1620000" cy="34977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defPPr>
              <a:defRPr lang="fr-FR"/>
            </a:defPPr>
            <a:lvl1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 sz="1400"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 smtClean="0"/>
              <a:t>Date de demande</a:t>
            </a:r>
            <a:endParaRPr lang="fr-FR" dirty="0"/>
          </a:p>
        </p:txBody>
      </p:sp>
      <p:sp>
        <p:nvSpPr>
          <p:cNvPr id="111" name="Rectangle 110"/>
          <p:cNvSpPr/>
          <p:nvPr/>
        </p:nvSpPr>
        <p:spPr>
          <a:xfrm>
            <a:off x="7552188" y="1200030"/>
            <a:ext cx="16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0" name="Titre 1"/>
          <p:cNvSpPr txBox="1">
            <a:spLocks/>
          </p:cNvSpPr>
          <p:nvPr/>
        </p:nvSpPr>
        <p:spPr>
          <a:xfrm>
            <a:off x="439450" y="1856249"/>
            <a:ext cx="100800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b="1" u="sng" dirty="0" smtClean="0"/>
              <a:t>Assuré (e)</a:t>
            </a:r>
            <a:endParaRPr lang="fr-FR" sz="1400" b="1" u="sng" dirty="0"/>
          </a:p>
        </p:txBody>
      </p:sp>
      <p:sp>
        <p:nvSpPr>
          <p:cNvPr id="124" name="Titre 1"/>
          <p:cNvSpPr txBox="1">
            <a:spLocks/>
          </p:cNvSpPr>
          <p:nvPr/>
        </p:nvSpPr>
        <p:spPr>
          <a:xfrm>
            <a:off x="444761" y="3897437"/>
            <a:ext cx="90000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b="1" u="sng" dirty="0" smtClean="0"/>
              <a:t>Patient</a:t>
            </a:r>
            <a:endParaRPr lang="fr-FR" sz="1400" b="1" u="sng" dirty="0"/>
          </a:p>
        </p:txBody>
      </p:sp>
      <p:sp>
        <p:nvSpPr>
          <p:cNvPr id="147" name="Rectangle 146"/>
          <p:cNvSpPr/>
          <p:nvPr/>
        </p:nvSpPr>
        <p:spPr>
          <a:xfrm>
            <a:off x="412589" y="3748100"/>
            <a:ext cx="9360000" cy="1442086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1" name="Rectangle 80"/>
          <p:cNvSpPr/>
          <p:nvPr/>
        </p:nvSpPr>
        <p:spPr>
          <a:xfrm>
            <a:off x="3737197" y="3928129"/>
            <a:ext cx="1691245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2" name="Titre 1"/>
          <p:cNvSpPr txBox="1">
            <a:spLocks/>
          </p:cNvSpPr>
          <p:nvPr/>
        </p:nvSpPr>
        <p:spPr>
          <a:xfrm>
            <a:off x="2151130" y="3884876"/>
            <a:ext cx="16200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Nom de naissance</a:t>
            </a:r>
            <a:endParaRPr lang="fr-FR" sz="1400" dirty="0"/>
          </a:p>
        </p:txBody>
      </p:sp>
      <p:sp>
        <p:nvSpPr>
          <p:cNvPr id="83" name="Rectangle 82"/>
          <p:cNvSpPr/>
          <p:nvPr/>
        </p:nvSpPr>
        <p:spPr>
          <a:xfrm>
            <a:off x="7518992" y="3934731"/>
            <a:ext cx="1691245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4" name="Titre 1"/>
          <p:cNvSpPr txBox="1">
            <a:spLocks/>
          </p:cNvSpPr>
          <p:nvPr/>
        </p:nvSpPr>
        <p:spPr>
          <a:xfrm>
            <a:off x="5899734" y="3918505"/>
            <a:ext cx="162000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Prénom</a:t>
            </a:r>
            <a:endParaRPr lang="fr-FR" sz="1400" dirty="0"/>
          </a:p>
        </p:txBody>
      </p:sp>
      <p:sp>
        <p:nvSpPr>
          <p:cNvPr id="85" name="Rectangle 84"/>
          <p:cNvSpPr/>
          <p:nvPr/>
        </p:nvSpPr>
        <p:spPr>
          <a:xfrm>
            <a:off x="3737196" y="4324957"/>
            <a:ext cx="1691245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7" name="Titre 1"/>
          <p:cNvSpPr txBox="1">
            <a:spLocks/>
          </p:cNvSpPr>
          <p:nvPr/>
        </p:nvSpPr>
        <p:spPr>
          <a:xfrm>
            <a:off x="2129584" y="4294023"/>
            <a:ext cx="162000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 de  naissance</a:t>
            </a:r>
            <a:endParaRPr lang="fr-FR" sz="1400" dirty="0"/>
          </a:p>
        </p:txBody>
      </p:sp>
      <p:sp>
        <p:nvSpPr>
          <p:cNvPr id="89" name="Rectangle 88"/>
          <p:cNvSpPr/>
          <p:nvPr/>
        </p:nvSpPr>
        <p:spPr>
          <a:xfrm>
            <a:off x="7504293" y="4328312"/>
            <a:ext cx="1708252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6" name="Titre 1"/>
          <p:cNvSpPr txBox="1">
            <a:spLocks/>
          </p:cNvSpPr>
          <p:nvPr/>
        </p:nvSpPr>
        <p:spPr>
          <a:xfrm>
            <a:off x="5891072" y="4281727"/>
            <a:ext cx="162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Lieu de  naissance</a:t>
            </a:r>
            <a:endParaRPr lang="fr-FR" sz="1400" dirty="0"/>
          </a:p>
        </p:txBody>
      </p:sp>
      <p:sp>
        <p:nvSpPr>
          <p:cNvPr id="97" name="Triangle isocèle 96"/>
          <p:cNvSpPr/>
          <p:nvPr/>
        </p:nvSpPr>
        <p:spPr>
          <a:xfrm rot="10800000">
            <a:off x="9018236" y="4327473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6" name="Titre 1"/>
          <p:cNvSpPr txBox="1">
            <a:spLocks/>
          </p:cNvSpPr>
          <p:nvPr/>
        </p:nvSpPr>
        <p:spPr>
          <a:xfrm>
            <a:off x="5906128" y="4734535"/>
            <a:ext cx="162000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fr-FR"/>
            </a:defPPr>
            <a:lvl1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 sz="1400"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 smtClean="0"/>
              <a:t>Praticien</a:t>
            </a:r>
            <a:endParaRPr lang="fr-FR" dirty="0"/>
          </a:p>
        </p:txBody>
      </p:sp>
      <p:sp>
        <p:nvSpPr>
          <p:cNvPr id="107" name="Rectangle 106"/>
          <p:cNvSpPr/>
          <p:nvPr/>
        </p:nvSpPr>
        <p:spPr>
          <a:xfrm>
            <a:off x="3741827" y="4757394"/>
            <a:ext cx="16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8" name="Titre 1"/>
          <p:cNvSpPr txBox="1">
            <a:spLocks/>
          </p:cNvSpPr>
          <p:nvPr/>
        </p:nvSpPr>
        <p:spPr>
          <a:xfrm>
            <a:off x="2129386" y="4732573"/>
            <a:ext cx="162000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Catégorie</a:t>
            </a:r>
            <a:endParaRPr lang="fr-FR" sz="1400" dirty="0"/>
          </a:p>
        </p:txBody>
      </p:sp>
      <p:sp>
        <p:nvSpPr>
          <p:cNvPr id="109" name="Rectangle 108"/>
          <p:cNvSpPr/>
          <p:nvPr/>
        </p:nvSpPr>
        <p:spPr>
          <a:xfrm>
            <a:off x="7521266" y="4765764"/>
            <a:ext cx="16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8" name="Triangle isocèle 117"/>
          <p:cNvSpPr/>
          <p:nvPr/>
        </p:nvSpPr>
        <p:spPr>
          <a:xfrm rot="10800000">
            <a:off x="5221353" y="4786956"/>
            <a:ext cx="180000" cy="252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0" name="Titre 1"/>
          <p:cNvSpPr txBox="1">
            <a:spLocks/>
          </p:cNvSpPr>
          <p:nvPr/>
        </p:nvSpPr>
        <p:spPr>
          <a:xfrm>
            <a:off x="415245" y="5314369"/>
            <a:ext cx="2017253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b="1" u="sng" dirty="0" smtClean="0"/>
              <a:t>Information médicales</a:t>
            </a:r>
            <a:endParaRPr lang="fr-FR" sz="1400" b="1" u="sng" dirty="0"/>
          </a:p>
        </p:txBody>
      </p:sp>
      <p:sp>
        <p:nvSpPr>
          <p:cNvPr id="131" name="Rectangle 130"/>
          <p:cNvSpPr/>
          <p:nvPr/>
        </p:nvSpPr>
        <p:spPr>
          <a:xfrm>
            <a:off x="410441" y="5265662"/>
            <a:ext cx="9360000" cy="580306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2" name="Rectangle 131"/>
          <p:cNvSpPr/>
          <p:nvPr/>
        </p:nvSpPr>
        <p:spPr>
          <a:xfrm>
            <a:off x="3735049" y="5445690"/>
            <a:ext cx="1691245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3" name="Titre 1"/>
          <p:cNvSpPr txBox="1">
            <a:spLocks/>
          </p:cNvSpPr>
          <p:nvPr/>
        </p:nvSpPr>
        <p:spPr>
          <a:xfrm>
            <a:off x="2148982" y="5402437"/>
            <a:ext cx="16200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Diagnostic</a:t>
            </a:r>
            <a:endParaRPr lang="fr-FR" sz="1400" dirty="0"/>
          </a:p>
        </p:txBody>
      </p:sp>
      <p:sp>
        <p:nvSpPr>
          <p:cNvPr id="153" name="Triangle isocèle 152"/>
          <p:cNvSpPr/>
          <p:nvPr/>
        </p:nvSpPr>
        <p:spPr>
          <a:xfrm rot="10800000">
            <a:off x="5219205" y="5467388"/>
            <a:ext cx="180000" cy="252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55" name="Rectangle 154"/>
          <p:cNvSpPr/>
          <p:nvPr/>
        </p:nvSpPr>
        <p:spPr>
          <a:xfrm>
            <a:off x="10130532" y="6163184"/>
            <a:ext cx="1332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Imprimer</a:t>
            </a:r>
            <a:endParaRPr lang="fr-FR" sz="1400" dirty="0"/>
          </a:p>
        </p:txBody>
      </p:sp>
      <p:sp>
        <p:nvSpPr>
          <p:cNvPr id="156" name="Titre 1"/>
          <p:cNvSpPr txBox="1">
            <a:spLocks/>
          </p:cNvSpPr>
          <p:nvPr/>
        </p:nvSpPr>
        <p:spPr>
          <a:xfrm>
            <a:off x="387339" y="5956171"/>
            <a:ext cx="2017253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b="1" u="sng" dirty="0" smtClean="0"/>
              <a:t>Codes actes</a:t>
            </a:r>
            <a:endParaRPr lang="fr-FR" sz="1400" b="1" u="sng" dirty="0"/>
          </a:p>
        </p:txBody>
      </p:sp>
      <p:sp>
        <p:nvSpPr>
          <p:cNvPr id="157" name="Rectangle 156"/>
          <p:cNvSpPr/>
          <p:nvPr/>
        </p:nvSpPr>
        <p:spPr>
          <a:xfrm>
            <a:off x="395414" y="5907464"/>
            <a:ext cx="9360000" cy="580306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58" name="Rectangle 157"/>
          <p:cNvSpPr/>
          <p:nvPr/>
        </p:nvSpPr>
        <p:spPr>
          <a:xfrm>
            <a:off x="3707143" y="6087492"/>
            <a:ext cx="1691245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59" name="Titre 1"/>
          <p:cNvSpPr txBox="1">
            <a:spLocks/>
          </p:cNvSpPr>
          <p:nvPr/>
        </p:nvSpPr>
        <p:spPr>
          <a:xfrm>
            <a:off x="2121076" y="6044239"/>
            <a:ext cx="16200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Diagnostic</a:t>
            </a:r>
            <a:endParaRPr lang="fr-FR" sz="1400" dirty="0"/>
          </a:p>
        </p:txBody>
      </p:sp>
      <p:sp>
        <p:nvSpPr>
          <p:cNvPr id="160" name="Triangle isocèle 159"/>
          <p:cNvSpPr/>
          <p:nvPr/>
        </p:nvSpPr>
        <p:spPr>
          <a:xfrm rot="10800000">
            <a:off x="5191299" y="6109190"/>
            <a:ext cx="180000" cy="252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62" name="Titre 1"/>
          <p:cNvSpPr txBox="1">
            <a:spLocks/>
          </p:cNvSpPr>
          <p:nvPr/>
        </p:nvSpPr>
        <p:spPr>
          <a:xfrm>
            <a:off x="413097" y="765977"/>
            <a:ext cx="1505855" cy="48918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b="1" u="sng" dirty="0" smtClean="0"/>
              <a:t>Demande de prise en charge</a:t>
            </a:r>
            <a:endParaRPr lang="fr-FR" sz="1400" b="1" u="sng" dirty="0"/>
          </a:p>
        </p:txBody>
      </p:sp>
    </p:spTree>
    <p:extLst>
      <p:ext uri="{BB962C8B-B14F-4D97-AF65-F5344CB8AC3E}">
        <p14:creationId xmlns:p14="http://schemas.microsoft.com/office/powerpoint/2010/main" val="39117141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 txBox="1">
            <a:spLocks/>
          </p:cNvSpPr>
          <p:nvPr/>
        </p:nvSpPr>
        <p:spPr>
          <a:xfrm>
            <a:off x="3716838" y="59579"/>
            <a:ext cx="5101042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18 – Patient -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Reporting /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/>
            </a:r>
            <a:b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</a:br>
            <a:r>
              <a:rPr lang="fr-FR" altLang="fr-FR" sz="1800" b="1" dirty="0" smtClean="0">
                <a:latin typeface="Times New Roman" panose="02020603050405020304" pitchFamily="18" charset="0"/>
              </a:rPr>
              <a:t>Demande prise en charge / </a:t>
            </a:r>
            <a:r>
              <a:rPr lang="fr-FR" altLang="fr-FR" sz="1800" b="1" smtClean="0">
                <a:latin typeface="Times New Roman" panose="02020603050405020304" pitchFamily="18" charset="0"/>
              </a:rPr>
              <a:t>sécurité sociale </a:t>
            </a:r>
            <a:r>
              <a:rPr lang="fr-FR" altLang="fr-FR" sz="1800" b="1" dirty="0" smtClean="0">
                <a:latin typeface="Times New Roman" panose="02020603050405020304" pitchFamily="18" charset="0"/>
              </a:rPr>
              <a:t>AS 5</a:t>
            </a:r>
            <a:endParaRPr lang="fr-FR" sz="1800" dirty="0"/>
          </a:p>
        </p:txBody>
      </p:sp>
      <p:sp>
        <p:nvSpPr>
          <p:cNvPr id="23" name="Rectangle 22"/>
          <p:cNvSpPr/>
          <p:nvPr/>
        </p:nvSpPr>
        <p:spPr>
          <a:xfrm>
            <a:off x="311736" y="670584"/>
            <a:ext cx="11758269" cy="598779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6" name="Rectangle 35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37" name="Rectangle 36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90" name="ZoneTexte 89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91" name="Rectangle 90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100" name="Titre 1"/>
          <p:cNvSpPr txBox="1">
            <a:spLocks/>
          </p:cNvSpPr>
          <p:nvPr/>
        </p:nvSpPr>
        <p:spPr>
          <a:xfrm>
            <a:off x="2164008" y="1555147"/>
            <a:ext cx="1620000" cy="360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Patient</a:t>
            </a:r>
            <a:endParaRPr lang="fr-FR" sz="1400" dirty="0"/>
          </a:p>
        </p:txBody>
      </p:sp>
      <p:sp>
        <p:nvSpPr>
          <p:cNvPr id="101" name="Rectangle 100"/>
          <p:cNvSpPr/>
          <p:nvPr/>
        </p:nvSpPr>
        <p:spPr>
          <a:xfrm>
            <a:off x="3788707" y="1572797"/>
            <a:ext cx="36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2" name="Rectangle 101"/>
          <p:cNvSpPr/>
          <p:nvPr/>
        </p:nvSpPr>
        <p:spPr>
          <a:xfrm>
            <a:off x="367324" y="1039904"/>
            <a:ext cx="9360000" cy="2257088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3" name="Titre 1"/>
          <p:cNvSpPr txBox="1">
            <a:spLocks/>
          </p:cNvSpPr>
          <p:nvPr/>
        </p:nvSpPr>
        <p:spPr>
          <a:xfrm>
            <a:off x="2148086" y="2142445"/>
            <a:ext cx="1620000" cy="34977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defPPr>
              <a:defRPr lang="fr-FR"/>
            </a:defPPr>
            <a:lvl1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 sz="1400"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dirty="0" smtClean="0"/>
              <a:t>N° Réf. </a:t>
            </a:r>
            <a:endParaRPr lang="fr-FR" dirty="0"/>
          </a:p>
        </p:txBody>
      </p:sp>
      <p:sp>
        <p:nvSpPr>
          <p:cNvPr id="104" name="Rectangle 103"/>
          <p:cNvSpPr/>
          <p:nvPr/>
        </p:nvSpPr>
        <p:spPr>
          <a:xfrm>
            <a:off x="3769067" y="2160451"/>
            <a:ext cx="16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0" name="Titre 1"/>
          <p:cNvSpPr txBox="1">
            <a:spLocks/>
          </p:cNvSpPr>
          <p:nvPr/>
        </p:nvSpPr>
        <p:spPr>
          <a:xfrm>
            <a:off x="2145827" y="2678361"/>
            <a:ext cx="1620000" cy="34977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defPPr>
              <a:defRPr lang="fr-FR"/>
            </a:defPPr>
            <a:lvl1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 sz="1400"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dirty="0" smtClean="0"/>
              <a:t>Date de demande</a:t>
            </a:r>
            <a:endParaRPr lang="fr-FR" dirty="0"/>
          </a:p>
        </p:txBody>
      </p:sp>
      <p:sp>
        <p:nvSpPr>
          <p:cNvPr id="111" name="Rectangle 110"/>
          <p:cNvSpPr/>
          <p:nvPr/>
        </p:nvSpPr>
        <p:spPr>
          <a:xfrm>
            <a:off x="4332468" y="2681107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55" name="Rectangle 154"/>
          <p:cNvSpPr/>
          <p:nvPr/>
        </p:nvSpPr>
        <p:spPr>
          <a:xfrm>
            <a:off x="8268343" y="2641293"/>
            <a:ext cx="1332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Recherche</a:t>
            </a:r>
            <a:endParaRPr lang="fr-FR" sz="1400" dirty="0"/>
          </a:p>
        </p:txBody>
      </p:sp>
      <p:sp>
        <p:nvSpPr>
          <p:cNvPr id="162" name="Titre 1"/>
          <p:cNvSpPr txBox="1">
            <a:spLocks/>
          </p:cNvSpPr>
          <p:nvPr/>
        </p:nvSpPr>
        <p:spPr>
          <a:xfrm>
            <a:off x="374460" y="1062193"/>
            <a:ext cx="2381618" cy="48918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b="1" u="sng" dirty="0" smtClean="0"/>
              <a:t>Demande de prise en charge</a:t>
            </a:r>
            <a:endParaRPr lang="fr-FR" sz="1400" b="1" u="sng" dirty="0"/>
          </a:p>
        </p:txBody>
      </p:sp>
      <p:sp>
        <p:nvSpPr>
          <p:cNvPr id="61" name="Rectangle 60"/>
          <p:cNvSpPr/>
          <p:nvPr/>
        </p:nvSpPr>
        <p:spPr>
          <a:xfrm>
            <a:off x="5965934" y="2691838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2" name="Titre 1"/>
          <p:cNvSpPr txBox="1">
            <a:spLocks/>
          </p:cNvSpPr>
          <p:nvPr/>
        </p:nvSpPr>
        <p:spPr>
          <a:xfrm>
            <a:off x="3781557" y="2668329"/>
            <a:ext cx="540000" cy="34977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defPPr>
              <a:defRPr lang="fr-FR"/>
            </a:defPPr>
            <a:lvl1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 sz="1400"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dirty="0" smtClean="0"/>
              <a:t>de</a:t>
            </a:r>
            <a:endParaRPr lang="fr-FR" dirty="0"/>
          </a:p>
        </p:txBody>
      </p:sp>
      <p:sp>
        <p:nvSpPr>
          <p:cNvPr id="63" name="Titre 1"/>
          <p:cNvSpPr txBox="1">
            <a:spLocks/>
          </p:cNvSpPr>
          <p:nvPr/>
        </p:nvSpPr>
        <p:spPr>
          <a:xfrm>
            <a:off x="5427897" y="2666181"/>
            <a:ext cx="540000" cy="34977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defPPr>
              <a:defRPr lang="fr-FR"/>
            </a:defPPr>
            <a:lvl1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 sz="1400"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dirty="0" smtClean="0"/>
              <a:t>au</a:t>
            </a:r>
            <a:endParaRPr lang="fr-FR" dirty="0"/>
          </a:p>
        </p:txBody>
      </p:sp>
      <p:sp>
        <p:nvSpPr>
          <p:cNvPr id="64" name="Rectangle 63"/>
          <p:cNvSpPr/>
          <p:nvPr/>
        </p:nvSpPr>
        <p:spPr>
          <a:xfrm>
            <a:off x="3803835" y="2608983"/>
            <a:ext cx="3600000" cy="432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403908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/>
        </p:nvSpPr>
        <p:spPr>
          <a:xfrm>
            <a:off x="311736" y="670584"/>
            <a:ext cx="11758269" cy="598779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6" name="Rectangle 35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37" name="Rectangle 36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90" name="ZoneTexte 89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91" name="Rectangle 90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92" name="Titre 1"/>
          <p:cNvSpPr txBox="1">
            <a:spLocks/>
          </p:cNvSpPr>
          <p:nvPr/>
        </p:nvSpPr>
        <p:spPr>
          <a:xfrm>
            <a:off x="3050970" y="3480685"/>
            <a:ext cx="1080000" cy="432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sécurité sociale</a:t>
            </a:r>
            <a:endParaRPr lang="fr-FR" sz="1400" dirty="0"/>
          </a:p>
        </p:txBody>
      </p:sp>
      <p:sp>
        <p:nvSpPr>
          <p:cNvPr id="100" name="Titre 1"/>
          <p:cNvSpPr txBox="1">
            <a:spLocks/>
          </p:cNvSpPr>
          <p:nvPr/>
        </p:nvSpPr>
        <p:spPr>
          <a:xfrm>
            <a:off x="2254161" y="1207414"/>
            <a:ext cx="1620000" cy="360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Patient</a:t>
            </a:r>
            <a:endParaRPr lang="fr-FR" sz="1400" dirty="0"/>
          </a:p>
        </p:txBody>
      </p:sp>
      <p:sp>
        <p:nvSpPr>
          <p:cNvPr id="101" name="Rectangle 100"/>
          <p:cNvSpPr/>
          <p:nvPr/>
        </p:nvSpPr>
        <p:spPr>
          <a:xfrm>
            <a:off x="3878860" y="1250822"/>
            <a:ext cx="28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2" name="Rectangle 101"/>
          <p:cNvSpPr/>
          <p:nvPr/>
        </p:nvSpPr>
        <p:spPr>
          <a:xfrm>
            <a:off x="457477" y="1039901"/>
            <a:ext cx="9360000" cy="2102544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3" name="Titre 1"/>
          <p:cNvSpPr txBox="1">
            <a:spLocks/>
          </p:cNvSpPr>
          <p:nvPr/>
        </p:nvSpPr>
        <p:spPr>
          <a:xfrm>
            <a:off x="2238239" y="1665922"/>
            <a:ext cx="1620000" cy="34977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defPPr>
              <a:defRPr lang="fr-FR"/>
            </a:defPPr>
            <a:lvl1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 sz="1400"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 smtClean="0"/>
              <a:t>N° Réf. </a:t>
            </a:r>
            <a:endParaRPr lang="fr-FR" dirty="0"/>
          </a:p>
        </p:txBody>
      </p:sp>
      <p:sp>
        <p:nvSpPr>
          <p:cNvPr id="104" name="Rectangle 103"/>
          <p:cNvSpPr/>
          <p:nvPr/>
        </p:nvSpPr>
        <p:spPr>
          <a:xfrm>
            <a:off x="3859220" y="1683928"/>
            <a:ext cx="16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2" name="Titre 1"/>
          <p:cNvSpPr txBox="1">
            <a:spLocks/>
          </p:cNvSpPr>
          <p:nvPr/>
        </p:nvSpPr>
        <p:spPr>
          <a:xfrm>
            <a:off x="4330572" y="3477144"/>
            <a:ext cx="1080000" cy="432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Nom de naissance</a:t>
            </a:r>
            <a:endParaRPr lang="fr-FR" sz="1400" dirty="0"/>
          </a:p>
        </p:txBody>
      </p:sp>
      <p:sp>
        <p:nvSpPr>
          <p:cNvPr id="84" name="Titre 1"/>
          <p:cNvSpPr txBox="1">
            <a:spLocks/>
          </p:cNvSpPr>
          <p:nvPr/>
        </p:nvSpPr>
        <p:spPr>
          <a:xfrm>
            <a:off x="5466984" y="3490926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Prénom</a:t>
            </a:r>
            <a:endParaRPr lang="fr-FR" sz="1400" dirty="0"/>
          </a:p>
        </p:txBody>
      </p:sp>
      <p:sp>
        <p:nvSpPr>
          <p:cNvPr id="106" name="Titre 1"/>
          <p:cNvSpPr txBox="1">
            <a:spLocks/>
          </p:cNvSpPr>
          <p:nvPr/>
        </p:nvSpPr>
        <p:spPr>
          <a:xfrm>
            <a:off x="7706665" y="3497046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fr-FR"/>
            </a:defPPr>
            <a:lvl1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 sz="1400"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dirty="0" smtClean="0"/>
              <a:t>Praticien</a:t>
            </a:r>
            <a:endParaRPr lang="fr-FR" dirty="0"/>
          </a:p>
        </p:txBody>
      </p:sp>
      <p:sp>
        <p:nvSpPr>
          <p:cNvPr id="108" name="Titre 1"/>
          <p:cNvSpPr txBox="1">
            <a:spLocks/>
          </p:cNvSpPr>
          <p:nvPr/>
        </p:nvSpPr>
        <p:spPr>
          <a:xfrm>
            <a:off x="6563619" y="3493237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Catégorie</a:t>
            </a:r>
            <a:endParaRPr lang="fr-FR" sz="1400" dirty="0"/>
          </a:p>
        </p:txBody>
      </p:sp>
      <p:sp>
        <p:nvSpPr>
          <p:cNvPr id="156" name="Titre 1"/>
          <p:cNvSpPr txBox="1">
            <a:spLocks/>
          </p:cNvSpPr>
          <p:nvPr/>
        </p:nvSpPr>
        <p:spPr>
          <a:xfrm>
            <a:off x="9360662" y="3534675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fr-FR"/>
            </a:defPPr>
            <a:lvl1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 sz="1400"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dirty="0"/>
              <a:t>Codes actes</a:t>
            </a:r>
          </a:p>
        </p:txBody>
      </p:sp>
      <p:sp>
        <p:nvSpPr>
          <p:cNvPr id="162" name="Titre 1"/>
          <p:cNvSpPr txBox="1">
            <a:spLocks/>
          </p:cNvSpPr>
          <p:nvPr/>
        </p:nvSpPr>
        <p:spPr>
          <a:xfrm>
            <a:off x="322943" y="665285"/>
            <a:ext cx="3060000" cy="3838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b="1" u="sng" dirty="0" smtClean="0"/>
              <a:t>Consultation demande prise en charge</a:t>
            </a:r>
            <a:endParaRPr lang="fr-FR" sz="1400" b="1" u="sng" dirty="0"/>
          </a:p>
        </p:txBody>
      </p:sp>
      <p:sp>
        <p:nvSpPr>
          <p:cNvPr id="61" name="Titre 1"/>
          <p:cNvSpPr txBox="1">
            <a:spLocks/>
          </p:cNvSpPr>
          <p:nvPr/>
        </p:nvSpPr>
        <p:spPr>
          <a:xfrm>
            <a:off x="3626685" y="85337"/>
            <a:ext cx="5101042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18 – Patient -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Reporting /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/>
            </a:r>
            <a:b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</a:br>
            <a:r>
              <a:rPr lang="fr-FR" altLang="fr-FR" sz="1800" b="1" dirty="0" smtClean="0">
                <a:latin typeface="Times New Roman" panose="02020603050405020304" pitchFamily="18" charset="0"/>
              </a:rPr>
              <a:t>Demande prise en charge / Liste des demandes</a:t>
            </a:r>
            <a:endParaRPr lang="fr-FR" sz="1800" dirty="0"/>
          </a:p>
        </p:txBody>
      </p:sp>
      <p:sp>
        <p:nvSpPr>
          <p:cNvPr id="62" name="Titre 1"/>
          <p:cNvSpPr txBox="1">
            <a:spLocks/>
          </p:cNvSpPr>
          <p:nvPr/>
        </p:nvSpPr>
        <p:spPr>
          <a:xfrm>
            <a:off x="1758103" y="3506443"/>
            <a:ext cx="1080000" cy="360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defPPr>
              <a:defRPr lang="fr-FR"/>
            </a:defPPr>
            <a:lvl1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 sz="1400"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dirty="0" smtClean="0"/>
              <a:t>N° Réf. </a:t>
            </a:r>
            <a:endParaRPr lang="fr-FR" dirty="0"/>
          </a:p>
        </p:txBody>
      </p:sp>
      <p:sp>
        <p:nvSpPr>
          <p:cNvPr id="63" name="Titre 1"/>
          <p:cNvSpPr txBox="1">
            <a:spLocks/>
          </p:cNvSpPr>
          <p:nvPr/>
        </p:nvSpPr>
        <p:spPr>
          <a:xfrm>
            <a:off x="494235" y="3401438"/>
            <a:ext cx="1214198" cy="52557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defPPr>
              <a:defRPr lang="fr-FR"/>
            </a:defPPr>
            <a:lvl1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 sz="1400"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dirty="0" smtClean="0"/>
              <a:t>Date de demande PEC</a:t>
            </a:r>
            <a:endParaRPr lang="fr-FR" dirty="0"/>
          </a:p>
        </p:txBody>
      </p:sp>
      <p:sp>
        <p:nvSpPr>
          <p:cNvPr id="64" name="Titre 1"/>
          <p:cNvSpPr txBox="1">
            <a:spLocks/>
          </p:cNvSpPr>
          <p:nvPr/>
        </p:nvSpPr>
        <p:spPr>
          <a:xfrm>
            <a:off x="2247384" y="2104291"/>
            <a:ext cx="162000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fr-FR"/>
            </a:defPPr>
            <a:lvl1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 sz="1400"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 smtClean="0"/>
              <a:t>Praticien</a:t>
            </a:r>
            <a:endParaRPr lang="fr-FR" dirty="0"/>
          </a:p>
        </p:txBody>
      </p:sp>
      <p:sp>
        <p:nvSpPr>
          <p:cNvPr id="65" name="Rectangle 64"/>
          <p:cNvSpPr/>
          <p:nvPr/>
        </p:nvSpPr>
        <p:spPr>
          <a:xfrm>
            <a:off x="3869951" y="2119666"/>
            <a:ext cx="16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6" name="Titre 1"/>
          <p:cNvSpPr txBox="1">
            <a:spLocks/>
          </p:cNvSpPr>
          <p:nvPr/>
        </p:nvSpPr>
        <p:spPr>
          <a:xfrm>
            <a:off x="2261738" y="2613966"/>
            <a:ext cx="1620000" cy="34977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defPPr>
              <a:defRPr lang="fr-FR"/>
            </a:defPPr>
            <a:lvl1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 sz="1400"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 smtClean="0"/>
              <a:t>Date de demande</a:t>
            </a:r>
            <a:endParaRPr lang="fr-FR" dirty="0"/>
          </a:p>
        </p:txBody>
      </p:sp>
      <p:sp>
        <p:nvSpPr>
          <p:cNvPr id="68" name="Rectangle 67"/>
          <p:cNvSpPr/>
          <p:nvPr/>
        </p:nvSpPr>
        <p:spPr>
          <a:xfrm>
            <a:off x="4332468" y="2642470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9" name="Rectangle 68"/>
          <p:cNvSpPr/>
          <p:nvPr/>
        </p:nvSpPr>
        <p:spPr>
          <a:xfrm>
            <a:off x="5965934" y="2653201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3" name="Titre 1"/>
          <p:cNvSpPr txBox="1">
            <a:spLocks/>
          </p:cNvSpPr>
          <p:nvPr/>
        </p:nvSpPr>
        <p:spPr>
          <a:xfrm>
            <a:off x="3781557" y="2629692"/>
            <a:ext cx="540000" cy="34977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defPPr>
              <a:defRPr lang="fr-FR"/>
            </a:defPPr>
            <a:lvl1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 sz="1400"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dirty="0" smtClean="0"/>
              <a:t>de</a:t>
            </a:r>
            <a:endParaRPr lang="fr-FR" dirty="0"/>
          </a:p>
        </p:txBody>
      </p:sp>
      <p:sp>
        <p:nvSpPr>
          <p:cNvPr id="74" name="Titre 1"/>
          <p:cNvSpPr txBox="1">
            <a:spLocks/>
          </p:cNvSpPr>
          <p:nvPr/>
        </p:nvSpPr>
        <p:spPr>
          <a:xfrm>
            <a:off x="5427897" y="2627544"/>
            <a:ext cx="540000" cy="34977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defPPr>
              <a:defRPr lang="fr-FR"/>
            </a:defPPr>
            <a:lvl1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 sz="1400"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dirty="0" smtClean="0"/>
              <a:t>au</a:t>
            </a:r>
            <a:endParaRPr lang="fr-FR" dirty="0"/>
          </a:p>
        </p:txBody>
      </p:sp>
      <p:sp>
        <p:nvSpPr>
          <p:cNvPr id="75" name="Rectangle 74"/>
          <p:cNvSpPr/>
          <p:nvPr/>
        </p:nvSpPr>
        <p:spPr>
          <a:xfrm>
            <a:off x="3881109" y="2570346"/>
            <a:ext cx="3600000" cy="432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6" name="Rectangle 75"/>
          <p:cNvSpPr/>
          <p:nvPr/>
        </p:nvSpPr>
        <p:spPr>
          <a:xfrm>
            <a:off x="8268343" y="2602656"/>
            <a:ext cx="1332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Recherche</a:t>
            </a:r>
            <a:endParaRPr lang="fr-FR" sz="1400" dirty="0"/>
          </a:p>
        </p:txBody>
      </p:sp>
      <p:cxnSp>
        <p:nvCxnSpPr>
          <p:cNvPr id="78" name="Connecteur droit 77"/>
          <p:cNvCxnSpPr/>
          <p:nvPr/>
        </p:nvCxnSpPr>
        <p:spPr>
          <a:xfrm>
            <a:off x="7690800" y="3428959"/>
            <a:ext cx="0" cy="234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9" name="Titre 1"/>
          <p:cNvSpPr txBox="1">
            <a:spLocks/>
          </p:cNvSpPr>
          <p:nvPr/>
        </p:nvSpPr>
        <p:spPr>
          <a:xfrm>
            <a:off x="9391707" y="3955331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…………..…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93256" y="3431107"/>
            <a:ext cx="10044000" cy="2340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95" name="Connecteur droit 94"/>
          <p:cNvCxnSpPr/>
          <p:nvPr/>
        </p:nvCxnSpPr>
        <p:spPr>
          <a:xfrm>
            <a:off x="4272084" y="3450577"/>
            <a:ext cx="0" cy="234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9" name="Connecteur droit 98"/>
          <p:cNvCxnSpPr/>
          <p:nvPr/>
        </p:nvCxnSpPr>
        <p:spPr>
          <a:xfrm>
            <a:off x="1718251" y="3422120"/>
            <a:ext cx="0" cy="234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5" name="Connecteur droit 104"/>
          <p:cNvCxnSpPr/>
          <p:nvPr/>
        </p:nvCxnSpPr>
        <p:spPr>
          <a:xfrm flipH="1" flipV="1">
            <a:off x="447644" y="3939402"/>
            <a:ext cx="10044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3" name="Connecteur droit 112"/>
          <p:cNvCxnSpPr/>
          <p:nvPr/>
        </p:nvCxnSpPr>
        <p:spPr>
          <a:xfrm>
            <a:off x="2864588" y="3428959"/>
            <a:ext cx="0" cy="234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5" name="Connecteur droit 114"/>
          <p:cNvCxnSpPr/>
          <p:nvPr/>
        </p:nvCxnSpPr>
        <p:spPr>
          <a:xfrm>
            <a:off x="5441119" y="3440686"/>
            <a:ext cx="0" cy="234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9" name="Connecteur droit 118"/>
          <p:cNvCxnSpPr/>
          <p:nvPr/>
        </p:nvCxnSpPr>
        <p:spPr>
          <a:xfrm>
            <a:off x="6547090" y="3428959"/>
            <a:ext cx="0" cy="234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1" name="Titre 1"/>
          <p:cNvSpPr txBox="1">
            <a:spLocks/>
          </p:cNvSpPr>
          <p:nvPr/>
        </p:nvSpPr>
        <p:spPr>
          <a:xfrm>
            <a:off x="520659" y="3945249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……………..</a:t>
            </a:r>
            <a:endParaRPr lang="fr-FR" sz="1800" b="1" dirty="0"/>
          </a:p>
        </p:txBody>
      </p:sp>
      <p:sp>
        <p:nvSpPr>
          <p:cNvPr id="122" name="Titre 1"/>
          <p:cNvSpPr txBox="1">
            <a:spLocks/>
          </p:cNvSpPr>
          <p:nvPr/>
        </p:nvSpPr>
        <p:spPr>
          <a:xfrm>
            <a:off x="4352445" y="3951876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123" name="Titre 1"/>
          <p:cNvSpPr txBox="1">
            <a:spLocks/>
          </p:cNvSpPr>
          <p:nvPr/>
        </p:nvSpPr>
        <p:spPr>
          <a:xfrm>
            <a:off x="5447567" y="3938733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125" name="Titre 1"/>
          <p:cNvSpPr txBox="1">
            <a:spLocks/>
          </p:cNvSpPr>
          <p:nvPr/>
        </p:nvSpPr>
        <p:spPr>
          <a:xfrm>
            <a:off x="1703365" y="3955980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…………….</a:t>
            </a:r>
            <a:endParaRPr lang="fr-FR" sz="1800" b="1" dirty="0"/>
          </a:p>
        </p:txBody>
      </p:sp>
      <p:sp>
        <p:nvSpPr>
          <p:cNvPr id="126" name="Titre 1"/>
          <p:cNvSpPr txBox="1">
            <a:spLocks/>
          </p:cNvSpPr>
          <p:nvPr/>
        </p:nvSpPr>
        <p:spPr>
          <a:xfrm>
            <a:off x="7736803" y="3955091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127" name="Titre 1"/>
          <p:cNvSpPr txBox="1">
            <a:spLocks/>
          </p:cNvSpPr>
          <p:nvPr/>
        </p:nvSpPr>
        <p:spPr>
          <a:xfrm>
            <a:off x="518510" y="4393865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……………..</a:t>
            </a:r>
            <a:endParaRPr lang="fr-FR" sz="1800" b="1" dirty="0"/>
          </a:p>
        </p:txBody>
      </p:sp>
      <p:sp>
        <p:nvSpPr>
          <p:cNvPr id="128" name="Titre 1"/>
          <p:cNvSpPr txBox="1">
            <a:spLocks/>
          </p:cNvSpPr>
          <p:nvPr/>
        </p:nvSpPr>
        <p:spPr>
          <a:xfrm>
            <a:off x="3053117" y="4400492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………….....</a:t>
            </a:r>
            <a:endParaRPr lang="fr-FR" sz="1800" b="1" dirty="0"/>
          </a:p>
        </p:txBody>
      </p:sp>
      <p:sp>
        <p:nvSpPr>
          <p:cNvPr id="129" name="Titre 1"/>
          <p:cNvSpPr txBox="1">
            <a:spLocks/>
          </p:cNvSpPr>
          <p:nvPr/>
        </p:nvSpPr>
        <p:spPr>
          <a:xfrm>
            <a:off x="4350296" y="4400492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134" name="Titre 1"/>
          <p:cNvSpPr txBox="1">
            <a:spLocks/>
          </p:cNvSpPr>
          <p:nvPr/>
        </p:nvSpPr>
        <p:spPr>
          <a:xfrm>
            <a:off x="5456896" y="4412267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135" name="Titre 1"/>
          <p:cNvSpPr txBox="1">
            <a:spLocks/>
          </p:cNvSpPr>
          <p:nvPr/>
        </p:nvSpPr>
        <p:spPr>
          <a:xfrm>
            <a:off x="1701216" y="4404596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…………….</a:t>
            </a:r>
            <a:endParaRPr lang="fr-FR" sz="1800" b="1" dirty="0"/>
          </a:p>
        </p:txBody>
      </p:sp>
      <p:sp>
        <p:nvSpPr>
          <p:cNvPr id="136" name="Titre 1"/>
          <p:cNvSpPr txBox="1">
            <a:spLocks/>
          </p:cNvSpPr>
          <p:nvPr/>
        </p:nvSpPr>
        <p:spPr>
          <a:xfrm>
            <a:off x="7733948" y="4417067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137" name="Titre 1"/>
          <p:cNvSpPr txBox="1">
            <a:spLocks/>
          </p:cNvSpPr>
          <p:nvPr/>
        </p:nvSpPr>
        <p:spPr>
          <a:xfrm>
            <a:off x="9400157" y="4404188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…………..…</a:t>
            </a:r>
          </a:p>
        </p:txBody>
      </p:sp>
      <p:cxnSp>
        <p:nvCxnSpPr>
          <p:cNvPr id="138" name="Connecteur droit 137"/>
          <p:cNvCxnSpPr/>
          <p:nvPr/>
        </p:nvCxnSpPr>
        <p:spPr>
          <a:xfrm flipH="1" flipV="1">
            <a:off x="489961" y="4860074"/>
            <a:ext cx="10044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39" name="Titre 1"/>
          <p:cNvSpPr txBox="1">
            <a:spLocks/>
          </p:cNvSpPr>
          <p:nvPr/>
        </p:nvSpPr>
        <p:spPr>
          <a:xfrm>
            <a:off x="516363" y="4829598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……………..</a:t>
            </a:r>
            <a:endParaRPr lang="fr-FR" sz="1800" b="1" dirty="0"/>
          </a:p>
        </p:txBody>
      </p:sp>
      <p:sp>
        <p:nvSpPr>
          <p:cNvPr id="140" name="Titre 1"/>
          <p:cNvSpPr txBox="1">
            <a:spLocks/>
          </p:cNvSpPr>
          <p:nvPr/>
        </p:nvSpPr>
        <p:spPr>
          <a:xfrm>
            <a:off x="4322391" y="4836225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141" name="Titre 1"/>
          <p:cNvSpPr txBox="1">
            <a:spLocks/>
          </p:cNvSpPr>
          <p:nvPr/>
        </p:nvSpPr>
        <p:spPr>
          <a:xfrm>
            <a:off x="5455594" y="4836225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142" name="Titre 1"/>
          <p:cNvSpPr txBox="1">
            <a:spLocks/>
          </p:cNvSpPr>
          <p:nvPr/>
        </p:nvSpPr>
        <p:spPr>
          <a:xfrm>
            <a:off x="1711948" y="4840329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…………….</a:t>
            </a:r>
            <a:endParaRPr lang="fr-FR" sz="1800" b="1" dirty="0"/>
          </a:p>
        </p:txBody>
      </p:sp>
      <p:sp>
        <p:nvSpPr>
          <p:cNvPr id="143" name="Titre 1"/>
          <p:cNvSpPr txBox="1">
            <a:spLocks/>
          </p:cNvSpPr>
          <p:nvPr/>
        </p:nvSpPr>
        <p:spPr>
          <a:xfrm>
            <a:off x="7744469" y="4839680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144" name="Titre 1"/>
          <p:cNvSpPr txBox="1">
            <a:spLocks/>
          </p:cNvSpPr>
          <p:nvPr/>
        </p:nvSpPr>
        <p:spPr>
          <a:xfrm>
            <a:off x="9397507" y="4848794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…………..…</a:t>
            </a:r>
          </a:p>
        </p:txBody>
      </p:sp>
      <p:cxnSp>
        <p:nvCxnSpPr>
          <p:cNvPr id="145" name="Connecteur droit 144"/>
          <p:cNvCxnSpPr/>
          <p:nvPr/>
        </p:nvCxnSpPr>
        <p:spPr>
          <a:xfrm flipH="1" flipV="1">
            <a:off x="500692" y="5282931"/>
            <a:ext cx="10044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46" name="Connecteur droit 145"/>
          <p:cNvCxnSpPr/>
          <p:nvPr/>
        </p:nvCxnSpPr>
        <p:spPr>
          <a:xfrm flipH="1" flipV="1">
            <a:off x="487813" y="4420045"/>
            <a:ext cx="10044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49" name="Connecteur droit 148"/>
          <p:cNvCxnSpPr/>
          <p:nvPr/>
        </p:nvCxnSpPr>
        <p:spPr>
          <a:xfrm>
            <a:off x="9028079" y="3445200"/>
            <a:ext cx="0" cy="234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0" name="Titre 1"/>
          <p:cNvSpPr txBox="1">
            <a:spLocks/>
          </p:cNvSpPr>
          <p:nvPr/>
        </p:nvSpPr>
        <p:spPr>
          <a:xfrm>
            <a:off x="3050970" y="3973345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………….....</a:t>
            </a:r>
            <a:endParaRPr lang="fr-FR" sz="1800" b="1" dirty="0"/>
          </a:p>
        </p:txBody>
      </p:sp>
      <p:sp>
        <p:nvSpPr>
          <p:cNvPr id="151" name="Titre 1"/>
          <p:cNvSpPr txBox="1">
            <a:spLocks/>
          </p:cNvSpPr>
          <p:nvPr/>
        </p:nvSpPr>
        <p:spPr>
          <a:xfrm>
            <a:off x="3061701" y="4821206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………….....</a:t>
            </a:r>
            <a:endParaRPr lang="fr-FR" sz="1800" b="1" dirty="0"/>
          </a:p>
        </p:txBody>
      </p:sp>
      <p:sp>
        <p:nvSpPr>
          <p:cNvPr id="154" name="Titre 1"/>
          <p:cNvSpPr txBox="1">
            <a:spLocks/>
          </p:cNvSpPr>
          <p:nvPr/>
        </p:nvSpPr>
        <p:spPr>
          <a:xfrm>
            <a:off x="9389559" y="5292586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…………..…</a:t>
            </a:r>
          </a:p>
        </p:txBody>
      </p:sp>
      <p:sp>
        <p:nvSpPr>
          <p:cNvPr id="161" name="Titre 1"/>
          <p:cNvSpPr txBox="1">
            <a:spLocks/>
          </p:cNvSpPr>
          <p:nvPr/>
        </p:nvSpPr>
        <p:spPr>
          <a:xfrm>
            <a:off x="518511" y="5282504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……………..</a:t>
            </a:r>
            <a:endParaRPr lang="fr-FR" sz="1800" b="1" dirty="0"/>
          </a:p>
        </p:txBody>
      </p:sp>
      <p:sp>
        <p:nvSpPr>
          <p:cNvPr id="163" name="Titre 1"/>
          <p:cNvSpPr txBox="1">
            <a:spLocks/>
          </p:cNvSpPr>
          <p:nvPr/>
        </p:nvSpPr>
        <p:spPr>
          <a:xfrm>
            <a:off x="4350297" y="5289131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164" name="Titre 1"/>
          <p:cNvSpPr txBox="1">
            <a:spLocks/>
          </p:cNvSpPr>
          <p:nvPr/>
        </p:nvSpPr>
        <p:spPr>
          <a:xfrm>
            <a:off x="5445419" y="5275988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165" name="Titre 1"/>
          <p:cNvSpPr txBox="1">
            <a:spLocks/>
          </p:cNvSpPr>
          <p:nvPr/>
        </p:nvSpPr>
        <p:spPr>
          <a:xfrm>
            <a:off x="1701217" y="5293235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…………….</a:t>
            </a:r>
            <a:endParaRPr lang="fr-FR" sz="1800" b="1" dirty="0"/>
          </a:p>
        </p:txBody>
      </p:sp>
      <p:sp>
        <p:nvSpPr>
          <p:cNvPr id="166" name="Titre 1"/>
          <p:cNvSpPr txBox="1">
            <a:spLocks/>
          </p:cNvSpPr>
          <p:nvPr/>
        </p:nvSpPr>
        <p:spPr>
          <a:xfrm>
            <a:off x="7734655" y="5292346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167" name="Titre 1"/>
          <p:cNvSpPr txBox="1">
            <a:spLocks/>
          </p:cNvSpPr>
          <p:nvPr/>
        </p:nvSpPr>
        <p:spPr>
          <a:xfrm>
            <a:off x="3048822" y="5310600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………….....</a:t>
            </a:r>
            <a:endParaRPr lang="fr-FR" sz="1800" b="1" dirty="0"/>
          </a:p>
        </p:txBody>
      </p:sp>
      <p:sp>
        <p:nvSpPr>
          <p:cNvPr id="171" name="Titre 1"/>
          <p:cNvSpPr txBox="1">
            <a:spLocks/>
          </p:cNvSpPr>
          <p:nvPr/>
        </p:nvSpPr>
        <p:spPr>
          <a:xfrm>
            <a:off x="6581967" y="3953183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…………..…</a:t>
            </a:r>
          </a:p>
        </p:txBody>
      </p:sp>
      <p:sp>
        <p:nvSpPr>
          <p:cNvPr id="172" name="Titre 1"/>
          <p:cNvSpPr txBox="1">
            <a:spLocks/>
          </p:cNvSpPr>
          <p:nvPr/>
        </p:nvSpPr>
        <p:spPr>
          <a:xfrm>
            <a:off x="6590417" y="4402040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…………..…</a:t>
            </a:r>
          </a:p>
        </p:txBody>
      </p:sp>
      <p:sp>
        <p:nvSpPr>
          <p:cNvPr id="173" name="Titre 1"/>
          <p:cNvSpPr txBox="1">
            <a:spLocks/>
          </p:cNvSpPr>
          <p:nvPr/>
        </p:nvSpPr>
        <p:spPr>
          <a:xfrm>
            <a:off x="6587767" y="4846646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…………..…</a:t>
            </a:r>
          </a:p>
        </p:txBody>
      </p:sp>
      <p:sp>
        <p:nvSpPr>
          <p:cNvPr id="174" name="Titre 1"/>
          <p:cNvSpPr txBox="1">
            <a:spLocks/>
          </p:cNvSpPr>
          <p:nvPr/>
        </p:nvSpPr>
        <p:spPr>
          <a:xfrm>
            <a:off x="6579819" y="5290438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…………..…</a:t>
            </a:r>
          </a:p>
        </p:txBody>
      </p:sp>
    </p:spTree>
    <p:extLst>
      <p:ext uri="{BB962C8B-B14F-4D97-AF65-F5344CB8AC3E}">
        <p14:creationId xmlns:p14="http://schemas.microsoft.com/office/powerpoint/2010/main" val="39588428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/>
        </p:nvSpPr>
        <p:spPr>
          <a:xfrm>
            <a:off x="311736" y="902407"/>
            <a:ext cx="11736000" cy="5868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6" name="Rectangle 35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37" name="Rectangle 36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90" name="ZoneTexte 89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91" name="Rectangle 90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92" name="Titre 1"/>
          <p:cNvSpPr txBox="1">
            <a:spLocks/>
          </p:cNvSpPr>
          <p:nvPr/>
        </p:nvSpPr>
        <p:spPr>
          <a:xfrm>
            <a:off x="629743" y="3982966"/>
            <a:ext cx="1080000" cy="432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sécurité sociale</a:t>
            </a:r>
            <a:endParaRPr lang="fr-FR" sz="1400" dirty="0"/>
          </a:p>
        </p:txBody>
      </p:sp>
      <p:sp>
        <p:nvSpPr>
          <p:cNvPr id="100" name="Titre 1"/>
          <p:cNvSpPr txBox="1">
            <a:spLocks/>
          </p:cNvSpPr>
          <p:nvPr/>
        </p:nvSpPr>
        <p:spPr>
          <a:xfrm>
            <a:off x="3580693" y="1220293"/>
            <a:ext cx="1620000" cy="360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Patient</a:t>
            </a:r>
            <a:endParaRPr lang="fr-FR" sz="1400" dirty="0"/>
          </a:p>
        </p:txBody>
      </p:sp>
      <p:sp>
        <p:nvSpPr>
          <p:cNvPr id="101" name="Rectangle 100"/>
          <p:cNvSpPr/>
          <p:nvPr/>
        </p:nvSpPr>
        <p:spPr>
          <a:xfrm>
            <a:off x="5205392" y="1263701"/>
            <a:ext cx="28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2" name="Rectangle 101"/>
          <p:cNvSpPr/>
          <p:nvPr/>
        </p:nvSpPr>
        <p:spPr>
          <a:xfrm>
            <a:off x="552208" y="1123994"/>
            <a:ext cx="9986490" cy="1542033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3" name="Titre 1"/>
          <p:cNvSpPr txBox="1">
            <a:spLocks/>
          </p:cNvSpPr>
          <p:nvPr/>
        </p:nvSpPr>
        <p:spPr>
          <a:xfrm>
            <a:off x="3564771" y="1678801"/>
            <a:ext cx="1620000" cy="34977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defPPr>
              <a:defRPr lang="fr-FR"/>
            </a:defPPr>
            <a:lvl1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 sz="1400"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 smtClean="0"/>
              <a:t>N° Réf. </a:t>
            </a:r>
            <a:endParaRPr lang="fr-FR" dirty="0"/>
          </a:p>
        </p:txBody>
      </p:sp>
      <p:sp>
        <p:nvSpPr>
          <p:cNvPr id="104" name="Rectangle 103"/>
          <p:cNvSpPr/>
          <p:nvPr/>
        </p:nvSpPr>
        <p:spPr>
          <a:xfrm>
            <a:off x="5185752" y="1696807"/>
            <a:ext cx="16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2" name="Titre 1"/>
          <p:cNvSpPr txBox="1">
            <a:spLocks/>
          </p:cNvSpPr>
          <p:nvPr/>
        </p:nvSpPr>
        <p:spPr>
          <a:xfrm>
            <a:off x="1819192" y="3979425"/>
            <a:ext cx="1080000" cy="432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Nom de naissance</a:t>
            </a:r>
            <a:endParaRPr lang="fr-FR" sz="1400" dirty="0"/>
          </a:p>
        </p:txBody>
      </p:sp>
      <p:sp>
        <p:nvSpPr>
          <p:cNvPr id="84" name="Titre 1"/>
          <p:cNvSpPr txBox="1">
            <a:spLocks/>
          </p:cNvSpPr>
          <p:nvPr/>
        </p:nvSpPr>
        <p:spPr>
          <a:xfrm>
            <a:off x="3032875" y="4006086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Prénom</a:t>
            </a:r>
            <a:endParaRPr lang="fr-FR" sz="1400" dirty="0"/>
          </a:p>
        </p:txBody>
      </p:sp>
      <p:sp>
        <p:nvSpPr>
          <p:cNvPr id="106" name="Titre 1"/>
          <p:cNvSpPr txBox="1">
            <a:spLocks/>
          </p:cNvSpPr>
          <p:nvPr/>
        </p:nvSpPr>
        <p:spPr>
          <a:xfrm>
            <a:off x="5671805" y="4012206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fr-FR"/>
            </a:defPPr>
            <a:lvl1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 sz="1400"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dirty="0" smtClean="0"/>
              <a:t>Praticien</a:t>
            </a:r>
            <a:endParaRPr lang="fr-FR" dirty="0"/>
          </a:p>
        </p:txBody>
      </p:sp>
      <p:sp>
        <p:nvSpPr>
          <p:cNvPr id="108" name="Titre 1"/>
          <p:cNvSpPr txBox="1">
            <a:spLocks/>
          </p:cNvSpPr>
          <p:nvPr/>
        </p:nvSpPr>
        <p:spPr>
          <a:xfrm>
            <a:off x="4181026" y="4008397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Catégorie</a:t>
            </a:r>
            <a:endParaRPr lang="fr-FR" sz="1400" dirty="0"/>
          </a:p>
        </p:txBody>
      </p:sp>
      <p:sp>
        <p:nvSpPr>
          <p:cNvPr id="156" name="Titre 1"/>
          <p:cNvSpPr txBox="1">
            <a:spLocks/>
          </p:cNvSpPr>
          <p:nvPr/>
        </p:nvSpPr>
        <p:spPr>
          <a:xfrm>
            <a:off x="7003827" y="4024077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fr-FR"/>
            </a:defPPr>
            <a:lvl1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 sz="1400"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dirty="0"/>
              <a:t>Codes actes</a:t>
            </a:r>
          </a:p>
        </p:txBody>
      </p:sp>
      <p:sp>
        <p:nvSpPr>
          <p:cNvPr id="162" name="Titre 1"/>
          <p:cNvSpPr txBox="1">
            <a:spLocks/>
          </p:cNvSpPr>
          <p:nvPr/>
        </p:nvSpPr>
        <p:spPr>
          <a:xfrm>
            <a:off x="387338" y="1128929"/>
            <a:ext cx="3060000" cy="3838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b="1" u="sng" dirty="0" smtClean="0"/>
              <a:t>Recherche demande prise en charge</a:t>
            </a:r>
            <a:endParaRPr lang="fr-FR" sz="1400" b="1" u="sng" dirty="0"/>
          </a:p>
        </p:txBody>
      </p:sp>
      <p:sp>
        <p:nvSpPr>
          <p:cNvPr id="61" name="Titre 1"/>
          <p:cNvSpPr txBox="1">
            <a:spLocks/>
          </p:cNvSpPr>
          <p:nvPr/>
        </p:nvSpPr>
        <p:spPr>
          <a:xfrm>
            <a:off x="3626685" y="7493"/>
            <a:ext cx="5101042" cy="87542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19 – Patient -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Reporting /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/>
            </a:r>
            <a:b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</a:br>
            <a:r>
              <a:rPr 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Bordereau</a:t>
            </a:r>
            <a:r>
              <a:rPr lang="fr-FR" sz="1800" dirty="0"/>
              <a:t> </a:t>
            </a:r>
            <a:r>
              <a:rPr 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de demande de prise en charge </a:t>
            </a:r>
            <a:r>
              <a:rPr 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CNAS /</a:t>
            </a:r>
          </a:p>
          <a:p>
            <a:r>
              <a:rPr 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Édition bordereau</a:t>
            </a:r>
          </a:p>
        </p:txBody>
      </p:sp>
      <p:sp>
        <p:nvSpPr>
          <p:cNvPr id="66" name="Titre 1"/>
          <p:cNvSpPr txBox="1">
            <a:spLocks/>
          </p:cNvSpPr>
          <p:nvPr/>
        </p:nvSpPr>
        <p:spPr>
          <a:xfrm>
            <a:off x="3588270" y="2150326"/>
            <a:ext cx="1620000" cy="34977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defPPr>
              <a:defRPr lang="fr-FR"/>
            </a:defPPr>
            <a:lvl1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 sz="1400"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 smtClean="0"/>
              <a:t>Date de demande</a:t>
            </a:r>
            <a:endParaRPr lang="fr-FR" dirty="0"/>
          </a:p>
        </p:txBody>
      </p:sp>
      <p:sp>
        <p:nvSpPr>
          <p:cNvPr id="68" name="Rectangle 67"/>
          <p:cNvSpPr/>
          <p:nvPr/>
        </p:nvSpPr>
        <p:spPr>
          <a:xfrm>
            <a:off x="5659000" y="2178830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9" name="Rectangle 68"/>
          <p:cNvSpPr/>
          <p:nvPr/>
        </p:nvSpPr>
        <p:spPr>
          <a:xfrm>
            <a:off x="7292466" y="2189561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3" name="Titre 1"/>
          <p:cNvSpPr txBox="1">
            <a:spLocks/>
          </p:cNvSpPr>
          <p:nvPr/>
        </p:nvSpPr>
        <p:spPr>
          <a:xfrm>
            <a:off x="5108089" y="2166052"/>
            <a:ext cx="540000" cy="34977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defPPr>
              <a:defRPr lang="fr-FR"/>
            </a:defPPr>
            <a:lvl1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 sz="1400"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dirty="0" smtClean="0"/>
              <a:t>de</a:t>
            </a:r>
            <a:endParaRPr lang="fr-FR" dirty="0"/>
          </a:p>
        </p:txBody>
      </p:sp>
      <p:sp>
        <p:nvSpPr>
          <p:cNvPr id="74" name="Titre 1"/>
          <p:cNvSpPr txBox="1">
            <a:spLocks/>
          </p:cNvSpPr>
          <p:nvPr/>
        </p:nvSpPr>
        <p:spPr>
          <a:xfrm>
            <a:off x="6754429" y="2163904"/>
            <a:ext cx="540000" cy="34977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defPPr>
              <a:defRPr lang="fr-FR"/>
            </a:defPPr>
            <a:lvl1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 sz="1400"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dirty="0" smtClean="0"/>
              <a:t>au</a:t>
            </a:r>
            <a:endParaRPr lang="fr-FR" dirty="0"/>
          </a:p>
        </p:txBody>
      </p:sp>
      <p:sp>
        <p:nvSpPr>
          <p:cNvPr id="75" name="Rectangle 74"/>
          <p:cNvSpPr/>
          <p:nvPr/>
        </p:nvSpPr>
        <p:spPr>
          <a:xfrm>
            <a:off x="5207641" y="2106706"/>
            <a:ext cx="3600000" cy="432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6" name="Rectangle 75"/>
          <p:cNvSpPr/>
          <p:nvPr/>
        </p:nvSpPr>
        <p:spPr>
          <a:xfrm>
            <a:off x="8989564" y="2139016"/>
            <a:ext cx="1332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Recherche</a:t>
            </a:r>
            <a:endParaRPr lang="fr-FR" sz="1400" dirty="0"/>
          </a:p>
        </p:txBody>
      </p:sp>
      <p:cxnSp>
        <p:nvCxnSpPr>
          <p:cNvPr id="78" name="Connecteur droit 77"/>
          <p:cNvCxnSpPr/>
          <p:nvPr/>
        </p:nvCxnSpPr>
        <p:spPr>
          <a:xfrm>
            <a:off x="8102928" y="3931240"/>
            <a:ext cx="0" cy="234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6" name="Rectangle 85"/>
          <p:cNvSpPr/>
          <p:nvPr/>
        </p:nvSpPr>
        <p:spPr>
          <a:xfrm>
            <a:off x="557651" y="3933388"/>
            <a:ext cx="10044000" cy="2340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95" name="Connecteur droit 94"/>
          <p:cNvCxnSpPr/>
          <p:nvPr/>
        </p:nvCxnSpPr>
        <p:spPr>
          <a:xfrm>
            <a:off x="4130415" y="3952858"/>
            <a:ext cx="0" cy="234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9" name="Connecteur droit 98"/>
          <p:cNvCxnSpPr/>
          <p:nvPr/>
        </p:nvCxnSpPr>
        <p:spPr>
          <a:xfrm>
            <a:off x="1782646" y="3924401"/>
            <a:ext cx="0" cy="234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5" name="Connecteur droit 104"/>
          <p:cNvCxnSpPr/>
          <p:nvPr/>
        </p:nvCxnSpPr>
        <p:spPr>
          <a:xfrm flipH="1" flipV="1">
            <a:off x="512039" y="4441683"/>
            <a:ext cx="10044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3" name="Connecteur droit 112"/>
          <p:cNvCxnSpPr/>
          <p:nvPr/>
        </p:nvCxnSpPr>
        <p:spPr>
          <a:xfrm>
            <a:off x="2928983" y="3931240"/>
            <a:ext cx="0" cy="234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5" name="Connecteur droit 114"/>
          <p:cNvCxnSpPr/>
          <p:nvPr/>
        </p:nvCxnSpPr>
        <p:spPr>
          <a:xfrm>
            <a:off x="5376724" y="3942967"/>
            <a:ext cx="0" cy="234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9" name="Connecteur droit 118"/>
          <p:cNvCxnSpPr/>
          <p:nvPr/>
        </p:nvCxnSpPr>
        <p:spPr>
          <a:xfrm>
            <a:off x="6959218" y="3931240"/>
            <a:ext cx="0" cy="234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1" name="Titre 1"/>
          <p:cNvSpPr txBox="1">
            <a:spLocks/>
          </p:cNvSpPr>
          <p:nvPr/>
        </p:nvSpPr>
        <p:spPr>
          <a:xfrm>
            <a:off x="585054" y="4447530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……………..</a:t>
            </a:r>
            <a:endParaRPr lang="fr-FR" sz="1800" b="1" dirty="0"/>
          </a:p>
        </p:txBody>
      </p:sp>
      <p:sp>
        <p:nvSpPr>
          <p:cNvPr id="122" name="Titre 1"/>
          <p:cNvSpPr txBox="1">
            <a:spLocks/>
          </p:cNvSpPr>
          <p:nvPr/>
        </p:nvSpPr>
        <p:spPr>
          <a:xfrm>
            <a:off x="4210776" y="4454157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123" name="Titre 1"/>
          <p:cNvSpPr txBox="1">
            <a:spLocks/>
          </p:cNvSpPr>
          <p:nvPr/>
        </p:nvSpPr>
        <p:spPr>
          <a:xfrm>
            <a:off x="5653631" y="4441014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125" name="Titre 1"/>
          <p:cNvSpPr txBox="1">
            <a:spLocks/>
          </p:cNvSpPr>
          <p:nvPr/>
        </p:nvSpPr>
        <p:spPr>
          <a:xfrm>
            <a:off x="1767760" y="4458261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…………….</a:t>
            </a:r>
            <a:endParaRPr lang="fr-FR" sz="1800" b="1" dirty="0"/>
          </a:p>
        </p:txBody>
      </p:sp>
      <p:sp>
        <p:nvSpPr>
          <p:cNvPr id="126" name="Titre 1"/>
          <p:cNvSpPr txBox="1">
            <a:spLocks/>
          </p:cNvSpPr>
          <p:nvPr/>
        </p:nvSpPr>
        <p:spPr>
          <a:xfrm>
            <a:off x="8148931" y="4457372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127" name="Titre 1"/>
          <p:cNvSpPr txBox="1">
            <a:spLocks/>
          </p:cNvSpPr>
          <p:nvPr/>
        </p:nvSpPr>
        <p:spPr>
          <a:xfrm>
            <a:off x="582905" y="4896146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……………..</a:t>
            </a:r>
            <a:endParaRPr lang="fr-FR" sz="1800" b="1" dirty="0"/>
          </a:p>
        </p:txBody>
      </p:sp>
      <p:sp>
        <p:nvSpPr>
          <p:cNvPr id="128" name="Titre 1"/>
          <p:cNvSpPr txBox="1">
            <a:spLocks/>
          </p:cNvSpPr>
          <p:nvPr/>
        </p:nvSpPr>
        <p:spPr>
          <a:xfrm>
            <a:off x="3014480" y="4902773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………….....</a:t>
            </a:r>
            <a:endParaRPr lang="fr-FR" sz="1800" b="1" dirty="0"/>
          </a:p>
        </p:txBody>
      </p:sp>
      <p:sp>
        <p:nvSpPr>
          <p:cNvPr id="129" name="Titre 1"/>
          <p:cNvSpPr txBox="1">
            <a:spLocks/>
          </p:cNvSpPr>
          <p:nvPr/>
        </p:nvSpPr>
        <p:spPr>
          <a:xfrm>
            <a:off x="4208627" y="4902773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134" name="Titre 1"/>
          <p:cNvSpPr txBox="1">
            <a:spLocks/>
          </p:cNvSpPr>
          <p:nvPr/>
        </p:nvSpPr>
        <p:spPr>
          <a:xfrm>
            <a:off x="5662960" y="4914548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135" name="Titre 1"/>
          <p:cNvSpPr txBox="1">
            <a:spLocks/>
          </p:cNvSpPr>
          <p:nvPr/>
        </p:nvSpPr>
        <p:spPr>
          <a:xfrm>
            <a:off x="1765611" y="4906877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…………….</a:t>
            </a:r>
            <a:endParaRPr lang="fr-FR" sz="1800" b="1" dirty="0"/>
          </a:p>
        </p:txBody>
      </p:sp>
      <p:sp>
        <p:nvSpPr>
          <p:cNvPr id="136" name="Titre 1"/>
          <p:cNvSpPr txBox="1">
            <a:spLocks/>
          </p:cNvSpPr>
          <p:nvPr/>
        </p:nvSpPr>
        <p:spPr>
          <a:xfrm>
            <a:off x="8146076" y="4919348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cxnSp>
        <p:nvCxnSpPr>
          <p:cNvPr id="138" name="Connecteur droit 137"/>
          <p:cNvCxnSpPr/>
          <p:nvPr/>
        </p:nvCxnSpPr>
        <p:spPr>
          <a:xfrm flipH="1" flipV="1">
            <a:off x="554356" y="5362355"/>
            <a:ext cx="10044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39" name="Titre 1"/>
          <p:cNvSpPr txBox="1">
            <a:spLocks/>
          </p:cNvSpPr>
          <p:nvPr/>
        </p:nvSpPr>
        <p:spPr>
          <a:xfrm>
            <a:off x="580758" y="5331879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……………..</a:t>
            </a:r>
            <a:endParaRPr lang="fr-FR" sz="1800" b="1" dirty="0"/>
          </a:p>
        </p:txBody>
      </p:sp>
      <p:sp>
        <p:nvSpPr>
          <p:cNvPr id="140" name="Titre 1"/>
          <p:cNvSpPr txBox="1">
            <a:spLocks/>
          </p:cNvSpPr>
          <p:nvPr/>
        </p:nvSpPr>
        <p:spPr>
          <a:xfrm>
            <a:off x="4180722" y="5338506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141" name="Titre 1"/>
          <p:cNvSpPr txBox="1">
            <a:spLocks/>
          </p:cNvSpPr>
          <p:nvPr/>
        </p:nvSpPr>
        <p:spPr>
          <a:xfrm>
            <a:off x="5661658" y="5338506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142" name="Titre 1"/>
          <p:cNvSpPr txBox="1">
            <a:spLocks/>
          </p:cNvSpPr>
          <p:nvPr/>
        </p:nvSpPr>
        <p:spPr>
          <a:xfrm>
            <a:off x="1776343" y="5342610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…………….</a:t>
            </a:r>
            <a:endParaRPr lang="fr-FR" sz="1800" b="1" dirty="0"/>
          </a:p>
        </p:txBody>
      </p:sp>
      <p:sp>
        <p:nvSpPr>
          <p:cNvPr id="143" name="Titre 1"/>
          <p:cNvSpPr txBox="1">
            <a:spLocks/>
          </p:cNvSpPr>
          <p:nvPr/>
        </p:nvSpPr>
        <p:spPr>
          <a:xfrm>
            <a:off x="8156597" y="5341961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cxnSp>
        <p:nvCxnSpPr>
          <p:cNvPr id="145" name="Connecteur droit 144"/>
          <p:cNvCxnSpPr/>
          <p:nvPr/>
        </p:nvCxnSpPr>
        <p:spPr>
          <a:xfrm flipH="1" flipV="1">
            <a:off x="565087" y="5785212"/>
            <a:ext cx="10044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46" name="Connecteur droit 145"/>
          <p:cNvCxnSpPr/>
          <p:nvPr/>
        </p:nvCxnSpPr>
        <p:spPr>
          <a:xfrm flipH="1" flipV="1">
            <a:off x="552208" y="4922326"/>
            <a:ext cx="10044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49" name="Connecteur droit 148"/>
          <p:cNvCxnSpPr/>
          <p:nvPr/>
        </p:nvCxnSpPr>
        <p:spPr>
          <a:xfrm>
            <a:off x="9523791" y="3931240"/>
            <a:ext cx="0" cy="234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0" name="Titre 1"/>
          <p:cNvSpPr txBox="1">
            <a:spLocks/>
          </p:cNvSpPr>
          <p:nvPr/>
        </p:nvSpPr>
        <p:spPr>
          <a:xfrm>
            <a:off x="3012333" y="4475626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………….....</a:t>
            </a:r>
            <a:endParaRPr lang="fr-FR" sz="1800" b="1" dirty="0"/>
          </a:p>
        </p:txBody>
      </p:sp>
      <p:sp>
        <p:nvSpPr>
          <p:cNvPr id="151" name="Titre 1"/>
          <p:cNvSpPr txBox="1">
            <a:spLocks/>
          </p:cNvSpPr>
          <p:nvPr/>
        </p:nvSpPr>
        <p:spPr>
          <a:xfrm>
            <a:off x="3023064" y="5323487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………….....</a:t>
            </a:r>
            <a:endParaRPr lang="fr-FR" sz="1800" b="1" dirty="0"/>
          </a:p>
        </p:txBody>
      </p:sp>
      <p:sp>
        <p:nvSpPr>
          <p:cNvPr id="161" name="Titre 1"/>
          <p:cNvSpPr txBox="1">
            <a:spLocks/>
          </p:cNvSpPr>
          <p:nvPr/>
        </p:nvSpPr>
        <p:spPr>
          <a:xfrm>
            <a:off x="582906" y="5784785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……………..</a:t>
            </a:r>
            <a:endParaRPr lang="fr-FR" sz="1800" b="1" dirty="0"/>
          </a:p>
        </p:txBody>
      </p:sp>
      <p:sp>
        <p:nvSpPr>
          <p:cNvPr id="163" name="Titre 1"/>
          <p:cNvSpPr txBox="1">
            <a:spLocks/>
          </p:cNvSpPr>
          <p:nvPr/>
        </p:nvSpPr>
        <p:spPr>
          <a:xfrm>
            <a:off x="4208628" y="5791412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164" name="Titre 1"/>
          <p:cNvSpPr txBox="1">
            <a:spLocks/>
          </p:cNvSpPr>
          <p:nvPr/>
        </p:nvSpPr>
        <p:spPr>
          <a:xfrm>
            <a:off x="5651483" y="5778269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165" name="Titre 1"/>
          <p:cNvSpPr txBox="1">
            <a:spLocks/>
          </p:cNvSpPr>
          <p:nvPr/>
        </p:nvSpPr>
        <p:spPr>
          <a:xfrm>
            <a:off x="1765612" y="5795516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…………….</a:t>
            </a:r>
            <a:endParaRPr lang="fr-FR" sz="1800" b="1" dirty="0"/>
          </a:p>
        </p:txBody>
      </p:sp>
      <p:sp>
        <p:nvSpPr>
          <p:cNvPr id="166" name="Titre 1"/>
          <p:cNvSpPr txBox="1">
            <a:spLocks/>
          </p:cNvSpPr>
          <p:nvPr/>
        </p:nvSpPr>
        <p:spPr>
          <a:xfrm>
            <a:off x="8146783" y="5794627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167" name="Titre 1"/>
          <p:cNvSpPr txBox="1">
            <a:spLocks/>
          </p:cNvSpPr>
          <p:nvPr/>
        </p:nvSpPr>
        <p:spPr>
          <a:xfrm>
            <a:off x="3010185" y="5812881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………….....</a:t>
            </a:r>
            <a:endParaRPr lang="fr-FR" sz="1800" b="1" dirty="0"/>
          </a:p>
        </p:txBody>
      </p:sp>
      <p:sp>
        <p:nvSpPr>
          <p:cNvPr id="171" name="Titre 1"/>
          <p:cNvSpPr txBox="1">
            <a:spLocks/>
          </p:cNvSpPr>
          <p:nvPr/>
        </p:nvSpPr>
        <p:spPr>
          <a:xfrm>
            <a:off x="6994095" y="4455464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…………..…</a:t>
            </a:r>
          </a:p>
        </p:txBody>
      </p:sp>
      <p:sp>
        <p:nvSpPr>
          <p:cNvPr id="172" name="Titre 1"/>
          <p:cNvSpPr txBox="1">
            <a:spLocks/>
          </p:cNvSpPr>
          <p:nvPr/>
        </p:nvSpPr>
        <p:spPr>
          <a:xfrm>
            <a:off x="7002545" y="4904321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…………..…</a:t>
            </a:r>
          </a:p>
        </p:txBody>
      </p:sp>
      <p:sp>
        <p:nvSpPr>
          <p:cNvPr id="173" name="Titre 1"/>
          <p:cNvSpPr txBox="1">
            <a:spLocks/>
          </p:cNvSpPr>
          <p:nvPr/>
        </p:nvSpPr>
        <p:spPr>
          <a:xfrm>
            <a:off x="6999895" y="5348927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…………..…</a:t>
            </a:r>
          </a:p>
        </p:txBody>
      </p:sp>
      <p:sp>
        <p:nvSpPr>
          <p:cNvPr id="174" name="Titre 1"/>
          <p:cNvSpPr txBox="1">
            <a:spLocks/>
          </p:cNvSpPr>
          <p:nvPr/>
        </p:nvSpPr>
        <p:spPr>
          <a:xfrm>
            <a:off x="6991947" y="5792719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…………..…</a:t>
            </a:r>
          </a:p>
        </p:txBody>
      </p:sp>
      <p:sp>
        <p:nvSpPr>
          <p:cNvPr id="77" name="Titre 1"/>
          <p:cNvSpPr txBox="1">
            <a:spLocks/>
          </p:cNvSpPr>
          <p:nvPr/>
        </p:nvSpPr>
        <p:spPr>
          <a:xfrm>
            <a:off x="3591420" y="2879520"/>
            <a:ext cx="1620000" cy="360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bordereau</a:t>
            </a:r>
            <a:endParaRPr lang="fr-FR" sz="1400" dirty="0"/>
          </a:p>
        </p:txBody>
      </p:sp>
      <p:sp>
        <p:nvSpPr>
          <p:cNvPr id="80" name="Rectangle 79"/>
          <p:cNvSpPr/>
          <p:nvPr/>
        </p:nvSpPr>
        <p:spPr>
          <a:xfrm>
            <a:off x="5216119" y="2922928"/>
            <a:ext cx="28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1" name="Rectangle 80"/>
          <p:cNvSpPr/>
          <p:nvPr/>
        </p:nvSpPr>
        <p:spPr>
          <a:xfrm>
            <a:off x="552208" y="2808979"/>
            <a:ext cx="10010100" cy="936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8" name="Titre 1"/>
          <p:cNvSpPr txBox="1">
            <a:spLocks/>
          </p:cNvSpPr>
          <p:nvPr/>
        </p:nvSpPr>
        <p:spPr>
          <a:xfrm>
            <a:off x="385190" y="2826791"/>
            <a:ext cx="3062148" cy="51042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b="1" u="sng" dirty="0" smtClean="0"/>
              <a:t>Bordereau de demande de prise en charge CNAS</a:t>
            </a:r>
            <a:endParaRPr lang="fr-FR" sz="1400" b="1" u="sng" dirty="0"/>
          </a:p>
        </p:txBody>
      </p:sp>
      <p:sp>
        <p:nvSpPr>
          <p:cNvPr id="107" name="Titre 1"/>
          <p:cNvSpPr txBox="1">
            <a:spLocks/>
          </p:cNvSpPr>
          <p:nvPr/>
        </p:nvSpPr>
        <p:spPr>
          <a:xfrm>
            <a:off x="3589272" y="3302379"/>
            <a:ext cx="1620000" cy="360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 de bordereau</a:t>
            </a:r>
            <a:endParaRPr lang="fr-FR" sz="1400" dirty="0"/>
          </a:p>
        </p:txBody>
      </p:sp>
      <p:sp>
        <p:nvSpPr>
          <p:cNvPr id="109" name="Rectangle 108"/>
          <p:cNvSpPr/>
          <p:nvPr/>
        </p:nvSpPr>
        <p:spPr>
          <a:xfrm>
            <a:off x="5213971" y="3345787"/>
            <a:ext cx="144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0" name="Titre 1"/>
          <p:cNvSpPr txBox="1">
            <a:spLocks/>
          </p:cNvSpPr>
          <p:nvPr/>
        </p:nvSpPr>
        <p:spPr>
          <a:xfrm>
            <a:off x="8225174" y="4009050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fr-FR"/>
            </a:defPPr>
            <a:lvl1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 sz="1400"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dirty="0" smtClean="0"/>
              <a:t>Observation</a:t>
            </a:r>
            <a:endParaRPr lang="fr-FR" dirty="0"/>
          </a:p>
        </p:txBody>
      </p:sp>
      <p:sp>
        <p:nvSpPr>
          <p:cNvPr id="111" name="Titre 1"/>
          <p:cNvSpPr txBox="1">
            <a:spLocks/>
          </p:cNvSpPr>
          <p:nvPr/>
        </p:nvSpPr>
        <p:spPr>
          <a:xfrm>
            <a:off x="9523791" y="4019781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fr-FR"/>
            </a:defPPr>
            <a:lvl1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 sz="1400"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dirty="0" smtClean="0"/>
              <a:t>Sélection</a:t>
            </a:r>
            <a:endParaRPr lang="fr-FR" dirty="0"/>
          </a:p>
        </p:txBody>
      </p:sp>
      <p:sp>
        <p:nvSpPr>
          <p:cNvPr id="112" name="Ellipse 111"/>
          <p:cNvSpPr/>
          <p:nvPr/>
        </p:nvSpPr>
        <p:spPr>
          <a:xfrm flipV="1">
            <a:off x="9988862" y="4581127"/>
            <a:ext cx="180000" cy="180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4" name="Ellipse 113"/>
          <p:cNvSpPr/>
          <p:nvPr/>
        </p:nvSpPr>
        <p:spPr>
          <a:xfrm flipV="1">
            <a:off x="10010049" y="5051397"/>
            <a:ext cx="180000" cy="180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6" name="Ellipse 115"/>
          <p:cNvSpPr/>
          <p:nvPr/>
        </p:nvSpPr>
        <p:spPr>
          <a:xfrm flipV="1">
            <a:off x="10007901" y="5500011"/>
            <a:ext cx="180000" cy="180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7" name="Ellipse 116"/>
          <p:cNvSpPr/>
          <p:nvPr/>
        </p:nvSpPr>
        <p:spPr>
          <a:xfrm flipV="1">
            <a:off x="10007901" y="5963653"/>
            <a:ext cx="180000" cy="180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9" name="Rectangle 78"/>
          <p:cNvSpPr/>
          <p:nvPr/>
        </p:nvSpPr>
        <p:spPr>
          <a:xfrm>
            <a:off x="9271791" y="6361195"/>
            <a:ext cx="1332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Ajouter</a:t>
            </a:r>
            <a:endParaRPr lang="fr-FR" sz="1400" dirty="0"/>
          </a:p>
        </p:txBody>
      </p:sp>
    </p:spTree>
    <p:extLst>
      <p:ext uri="{BB962C8B-B14F-4D97-AF65-F5344CB8AC3E}">
        <p14:creationId xmlns:p14="http://schemas.microsoft.com/office/powerpoint/2010/main" val="2974412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/>
        </p:nvSpPr>
        <p:spPr>
          <a:xfrm>
            <a:off x="311736" y="902407"/>
            <a:ext cx="11736000" cy="5868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6" name="Rectangle 35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37" name="Rectangle 36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90" name="ZoneTexte 89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91" name="Rectangle 90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92" name="Titre 1"/>
          <p:cNvSpPr txBox="1">
            <a:spLocks/>
          </p:cNvSpPr>
          <p:nvPr/>
        </p:nvSpPr>
        <p:spPr>
          <a:xfrm>
            <a:off x="1489279" y="3672070"/>
            <a:ext cx="1080000" cy="432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bordereau</a:t>
            </a:r>
            <a:endParaRPr lang="fr-FR" sz="1400" dirty="0"/>
          </a:p>
        </p:txBody>
      </p:sp>
      <p:sp>
        <p:nvSpPr>
          <p:cNvPr id="100" name="Titre 1"/>
          <p:cNvSpPr txBox="1">
            <a:spLocks/>
          </p:cNvSpPr>
          <p:nvPr/>
        </p:nvSpPr>
        <p:spPr>
          <a:xfrm>
            <a:off x="1587301" y="1970101"/>
            <a:ext cx="1620000" cy="360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Patient</a:t>
            </a:r>
            <a:endParaRPr lang="fr-FR" sz="1400" dirty="0"/>
          </a:p>
        </p:txBody>
      </p:sp>
      <p:sp>
        <p:nvSpPr>
          <p:cNvPr id="101" name="Rectangle 100"/>
          <p:cNvSpPr/>
          <p:nvPr/>
        </p:nvSpPr>
        <p:spPr>
          <a:xfrm>
            <a:off x="3212000" y="2013509"/>
            <a:ext cx="28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2" name="Rectangle 101"/>
          <p:cNvSpPr/>
          <p:nvPr/>
        </p:nvSpPr>
        <p:spPr>
          <a:xfrm>
            <a:off x="1411744" y="1873802"/>
            <a:ext cx="7212880" cy="1542033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3" name="Titre 1"/>
          <p:cNvSpPr txBox="1">
            <a:spLocks/>
          </p:cNvSpPr>
          <p:nvPr/>
        </p:nvSpPr>
        <p:spPr>
          <a:xfrm>
            <a:off x="1571379" y="2428609"/>
            <a:ext cx="1620000" cy="34977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defPPr>
              <a:defRPr lang="fr-FR"/>
            </a:defPPr>
            <a:lvl1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 sz="1400"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 smtClean="0"/>
              <a:t>N</a:t>
            </a:r>
            <a:r>
              <a:rPr lang="fr-FR" dirty="0"/>
              <a:t>° </a:t>
            </a:r>
            <a:r>
              <a:rPr lang="fr-FR" dirty="0" smtClean="0"/>
              <a:t>bordereau </a:t>
            </a:r>
            <a:endParaRPr lang="fr-FR" dirty="0"/>
          </a:p>
        </p:txBody>
      </p:sp>
      <p:sp>
        <p:nvSpPr>
          <p:cNvPr id="104" name="Rectangle 103"/>
          <p:cNvSpPr/>
          <p:nvPr/>
        </p:nvSpPr>
        <p:spPr>
          <a:xfrm>
            <a:off x="3192360" y="2446615"/>
            <a:ext cx="16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2" name="Titre 1"/>
          <p:cNvSpPr txBox="1">
            <a:spLocks/>
          </p:cNvSpPr>
          <p:nvPr/>
        </p:nvSpPr>
        <p:spPr>
          <a:xfrm>
            <a:off x="2678728" y="3668529"/>
            <a:ext cx="1080000" cy="432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/>
              <a:t>Date </a:t>
            </a:r>
            <a:r>
              <a:rPr lang="fr-FR" sz="1400" dirty="0" smtClean="0"/>
              <a:t>de bordereau</a:t>
            </a:r>
            <a:endParaRPr lang="fr-FR" sz="1400" dirty="0"/>
          </a:p>
        </p:txBody>
      </p:sp>
      <p:sp>
        <p:nvSpPr>
          <p:cNvPr id="84" name="Titre 1"/>
          <p:cNvSpPr txBox="1">
            <a:spLocks/>
          </p:cNvSpPr>
          <p:nvPr/>
        </p:nvSpPr>
        <p:spPr>
          <a:xfrm>
            <a:off x="3782683" y="3695190"/>
            <a:ext cx="1218068" cy="38092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de </a:t>
            </a:r>
            <a:r>
              <a:rPr lang="fr-FR" sz="1400" smtClean="0"/>
              <a:t>sécurité sociale</a:t>
            </a:r>
            <a:endParaRPr lang="fr-FR" sz="1400" dirty="0"/>
          </a:p>
        </p:txBody>
      </p:sp>
      <p:sp>
        <p:nvSpPr>
          <p:cNvPr id="106" name="Titre 1"/>
          <p:cNvSpPr txBox="1">
            <a:spLocks/>
          </p:cNvSpPr>
          <p:nvPr/>
        </p:nvSpPr>
        <p:spPr>
          <a:xfrm>
            <a:off x="5068163" y="3702606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fr-FR"/>
            </a:defPPr>
            <a:lvl1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 sz="1400"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dirty="0" smtClean="0"/>
              <a:t>Nom</a:t>
            </a:r>
            <a:endParaRPr lang="fr-FR" dirty="0"/>
          </a:p>
        </p:txBody>
      </p:sp>
      <p:sp>
        <p:nvSpPr>
          <p:cNvPr id="108" name="Titre 1"/>
          <p:cNvSpPr txBox="1">
            <a:spLocks/>
          </p:cNvSpPr>
          <p:nvPr/>
        </p:nvSpPr>
        <p:spPr>
          <a:xfrm>
            <a:off x="7493199" y="3697389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Catégorie</a:t>
            </a:r>
            <a:endParaRPr lang="fr-FR" sz="1400" dirty="0"/>
          </a:p>
        </p:txBody>
      </p:sp>
      <p:sp>
        <p:nvSpPr>
          <p:cNvPr id="156" name="Titre 1"/>
          <p:cNvSpPr txBox="1">
            <a:spLocks/>
          </p:cNvSpPr>
          <p:nvPr/>
        </p:nvSpPr>
        <p:spPr>
          <a:xfrm>
            <a:off x="6291793" y="3695190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fr-FR"/>
            </a:defPPr>
            <a:lvl1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 sz="1400"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dirty="0" smtClean="0"/>
              <a:t>Prénom</a:t>
            </a:r>
            <a:endParaRPr lang="fr-FR" dirty="0"/>
          </a:p>
        </p:txBody>
      </p:sp>
      <p:sp>
        <p:nvSpPr>
          <p:cNvPr id="162" name="Titre 1"/>
          <p:cNvSpPr txBox="1">
            <a:spLocks/>
          </p:cNvSpPr>
          <p:nvPr/>
        </p:nvSpPr>
        <p:spPr>
          <a:xfrm>
            <a:off x="350762" y="946048"/>
            <a:ext cx="3892054" cy="66389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b="1" u="sng" dirty="0"/>
              <a:t>Consultation bordereau de demande prise en charge</a:t>
            </a:r>
          </a:p>
        </p:txBody>
      </p:sp>
      <p:sp>
        <p:nvSpPr>
          <p:cNvPr id="61" name="Titre 1"/>
          <p:cNvSpPr txBox="1">
            <a:spLocks/>
          </p:cNvSpPr>
          <p:nvPr/>
        </p:nvSpPr>
        <p:spPr>
          <a:xfrm>
            <a:off x="3626685" y="7493"/>
            <a:ext cx="5101042" cy="87542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20 – Patient -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Reporting /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/>
            </a:r>
            <a:b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</a:br>
            <a:r>
              <a:rPr 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Bordereau</a:t>
            </a:r>
            <a:r>
              <a:rPr lang="fr-FR" sz="1800" dirty="0"/>
              <a:t> </a:t>
            </a:r>
            <a:r>
              <a:rPr 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de demande de prise en charge </a:t>
            </a:r>
            <a:r>
              <a:rPr 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CNAS /</a:t>
            </a:r>
          </a:p>
          <a:p>
            <a:r>
              <a:rPr 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Consultation bordereau</a:t>
            </a:r>
            <a:endParaRPr lang="fr-FR" sz="1800" b="1" dirty="0" smtClean="0">
              <a:solidFill>
                <a:srgbClr val="000000"/>
              </a:solidFill>
              <a:latin typeface="Times New Roman" panose="02020603050405020304" pitchFamily="18" charset="0"/>
              <a:ea typeface="Microsoft YaHei" panose="020B0503020204020204" pitchFamily="34" charset="-122"/>
            </a:endParaRPr>
          </a:p>
        </p:txBody>
      </p:sp>
      <p:sp>
        <p:nvSpPr>
          <p:cNvPr id="66" name="Titre 1"/>
          <p:cNvSpPr txBox="1">
            <a:spLocks/>
          </p:cNvSpPr>
          <p:nvPr/>
        </p:nvSpPr>
        <p:spPr>
          <a:xfrm>
            <a:off x="1594878" y="2900134"/>
            <a:ext cx="1620000" cy="34977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defPPr>
              <a:defRPr lang="fr-FR"/>
            </a:defPPr>
            <a:lvl1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 sz="1400"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 smtClean="0"/>
              <a:t>Date de bordereau</a:t>
            </a:r>
            <a:endParaRPr lang="fr-FR" dirty="0"/>
          </a:p>
        </p:txBody>
      </p:sp>
      <p:sp>
        <p:nvSpPr>
          <p:cNvPr id="68" name="Rectangle 67"/>
          <p:cNvSpPr/>
          <p:nvPr/>
        </p:nvSpPr>
        <p:spPr>
          <a:xfrm>
            <a:off x="3665608" y="2928638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9" name="Rectangle 68"/>
          <p:cNvSpPr/>
          <p:nvPr/>
        </p:nvSpPr>
        <p:spPr>
          <a:xfrm>
            <a:off x="5299074" y="2939369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3" name="Titre 1"/>
          <p:cNvSpPr txBox="1">
            <a:spLocks/>
          </p:cNvSpPr>
          <p:nvPr/>
        </p:nvSpPr>
        <p:spPr>
          <a:xfrm>
            <a:off x="3114697" y="2915860"/>
            <a:ext cx="540000" cy="34977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defPPr>
              <a:defRPr lang="fr-FR"/>
            </a:defPPr>
            <a:lvl1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 sz="1400"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dirty="0" smtClean="0"/>
              <a:t>de</a:t>
            </a:r>
            <a:endParaRPr lang="fr-FR" dirty="0"/>
          </a:p>
        </p:txBody>
      </p:sp>
      <p:sp>
        <p:nvSpPr>
          <p:cNvPr id="74" name="Titre 1"/>
          <p:cNvSpPr txBox="1">
            <a:spLocks/>
          </p:cNvSpPr>
          <p:nvPr/>
        </p:nvSpPr>
        <p:spPr>
          <a:xfrm>
            <a:off x="4761037" y="2913712"/>
            <a:ext cx="540000" cy="34977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defPPr>
              <a:defRPr lang="fr-FR"/>
            </a:defPPr>
            <a:lvl1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 sz="1400"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dirty="0" smtClean="0"/>
              <a:t>au</a:t>
            </a:r>
            <a:endParaRPr lang="fr-FR" dirty="0"/>
          </a:p>
        </p:txBody>
      </p:sp>
      <p:sp>
        <p:nvSpPr>
          <p:cNvPr id="75" name="Rectangle 74"/>
          <p:cNvSpPr/>
          <p:nvPr/>
        </p:nvSpPr>
        <p:spPr>
          <a:xfrm>
            <a:off x="3214249" y="2856514"/>
            <a:ext cx="3600000" cy="432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6" name="Rectangle 75"/>
          <p:cNvSpPr/>
          <p:nvPr/>
        </p:nvSpPr>
        <p:spPr>
          <a:xfrm>
            <a:off x="7252204" y="2961976"/>
            <a:ext cx="1332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Recherche</a:t>
            </a:r>
            <a:endParaRPr lang="fr-FR" sz="1400" dirty="0"/>
          </a:p>
        </p:txBody>
      </p:sp>
      <p:sp>
        <p:nvSpPr>
          <p:cNvPr id="86" name="Rectangle 85"/>
          <p:cNvSpPr/>
          <p:nvPr/>
        </p:nvSpPr>
        <p:spPr>
          <a:xfrm>
            <a:off x="1417187" y="3622492"/>
            <a:ext cx="7200000" cy="2340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95" name="Connecteur droit 94"/>
          <p:cNvCxnSpPr/>
          <p:nvPr/>
        </p:nvCxnSpPr>
        <p:spPr>
          <a:xfrm>
            <a:off x="4989951" y="3641962"/>
            <a:ext cx="0" cy="234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9" name="Connecteur droit 98"/>
          <p:cNvCxnSpPr/>
          <p:nvPr/>
        </p:nvCxnSpPr>
        <p:spPr>
          <a:xfrm>
            <a:off x="2642182" y="3613505"/>
            <a:ext cx="0" cy="234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5" name="Connecteur droit 104"/>
          <p:cNvCxnSpPr/>
          <p:nvPr/>
        </p:nvCxnSpPr>
        <p:spPr>
          <a:xfrm flipH="1" flipV="1">
            <a:off x="1408151" y="4130787"/>
            <a:ext cx="7200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3" name="Connecteur droit 112"/>
          <p:cNvCxnSpPr/>
          <p:nvPr/>
        </p:nvCxnSpPr>
        <p:spPr>
          <a:xfrm>
            <a:off x="3788519" y="3620344"/>
            <a:ext cx="0" cy="234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5" name="Connecteur droit 114"/>
          <p:cNvCxnSpPr/>
          <p:nvPr/>
        </p:nvCxnSpPr>
        <p:spPr>
          <a:xfrm>
            <a:off x="6199684" y="3632071"/>
            <a:ext cx="0" cy="234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9" name="Connecteur droit 118"/>
          <p:cNvCxnSpPr/>
          <p:nvPr/>
        </p:nvCxnSpPr>
        <p:spPr>
          <a:xfrm>
            <a:off x="7398130" y="3620344"/>
            <a:ext cx="0" cy="234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1" name="Titre 1"/>
          <p:cNvSpPr txBox="1">
            <a:spLocks/>
          </p:cNvSpPr>
          <p:nvPr/>
        </p:nvSpPr>
        <p:spPr>
          <a:xfrm>
            <a:off x="1444590" y="4136634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……………..</a:t>
            </a:r>
            <a:endParaRPr lang="fr-FR" sz="1800" b="1" dirty="0"/>
          </a:p>
        </p:txBody>
      </p:sp>
      <p:sp>
        <p:nvSpPr>
          <p:cNvPr id="122" name="Titre 1"/>
          <p:cNvSpPr txBox="1">
            <a:spLocks/>
          </p:cNvSpPr>
          <p:nvPr/>
        </p:nvSpPr>
        <p:spPr>
          <a:xfrm>
            <a:off x="5070312" y="4143261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123" name="Titre 1"/>
          <p:cNvSpPr txBox="1">
            <a:spLocks/>
          </p:cNvSpPr>
          <p:nvPr/>
        </p:nvSpPr>
        <p:spPr>
          <a:xfrm>
            <a:off x="6311999" y="4130118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125" name="Titre 1"/>
          <p:cNvSpPr txBox="1">
            <a:spLocks/>
          </p:cNvSpPr>
          <p:nvPr/>
        </p:nvSpPr>
        <p:spPr>
          <a:xfrm>
            <a:off x="2627296" y="4147365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…………….</a:t>
            </a:r>
            <a:endParaRPr lang="fr-FR" sz="1800" b="1" dirty="0"/>
          </a:p>
        </p:txBody>
      </p:sp>
      <p:sp>
        <p:nvSpPr>
          <p:cNvPr id="127" name="Titre 1"/>
          <p:cNvSpPr txBox="1">
            <a:spLocks/>
          </p:cNvSpPr>
          <p:nvPr/>
        </p:nvSpPr>
        <p:spPr>
          <a:xfrm>
            <a:off x="1442441" y="4585250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……………..</a:t>
            </a:r>
            <a:endParaRPr lang="fr-FR" sz="1800" b="1" dirty="0"/>
          </a:p>
        </p:txBody>
      </p:sp>
      <p:sp>
        <p:nvSpPr>
          <p:cNvPr id="128" name="Titre 1"/>
          <p:cNvSpPr txBox="1">
            <a:spLocks/>
          </p:cNvSpPr>
          <p:nvPr/>
        </p:nvSpPr>
        <p:spPr>
          <a:xfrm>
            <a:off x="3874016" y="4591877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………….....</a:t>
            </a:r>
            <a:endParaRPr lang="fr-FR" sz="1800" b="1" dirty="0"/>
          </a:p>
        </p:txBody>
      </p:sp>
      <p:sp>
        <p:nvSpPr>
          <p:cNvPr id="129" name="Titre 1"/>
          <p:cNvSpPr txBox="1">
            <a:spLocks/>
          </p:cNvSpPr>
          <p:nvPr/>
        </p:nvSpPr>
        <p:spPr>
          <a:xfrm>
            <a:off x="5068163" y="4591877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134" name="Titre 1"/>
          <p:cNvSpPr txBox="1">
            <a:spLocks/>
          </p:cNvSpPr>
          <p:nvPr/>
        </p:nvSpPr>
        <p:spPr>
          <a:xfrm>
            <a:off x="6321328" y="4603652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135" name="Titre 1"/>
          <p:cNvSpPr txBox="1">
            <a:spLocks/>
          </p:cNvSpPr>
          <p:nvPr/>
        </p:nvSpPr>
        <p:spPr>
          <a:xfrm>
            <a:off x="2625147" y="4595981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…………….</a:t>
            </a:r>
            <a:endParaRPr lang="fr-FR" sz="1800" b="1" dirty="0"/>
          </a:p>
        </p:txBody>
      </p:sp>
      <p:cxnSp>
        <p:nvCxnSpPr>
          <p:cNvPr id="138" name="Connecteur droit 137"/>
          <p:cNvCxnSpPr/>
          <p:nvPr/>
        </p:nvCxnSpPr>
        <p:spPr>
          <a:xfrm flipH="1" flipV="1">
            <a:off x="1413892" y="5051459"/>
            <a:ext cx="7200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39" name="Titre 1"/>
          <p:cNvSpPr txBox="1">
            <a:spLocks/>
          </p:cNvSpPr>
          <p:nvPr/>
        </p:nvSpPr>
        <p:spPr>
          <a:xfrm>
            <a:off x="1440294" y="5020983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……………..</a:t>
            </a:r>
            <a:endParaRPr lang="fr-FR" sz="1800" b="1" dirty="0"/>
          </a:p>
        </p:txBody>
      </p:sp>
      <p:sp>
        <p:nvSpPr>
          <p:cNvPr id="140" name="Titre 1"/>
          <p:cNvSpPr txBox="1">
            <a:spLocks/>
          </p:cNvSpPr>
          <p:nvPr/>
        </p:nvSpPr>
        <p:spPr>
          <a:xfrm>
            <a:off x="5040258" y="5027610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141" name="Titre 1"/>
          <p:cNvSpPr txBox="1">
            <a:spLocks/>
          </p:cNvSpPr>
          <p:nvPr/>
        </p:nvSpPr>
        <p:spPr>
          <a:xfrm>
            <a:off x="6320026" y="5027610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142" name="Titre 1"/>
          <p:cNvSpPr txBox="1">
            <a:spLocks/>
          </p:cNvSpPr>
          <p:nvPr/>
        </p:nvSpPr>
        <p:spPr>
          <a:xfrm>
            <a:off x="2635879" y="5031714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…………….</a:t>
            </a:r>
            <a:endParaRPr lang="fr-FR" sz="1800" b="1" dirty="0"/>
          </a:p>
        </p:txBody>
      </p:sp>
      <p:cxnSp>
        <p:nvCxnSpPr>
          <p:cNvPr id="145" name="Connecteur droit 144"/>
          <p:cNvCxnSpPr/>
          <p:nvPr/>
        </p:nvCxnSpPr>
        <p:spPr>
          <a:xfrm flipH="1" flipV="1">
            <a:off x="1424623" y="5474316"/>
            <a:ext cx="7200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46" name="Connecteur droit 145"/>
          <p:cNvCxnSpPr/>
          <p:nvPr/>
        </p:nvCxnSpPr>
        <p:spPr>
          <a:xfrm flipH="1" flipV="1">
            <a:off x="1411744" y="4611430"/>
            <a:ext cx="7200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0" name="Titre 1"/>
          <p:cNvSpPr txBox="1">
            <a:spLocks/>
          </p:cNvSpPr>
          <p:nvPr/>
        </p:nvSpPr>
        <p:spPr>
          <a:xfrm>
            <a:off x="3871869" y="4164730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………….....</a:t>
            </a:r>
            <a:endParaRPr lang="fr-FR" sz="1800" b="1" dirty="0"/>
          </a:p>
        </p:txBody>
      </p:sp>
      <p:sp>
        <p:nvSpPr>
          <p:cNvPr id="151" name="Titre 1"/>
          <p:cNvSpPr txBox="1">
            <a:spLocks/>
          </p:cNvSpPr>
          <p:nvPr/>
        </p:nvSpPr>
        <p:spPr>
          <a:xfrm>
            <a:off x="3882600" y="5012591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………….....</a:t>
            </a:r>
            <a:endParaRPr lang="fr-FR" sz="1800" b="1" dirty="0"/>
          </a:p>
        </p:txBody>
      </p:sp>
      <p:sp>
        <p:nvSpPr>
          <p:cNvPr id="161" name="Titre 1"/>
          <p:cNvSpPr txBox="1">
            <a:spLocks/>
          </p:cNvSpPr>
          <p:nvPr/>
        </p:nvSpPr>
        <p:spPr>
          <a:xfrm>
            <a:off x="1442442" y="5473889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……………..</a:t>
            </a:r>
            <a:endParaRPr lang="fr-FR" sz="1800" b="1" dirty="0"/>
          </a:p>
        </p:txBody>
      </p:sp>
      <p:sp>
        <p:nvSpPr>
          <p:cNvPr id="163" name="Titre 1"/>
          <p:cNvSpPr txBox="1">
            <a:spLocks/>
          </p:cNvSpPr>
          <p:nvPr/>
        </p:nvSpPr>
        <p:spPr>
          <a:xfrm>
            <a:off x="5068164" y="5480516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164" name="Titre 1"/>
          <p:cNvSpPr txBox="1">
            <a:spLocks/>
          </p:cNvSpPr>
          <p:nvPr/>
        </p:nvSpPr>
        <p:spPr>
          <a:xfrm>
            <a:off x="6309851" y="5467373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165" name="Titre 1"/>
          <p:cNvSpPr txBox="1">
            <a:spLocks/>
          </p:cNvSpPr>
          <p:nvPr/>
        </p:nvSpPr>
        <p:spPr>
          <a:xfrm>
            <a:off x="2625148" y="5484620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…………….</a:t>
            </a:r>
            <a:endParaRPr lang="fr-FR" sz="1800" b="1" dirty="0"/>
          </a:p>
        </p:txBody>
      </p:sp>
      <p:sp>
        <p:nvSpPr>
          <p:cNvPr id="167" name="Titre 1"/>
          <p:cNvSpPr txBox="1">
            <a:spLocks/>
          </p:cNvSpPr>
          <p:nvPr/>
        </p:nvSpPr>
        <p:spPr>
          <a:xfrm>
            <a:off x="3869721" y="5501985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………….....</a:t>
            </a:r>
            <a:endParaRPr lang="fr-FR" sz="1800" b="1" dirty="0"/>
          </a:p>
        </p:txBody>
      </p:sp>
      <p:sp>
        <p:nvSpPr>
          <p:cNvPr id="171" name="Titre 1"/>
          <p:cNvSpPr txBox="1">
            <a:spLocks/>
          </p:cNvSpPr>
          <p:nvPr/>
        </p:nvSpPr>
        <p:spPr>
          <a:xfrm>
            <a:off x="7433007" y="4144568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…………..…</a:t>
            </a:r>
          </a:p>
        </p:txBody>
      </p:sp>
      <p:sp>
        <p:nvSpPr>
          <p:cNvPr id="172" name="Titre 1"/>
          <p:cNvSpPr txBox="1">
            <a:spLocks/>
          </p:cNvSpPr>
          <p:nvPr/>
        </p:nvSpPr>
        <p:spPr>
          <a:xfrm>
            <a:off x="7441457" y="4593425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…………..…</a:t>
            </a:r>
          </a:p>
        </p:txBody>
      </p:sp>
      <p:sp>
        <p:nvSpPr>
          <p:cNvPr id="173" name="Titre 1"/>
          <p:cNvSpPr txBox="1">
            <a:spLocks/>
          </p:cNvSpPr>
          <p:nvPr/>
        </p:nvSpPr>
        <p:spPr>
          <a:xfrm>
            <a:off x="7438807" y="5038031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…………..…</a:t>
            </a:r>
          </a:p>
        </p:txBody>
      </p:sp>
      <p:sp>
        <p:nvSpPr>
          <p:cNvPr id="174" name="Titre 1"/>
          <p:cNvSpPr txBox="1">
            <a:spLocks/>
          </p:cNvSpPr>
          <p:nvPr/>
        </p:nvSpPr>
        <p:spPr>
          <a:xfrm>
            <a:off x="7430859" y="5481823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…………..…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278399" y="6141739"/>
            <a:ext cx="1332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Ajouter</a:t>
            </a:r>
            <a:endParaRPr lang="fr-FR" sz="1400" dirty="0"/>
          </a:p>
        </p:txBody>
      </p:sp>
    </p:spTree>
    <p:extLst>
      <p:ext uri="{BB962C8B-B14F-4D97-AF65-F5344CB8AC3E}">
        <p14:creationId xmlns:p14="http://schemas.microsoft.com/office/powerpoint/2010/main" val="32376904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itre 1"/>
          <p:cNvSpPr txBox="1">
            <a:spLocks/>
          </p:cNvSpPr>
          <p:nvPr/>
        </p:nvSpPr>
        <p:spPr>
          <a:xfrm>
            <a:off x="3489617" y="59579"/>
            <a:ext cx="4620714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21 – Observations médicales – 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Antécédent / physiologique</a:t>
            </a:r>
            <a:endParaRPr lang="fr-FR" sz="1800" dirty="0"/>
          </a:p>
        </p:txBody>
      </p:sp>
      <p:sp>
        <p:nvSpPr>
          <p:cNvPr id="84" name="Rectangle 83"/>
          <p:cNvSpPr/>
          <p:nvPr/>
        </p:nvSpPr>
        <p:spPr>
          <a:xfrm>
            <a:off x="191992" y="689429"/>
            <a:ext cx="11758269" cy="524635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5" name="Rectangle 84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6" name="Rectangle 85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7" name="ZoneTexte 86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88" name="Rectangle 87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94" name="Titre 1"/>
          <p:cNvSpPr txBox="1">
            <a:spLocks/>
          </p:cNvSpPr>
          <p:nvPr/>
        </p:nvSpPr>
        <p:spPr>
          <a:xfrm>
            <a:off x="1964661" y="853386"/>
            <a:ext cx="1026946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dossier</a:t>
            </a:r>
            <a:endParaRPr lang="fr-FR" sz="1400" dirty="0"/>
          </a:p>
        </p:txBody>
      </p:sp>
      <p:sp>
        <p:nvSpPr>
          <p:cNvPr id="95" name="Titre 1"/>
          <p:cNvSpPr txBox="1">
            <a:spLocks/>
          </p:cNvSpPr>
          <p:nvPr/>
        </p:nvSpPr>
        <p:spPr>
          <a:xfrm>
            <a:off x="4355023" y="840281"/>
            <a:ext cx="9591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Patient </a:t>
            </a:r>
            <a:endParaRPr lang="fr-FR" sz="1400" dirty="0"/>
          </a:p>
        </p:txBody>
      </p:sp>
      <p:sp>
        <p:nvSpPr>
          <p:cNvPr id="96" name="Titre 1"/>
          <p:cNvSpPr txBox="1">
            <a:spLocks/>
          </p:cNvSpPr>
          <p:nvPr/>
        </p:nvSpPr>
        <p:spPr>
          <a:xfrm>
            <a:off x="7182390" y="859793"/>
            <a:ext cx="560942" cy="3850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Age </a:t>
            </a:r>
            <a:endParaRPr lang="fr-FR" sz="1400" dirty="0"/>
          </a:p>
        </p:txBody>
      </p:sp>
      <p:sp>
        <p:nvSpPr>
          <p:cNvPr id="97" name="Rectangle 96"/>
          <p:cNvSpPr/>
          <p:nvPr/>
        </p:nvSpPr>
        <p:spPr>
          <a:xfrm>
            <a:off x="3152059" y="898412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8" name="Rectangle 97"/>
          <p:cNvSpPr/>
          <p:nvPr/>
        </p:nvSpPr>
        <p:spPr>
          <a:xfrm>
            <a:off x="5326245" y="853688"/>
            <a:ext cx="1641189" cy="35303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9" name="Rectangle 98"/>
          <p:cNvSpPr/>
          <p:nvPr/>
        </p:nvSpPr>
        <p:spPr>
          <a:xfrm>
            <a:off x="7736488" y="905040"/>
            <a:ext cx="7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0" name="Rectangle 99"/>
          <p:cNvSpPr/>
          <p:nvPr/>
        </p:nvSpPr>
        <p:spPr>
          <a:xfrm>
            <a:off x="1914072" y="784044"/>
            <a:ext cx="9936000" cy="53385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2" name="Titre 1"/>
          <p:cNvSpPr txBox="1">
            <a:spLocks/>
          </p:cNvSpPr>
          <p:nvPr/>
        </p:nvSpPr>
        <p:spPr>
          <a:xfrm>
            <a:off x="73859" y="1272449"/>
            <a:ext cx="2137032" cy="54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 smtClean="0"/>
              <a:t>Suivi des antécédents</a:t>
            </a:r>
            <a:endParaRPr lang="fr-FR" sz="1600" b="1" u="sng" dirty="0"/>
          </a:p>
        </p:txBody>
      </p:sp>
      <p:sp>
        <p:nvSpPr>
          <p:cNvPr id="117" name="Rectangle 116"/>
          <p:cNvSpPr/>
          <p:nvPr/>
        </p:nvSpPr>
        <p:spPr>
          <a:xfrm>
            <a:off x="6572921" y="2768386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8" name="Titre 1"/>
          <p:cNvSpPr txBox="1">
            <a:spLocks/>
          </p:cNvSpPr>
          <p:nvPr/>
        </p:nvSpPr>
        <p:spPr>
          <a:xfrm>
            <a:off x="575759" y="3302925"/>
            <a:ext cx="180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Grossesse</a:t>
            </a:r>
            <a:endParaRPr lang="fr-FR" sz="1400" dirty="0"/>
          </a:p>
        </p:txBody>
      </p:sp>
      <p:sp>
        <p:nvSpPr>
          <p:cNvPr id="119" name="Rectangle 118"/>
          <p:cNvSpPr/>
          <p:nvPr/>
        </p:nvSpPr>
        <p:spPr>
          <a:xfrm>
            <a:off x="6577610" y="3354497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0" name="Titre 1"/>
          <p:cNvSpPr txBox="1">
            <a:spLocks/>
          </p:cNvSpPr>
          <p:nvPr/>
        </p:nvSpPr>
        <p:spPr>
          <a:xfrm>
            <a:off x="4769077" y="2784729"/>
            <a:ext cx="180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Poids de naissance</a:t>
            </a:r>
            <a:endParaRPr lang="fr-FR" sz="1400" dirty="0"/>
          </a:p>
        </p:txBody>
      </p:sp>
      <p:sp>
        <p:nvSpPr>
          <p:cNvPr id="121" name="Rectangle 120"/>
          <p:cNvSpPr/>
          <p:nvPr/>
        </p:nvSpPr>
        <p:spPr>
          <a:xfrm>
            <a:off x="4369331" y="4907611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4" name="Rectangle 123"/>
          <p:cNvSpPr/>
          <p:nvPr/>
        </p:nvSpPr>
        <p:spPr>
          <a:xfrm>
            <a:off x="1964661" y="4888561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5" name="Titre 1"/>
          <p:cNvSpPr txBox="1">
            <a:spLocks/>
          </p:cNvSpPr>
          <p:nvPr/>
        </p:nvSpPr>
        <p:spPr>
          <a:xfrm>
            <a:off x="8423525" y="3354497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Semaine(s)</a:t>
            </a:r>
            <a:endParaRPr lang="fr-FR" sz="1400" dirty="0"/>
          </a:p>
        </p:txBody>
      </p:sp>
      <p:sp>
        <p:nvSpPr>
          <p:cNvPr id="126" name="Rectangle 125"/>
          <p:cNvSpPr/>
          <p:nvPr/>
        </p:nvSpPr>
        <p:spPr>
          <a:xfrm>
            <a:off x="6578442" y="3952702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7" name="Rectangle 126"/>
          <p:cNvSpPr/>
          <p:nvPr/>
        </p:nvSpPr>
        <p:spPr>
          <a:xfrm>
            <a:off x="307590" y="2363536"/>
            <a:ext cx="11556000" cy="3060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0" name="Rectangle 129"/>
          <p:cNvSpPr/>
          <p:nvPr/>
        </p:nvSpPr>
        <p:spPr>
          <a:xfrm>
            <a:off x="10506403" y="5518718"/>
            <a:ext cx="1332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Valider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283953" y="1710477"/>
            <a:ext cx="1260000" cy="540000"/>
          </a:xfrm>
          <a:prstGeom prst="rect">
            <a:avLst/>
          </a:prstGeom>
          <a:solidFill>
            <a:srgbClr val="92D05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Physiologique</a:t>
            </a:r>
            <a:endParaRPr lang="fr-FR" sz="1400" dirty="0"/>
          </a:p>
        </p:txBody>
      </p:sp>
      <p:sp>
        <p:nvSpPr>
          <p:cNvPr id="132" name="Rectangle 131"/>
          <p:cNvSpPr/>
          <p:nvPr/>
        </p:nvSpPr>
        <p:spPr>
          <a:xfrm>
            <a:off x="1595032" y="1717105"/>
            <a:ext cx="1260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Vaccination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2915874" y="1725891"/>
            <a:ext cx="1692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Facteurs des risques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4658736" y="1731760"/>
            <a:ext cx="1872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Antécédents médicaux / chirurgicaux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1976506" y="2811796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6" name="Titre 1"/>
          <p:cNvSpPr txBox="1">
            <a:spLocks/>
          </p:cNvSpPr>
          <p:nvPr/>
        </p:nvSpPr>
        <p:spPr>
          <a:xfrm>
            <a:off x="575759" y="2788058"/>
            <a:ext cx="180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Accouchement</a:t>
            </a:r>
            <a:endParaRPr lang="fr-FR" sz="1400" dirty="0"/>
          </a:p>
        </p:txBody>
      </p:sp>
      <p:sp>
        <p:nvSpPr>
          <p:cNvPr id="137" name="Triangle isocèle 136"/>
          <p:cNvSpPr/>
          <p:nvPr/>
        </p:nvSpPr>
        <p:spPr>
          <a:xfrm rot="10800000">
            <a:off x="3495122" y="2832804"/>
            <a:ext cx="252000" cy="322745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8" name="Titre 1"/>
          <p:cNvSpPr txBox="1">
            <a:spLocks/>
          </p:cNvSpPr>
          <p:nvPr/>
        </p:nvSpPr>
        <p:spPr>
          <a:xfrm>
            <a:off x="3345444" y="924164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02095</a:t>
            </a:r>
            <a:endParaRPr lang="fr-FR" sz="1400" dirty="0"/>
          </a:p>
        </p:txBody>
      </p:sp>
      <p:sp>
        <p:nvSpPr>
          <p:cNvPr id="139" name="Rectangle 138"/>
          <p:cNvSpPr/>
          <p:nvPr/>
        </p:nvSpPr>
        <p:spPr>
          <a:xfrm>
            <a:off x="5434893" y="907746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Amara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0" name="Rectangle 139"/>
          <p:cNvSpPr/>
          <p:nvPr/>
        </p:nvSpPr>
        <p:spPr>
          <a:xfrm>
            <a:off x="6099371" y="913787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amine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1" name="Rectangle 140"/>
          <p:cNvSpPr/>
          <p:nvPr/>
        </p:nvSpPr>
        <p:spPr>
          <a:xfrm>
            <a:off x="7785158" y="932612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43 ans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2" name="Rectangle 141"/>
          <p:cNvSpPr/>
          <p:nvPr/>
        </p:nvSpPr>
        <p:spPr>
          <a:xfrm>
            <a:off x="6584266" y="1736155"/>
            <a:ext cx="1260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Antécédents familiaux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7907827" y="1721048"/>
            <a:ext cx="1332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Néphropathies </a:t>
            </a:r>
            <a:r>
              <a:rPr lang="fr-FR" sz="1400" dirty="0" smtClean="0"/>
              <a:t>causales</a:t>
            </a:r>
            <a:endParaRPr lang="fr-FR" sz="1400" dirty="0"/>
          </a:p>
        </p:txBody>
      </p:sp>
      <p:sp>
        <p:nvSpPr>
          <p:cNvPr id="144" name="Rectangle 143"/>
          <p:cNvSpPr/>
          <p:nvPr/>
        </p:nvSpPr>
        <p:spPr>
          <a:xfrm>
            <a:off x="9298301" y="1733118"/>
            <a:ext cx="1260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Allergologie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10615495" y="1738987"/>
            <a:ext cx="1260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Psychiatrique</a:t>
            </a:r>
          </a:p>
        </p:txBody>
      </p:sp>
      <p:sp>
        <p:nvSpPr>
          <p:cNvPr id="64" name="Titre 1"/>
          <p:cNvSpPr txBox="1">
            <a:spLocks/>
          </p:cNvSpPr>
          <p:nvPr/>
        </p:nvSpPr>
        <p:spPr>
          <a:xfrm>
            <a:off x="35759" y="700949"/>
            <a:ext cx="1080000" cy="54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 smtClean="0"/>
              <a:t>Patient</a:t>
            </a:r>
            <a:endParaRPr lang="fr-FR" sz="1600" b="1" u="sng" dirty="0"/>
          </a:p>
        </p:txBody>
      </p:sp>
      <p:sp>
        <p:nvSpPr>
          <p:cNvPr id="2" name="Rectangle 1"/>
          <p:cNvSpPr/>
          <p:nvPr/>
        </p:nvSpPr>
        <p:spPr>
          <a:xfrm>
            <a:off x="578128" y="3992221"/>
            <a:ext cx="1931650" cy="3228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Réanimation </a:t>
            </a:r>
            <a:r>
              <a:rPr lang="fr-FR" sz="14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néonatale</a:t>
            </a:r>
            <a:endParaRPr lang="fr-FR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747806" y="3903480"/>
            <a:ext cx="540000" cy="36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Oui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747806" y="4269223"/>
            <a:ext cx="540000" cy="36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Non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97600" y="3991992"/>
            <a:ext cx="1080000" cy="2970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>
                <a:latin typeface="+mj-lt"/>
                <a:ea typeface="+mj-ea"/>
                <a:cs typeface="+mj-cs"/>
              </a:rPr>
              <a:t>Fratrie</a:t>
            </a:r>
          </a:p>
        </p:txBody>
      </p:sp>
      <p:sp>
        <p:nvSpPr>
          <p:cNvPr id="6" name="Rectangle 5"/>
          <p:cNvSpPr/>
          <p:nvPr/>
        </p:nvSpPr>
        <p:spPr>
          <a:xfrm>
            <a:off x="575759" y="4940147"/>
            <a:ext cx="1800000" cy="36000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Age </a:t>
            </a:r>
            <a:r>
              <a:rPr lang="fr-FR" sz="14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ménarchie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060723" y="4925716"/>
            <a:ext cx="360000" cy="32284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</a:t>
            </a:r>
            <a:endParaRPr lang="fr-FR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276728" y="4932291"/>
            <a:ext cx="360000" cy="32284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745345" y="4958724"/>
            <a:ext cx="1053494" cy="3228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Ménopause</a:t>
            </a:r>
            <a:endParaRPr lang="fr-FR" sz="1400" dirty="0"/>
          </a:p>
        </p:txBody>
      </p:sp>
      <p:sp>
        <p:nvSpPr>
          <p:cNvPr id="73" name="Rectangle 72"/>
          <p:cNvSpPr/>
          <p:nvPr/>
        </p:nvSpPr>
        <p:spPr>
          <a:xfrm>
            <a:off x="1976506" y="3364921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4" name="Triangle isocèle 73"/>
          <p:cNvSpPr/>
          <p:nvPr/>
        </p:nvSpPr>
        <p:spPr>
          <a:xfrm rot="10800000">
            <a:off x="3514172" y="3404304"/>
            <a:ext cx="252000" cy="322745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5" name="Rectangle 74"/>
          <p:cNvSpPr/>
          <p:nvPr/>
        </p:nvSpPr>
        <p:spPr>
          <a:xfrm>
            <a:off x="584791" y="3850473"/>
            <a:ext cx="3229815" cy="802533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" name="Ellipse 9"/>
          <p:cNvSpPr/>
          <p:nvPr/>
        </p:nvSpPr>
        <p:spPr>
          <a:xfrm>
            <a:off x="3307273" y="3963066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7" name="Ellipse 76"/>
          <p:cNvSpPr/>
          <p:nvPr/>
        </p:nvSpPr>
        <p:spPr>
          <a:xfrm>
            <a:off x="3307273" y="4344066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8" name="Titre 1"/>
          <p:cNvSpPr txBox="1">
            <a:spLocks/>
          </p:cNvSpPr>
          <p:nvPr/>
        </p:nvSpPr>
        <p:spPr>
          <a:xfrm>
            <a:off x="8423525" y="2782997"/>
            <a:ext cx="36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Kg</a:t>
            </a:r>
            <a:endParaRPr lang="fr-FR" sz="1400" dirty="0"/>
          </a:p>
        </p:txBody>
      </p:sp>
      <p:sp>
        <p:nvSpPr>
          <p:cNvPr id="79" name="Rectangle 78"/>
          <p:cNvSpPr/>
          <p:nvPr/>
        </p:nvSpPr>
        <p:spPr>
          <a:xfrm>
            <a:off x="6579131" y="4907611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0" name="Rectangle 79"/>
          <p:cNvSpPr/>
          <p:nvPr/>
        </p:nvSpPr>
        <p:spPr>
          <a:xfrm>
            <a:off x="9817631" y="4907611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1" name="Titre 1"/>
          <p:cNvSpPr txBox="1">
            <a:spLocks/>
          </p:cNvSpPr>
          <p:nvPr/>
        </p:nvSpPr>
        <p:spPr>
          <a:xfrm>
            <a:off x="5504046" y="3367376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Ça fait</a:t>
            </a:r>
            <a:endParaRPr lang="fr-FR" sz="1400" dirty="0"/>
          </a:p>
        </p:txBody>
      </p:sp>
      <p:sp>
        <p:nvSpPr>
          <p:cNvPr id="82" name="Titre 1"/>
          <p:cNvSpPr txBox="1">
            <a:spLocks/>
          </p:cNvSpPr>
          <p:nvPr/>
        </p:nvSpPr>
        <p:spPr>
          <a:xfrm>
            <a:off x="293341" y="6069139"/>
            <a:ext cx="5929569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dirty="0" smtClean="0"/>
              <a:t>Accouchement 	: </a:t>
            </a:r>
            <a:r>
              <a:rPr lang="fr-FR" sz="1600" dirty="0" smtClean="0"/>
              <a:t>normal, voie basse, dystocique, césarienne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dirty="0" smtClean="0"/>
              <a:t>Grossesse</a:t>
            </a:r>
            <a:r>
              <a:rPr lang="fr-FR" sz="1600" b="1" dirty="0"/>
              <a:t> </a:t>
            </a:r>
            <a:r>
              <a:rPr lang="fr-FR" sz="1600" b="1" dirty="0" smtClean="0"/>
              <a:t>		: </a:t>
            </a:r>
            <a:r>
              <a:rPr lang="fr-FR" sz="1600" dirty="0" smtClean="0"/>
              <a:t>normale, à terme, prématurée </a:t>
            </a:r>
            <a:endParaRPr lang="fr-FR" sz="1600" b="1" dirty="0"/>
          </a:p>
        </p:txBody>
      </p:sp>
      <p:sp>
        <p:nvSpPr>
          <p:cNvPr id="12" name="Rectangle 11"/>
          <p:cNvSpPr/>
          <p:nvPr/>
        </p:nvSpPr>
        <p:spPr>
          <a:xfrm>
            <a:off x="306201" y="2329934"/>
            <a:ext cx="137069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600" b="1" u="sng" dirty="0"/>
              <a:t>Physiologique</a:t>
            </a:r>
          </a:p>
        </p:txBody>
      </p:sp>
    </p:spTree>
    <p:extLst>
      <p:ext uri="{BB962C8B-B14F-4D97-AF65-F5344CB8AC3E}">
        <p14:creationId xmlns:p14="http://schemas.microsoft.com/office/powerpoint/2010/main" val="31699058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itre 1"/>
          <p:cNvSpPr txBox="1">
            <a:spLocks/>
          </p:cNvSpPr>
          <p:nvPr/>
        </p:nvSpPr>
        <p:spPr>
          <a:xfrm>
            <a:off x="3489617" y="59579"/>
            <a:ext cx="4620714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22 – Observations médicales – 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Antécédent / 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Vaccination</a:t>
            </a:r>
            <a:endParaRPr lang="fr-FR" sz="1800" dirty="0"/>
          </a:p>
        </p:txBody>
      </p:sp>
      <p:sp>
        <p:nvSpPr>
          <p:cNvPr id="84" name="Rectangle 83"/>
          <p:cNvSpPr/>
          <p:nvPr/>
        </p:nvSpPr>
        <p:spPr>
          <a:xfrm>
            <a:off x="191992" y="689429"/>
            <a:ext cx="11758269" cy="524635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5" name="Rectangle 84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6" name="Rectangle 85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7" name="ZoneTexte 86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88" name="Rectangle 87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94" name="Titre 1"/>
          <p:cNvSpPr txBox="1">
            <a:spLocks/>
          </p:cNvSpPr>
          <p:nvPr/>
        </p:nvSpPr>
        <p:spPr>
          <a:xfrm>
            <a:off x="1964661" y="853386"/>
            <a:ext cx="1026946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dossier</a:t>
            </a:r>
            <a:endParaRPr lang="fr-FR" sz="1400" dirty="0"/>
          </a:p>
        </p:txBody>
      </p:sp>
      <p:sp>
        <p:nvSpPr>
          <p:cNvPr id="95" name="Titre 1"/>
          <p:cNvSpPr txBox="1">
            <a:spLocks/>
          </p:cNvSpPr>
          <p:nvPr/>
        </p:nvSpPr>
        <p:spPr>
          <a:xfrm>
            <a:off x="4355023" y="840281"/>
            <a:ext cx="9591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Patient </a:t>
            </a:r>
            <a:endParaRPr lang="fr-FR" sz="1400" dirty="0"/>
          </a:p>
        </p:txBody>
      </p:sp>
      <p:sp>
        <p:nvSpPr>
          <p:cNvPr id="96" name="Titre 1"/>
          <p:cNvSpPr txBox="1">
            <a:spLocks/>
          </p:cNvSpPr>
          <p:nvPr/>
        </p:nvSpPr>
        <p:spPr>
          <a:xfrm>
            <a:off x="7182390" y="859793"/>
            <a:ext cx="560942" cy="3850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Age </a:t>
            </a:r>
            <a:endParaRPr lang="fr-FR" sz="1400" dirty="0"/>
          </a:p>
        </p:txBody>
      </p:sp>
      <p:sp>
        <p:nvSpPr>
          <p:cNvPr id="97" name="Rectangle 96"/>
          <p:cNvSpPr/>
          <p:nvPr/>
        </p:nvSpPr>
        <p:spPr>
          <a:xfrm>
            <a:off x="3152059" y="898412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8" name="Rectangle 97"/>
          <p:cNvSpPr/>
          <p:nvPr/>
        </p:nvSpPr>
        <p:spPr>
          <a:xfrm>
            <a:off x="5326245" y="853688"/>
            <a:ext cx="1641189" cy="35303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9" name="Rectangle 98"/>
          <p:cNvSpPr/>
          <p:nvPr/>
        </p:nvSpPr>
        <p:spPr>
          <a:xfrm>
            <a:off x="7736488" y="905040"/>
            <a:ext cx="7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0" name="Rectangle 99"/>
          <p:cNvSpPr/>
          <p:nvPr/>
        </p:nvSpPr>
        <p:spPr>
          <a:xfrm>
            <a:off x="1914072" y="784044"/>
            <a:ext cx="9936000" cy="53385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2" name="Titre 1"/>
          <p:cNvSpPr txBox="1">
            <a:spLocks/>
          </p:cNvSpPr>
          <p:nvPr/>
        </p:nvSpPr>
        <p:spPr>
          <a:xfrm>
            <a:off x="73859" y="1272449"/>
            <a:ext cx="2137032" cy="54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 smtClean="0"/>
              <a:t>Suivi des antécédents</a:t>
            </a:r>
            <a:endParaRPr lang="fr-FR" sz="1600" b="1" u="sng" dirty="0"/>
          </a:p>
        </p:txBody>
      </p:sp>
      <p:sp>
        <p:nvSpPr>
          <p:cNvPr id="117" name="Rectangle 116"/>
          <p:cNvSpPr/>
          <p:nvPr/>
        </p:nvSpPr>
        <p:spPr>
          <a:xfrm>
            <a:off x="6215943" y="4806639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9" name="Rectangle 118"/>
          <p:cNvSpPr/>
          <p:nvPr/>
        </p:nvSpPr>
        <p:spPr>
          <a:xfrm>
            <a:off x="6215943" y="3432120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0" name="Titre 1"/>
          <p:cNvSpPr txBox="1">
            <a:spLocks/>
          </p:cNvSpPr>
          <p:nvPr/>
        </p:nvSpPr>
        <p:spPr>
          <a:xfrm>
            <a:off x="4206783" y="2803486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</a:t>
            </a:r>
            <a:endParaRPr lang="fr-FR" sz="1400" dirty="0"/>
          </a:p>
        </p:txBody>
      </p:sp>
      <p:sp>
        <p:nvSpPr>
          <p:cNvPr id="121" name="Rectangle 120"/>
          <p:cNvSpPr/>
          <p:nvPr/>
        </p:nvSpPr>
        <p:spPr>
          <a:xfrm>
            <a:off x="3837149" y="4142829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4" name="Rectangle 123"/>
          <p:cNvSpPr/>
          <p:nvPr/>
        </p:nvSpPr>
        <p:spPr>
          <a:xfrm>
            <a:off x="3837149" y="3404727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6" name="Rectangle 125"/>
          <p:cNvSpPr/>
          <p:nvPr/>
        </p:nvSpPr>
        <p:spPr>
          <a:xfrm>
            <a:off x="6215943" y="4124372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7" name="Rectangle 126"/>
          <p:cNvSpPr/>
          <p:nvPr/>
        </p:nvSpPr>
        <p:spPr>
          <a:xfrm>
            <a:off x="307590" y="2363536"/>
            <a:ext cx="11556000" cy="3060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0" name="Rectangle 129"/>
          <p:cNvSpPr/>
          <p:nvPr/>
        </p:nvSpPr>
        <p:spPr>
          <a:xfrm>
            <a:off x="10450227" y="5011035"/>
            <a:ext cx="1332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Valider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283953" y="1710477"/>
            <a:ext cx="1260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Physiologique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1595032" y="1717105"/>
            <a:ext cx="1260000" cy="540000"/>
          </a:xfrm>
          <a:prstGeom prst="rect">
            <a:avLst/>
          </a:prstGeom>
          <a:solidFill>
            <a:srgbClr val="92D05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Vaccination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2915874" y="1725891"/>
            <a:ext cx="1692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Facteurs des risques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4658736" y="1731760"/>
            <a:ext cx="1872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Antécédents médicaux / chirurgicaux</a:t>
            </a:r>
          </a:p>
        </p:txBody>
      </p:sp>
      <p:sp>
        <p:nvSpPr>
          <p:cNvPr id="136" name="Titre 1"/>
          <p:cNvSpPr txBox="1">
            <a:spLocks/>
          </p:cNvSpPr>
          <p:nvPr/>
        </p:nvSpPr>
        <p:spPr>
          <a:xfrm>
            <a:off x="1961206" y="2809392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Vaccin</a:t>
            </a:r>
            <a:endParaRPr lang="fr-FR" sz="1400" dirty="0"/>
          </a:p>
        </p:txBody>
      </p:sp>
      <p:sp>
        <p:nvSpPr>
          <p:cNvPr id="138" name="Titre 1"/>
          <p:cNvSpPr txBox="1">
            <a:spLocks/>
          </p:cNvSpPr>
          <p:nvPr/>
        </p:nvSpPr>
        <p:spPr>
          <a:xfrm>
            <a:off x="3345444" y="924164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02095</a:t>
            </a:r>
            <a:endParaRPr lang="fr-FR" sz="1400" dirty="0"/>
          </a:p>
        </p:txBody>
      </p:sp>
      <p:sp>
        <p:nvSpPr>
          <p:cNvPr id="139" name="Rectangle 138"/>
          <p:cNvSpPr/>
          <p:nvPr/>
        </p:nvSpPr>
        <p:spPr>
          <a:xfrm>
            <a:off x="5434893" y="907746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Amara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0" name="Rectangle 139"/>
          <p:cNvSpPr/>
          <p:nvPr/>
        </p:nvSpPr>
        <p:spPr>
          <a:xfrm>
            <a:off x="6099371" y="913787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amine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1" name="Rectangle 140"/>
          <p:cNvSpPr/>
          <p:nvPr/>
        </p:nvSpPr>
        <p:spPr>
          <a:xfrm>
            <a:off x="7785158" y="932612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43 ans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2" name="Rectangle 141"/>
          <p:cNvSpPr/>
          <p:nvPr/>
        </p:nvSpPr>
        <p:spPr>
          <a:xfrm>
            <a:off x="6584266" y="1736155"/>
            <a:ext cx="1260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Antécédents familiaux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7907827" y="1721048"/>
            <a:ext cx="1332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Néphropathies </a:t>
            </a:r>
            <a:r>
              <a:rPr lang="fr-FR" sz="1400" dirty="0" smtClean="0"/>
              <a:t>causales</a:t>
            </a:r>
            <a:endParaRPr lang="fr-FR" sz="1400" dirty="0"/>
          </a:p>
        </p:txBody>
      </p:sp>
      <p:sp>
        <p:nvSpPr>
          <p:cNvPr id="144" name="Rectangle 143"/>
          <p:cNvSpPr/>
          <p:nvPr/>
        </p:nvSpPr>
        <p:spPr>
          <a:xfrm>
            <a:off x="9298301" y="1733118"/>
            <a:ext cx="1260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Allergologie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10615495" y="1738987"/>
            <a:ext cx="1260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Psychiatrique</a:t>
            </a:r>
          </a:p>
        </p:txBody>
      </p:sp>
      <p:sp>
        <p:nvSpPr>
          <p:cNvPr id="64" name="Titre 1"/>
          <p:cNvSpPr txBox="1">
            <a:spLocks/>
          </p:cNvSpPr>
          <p:nvPr/>
        </p:nvSpPr>
        <p:spPr>
          <a:xfrm>
            <a:off x="35759" y="700949"/>
            <a:ext cx="1080000" cy="54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 smtClean="0"/>
              <a:t>Patient</a:t>
            </a:r>
            <a:endParaRPr lang="fr-FR" sz="1600" b="1" u="sng" dirty="0"/>
          </a:p>
        </p:txBody>
      </p:sp>
      <p:sp>
        <p:nvSpPr>
          <p:cNvPr id="5" name="Rectangle 4"/>
          <p:cNvSpPr/>
          <p:nvPr/>
        </p:nvSpPr>
        <p:spPr>
          <a:xfrm>
            <a:off x="8472827" y="2803485"/>
            <a:ext cx="900000" cy="36000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fr-FR" sz="14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Ajouter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3" name="Rectangle 72"/>
          <p:cNvSpPr/>
          <p:nvPr/>
        </p:nvSpPr>
        <p:spPr>
          <a:xfrm>
            <a:off x="1557406" y="3383971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4" name="Triangle isocèle 73"/>
          <p:cNvSpPr/>
          <p:nvPr/>
        </p:nvSpPr>
        <p:spPr>
          <a:xfrm rot="10800000">
            <a:off x="3095072" y="3423354"/>
            <a:ext cx="252000" cy="322745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5" name="Rectangle 74"/>
          <p:cNvSpPr/>
          <p:nvPr/>
        </p:nvSpPr>
        <p:spPr>
          <a:xfrm>
            <a:off x="1461090" y="2764622"/>
            <a:ext cx="8091818" cy="2520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8" name="Titre 1"/>
          <p:cNvSpPr txBox="1">
            <a:spLocks/>
          </p:cNvSpPr>
          <p:nvPr/>
        </p:nvSpPr>
        <p:spPr>
          <a:xfrm>
            <a:off x="6403734" y="2805908"/>
            <a:ext cx="144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Commentaire </a:t>
            </a:r>
            <a:endParaRPr lang="fr-FR" sz="1400" dirty="0"/>
          </a:p>
        </p:txBody>
      </p:sp>
      <p:sp>
        <p:nvSpPr>
          <p:cNvPr id="79" name="Rectangle 78"/>
          <p:cNvSpPr/>
          <p:nvPr/>
        </p:nvSpPr>
        <p:spPr>
          <a:xfrm>
            <a:off x="3837149" y="4831035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2" name="Titre 1"/>
          <p:cNvSpPr txBox="1">
            <a:spLocks/>
          </p:cNvSpPr>
          <p:nvPr/>
        </p:nvSpPr>
        <p:spPr>
          <a:xfrm>
            <a:off x="293341" y="6069139"/>
            <a:ext cx="9580575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dirty="0" smtClean="0"/>
              <a:t>Vaccin : </a:t>
            </a:r>
            <a:r>
              <a:rPr lang="fr-FR" sz="1600" dirty="0" smtClean="0"/>
              <a:t>BCG, Diphtérie, DT-Coq, Grippe, Hépatite B, Méningo-Coq , Pneumo-Coq, Polio inactivée, Tétanos. </a:t>
            </a:r>
            <a:endParaRPr lang="fr-FR" sz="1600" b="1" dirty="0"/>
          </a:p>
        </p:txBody>
      </p:sp>
      <p:sp>
        <p:nvSpPr>
          <p:cNvPr id="12" name="Rectangle 11"/>
          <p:cNvSpPr/>
          <p:nvPr/>
        </p:nvSpPr>
        <p:spPr>
          <a:xfrm>
            <a:off x="306201" y="2329934"/>
            <a:ext cx="117006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600" b="1" u="sng" dirty="0"/>
              <a:t>Vaccination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557406" y="4107871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2" name="Triangle isocèle 61"/>
          <p:cNvSpPr/>
          <p:nvPr/>
        </p:nvSpPr>
        <p:spPr>
          <a:xfrm rot="10800000">
            <a:off x="3095072" y="4147254"/>
            <a:ext cx="252000" cy="322745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3" name="Rectangle 62"/>
          <p:cNvSpPr/>
          <p:nvPr/>
        </p:nvSpPr>
        <p:spPr>
          <a:xfrm>
            <a:off x="1576456" y="4793671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5" name="Triangle isocèle 64"/>
          <p:cNvSpPr/>
          <p:nvPr/>
        </p:nvSpPr>
        <p:spPr>
          <a:xfrm rot="10800000">
            <a:off x="3114122" y="4833054"/>
            <a:ext cx="252000" cy="322745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13" name="Connecteur droit 12"/>
          <p:cNvCxnSpPr/>
          <p:nvPr/>
        </p:nvCxnSpPr>
        <p:spPr>
          <a:xfrm>
            <a:off x="3602084" y="2764622"/>
            <a:ext cx="0" cy="252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7" name="Connecteur droit 66"/>
          <p:cNvCxnSpPr/>
          <p:nvPr/>
        </p:nvCxnSpPr>
        <p:spPr>
          <a:xfrm>
            <a:off x="5888084" y="2783672"/>
            <a:ext cx="0" cy="252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8" name="Connecteur droit 67"/>
          <p:cNvCxnSpPr/>
          <p:nvPr/>
        </p:nvCxnSpPr>
        <p:spPr>
          <a:xfrm>
            <a:off x="8383634" y="2783672"/>
            <a:ext cx="0" cy="252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" name="Plus 14"/>
          <p:cNvSpPr/>
          <p:nvPr/>
        </p:nvSpPr>
        <p:spPr>
          <a:xfrm>
            <a:off x="8782050" y="3403021"/>
            <a:ext cx="360000" cy="360000"/>
          </a:xfrm>
          <a:prstGeom prst="mathPlus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1" name="Plus 70"/>
          <p:cNvSpPr/>
          <p:nvPr/>
        </p:nvSpPr>
        <p:spPr>
          <a:xfrm>
            <a:off x="8782050" y="4069771"/>
            <a:ext cx="360000" cy="360000"/>
          </a:xfrm>
          <a:prstGeom prst="mathPlus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2" name="Plus 71"/>
          <p:cNvSpPr/>
          <p:nvPr/>
        </p:nvSpPr>
        <p:spPr>
          <a:xfrm>
            <a:off x="8782050" y="4717471"/>
            <a:ext cx="360000" cy="360000"/>
          </a:xfrm>
          <a:prstGeom prst="mathPlus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76" name="Connecteur droit 75"/>
          <p:cNvCxnSpPr/>
          <p:nvPr/>
        </p:nvCxnSpPr>
        <p:spPr>
          <a:xfrm>
            <a:off x="1462155" y="3277786"/>
            <a:ext cx="8064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9" name="Connecteur droit 88"/>
          <p:cNvCxnSpPr/>
          <p:nvPr/>
        </p:nvCxnSpPr>
        <p:spPr>
          <a:xfrm>
            <a:off x="1462155" y="3944536"/>
            <a:ext cx="8064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0" name="Connecteur droit 89"/>
          <p:cNvCxnSpPr/>
          <p:nvPr/>
        </p:nvCxnSpPr>
        <p:spPr>
          <a:xfrm>
            <a:off x="1462155" y="4611286"/>
            <a:ext cx="8064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31519712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itre 1"/>
          <p:cNvSpPr txBox="1">
            <a:spLocks/>
          </p:cNvSpPr>
          <p:nvPr/>
        </p:nvSpPr>
        <p:spPr>
          <a:xfrm>
            <a:off x="3489617" y="59579"/>
            <a:ext cx="4620714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23 – Observations médicales – 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Antécédent / </a:t>
            </a:r>
            <a:r>
              <a:rPr 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Facteurs des risques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91992" y="556080"/>
            <a:ext cx="11758269" cy="574166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5" name="Rectangle 84"/>
          <p:cNvSpPr/>
          <p:nvPr/>
        </p:nvSpPr>
        <p:spPr>
          <a:xfrm>
            <a:off x="222627" y="2667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6" name="Rectangle 85"/>
          <p:cNvSpPr/>
          <p:nvPr/>
        </p:nvSpPr>
        <p:spPr>
          <a:xfrm>
            <a:off x="9873916" y="2602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7" name="ZoneTexte 86"/>
          <p:cNvSpPr txBox="1"/>
          <p:nvPr/>
        </p:nvSpPr>
        <p:spPr>
          <a:xfrm>
            <a:off x="231585" y="-11272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88" name="Rectangle 87"/>
          <p:cNvSpPr/>
          <p:nvPr/>
        </p:nvSpPr>
        <p:spPr>
          <a:xfrm>
            <a:off x="9900662" y="-1844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94" name="Titre 1"/>
          <p:cNvSpPr txBox="1">
            <a:spLocks/>
          </p:cNvSpPr>
          <p:nvPr/>
        </p:nvSpPr>
        <p:spPr>
          <a:xfrm>
            <a:off x="1964661" y="720036"/>
            <a:ext cx="1026946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dossier</a:t>
            </a:r>
            <a:endParaRPr lang="fr-FR" sz="1400" dirty="0"/>
          </a:p>
        </p:txBody>
      </p:sp>
      <p:sp>
        <p:nvSpPr>
          <p:cNvPr id="95" name="Titre 1"/>
          <p:cNvSpPr txBox="1">
            <a:spLocks/>
          </p:cNvSpPr>
          <p:nvPr/>
        </p:nvSpPr>
        <p:spPr>
          <a:xfrm>
            <a:off x="4355023" y="706931"/>
            <a:ext cx="9591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Patient </a:t>
            </a:r>
            <a:endParaRPr lang="fr-FR" sz="1400" dirty="0"/>
          </a:p>
        </p:txBody>
      </p:sp>
      <p:sp>
        <p:nvSpPr>
          <p:cNvPr id="96" name="Titre 1"/>
          <p:cNvSpPr txBox="1">
            <a:spLocks/>
          </p:cNvSpPr>
          <p:nvPr/>
        </p:nvSpPr>
        <p:spPr>
          <a:xfrm>
            <a:off x="7182390" y="726443"/>
            <a:ext cx="560942" cy="3850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Age </a:t>
            </a:r>
            <a:endParaRPr lang="fr-FR" sz="1400" dirty="0"/>
          </a:p>
        </p:txBody>
      </p:sp>
      <p:sp>
        <p:nvSpPr>
          <p:cNvPr id="97" name="Rectangle 96"/>
          <p:cNvSpPr/>
          <p:nvPr/>
        </p:nvSpPr>
        <p:spPr>
          <a:xfrm>
            <a:off x="3152059" y="765062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8" name="Rectangle 97"/>
          <p:cNvSpPr/>
          <p:nvPr/>
        </p:nvSpPr>
        <p:spPr>
          <a:xfrm>
            <a:off x="5326245" y="720338"/>
            <a:ext cx="1641189" cy="35303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9" name="Rectangle 98"/>
          <p:cNvSpPr/>
          <p:nvPr/>
        </p:nvSpPr>
        <p:spPr>
          <a:xfrm>
            <a:off x="7736488" y="771690"/>
            <a:ext cx="7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0" name="Rectangle 99"/>
          <p:cNvSpPr/>
          <p:nvPr/>
        </p:nvSpPr>
        <p:spPr>
          <a:xfrm>
            <a:off x="1914072" y="650694"/>
            <a:ext cx="9936000" cy="53385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2" name="Titre 1"/>
          <p:cNvSpPr txBox="1">
            <a:spLocks/>
          </p:cNvSpPr>
          <p:nvPr/>
        </p:nvSpPr>
        <p:spPr>
          <a:xfrm>
            <a:off x="73859" y="1139099"/>
            <a:ext cx="2137032" cy="54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 smtClean="0"/>
              <a:t>Suivi des antécédents</a:t>
            </a:r>
            <a:endParaRPr lang="fr-FR" sz="1600" b="1" u="sng" dirty="0"/>
          </a:p>
        </p:txBody>
      </p:sp>
      <p:sp>
        <p:nvSpPr>
          <p:cNvPr id="117" name="Rectangle 116"/>
          <p:cNvSpPr/>
          <p:nvPr/>
        </p:nvSpPr>
        <p:spPr>
          <a:xfrm>
            <a:off x="6233672" y="2731782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8" name="Titre 1"/>
          <p:cNvSpPr txBox="1">
            <a:spLocks/>
          </p:cNvSpPr>
          <p:nvPr/>
        </p:nvSpPr>
        <p:spPr>
          <a:xfrm>
            <a:off x="575759" y="3169575"/>
            <a:ext cx="180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Diabète</a:t>
            </a:r>
            <a:endParaRPr lang="fr-FR" sz="1400" dirty="0"/>
          </a:p>
        </p:txBody>
      </p:sp>
      <p:sp>
        <p:nvSpPr>
          <p:cNvPr id="119" name="Rectangle 118"/>
          <p:cNvSpPr/>
          <p:nvPr/>
        </p:nvSpPr>
        <p:spPr>
          <a:xfrm>
            <a:off x="6233672" y="3201845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0" name="Titre 1"/>
          <p:cNvSpPr txBox="1">
            <a:spLocks/>
          </p:cNvSpPr>
          <p:nvPr/>
        </p:nvSpPr>
        <p:spPr>
          <a:xfrm>
            <a:off x="5703354" y="2697243"/>
            <a:ext cx="511268" cy="45328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Age</a:t>
            </a:r>
            <a:endParaRPr lang="fr-FR" sz="1400" dirty="0"/>
          </a:p>
        </p:txBody>
      </p:sp>
      <p:sp>
        <p:nvSpPr>
          <p:cNvPr id="121" name="Rectangle 120"/>
          <p:cNvSpPr/>
          <p:nvPr/>
        </p:nvSpPr>
        <p:spPr>
          <a:xfrm>
            <a:off x="1985222" y="5536700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4" name="Rectangle 123"/>
          <p:cNvSpPr/>
          <p:nvPr/>
        </p:nvSpPr>
        <p:spPr>
          <a:xfrm>
            <a:off x="1995556" y="3973678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6" name="Rectangle 125"/>
          <p:cNvSpPr/>
          <p:nvPr/>
        </p:nvSpPr>
        <p:spPr>
          <a:xfrm>
            <a:off x="2007336" y="5020065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7" name="Rectangle 126"/>
          <p:cNvSpPr/>
          <p:nvPr/>
        </p:nvSpPr>
        <p:spPr>
          <a:xfrm>
            <a:off x="307590" y="2230185"/>
            <a:ext cx="11556000" cy="401821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0" name="Rectangle 129"/>
          <p:cNvSpPr/>
          <p:nvPr/>
        </p:nvSpPr>
        <p:spPr>
          <a:xfrm>
            <a:off x="9124170" y="5745431"/>
            <a:ext cx="1332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Valider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283953" y="1577127"/>
            <a:ext cx="1260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Physiologique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1595032" y="1583755"/>
            <a:ext cx="1260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Vaccination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2915874" y="1592541"/>
            <a:ext cx="1692000" cy="540000"/>
          </a:xfrm>
          <a:prstGeom prst="rect">
            <a:avLst/>
          </a:prstGeom>
          <a:solidFill>
            <a:srgbClr val="92D05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Facteurs des risques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4658736" y="1598410"/>
            <a:ext cx="1872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Antécédents médicaux / chirurgicaux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1976506" y="2678446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6" name="Titre 1"/>
          <p:cNvSpPr txBox="1">
            <a:spLocks/>
          </p:cNvSpPr>
          <p:nvPr/>
        </p:nvSpPr>
        <p:spPr>
          <a:xfrm>
            <a:off x="575759" y="2654708"/>
            <a:ext cx="180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HTA</a:t>
            </a:r>
            <a:endParaRPr lang="fr-FR" sz="1400" dirty="0"/>
          </a:p>
        </p:txBody>
      </p:sp>
      <p:sp>
        <p:nvSpPr>
          <p:cNvPr id="137" name="Triangle isocèle 136"/>
          <p:cNvSpPr/>
          <p:nvPr/>
        </p:nvSpPr>
        <p:spPr>
          <a:xfrm rot="10800000">
            <a:off x="3495122" y="3994854"/>
            <a:ext cx="252000" cy="322745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8" name="Titre 1"/>
          <p:cNvSpPr txBox="1">
            <a:spLocks/>
          </p:cNvSpPr>
          <p:nvPr/>
        </p:nvSpPr>
        <p:spPr>
          <a:xfrm>
            <a:off x="3345444" y="790814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02095</a:t>
            </a:r>
            <a:endParaRPr lang="fr-FR" sz="1400" dirty="0"/>
          </a:p>
        </p:txBody>
      </p:sp>
      <p:sp>
        <p:nvSpPr>
          <p:cNvPr id="139" name="Rectangle 138"/>
          <p:cNvSpPr/>
          <p:nvPr/>
        </p:nvSpPr>
        <p:spPr>
          <a:xfrm>
            <a:off x="5434893" y="774396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Amara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0" name="Rectangle 139"/>
          <p:cNvSpPr/>
          <p:nvPr/>
        </p:nvSpPr>
        <p:spPr>
          <a:xfrm>
            <a:off x="6099371" y="780437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amine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1" name="Rectangle 140"/>
          <p:cNvSpPr/>
          <p:nvPr/>
        </p:nvSpPr>
        <p:spPr>
          <a:xfrm>
            <a:off x="7785158" y="799262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43 ans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2" name="Rectangle 141"/>
          <p:cNvSpPr/>
          <p:nvPr/>
        </p:nvSpPr>
        <p:spPr>
          <a:xfrm>
            <a:off x="6584266" y="1602805"/>
            <a:ext cx="1260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Antécédents familiaux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7907827" y="1587698"/>
            <a:ext cx="1332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Néphropathies </a:t>
            </a:r>
            <a:r>
              <a:rPr lang="fr-FR" sz="1400" dirty="0" smtClean="0"/>
              <a:t>causales</a:t>
            </a:r>
            <a:endParaRPr lang="fr-FR" sz="1400" dirty="0"/>
          </a:p>
        </p:txBody>
      </p:sp>
      <p:sp>
        <p:nvSpPr>
          <p:cNvPr id="144" name="Rectangle 143"/>
          <p:cNvSpPr/>
          <p:nvPr/>
        </p:nvSpPr>
        <p:spPr>
          <a:xfrm>
            <a:off x="9298301" y="1599768"/>
            <a:ext cx="1260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Allergologie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10615495" y="1605637"/>
            <a:ext cx="1260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Psychiatrique</a:t>
            </a:r>
          </a:p>
        </p:txBody>
      </p:sp>
      <p:sp>
        <p:nvSpPr>
          <p:cNvPr id="64" name="Titre 1"/>
          <p:cNvSpPr txBox="1">
            <a:spLocks/>
          </p:cNvSpPr>
          <p:nvPr/>
        </p:nvSpPr>
        <p:spPr>
          <a:xfrm>
            <a:off x="35759" y="567599"/>
            <a:ext cx="1080000" cy="54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 smtClean="0"/>
              <a:t>Patient</a:t>
            </a:r>
            <a:endParaRPr lang="fr-FR" sz="1600" b="1" u="sng" dirty="0"/>
          </a:p>
        </p:txBody>
      </p:sp>
      <p:sp>
        <p:nvSpPr>
          <p:cNvPr id="2" name="Rectangle 1"/>
          <p:cNvSpPr/>
          <p:nvPr/>
        </p:nvSpPr>
        <p:spPr>
          <a:xfrm>
            <a:off x="578128" y="3992221"/>
            <a:ext cx="1931650" cy="3126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/>
              <a:t>Consanguinité</a:t>
            </a:r>
            <a:endParaRPr lang="fr-FR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62327" y="5042578"/>
            <a:ext cx="1080000" cy="31265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 smtClean="0"/>
              <a:t>Tabagisme</a:t>
            </a:r>
            <a:endParaRPr lang="fr-FR" sz="1400" dirty="0"/>
          </a:p>
        </p:txBody>
      </p:sp>
      <p:sp>
        <p:nvSpPr>
          <p:cNvPr id="6" name="Rectangle 5"/>
          <p:cNvSpPr/>
          <p:nvPr/>
        </p:nvSpPr>
        <p:spPr>
          <a:xfrm>
            <a:off x="604199" y="4499263"/>
            <a:ext cx="1800000" cy="31265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/>
              <a:t>Mode de vie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20999" y="5556450"/>
            <a:ext cx="1265522" cy="3126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/>
              <a:t>Obésité (IMC</a:t>
            </a:r>
            <a:r>
              <a:rPr lang="fr-FR" sz="1400" dirty="0" smtClean="0"/>
              <a:t>)</a:t>
            </a:r>
            <a:endParaRPr lang="fr-FR" sz="1400" dirty="0"/>
          </a:p>
        </p:txBody>
      </p:sp>
      <p:sp>
        <p:nvSpPr>
          <p:cNvPr id="8" name="Rectangle 7"/>
          <p:cNvSpPr/>
          <p:nvPr/>
        </p:nvSpPr>
        <p:spPr>
          <a:xfrm>
            <a:off x="4232059" y="4933923"/>
            <a:ext cx="2251760" cy="3228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/>
              <a:t>Consommation éthylique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109710" y="5612781"/>
            <a:ext cx="1123962" cy="3126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/>
              <a:t>Dyslipidémie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976506" y="3231571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4" name="Triangle isocèle 73"/>
          <p:cNvSpPr/>
          <p:nvPr/>
        </p:nvSpPr>
        <p:spPr>
          <a:xfrm rot="10800000">
            <a:off x="3514172" y="4509204"/>
            <a:ext cx="252000" cy="322745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8" name="Titre 1"/>
          <p:cNvSpPr txBox="1">
            <a:spLocks/>
          </p:cNvSpPr>
          <p:nvPr/>
        </p:nvSpPr>
        <p:spPr>
          <a:xfrm>
            <a:off x="8110331" y="2730886"/>
            <a:ext cx="529975" cy="34538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ans</a:t>
            </a:r>
            <a:endParaRPr lang="fr-FR" sz="1400" dirty="0"/>
          </a:p>
        </p:txBody>
      </p:sp>
      <p:sp>
        <p:nvSpPr>
          <p:cNvPr id="79" name="Rectangle 78"/>
          <p:cNvSpPr/>
          <p:nvPr/>
        </p:nvSpPr>
        <p:spPr>
          <a:xfrm>
            <a:off x="6217181" y="4907611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0" name="Rectangle 79"/>
          <p:cNvSpPr/>
          <p:nvPr/>
        </p:nvSpPr>
        <p:spPr>
          <a:xfrm>
            <a:off x="6236287" y="5583350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1" name="Titre 1"/>
          <p:cNvSpPr txBox="1">
            <a:spLocks/>
          </p:cNvSpPr>
          <p:nvPr/>
        </p:nvSpPr>
        <p:spPr>
          <a:xfrm>
            <a:off x="5634839" y="3201547"/>
            <a:ext cx="648297" cy="45098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Sexe</a:t>
            </a:r>
            <a:endParaRPr lang="fr-FR" sz="1400" dirty="0"/>
          </a:p>
        </p:txBody>
      </p:sp>
      <p:sp>
        <p:nvSpPr>
          <p:cNvPr id="82" name="Titre 1"/>
          <p:cNvSpPr txBox="1">
            <a:spLocks/>
          </p:cNvSpPr>
          <p:nvPr/>
        </p:nvSpPr>
        <p:spPr>
          <a:xfrm>
            <a:off x="293341" y="6265066"/>
            <a:ext cx="8946486" cy="58122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dirty="0" smtClean="0"/>
              <a:t>Consanguinité</a:t>
            </a:r>
            <a:r>
              <a:rPr lang="fr-FR" sz="1600" dirty="0" smtClean="0"/>
              <a:t> </a:t>
            </a:r>
            <a:r>
              <a:rPr lang="fr-FR" sz="1600" b="1" dirty="0" smtClean="0"/>
              <a:t>	: </a:t>
            </a:r>
            <a:r>
              <a:rPr lang="fr-FR" sz="1600" dirty="0"/>
              <a:t>1er dégrée, 2ème dégrée, </a:t>
            </a:r>
            <a:r>
              <a:rPr lang="fr-FR" sz="1600" dirty="0" smtClean="0"/>
              <a:t>pas de consanguinité.		</a:t>
            </a:r>
            <a:r>
              <a:rPr lang="fr-FR" sz="1600" b="1" dirty="0" smtClean="0"/>
              <a:t>Dyslipidémie : </a:t>
            </a:r>
            <a:r>
              <a:rPr lang="fr-FR" sz="1600" dirty="0" smtClean="0"/>
              <a:t>HCHL, HTRI, MIXTE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dirty="0" smtClean="0"/>
              <a:t>Mode de vie 	:</a:t>
            </a:r>
            <a:r>
              <a:rPr lang="fr-FR" sz="1600" dirty="0"/>
              <a:t> </a:t>
            </a:r>
            <a:r>
              <a:rPr lang="fr-FR" sz="1600" dirty="0" smtClean="0"/>
              <a:t>Sédentarité, activité physique normale, activité physique minimale.</a:t>
            </a:r>
            <a:endParaRPr lang="fr-FR" sz="1600" b="1" dirty="0" smtClean="0"/>
          </a:p>
        </p:txBody>
      </p:sp>
      <p:sp>
        <p:nvSpPr>
          <p:cNvPr id="12" name="Rectangle 11"/>
          <p:cNvSpPr/>
          <p:nvPr/>
        </p:nvSpPr>
        <p:spPr>
          <a:xfrm>
            <a:off x="449284" y="2234684"/>
            <a:ext cx="189404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600" b="1" u="sng" dirty="0"/>
              <a:t>Facteurs des </a:t>
            </a:r>
            <a:r>
              <a:rPr lang="fr-FR" sz="1600" b="1" u="sng" dirty="0" smtClean="0"/>
              <a:t>risques</a:t>
            </a:r>
            <a:endParaRPr lang="fr-FR" sz="1600" b="1" u="sng" dirty="0"/>
          </a:p>
        </p:txBody>
      </p:sp>
      <p:sp>
        <p:nvSpPr>
          <p:cNvPr id="61" name="Triangle isocèle 60"/>
          <p:cNvSpPr/>
          <p:nvPr/>
        </p:nvSpPr>
        <p:spPr>
          <a:xfrm rot="10800000">
            <a:off x="7762622" y="3233364"/>
            <a:ext cx="252000" cy="322745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2" name="Rectangle 61"/>
          <p:cNvSpPr/>
          <p:nvPr/>
        </p:nvSpPr>
        <p:spPr>
          <a:xfrm>
            <a:off x="498090" y="2573086"/>
            <a:ext cx="8550660" cy="1164958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3" name="Rectangle 62"/>
          <p:cNvSpPr/>
          <p:nvPr/>
        </p:nvSpPr>
        <p:spPr>
          <a:xfrm>
            <a:off x="1995556" y="4468978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5" name="Rectangle 64"/>
          <p:cNvSpPr/>
          <p:nvPr/>
        </p:nvSpPr>
        <p:spPr>
          <a:xfrm>
            <a:off x="498090" y="3868485"/>
            <a:ext cx="8550660" cy="224656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6" name="Triangle isocèle 65"/>
          <p:cNvSpPr/>
          <p:nvPr/>
        </p:nvSpPr>
        <p:spPr>
          <a:xfrm rot="10800000">
            <a:off x="7781672" y="5614614"/>
            <a:ext cx="252000" cy="322745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6289002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itre 1"/>
          <p:cNvSpPr txBox="1">
            <a:spLocks/>
          </p:cNvSpPr>
          <p:nvPr/>
        </p:nvSpPr>
        <p:spPr>
          <a:xfrm>
            <a:off x="3152059" y="59579"/>
            <a:ext cx="5989991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24 – Observations médicales – 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Antécédent / </a:t>
            </a:r>
            <a:r>
              <a:rPr 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Antécédents </a:t>
            </a:r>
            <a:r>
              <a:rPr 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médicaux &amp; </a:t>
            </a:r>
            <a:r>
              <a:rPr 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chirurgicaux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91992" y="689429"/>
            <a:ext cx="11758269" cy="612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5" name="Rectangle 84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6" name="Rectangle 85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7" name="ZoneTexte 86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88" name="Rectangle 87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94" name="Titre 1"/>
          <p:cNvSpPr txBox="1">
            <a:spLocks/>
          </p:cNvSpPr>
          <p:nvPr/>
        </p:nvSpPr>
        <p:spPr>
          <a:xfrm>
            <a:off x="1964661" y="853386"/>
            <a:ext cx="1026946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dossier</a:t>
            </a:r>
            <a:endParaRPr lang="fr-FR" sz="1400" dirty="0"/>
          </a:p>
        </p:txBody>
      </p:sp>
      <p:sp>
        <p:nvSpPr>
          <p:cNvPr id="95" name="Titre 1"/>
          <p:cNvSpPr txBox="1">
            <a:spLocks/>
          </p:cNvSpPr>
          <p:nvPr/>
        </p:nvSpPr>
        <p:spPr>
          <a:xfrm>
            <a:off x="4355023" y="840281"/>
            <a:ext cx="9591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Patient </a:t>
            </a:r>
            <a:endParaRPr lang="fr-FR" sz="1400" dirty="0"/>
          </a:p>
        </p:txBody>
      </p:sp>
      <p:sp>
        <p:nvSpPr>
          <p:cNvPr id="96" name="Titre 1"/>
          <p:cNvSpPr txBox="1">
            <a:spLocks/>
          </p:cNvSpPr>
          <p:nvPr/>
        </p:nvSpPr>
        <p:spPr>
          <a:xfrm>
            <a:off x="7182390" y="859793"/>
            <a:ext cx="560942" cy="3850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Age </a:t>
            </a:r>
            <a:endParaRPr lang="fr-FR" sz="1400" dirty="0"/>
          </a:p>
        </p:txBody>
      </p:sp>
      <p:sp>
        <p:nvSpPr>
          <p:cNvPr id="97" name="Rectangle 96"/>
          <p:cNvSpPr/>
          <p:nvPr/>
        </p:nvSpPr>
        <p:spPr>
          <a:xfrm>
            <a:off x="3152059" y="898412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8" name="Rectangle 97"/>
          <p:cNvSpPr/>
          <p:nvPr/>
        </p:nvSpPr>
        <p:spPr>
          <a:xfrm>
            <a:off x="5326245" y="853688"/>
            <a:ext cx="1641189" cy="35303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9" name="Rectangle 98"/>
          <p:cNvSpPr/>
          <p:nvPr/>
        </p:nvSpPr>
        <p:spPr>
          <a:xfrm>
            <a:off x="7736488" y="905040"/>
            <a:ext cx="7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0" name="Rectangle 99"/>
          <p:cNvSpPr/>
          <p:nvPr/>
        </p:nvSpPr>
        <p:spPr>
          <a:xfrm>
            <a:off x="1914072" y="784044"/>
            <a:ext cx="9936000" cy="53385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2" name="Titre 1"/>
          <p:cNvSpPr txBox="1">
            <a:spLocks/>
          </p:cNvSpPr>
          <p:nvPr/>
        </p:nvSpPr>
        <p:spPr>
          <a:xfrm>
            <a:off x="73859" y="1272449"/>
            <a:ext cx="2137032" cy="54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 smtClean="0"/>
              <a:t>Suivi des antécédents</a:t>
            </a:r>
            <a:endParaRPr lang="fr-FR" sz="1600" b="1" u="sng" dirty="0"/>
          </a:p>
        </p:txBody>
      </p:sp>
      <p:sp>
        <p:nvSpPr>
          <p:cNvPr id="119" name="Rectangle 118"/>
          <p:cNvSpPr/>
          <p:nvPr/>
        </p:nvSpPr>
        <p:spPr>
          <a:xfrm>
            <a:off x="7149393" y="3146370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0" name="Titre 1"/>
          <p:cNvSpPr txBox="1">
            <a:spLocks/>
          </p:cNvSpPr>
          <p:nvPr/>
        </p:nvSpPr>
        <p:spPr>
          <a:xfrm>
            <a:off x="5140233" y="2517736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</a:t>
            </a:r>
            <a:endParaRPr lang="fr-FR" sz="1400" dirty="0"/>
          </a:p>
        </p:txBody>
      </p:sp>
      <p:sp>
        <p:nvSpPr>
          <p:cNvPr id="121" name="Rectangle 120"/>
          <p:cNvSpPr/>
          <p:nvPr/>
        </p:nvSpPr>
        <p:spPr>
          <a:xfrm>
            <a:off x="4770599" y="3857079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4" name="Rectangle 123"/>
          <p:cNvSpPr/>
          <p:nvPr/>
        </p:nvSpPr>
        <p:spPr>
          <a:xfrm>
            <a:off x="4770599" y="3118977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6" name="Rectangle 125"/>
          <p:cNvSpPr/>
          <p:nvPr/>
        </p:nvSpPr>
        <p:spPr>
          <a:xfrm>
            <a:off x="7149393" y="3838622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7" name="Rectangle 126"/>
          <p:cNvSpPr/>
          <p:nvPr/>
        </p:nvSpPr>
        <p:spPr>
          <a:xfrm>
            <a:off x="307590" y="2363536"/>
            <a:ext cx="11556000" cy="4356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0" name="Rectangle 129"/>
          <p:cNvSpPr/>
          <p:nvPr/>
        </p:nvSpPr>
        <p:spPr>
          <a:xfrm>
            <a:off x="10674546" y="6219437"/>
            <a:ext cx="1080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Valider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283953" y="1710477"/>
            <a:ext cx="1260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Physiologique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1595032" y="1717105"/>
            <a:ext cx="1260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Vaccination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2915874" y="1725891"/>
            <a:ext cx="1692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Facteurs des risques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4658736" y="1731760"/>
            <a:ext cx="1872000" cy="540000"/>
          </a:xfrm>
          <a:prstGeom prst="rect">
            <a:avLst/>
          </a:prstGeom>
          <a:solidFill>
            <a:srgbClr val="92D05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Antécédents médicaux &amp; chirurgicaux</a:t>
            </a:r>
          </a:p>
        </p:txBody>
      </p:sp>
      <p:sp>
        <p:nvSpPr>
          <p:cNvPr id="136" name="Titre 1"/>
          <p:cNvSpPr txBox="1">
            <a:spLocks/>
          </p:cNvSpPr>
          <p:nvPr/>
        </p:nvSpPr>
        <p:spPr>
          <a:xfrm>
            <a:off x="2894656" y="2523642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Pathologie</a:t>
            </a:r>
            <a:endParaRPr lang="fr-FR" sz="1400" dirty="0"/>
          </a:p>
        </p:txBody>
      </p:sp>
      <p:sp>
        <p:nvSpPr>
          <p:cNvPr id="138" name="Titre 1"/>
          <p:cNvSpPr txBox="1">
            <a:spLocks/>
          </p:cNvSpPr>
          <p:nvPr/>
        </p:nvSpPr>
        <p:spPr>
          <a:xfrm>
            <a:off x="3345444" y="924164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02095</a:t>
            </a:r>
            <a:endParaRPr lang="fr-FR" sz="1400" dirty="0"/>
          </a:p>
        </p:txBody>
      </p:sp>
      <p:sp>
        <p:nvSpPr>
          <p:cNvPr id="139" name="Rectangle 138"/>
          <p:cNvSpPr/>
          <p:nvPr/>
        </p:nvSpPr>
        <p:spPr>
          <a:xfrm>
            <a:off x="5434893" y="907746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Amara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0" name="Rectangle 139"/>
          <p:cNvSpPr/>
          <p:nvPr/>
        </p:nvSpPr>
        <p:spPr>
          <a:xfrm>
            <a:off x="6099371" y="913787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amine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1" name="Rectangle 140"/>
          <p:cNvSpPr/>
          <p:nvPr/>
        </p:nvSpPr>
        <p:spPr>
          <a:xfrm>
            <a:off x="7785158" y="932612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43 ans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2" name="Rectangle 141"/>
          <p:cNvSpPr/>
          <p:nvPr/>
        </p:nvSpPr>
        <p:spPr>
          <a:xfrm>
            <a:off x="6584266" y="1736155"/>
            <a:ext cx="1260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Antécédents familiaux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7907827" y="1721048"/>
            <a:ext cx="1332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Néphropathies </a:t>
            </a:r>
            <a:r>
              <a:rPr lang="fr-FR" sz="1400" dirty="0" smtClean="0"/>
              <a:t>causales</a:t>
            </a:r>
            <a:endParaRPr lang="fr-FR" sz="1400" dirty="0"/>
          </a:p>
        </p:txBody>
      </p:sp>
      <p:sp>
        <p:nvSpPr>
          <p:cNvPr id="144" name="Rectangle 143"/>
          <p:cNvSpPr/>
          <p:nvPr/>
        </p:nvSpPr>
        <p:spPr>
          <a:xfrm>
            <a:off x="9298301" y="1733118"/>
            <a:ext cx="1260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Allergologie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10615495" y="1738987"/>
            <a:ext cx="1260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Psychiatrique</a:t>
            </a:r>
          </a:p>
        </p:txBody>
      </p:sp>
      <p:sp>
        <p:nvSpPr>
          <p:cNvPr id="64" name="Titre 1"/>
          <p:cNvSpPr txBox="1">
            <a:spLocks/>
          </p:cNvSpPr>
          <p:nvPr/>
        </p:nvSpPr>
        <p:spPr>
          <a:xfrm>
            <a:off x="35759" y="700949"/>
            <a:ext cx="1080000" cy="54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 smtClean="0"/>
              <a:t>Patient</a:t>
            </a:r>
            <a:endParaRPr lang="fr-FR" sz="1600" b="1" u="sng" dirty="0"/>
          </a:p>
        </p:txBody>
      </p:sp>
      <p:sp>
        <p:nvSpPr>
          <p:cNvPr id="5" name="Rectangle 4"/>
          <p:cNvSpPr/>
          <p:nvPr/>
        </p:nvSpPr>
        <p:spPr>
          <a:xfrm>
            <a:off x="9406277" y="2517735"/>
            <a:ext cx="900000" cy="36000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fr-FR" sz="14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Ajouter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3" name="Rectangle 72"/>
          <p:cNvSpPr/>
          <p:nvPr/>
        </p:nvSpPr>
        <p:spPr>
          <a:xfrm>
            <a:off x="2490856" y="3098221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4" name="Triangle isocèle 73"/>
          <p:cNvSpPr/>
          <p:nvPr/>
        </p:nvSpPr>
        <p:spPr>
          <a:xfrm rot="10800000">
            <a:off x="4028522" y="3137604"/>
            <a:ext cx="252000" cy="322745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5" name="Rectangle 74"/>
          <p:cNvSpPr/>
          <p:nvPr/>
        </p:nvSpPr>
        <p:spPr>
          <a:xfrm>
            <a:off x="2394540" y="2478872"/>
            <a:ext cx="8091818" cy="1991252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8" name="Titre 1"/>
          <p:cNvSpPr txBox="1">
            <a:spLocks/>
          </p:cNvSpPr>
          <p:nvPr/>
        </p:nvSpPr>
        <p:spPr>
          <a:xfrm>
            <a:off x="7337184" y="2520158"/>
            <a:ext cx="144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Commentaire </a:t>
            </a:r>
            <a:endParaRPr lang="fr-FR" sz="1400" dirty="0"/>
          </a:p>
        </p:txBody>
      </p:sp>
      <p:sp>
        <p:nvSpPr>
          <p:cNvPr id="12" name="Rectangle 11"/>
          <p:cNvSpPr/>
          <p:nvPr/>
        </p:nvSpPr>
        <p:spPr>
          <a:xfrm>
            <a:off x="317784" y="2329934"/>
            <a:ext cx="189763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600" b="1" u="sng" dirty="0" smtClean="0"/>
              <a:t>Personnel médicaux</a:t>
            </a:r>
            <a:endParaRPr lang="fr-FR" sz="1600" b="1" u="sng" dirty="0"/>
          </a:p>
        </p:txBody>
      </p:sp>
      <p:sp>
        <p:nvSpPr>
          <p:cNvPr id="61" name="Rectangle 60"/>
          <p:cNvSpPr/>
          <p:nvPr/>
        </p:nvSpPr>
        <p:spPr>
          <a:xfrm>
            <a:off x="2490856" y="3822121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2" name="Triangle isocèle 61"/>
          <p:cNvSpPr/>
          <p:nvPr/>
        </p:nvSpPr>
        <p:spPr>
          <a:xfrm rot="10800000">
            <a:off x="4028522" y="3861504"/>
            <a:ext cx="252000" cy="322745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13" name="Connecteur droit 12"/>
          <p:cNvCxnSpPr/>
          <p:nvPr/>
        </p:nvCxnSpPr>
        <p:spPr>
          <a:xfrm>
            <a:off x="4535534" y="2478872"/>
            <a:ext cx="0" cy="1991252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7" name="Connecteur droit 66"/>
          <p:cNvCxnSpPr/>
          <p:nvPr/>
        </p:nvCxnSpPr>
        <p:spPr>
          <a:xfrm>
            <a:off x="6821534" y="2497922"/>
            <a:ext cx="0" cy="1991252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8" name="Connecteur droit 67"/>
          <p:cNvCxnSpPr/>
          <p:nvPr/>
        </p:nvCxnSpPr>
        <p:spPr>
          <a:xfrm>
            <a:off x="9317084" y="2497922"/>
            <a:ext cx="0" cy="1991252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" name="Plus 14"/>
          <p:cNvSpPr/>
          <p:nvPr/>
        </p:nvSpPr>
        <p:spPr>
          <a:xfrm>
            <a:off x="9715500" y="3117271"/>
            <a:ext cx="360000" cy="360000"/>
          </a:xfrm>
          <a:prstGeom prst="mathPlus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1" name="Plus 70"/>
          <p:cNvSpPr/>
          <p:nvPr/>
        </p:nvSpPr>
        <p:spPr>
          <a:xfrm>
            <a:off x="9715500" y="3784021"/>
            <a:ext cx="360000" cy="360000"/>
          </a:xfrm>
          <a:prstGeom prst="mathPlus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76" name="Connecteur droit 75"/>
          <p:cNvCxnSpPr/>
          <p:nvPr/>
        </p:nvCxnSpPr>
        <p:spPr>
          <a:xfrm>
            <a:off x="2395605" y="2992036"/>
            <a:ext cx="8064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9" name="Connecteur droit 88"/>
          <p:cNvCxnSpPr/>
          <p:nvPr/>
        </p:nvCxnSpPr>
        <p:spPr>
          <a:xfrm>
            <a:off x="2395605" y="3658786"/>
            <a:ext cx="8064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9" name="Rectangle 58"/>
          <p:cNvSpPr/>
          <p:nvPr/>
        </p:nvSpPr>
        <p:spPr>
          <a:xfrm>
            <a:off x="279684" y="4542894"/>
            <a:ext cx="211801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600" b="1" u="sng" dirty="0" smtClean="0"/>
              <a:t>Personnel chirurgicaux</a:t>
            </a:r>
            <a:endParaRPr lang="fr-FR" sz="1600" b="1" u="sng" dirty="0"/>
          </a:p>
        </p:txBody>
      </p:sp>
      <p:sp>
        <p:nvSpPr>
          <p:cNvPr id="66" name="Rectangle 65"/>
          <p:cNvSpPr/>
          <p:nvPr/>
        </p:nvSpPr>
        <p:spPr>
          <a:xfrm>
            <a:off x="7149393" y="5279970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9" name="Titre 1"/>
          <p:cNvSpPr txBox="1">
            <a:spLocks/>
          </p:cNvSpPr>
          <p:nvPr/>
        </p:nvSpPr>
        <p:spPr>
          <a:xfrm>
            <a:off x="5140233" y="4651336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</a:t>
            </a:r>
            <a:endParaRPr lang="fr-FR" sz="1400" dirty="0"/>
          </a:p>
        </p:txBody>
      </p:sp>
      <p:sp>
        <p:nvSpPr>
          <p:cNvPr id="70" name="Rectangle 69"/>
          <p:cNvSpPr/>
          <p:nvPr/>
        </p:nvSpPr>
        <p:spPr>
          <a:xfrm>
            <a:off x="4770599" y="5990679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7" name="Rectangle 76"/>
          <p:cNvSpPr/>
          <p:nvPr/>
        </p:nvSpPr>
        <p:spPr>
          <a:xfrm>
            <a:off x="4770599" y="5252577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0" name="Rectangle 79"/>
          <p:cNvSpPr/>
          <p:nvPr/>
        </p:nvSpPr>
        <p:spPr>
          <a:xfrm>
            <a:off x="7149393" y="5972222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1" name="Titre 1"/>
          <p:cNvSpPr txBox="1">
            <a:spLocks/>
          </p:cNvSpPr>
          <p:nvPr/>
        </p:nvSpPr>
        <p:spPr>
          <a:xfrm>
            <a:off x="2894656" y="4657242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/>
              <a:t>Appareil</a:t>
            </a:r>
          </a:p>
        </p:txBody>
      </p:sp>
      <p:sp>
        <p:nvSpPr>
          <p:cNvPr id="91" name="Rectangle 90"/>
          <p:cNvSpPr/>
          <p:nvPr/>
        </p:nvSpPr>
        <p:spPr>
          <a:xfrm>
            <a:off x="9406277" y="4651335"/>
            <a:ext cx="900000" cy="36000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fr-FR" sz="14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Ajouter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2" name="Rectangle 91"/>
          <p:cNvSpPr/>
          <p:nvPr/>
        </p:nvSpPr>
        <p:spPr>
          <a:xfrm>
            <a:off x="2490856" y="5231821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3" name="Triangle isocèle 92"/>
          <p:cNvSpPr/>
          <p:nvPr/>
        </p:nvSpPr>
        <p:spPr>
          <a:xfrm rot="10800000">
            <a:off x="4028522" y="5271204"/>
            <a:ext cx="252000" cy="322745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1" name="Rectangle 100"/>
          <p:cNvSpPr/>
          <p:nvPr/>
        </p:nvSpPr>
        <p:spPr>
          <a:xfrm>
            <a:off x="2394540" y="4612472"/>
            <a:ext cx="8091818" cy="1978828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3" name="Titre 1"/>
          <p:cNvSpPr txBox="1">
            <a:spLocks/>
          </p:cNvSpPr>
          <p:nvPr/>
        </p:nvSpPr>
        <p:spPr>
          <a:xfrm>
            <a:off x="7337184" y="4653758"/>
            <a:ext cx="144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Commentaire </a:t>
            </a:r>
            <a:endParaRPr lang="fr-FR" sz="1400" dirty="0"/>
          </a:p>
        </p:txBody>
      </p:sp>
      <p:sp>
        <p:nvSpPr>
          <p:cNvPr id="105" name="Rectangle 104"/>
          <p:cNvSpPr/>
          <p:nvPr/>
        </p:nvSpPr>
        <p:spPr>
          <a:xfrm>
            <a:off x="2490856" y="5955721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6" name="Triangle isocèle 105"/>
          <p:cNvSpPr/>
          <p:nvPr/>
        </p:nvSpPr>
        <p:spPr>
          <a:xfrm rot="10800000">
            <a:off x="4028522" y="5995104"/>
            <a:ext cx="252000" cy="322745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109" name="Connecteur droit 108"/>
          <p:cNvCxnSpPr/>
          <p:nvPr/>
        </p:nvCxnSpPr>
        <p:spPr>
          <a:xfrm>
            <a:off x="4535534" y="4612472"/>
            <a:ext cx="0" cy="1978828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0" name="Connecteur droit 109"/>
          <p:cNvCxnSpPr/>
          <p:nvPr/>
        </p:nvCxnSpPr>
        <p:spPr>
          <a:xfrm>
            <a:off x="6821534" y="4631522"/>
            <a:ext cx="0" cy="1978828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1" name="Connecteur droit 110"/>
          <p:cNvCxnSpPr/>
          <p:nvPr/>
        </p:nvCxnSpPr>
        <p:spPr>
          <a:xfrm>
            <a:off x="9317084" y="4631522"/>
            <a:ext cx="0" cy="1978828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2" name="Plus 111"/>
          <p:cNvSpPr/>
          <p:nvPr/>
        </p:nvSpPr>
        <p:spPr>
          <a:xfrm>
            <a:off x="9715500" y="5250871"/>
            <a:ext cx="360000" cy="360000"/>
          </a:xfrm>
          <a:prstGeom prst="mathPlus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3" name="Plus 112"/>
          <p:cNvSpPr/>
          <p:nvPr/>
        </p:nvSpPr>
        <p:spPr>
          <a:xfrm>
            <a:off x="9715500" y="5917621"/>
            <a:ext cx="360000" cy="360000"/>
          </a:xfrm>
          <a:prstGeom prst="mathPlus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15" name="Connecteur droit 114"/>
          <p:cNvCxnSpPr/>
          <p:nvPr/>
        </p:nvCxnSpPr>
        <p:spPr>
          <a:xfrm>
            <a:off x="2395605" y="5125636"/>
            <a:ext cx="8064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6" name="Connecteur droit 115"/>
          <p:cNvCxnSpPr/>
          <p:nvPr/>
        </p:nvCxnSpPr>
        <p:spPr>
          <a:xfrm>
            <a:off x="2395605" y="5792386"/>
            <a:ext cx="8064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37604261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itre 1"/>
          <p:cNvSpPr txBox="1">
            <a:spLocks/>
          </p:cNvSpPr>
          <p:nvPr/>
        </p:nvSpPr>
        <p:spPr>
          <a:xfrm>
            <a:off x="3489617" y="59579"/>
            <a:ext cx="4620714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25 – Observations médicales – 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Antécédent / </a:t>
            </a:r>
            <a:r>
              <a:rPr 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Antécédents</a:t>
            </a:r>
            <a:r>
              <a:rPr lang="fr-FR" sz="1800" b="1" dirty="0"/>
              <a:t> </a:t>
            </a:r>
            <a:r>
              <a:rPr 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familiaux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91992" y="556080"/>
            <a:ext cx="11758269" cy="574166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5" name="Rectangle 84"/>
          <p:cNvSpPr/>
          <p:nvPr/>
        </p:nvSpPr>
        <p:spPr>
          <a:xfrm>
            <a:off x="222627" y="2667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6" name="Rectangle 85"/>
          <p:cNvSpPr/>
          <p:nvPr/>
        </p:nvSpPr>
        <p:spPr>
          <a:xfrm>
            <a:off x="9873916" y="2602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7" name="ZoneTexte 86"/>
          <p:cNvSpPr txBox="1"/>
          <p:nvPr/>
        </p:nvSpPr>
        <p:spPr>
          <a:xfrm>
            <a:off x="231585" y="-11272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88" name="Rectangle 87"/>
          <p:cNvSpPr/>
          <p:nvPr/>
        </p:nvSpPr>
        <p:spPr>
          <a:xfrm>
            <a:off x="9900662" y="-1844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94" name="Titre 1"/>
          <p:cNvSpPr txBox="1">
            <a:spLocks/>
          </p:cNvSpPr>
          <p:nvPr/>
        </p:nvSpPr>
        <p:spPr>
          <a:xfrm>
            <a:off x="1964661" y="720036"/>
            <a:ext cx="1026946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dossier</a:t>
            </a:r>
            <a:endParaRPr lang="fr-FR" sz="1400" dirty="0"/>
          </a:p>
        </p:txBody>
      </p:sp>
      <p:sp>
        <p:nvSpPr>
          <p:cNvPr id="95" name="Titre 1"/>
          <p:cNvSpPr txBox="1">
            <a:spLocks/>
          </p:cNvSpPr>
          <p:nvPr/>
        </p:nvSpPr>
        <p:spPr>
          <a:xfrm>
            <a:off x="4355023" y="706931"/>
            <a:ext cx="9591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Patient </a:t>
            </a:r>
            <a:endParaRPr lang="fr-FR" sz="1400" dirty="0"/>
          </a:p>
        </p:txBody>
      </p:sp>
      <p:sp>
        <p:nvSpPr>
          <p:cNvPr id="96" name="Titre 1"/>
          <p:cNvSpPr txBox="1">
            <a:spLocks/>
          </p:cNvSpPr>
          <p:nvPr/>
        </p:nvSpPr>
        <p:spPr>
          <a:xfrm>
            <a:off x="7182390" y="726443"/>
            <a:ext cx="560942" cy="3850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Age </a:t>
            </a:r>
            <a:endParaRPr lang="fr-FR" sz="1400" dirty="0"/>
          </a:p>
        </p:txBody>
      </p:sp>
      <p:sp>
        <p:nvSpPr>
          <p:cNvPr id="97" name="Rectangle 96"/>
          <p:cNvSpPr/>
          <p:nvPr/>
        </p:nvSpPr>
        <p:spPr>
          <a:xfrm>
            <a:off x="3152059" y="765062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8" name="Rectangle 97"/>
          <p:cNvSpPr/>
          <p:nvPr/>
        </p:nvSpPr>
        <p:spPr>
          <a:xfrm>
            <a:off x="5326245" y="720338"/>
            <a:ext cx="1641189" cy="35303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9" name="Rectangle 98"/>
          <p:cNvSpPr/>
          <p:nvPr/>
        </p:nvSpPr>
        <p:spPr>
          <a:xfrm>
            <a:off x="7736488" y="771690"/>
            <a:ext cx="7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0" name="Rectangle 99"/>
          <p:cNvSpPr/>
          <p:nvPr/>
        </p:nvSpPr>
        <p:spPr>
          <a:xfrm>
            <a:off x="1914072" y="650694"/>
            <a:ext cx="9936000" cy="53385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2" name="Titre 1"/>
          <p:cNvSpPr txBox="1">
            <a:spLocks/>
          </p:cNvSpPr>
          <p:nvPr/>
        </p:nvSpPr>
        <p:spPr>
          <a:xfrm>
            <a:off x="73859" y="1139099"/>
            <a:ext cx="2137032" cy="54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 smtClean="0"/>
              <a:t>Suivi des antécédents</a:t>
            </a:r>
            <a:endParaRPr lang="fr-FR" sz="1600" b="1" u="sng" dirty="0"/>
          </a:p>
        </p:txBody>
      </p:sp>
      <p:sp>
        <p:nvSpPr>
          <p:cNvPr id="127" name="Rectangle 126"/>
          <p:cNvSpPr/>
          <p:nvPr/>
        </p:nvSpPr>
        <p:spPr>
          <a:xfrm>
            <a:off x="307590" y="2230185"/>
            <a:ext cx="11556000" cy="401821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0" name="Rectangle 129"/>
          <p:cNvSpPr/>
          <p:nvPr/>
        </p:nvSpPr>
        <p:spPr>
          <a:xfrm>
            <a:off x="7716750" y="4123935"/>
            <a:ext cx="1332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Valider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283953" y="1577127"/>
            <a:ext cx="1260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Physiologique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1595032" y="1583755"/>
            <a:ext cx="1260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Vaccination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2915874" y="1592541"/>
            <a:ext cx="1692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Facteurs des risques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4658736" y="1598410"/>
            <a:ext cx="1872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Antécédents médicaux / chirurgicaux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615518" y="2907588"/>
            <a:ext cx="8299881" cy="845261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8" name="Titre 1"/>
          <p:cNvSpPr txBox="1">
            <a:spLocks/>
          </p:cNvSpPr>
          <p:nvPr/>
        </p:nvSpPr>
        <p:spPr>
          <a:xfrm>
            <a:off x="3345444" y="790814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02095</a:t>
            </a:r>
            <a:endParaRPr lang="fr-FR" sz="1400" dirty="0"/>
          </a:p>
        </p:txBody>
      </p:sp>
      <p:sp>
        <p:nvSpPr>
          <p:cNvPr id="139" name="Rectangle 138"/>
          <p:cNvSpPr/>
          <p:nvPr/>
        </p:nvSpPr>
        <p:spPr>
          <a:xfrm>
            <a:off x="5434893" y="774396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Amara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0" name="Rectangle 139"/>
          <p:cNvSpPr/>
          <p:nvPr/>
        </p:nvSpPr>
        <p:spPr>
          <a:xfrm>
            <a:off x="6099371" y="780437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amine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1" name="Rectangle 140"/>
          <p:cNvSpPr/>
          <p:nvPr/>
        </p:nvSpPr>
        <p:spPr>
          <a:xfrm>
            <a:off x="7785158" y="799262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43 ans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2" name="Rectangle 141"/>
          <p:cNvSpPr/>
          <p:nvPr/>
        </p:nvSpPr>
        <p:spPr>
          <a:xfrm>
            <a:off x="6584266" y="1602805"/>
            <a:ext cx="1260000" cy="540000"/>
          </a:xfrm>
          <a:prstGeom prst="rect">
            <a:avLst/>
          </a:prstGeom>
          <a:solidFill>
            <a:srgbClr val="92D05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Antécédents familiaux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7907827" y="1587698"/>
            <a:ext cx="1332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Néphropathies </a:t>
            </a:r>
            <a:r>
              <a:rPr lang="fr-FR" sz="1400" dirty="0" smtClean="0"/>
              <a:t>causales</a:t>
            </a:r>
            <a:endParaRPr lang="fr-FR" sz="1400" dirty="0"/>
          </a:p>
        </p:txBody>
      </p:sp>
      <p:sp>
        <p:nvSpPr>
          <p:cNvPr id="144" name="Rectangle 143"/>
          <p:cNvSpPr/>
          <p:nvPr/>
        </p:nvSpPr>
        <p:spPr>
          <a:xfrm>
            <a:off x="9298301" y="1599768"/>
            <a:ext cx="1260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Allergologie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10615495" y="1605637"/>
            <a:ext cx="1260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Psychiatrique</a:t>
            </a:r>
          </a:p>
        </p:txBody>
      </p:sp>
      <p:sp>
        <p:nvSpPr>
          <p:cNvPr id="64" name="Titre 1"/>
          <p:cNvSpPr txBox="1">
            <a:spLocks/>
          </p:cNvSpPr>
          <p:nvPr/>
        </p:nvSpPr>
        <p:spPr>
          <a:xfrm>
            <a:off x="35759" y="567599"/>
            <a:ext cx="1080000" cy="54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 smtClean="0"/>
              <a:t>Patient</a:t>
            </a:r>
            <a:endParaRPr lang="fr-FR" sz="1600" b="1" u="sng" dirty="0"/>
          </a:p>
        </p:txBody>
      </p:sp>
      <p:sp>
        <p:nvSpPr>
          <p:cNvPr id="12" name="Rectangle 11"/>
          <p:cNvSpPr/>
          <p:nvPr/>
        </p:nvSpPr>
        <p:spPr>
          <a:xfrm>
            <a:off x="354227" y="2234684"/>
            <a:ext cx="208416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sz="1600" b="1" u="sng" dirty="0"/>
              <a:t>Antécédents familiaux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98090" y="2744536"/>
            <a:ext cx="8550660" cy="1164958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5997407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itre 1"/>
          <p:cNvSpPr txBox="1">
            <a:spLocks/>
          </p:cNvSpPr>
          <p:nvPr/>
        </p:nvSpPr>
        <p:spPr>
          <a:xfrm>
            <a:off x="3489617" y="59579"/>
            <a:ext cx="4620714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26 – Observations médicales – 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Antécédent / </a:t>
            </a:r>
            <a:r>
              <a:rPr 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Néphropathies</a:t>
            </a:r>
            <a:r>
              <a:rPr lang="fr-FR" sz="1800" dirty="0"/>
              <a:t> </a:t>
            </a:r>
            <a:r>
              <a:rPr 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causales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91992" y="689429"/>
            <a:ext cx="11758269" cy="524635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5" name="Rectangle 84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6" name="Rectangle 85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7" name="ZoneTexte 86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88" name="Rectangle 87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94" name="Titre 1"/>
          <p:cNvSpPr txBox="1">
            <a:spLocks/>
          </p:cNvSpPr>
          <p:nvPr/>
        </p:nvSpPr>
        <p:spPr>
          <a:xfrm>
            <a:off x="1964661" y="853386"/>
            <a:ext cx="1026946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dossier</a:t>
            </a:r>
            <a:endParaRPr lang="fr-FR" sz="1400" dirty="0"/>
          </a:p>
        </p:txBody>
      </p:sp>
      <p:sp>
        <p:nvSpPr>
          <p:cNvPr id="95" name="Titre 1"/>
          <p:cNvSpPr txBox="1">
            <a:spLocks/>
          </p:cNvSpPr>
          <p:nvPr/>
        </p:nvSpPr>
        <p:spPr>
          <a:xfrm>
            <a:off x="4355023" y="840281"/>
            <a:ext cx="9591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Patient </a:t>
            </a:r>
            <a:endParaRPr lang="fr-FR" sz="1400" dirty="0"/>
          </a:p>
        </p:txBody>
      </p:sp>
      <p:sp>
        <p:nvSpPr>
          <p:cNvPr id="96" name="Titre 1"/>
          <p:cNvSpPr txBox="1">
            <a:spLocks/>
          </p:cNvSpPr>
          <p:nvPr/>
        </p:nvSpPr>
        <p:spPr>
          <a:xfrm>
            <a:off x="7182390" y="859793"/>
            <a:ext cx="560942" cy="3850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Age </a:t>
            </a:r>
            <a:endParaRPr lang="fr-FR" sz="1400" dirty="0"/>
          </a:p>
        </p:txBody>
      </p:sp>
      <p:sp>
        <p:nvSpPr>
          <p:cNvPr id="97" name="Rectangle 96"/>
          <p:cNvSpPr/>
          <p:nvPr/>
        </p:nvSpPr>
        <p:spPr>
          <a:xfrm>
            <a:off x="3152059" y="898412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8" name="Rectangle 97"/>
          <p:cNvSpPr/>
          <p:nvPr/>
        </p:nvSpPr>
        <p:spPr>
          <a:xfrm>
            <a:off x="5326245" y="853688"/>
            <a:ext cx="1641189" cy="35303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9" name="Rectangle 98"/>
          <p:cNvSpPr/>
          <p:nvPr/>
        </p:nvSpPr>
        <p:spPr>
          <a:xfrm>
            <a:off x="7736488" y="905040"/>
            <a:ext cx="7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0" name="Rectangle 99"/>
          <p:cNvSpPr/>
          <p:nvPr/>
        </p:nvSpPr>
        <p:spPr>
          <a:xfrm>
            <a:off x="1914072" y="784044"/>
            <a:ext cx="9936000" cy="53385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2" name="Titre 1"/>
          <p:cNvSpPr txBox="1">
            <a:spLocks/>
          </p:cNvSpPr>
          <p:nvPr/>
        </p:nvSpPr>
        <p:spPr>
          <a:xfrm>
            <a:off x="73859" y="1272449"/>
            <a:ext cx="2137032" cy="54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 smtClean="0"/>
              <a:t>Suivi des antécédents</a:t>
            </a:r>
            <a:endParaRPr lang="fr-FR" sz="1600" b="1" u="sng" dirty="0"/>
          </a:p>
        </p:txBody>
      </p:sp>
      <p:sp>
        <p:nvSpPr>
          <p:cNvPr id="117" name="Rectangle 116"/>
          <p:cNvSpPr/>
          <p:nvPr/>
        </p:nvSpPr>
        <p:spPr>
          <a:xfrm>
            <a:off x="6215943" y="4863789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9" name="Rectangle 118"/>
          <p:cNvSpPr/>
          <p:nvPr/>
        </p:nvSpPr>
        <p:spPr>
          <a:xfrm>
            <a:off x="6215943" y="3489270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0" name="Titre 1"/>
          <p:cNvSpPr txBox="1">
            <a:spLocks/>
          </p:cNvSpPr>
          <p:nvPr/>
        </p:nvSpPr>
        <p:spPr>
          <a:xfrm>
            <a:off x="4206783" y="2860636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</a:t>
            </a:r>
            <a:endParaRPr lang="fr-FR" sz="1400" dirty="0"/>
          </a:p>
        </p:txBody>
      </p:sp>
      <p:sp>
        <p:nvSpPr>
          <p:cNvPr id="121" name="Rectangle 120"/>
          <p:cNvSpPr/>
          <p:nvPr/>
        </p:nvSpPr>
        <p:spPr>
          <a:xfrm>
            <a:off x="3837149" y="4199979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4" name="Rectangle 123"/>
          <p:cNvSpPr/>
          <p:nvPr/>
        </p:nvSpPr>
        <p:spPr>
          <a:xfrm>
            <a:off x="3837149" y="3461877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6" name="Rectangle 125"/>
          <p:cNvSpPr/>
          <p:nvPr/>
        </p:nvSpPr>
        <p:spPr>
          <a:xfrm>
            <a:off x="6215943" y="4181522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7" name="Rectangle 126"/>
          <p:cNvSpPr/>
          <p:nvPr/>
        </p:nvSpPr>
        <p:spPr>
          <a:xfrm>
            <a:off x="307590" y="2363536"/>
            <a:ext cx="11556000" cy="3060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0" name="Rectangle 129"/>
          <p:cNvSpPr/>
          <p:nvPr/>
        </p:nvSpPr>
        <p:spPr>
          <a:xfrm>
            <a:off x="10450227" y="5011035"/>
            <a:ext cx="1332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Valider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283953" y="1710477"/>
            <a:ext cx="1260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Physiologique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1595032" y="1717105"/>
            <a:ext cx="1260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Vaccination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2915874" y="1725891"/>
            <a:ext cx="1692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Facteurs des risques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4658736" y="1731760"/>
            <a:ext cx="1872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Antécédents médicaux / chirurgicaux</a:t>
            </a:r>
          </a:p>
        </p:txBody>
      </p:sp>
      <p:sp>
        <p:nvSpPr>
          <p:cNvPr id="136" name="Titre 1"/>
          <p:cNvSpPr txBox="1">
            <a:spLocks/>
          </p:cNvSpPr>
          <p:nvPr/>
        </p:nvSpPr>
        <p:spPr>
          <a:xfrm>
            <a:off x="1961205" y="2866542"/>
            <a:ext cx="1242463" cy="37401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/>
              <a:t>Néphropathies</a:t>
            </a:r>
          </a:p>
        </p:txBody>
      </p:sp>
      <p:sp>
        <p:nvSpPr>
          <p:cNvPr id="138" name="Titre 1"/>
          <p:cNvSpPr txBox="1">
            <a:spLocks/>
          </p:cNvSpPr>
          <p:nvPr/>
        </p:nvSpPr>
        <p:spPr>
          <a:xfrm>
            <a:off x="3345444" y="924164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02095</a:t>
            </a:r>
            <a:endParaRPr lang="fr-FR" sz="1400" dirty="0"/>
          </a:p>
        </p:txBody>
      </p:sp>
      <p:sp>
        <p:nvSpPr>
          <p:cNvPr id="139" name="Rectangle 138"/>
          <p:cNvSpPr/>
          <p:nvPr/>
        </p:nvSpPr>
        <p:spPr>
          <a:xfrm>
            <a:off x="5434893" y="907746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Amara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0" name="Rectangle 139"/>
          <p:cNvSpPr/>
          <p:nvPr/>
        </p:nvSpPr>
        <p:spPr>
          <a:xfrm>
            <a:off x="6099371" y="913787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amine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1" name="Rectangle 140"/>
          <p:cNvSpPr/>
          <p:nvPr/>
        </p:nvSpPr>
        <p:spPr>
          <a:xfrm>
            <a:off x="7785158" y="932612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43 ans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2" name="Rectangle 141"/>
          <p:cNvSpPr/>
          <p:nvPr/>
        </p:nvSpPr>
        <p:spPr>
          <a:xfrm>
            <a:off x="6584266" y="1736155"/>
            <a:ext cx="1260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Antécédents familiaux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7907827" y="1721048"/>
            <a:ext cx="1332000" cy="540000"/>
          </a:xfrm>
          <a:prstGeom prst="rect">
            <a:avLst/>
          </a:prstGeom>
          <a:solidFill>
            <a:srgbClr val="92D05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Néphropathies causales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9298301" y="1733118"/>
            <a:ext cx="1260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Allergologie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10615495" y="1738987"/>
            <a:ext cx="1260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Psychiatrique</a:t>
            </a:r>
          </a:p>
        </p:txBody>
      </p:sp>
      <p:sp>
        <p:nvSpPr>
          <p:cNvPr id="64" name="Titre 1"/>
          <p:cNvSpPr txBox="1">
            <a:spLocks/>
          </p:cNvSpPr>
          <p:nvPr/>
        </p:nvSpPr>
        <p:spPr>
          <a:xfrm>
            <a:off x="35759" y="700949"/>
            <a:ext cx="1080000" cy="54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 smtClean="0"/>
              <a:t>Patient</a:t>
            </a:r>
            <a:endParaRPr lang="fr-FR" sz="1600" b="1" u="sng" dirty="0"/>
          </a:p>
        </p:txBody>
      </p:sp>
      <p:sp>
        <p:nvSpPr>
          <p:cNvPr id="5" name="Rectangle 4"/>
          <p:cNvSpPr/>
          <p:nvPr/>
        </p:nvSpPr>
        <p:spPr>
          <a:xfrm>
            <a:off x="8472827" y="2860635"/>
            <a:ext cx="900000" cy="36000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fr-FR" sz="14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Ajouter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3" name="Rectangle 72"/>
          <p:cNvSpPr/>
          <p:nvPr/>
        </p:nvSpPr>
        <p:spPr>
          <a:xfrm>
            <a:off x="1557406" y="3441121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4" name="Triangle isocèle 73"/>
          <p:cNvSpPr/>
          <p:nvPr/>
        </p:nvSpPr>
        <p:spPr>
          <a:xfrm rot="10800000">
            <a:off x="3095072" y="3480504"/>
            <a:ext cx="252000" cy="322745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5" name="Rectangle 74"/>
          <p:cNvSpPr/>
          <p:nvPr/>
        </p:nvSpPr>
        <p:spPr>
          <a:xfrm>
            <a:off x="1461090" y="2821772"/>
            <a:ext cx="8091818" cy="2520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8" name="Titre 1"/>
          <p:cNvSpPr txBox="1">
            <a:spLocks/>
          </p:cNvSpPr>
          <p:nvPr/>
        </p:nvSpPr>
        <p:spPr>
          <a:xfrm>
            <a:off x="6403734" y="2863058"/>
            <a:ext cx="144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Commentaire </a:t>
            </a:r>
            <a:endParaRPr lang="fr-FR" sz="1400" dirty="0"/>
          </a:p>
        </p:txBody>
      </p:sp>
      <p:sp>
        <p:nvSpPr>
          <p:cNvPr id="79" name="Rectangle 78"/>
          <p:cNvSpPr/>
          <p:nvPr/>
        </p:nvSpPr>
        <p:spPr>
          <a:xfrm>
            <a:off x="3837149" y="4888185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" name="Rectangle 11"/>
          <p:cNvSpPr/>
          <p:nvPr/>
        </p:nvSpPr>
        <p:spPr>
          <a:xfrm>
            <a:off x="329129" y="2425184"/>
            <a:ext cx="221002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600" b="1" u="sng" dirty="0"/>
              <a:t>Néphropathies </a:t>
            </a:r>
            <a:r>
              <a:rPr lang="fr-FR" sz="1600" b="1" u="sng" dirty="0" smtClean="0"/>
              <a:t>causales</a:t>
            </a:r>
            <a:endParaRPr lang="fr-FR" sz="1600" b="1" u="sng" dirty="0"/>
          </a:p>
        </p:txBody>
      </p:sp>
      <p:sp>
        <p:nvSpPr>
          <p:cNvPr id="61" name="Rectangle 60"/>
          <p:cNvSpPr/>
          <p:nvPr/>
        </p:nvSpPr>
        <p:spPr>
          <a:xfrm>
            <a:off x="1557406" y="4165021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2" name="Triangle isocèle 61"/>
          <p:cNvSpPr/>
          <p:nvPr/>
        </p:nvSpPr>
        <p:spPr>
          <a:xfrm rot="10800000">
            <a:off x="3095072" y="4204404"/>
            <a:ext cx="252000" cy="322745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3" name="Rectangle 62"/>
          <p:cNvSpPr/>
          <p:nvPr/>
        </p:nvSpPr>
        <p:spPr>
          <a:xfrm>
            <a:off x="1576456" y="4850821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5" name="Triangle isocèle 64"/>
          <p:cNvSpPr/>
          <p:nvPr/>
        </p:nvSpPr>
        <p:spPr>
          <a:xfrm rot="10800000">
            <a:off x="3114122" y="4890204"/>
            <a:ext cx="252000" cy="322745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13" name="Connecteur droit 12"/>
          <p:cNvCxnSpPr/>
          <p:nvPr/>
        </p:nvCxnSpPr>
        <p:spPr>
          <a:xfrm>
            <a:off x="3602084" y="2821772"/>
            <a:ext cx="0" cy="252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7" name="Connecteur droit 66"/>
          <p:cNvCxnSpPr/>
          <p:nvPr/>
        </p:nvCxnSpPr>
        <p:spPr>
          <a:xfrm>
            <a:off x="5888084" y="2840822"/>
            <a:ext cx="0" cy="252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8" name="Connecteur droit 67"/>
          <p:cNvCxnSpPr/>
          <p:nvPr/>
        </p:nvCxnSpPr>
        <p:spPr>
          <a:xfrm>
            <a:off x="8383634" y="2840822"/>
            <a:ext cx="0" cy="252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" name="Plus 14"/>
          <p:cNvSpPr/>
          <p:nvPr/>
        </p:nvSpPr>
        <p:spPr>
          <a:xfrm>
            <a:off x="8782050" y="3460171"/>
            <a:ext cx="360000" cy="360000"/>
          </a:xfrm>
          <a:prstGeom prst="mathPlus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1" name="Plus 70"/>
          <p:cNvSpPr/>
          <p:nvPr/>
        </p:nvSpPr>
        <p:spPr>
          <a:xfrm>
            <a:off x="8782050" y="4126921"/>
            <a:ext cx="360000" cy="360000"/>
          </a:xfrm>
          <a:prstGeom prst="mathPlus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2" name="Plus 71"/>
          <p:cNvSpPr/>
          <p:nvPr/>
        </p:nvSpPr>
        <p:spPr>
          <a:xfrm>
            <a:off x="8782050" y="4774621"/>
            <a:ext cx="360000" cy="360000"/>
          </a:xfrm>
          <a:prstGeom prst="mathPlus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76" name="Connecteur droit 75"/>
          <p:cNvCxnSpPr/>
          <p:nvPr/>
        </p:nvCxnSpPr>
        <p:spPr>
          <a:xfrm>
            <a:off x="1462155" y="3334936"/>
            <a:ext cx="8064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9" name="Connecteur droit 88"/>
          <p:cNvCxnSpPr/>
          <p:nvPr/>
        </p:nvCxnSpPr>
        <p:spPr>
          <a:xfrm>
            <a:off x="1462155" y="4001686"/>
            <a:ext cx="8064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0" name="Connecteur droit 89"/>
          <p:cNvCxnSpPr/>
          <p:nvPr/>
        </p:nvCxnSpPr>
        <p:spPr>
          <a:xfrm>
            <a:off x="1462155" y="4668436"/>
            <a:ext cx="8064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29963030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itre 1"/>
          <p:cNvSpPr txBox="1">
            <a:spLocks/>
          </p:cNvSpPr>
          <p:nvPr/>
        </p:nvSpPr>
        <p:spPr>
          <a:xfrm>
            <a:off x="3489617" y="59579"/>
            <a:ext cx="4620714" cy="53537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27 – Observations médicales – 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Antécédent / </a:t>
            </a:r>
            <a:r>
              <a:rPr 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Allergologie</a:t>
            </a:r>
            <a:endParaRPr lang="fr-FR" sz="1800" b="1" dirty="0">
              <a:solidFill>
                <a:srgbClr val="000000"/>
              </a:solidFill>
              <a:latin typeface="Times New Roman" panose="02020603050405020304" pitchFamily="18" charset="0"/>
              <a:ea typeface="Microsoft YaHei" panose="020B0503020204020204" pitchFamily="34" charset="-122"/>
            </a:endParaRPr>
          </a:p>
        </p:txBody>
      </p:sp>
      <p:sp>
        <p:nvSpPr>
          <p:cNvPr id="84" name="Rectangle 83"/>
          <p:cNvSpPr/>
          <p:nvPr/>
        </p:nvSpPr>
        <p:spPr>
          <a:xfrm>
            <a:off x="191992" y="556080"/>
            <a:ext cx="11758269" cy="574166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5" name="Rectangle 84"/>
          <p:cNvSpPr/>
          <p:nvPr/>
        </p:nvSpPr>
        <p:spPr>
          <a:xfrm>
            <a:off x="222627" y="2667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6" name="Rectangle 85"/>
          <p:cNvSpPr/>
          <p:nvPr/>
        </p:nvSpPr>
        <p:spPr>
          <a:xfrm>
            <a:off x="9873916" y="2602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7" name="ZoneTexte 86"/>
          <p:cNvSpPr txBox="1"/>
          <p:nvPr/>
        </p:nvSpPr>
        <p:spPr>
          <a:xfrm>
            <a:off x="231585" y="-11272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88" name="Rectangle 87"/>
          <p:cNvSpPr/>
          <p:nvPr/>
        </p:nvSpPr>
        <p:spPr>
          <a:xfrm>
            <a:off x="9900662" y="-1844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94" name="Titre 1"/>
          <p:cNvSpPr txBox="1">
            <a:spLocks/>
          </p:cNvSpPr>
          <p:nvPr/>
        </p:nvSpPr>
        <p:spPr>
          <a:xfrm>
            <a:off x="1964661" y="720036"/>
            <a:ext cx="1026946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dossier</a:t>
            </a:r>
            <a:endParaRPr lang="fr-FR" sz="1400" dirty="0"/>
          </a:p>
        </p:txBody>
      </p:sp>
      <p:sp>
        <p:nvSpPr>
          <p:cNvPr id="95" name="Titre 1"/>
          <p:cNvSpPr txBox="1">
            <a:spLocks/>
          </p:cNvSpPr>
          <p:nvPr/>
        </p:nvSpPr>
        <p:spPr>
          <a:xfrm>
            <a:off x="4355023" y="706931"/>
            <a:ext cx="9591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Patient </a:t>
            </a:r>
            <a:endParaRPr lang="fr-FR" sz="1400" dirty="0"/>
          </a:p>
        </p:txBody>
      </p:sp>
      <p:sp>
        <p:nvSpPr>
          <p:cNvPr id="96" name="Titre 1"/>
          <p:cNvSpPr txBox="1">
            <a:spLocks/>
          </p:cNvSpPr>
          <p:nvPr/>
        </p:nvSpPr>
        <p:spPr>
          <a:xfrm>
            <a:off x="7182390" y="726443"/>
            <a:ext cx="560942" cy="3850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Age </a:t>
            </a:r>
            <a:endParaRPr lang="fr-FR" sz="1400" dirty="0"/>
          </a:p>
        </p:txBody>
      </p:sp>
      <p:sp>
        <p:nvSpPr>
          <p:cNvPr id="97" name="Rectangle 96"/>
          <p:cNvSpPr/>
          <p:nvPr/>
        </p:nvSpPr>
        <p:spPr>
          <a:xfrm>
            <a:off x="3152059" y="765062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8" name="Rectangle 97"/>
          <p:cNvSpPr/>
          <p:nvPr/>
        </p:nvSpPr>
        <p:spPr>
          <a:xfrm>
            <a:off x="5326245" y="720338"/>
            <a:ext cx="1641189" cy="35303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9" name="Rectangle 98"/>
          <p:cNvSpPr/>
          <p:nvPr/>
        </p:nvSpPr>
        <p:spPr>
          <a:xfrm>
            <a:off x="7736488" y="771690"/>
            <a:ext cx="7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0" name="Rectangle 99"/>
          <p:cNvSpPr/>
          <p:nvPr/>
        </p:nvSpPr>
        <p:spPr>
          <a:xfrm>
            <a:off x="1914072" y="650694"/>
            <a:ext cx="9936000" cy="53385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2" name="Titre 1"/>
          <p:cNvSpPr txBox="1">
            <a:spLocks/>
          </p:cNvSpPr>
          <p:nvPr/>
        </p:nvSpPr>
        <p:spPr>
          <a:xfrm>
            <a:off x="73859" y="1139099"/>
            <a:ext cx="2137032" cy="54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 smtClean="0"/>
              <a:t>Suivi des antécédents</a:t>
            </a:r>
            <a:endParaRPr lang="fr-FR" sz="1600" b="1" u="sng" dirty="0"/>
          </a:p>
        </p:txBody>
      </p:sp>
      <p:sp>
        <p:nvSpPr>
          <p:cNvPr id="127" name="Rectangle 126"/>
          <p:cNvSpPr/>
          <p:nvPr/>
        </p:nvSpPr>
        <p:spPr>
          <a:xfrm>
            <a:off x="307590" y="2230185"/>
            <a:ext cx="11556000" cy="401821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0" name="Rectangle 129"/>
          <p:cNvSpPr/>
          <p:nvPr/>
        </p:nvSpPr>
        <p:spPr>
          <a:xfrm>
            <a:off x="7716750" y="4123935"/>
            <a:ext cx="1332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Valider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283953" y="1577127"/>
            <a:ext cx="1260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Physiologique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1595032" y="1583755"/>
            <a:ext cx="1260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Vaccination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2915874" y="1592541"/>
            <a:ext cx="1692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Facteurs des risques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4658736" y="1598410"/>
            <a:ext cx="1872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Antécédents médicaux / chirurgicaux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615518" y="2907588"/>
            <a:ext cx="8299881" cy="845261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8" name="Titre 1"/>
          <p:cNvSpPr txBox="1">
            <a:spLocks/>
          </p:cNvSpPr>
          <p:nvPr/>
        </p:nvSpPr>
        <p:spPr>
          <a:xfrm>
            <a:off x="3345444" y="790814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02095</a:t>
            </a:r>
            <a:endParaRPr lang="fr-FR" sz="1400" dirty="0"/>
          </a:p>
        </p:txBody>
      </p:sp>
      <p:sp>
        <p:nvSpPr>
          <p:cNvPr id="139" name="Rectangle 138"/>
          <p:cNvSpPr/>
          <p:nvPr/>
        </p:nvSpPr>
        <p:spPr>
          <a:xfrm>
            <a:off x="5434893" y="774396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Amara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0" name="Rectangle 139"/>
          <p:cNvSpPr/>
          <p:nvPr/>
        </p:nvSpPr>
        <p:spPr>
          <a:xfrm>
            <a:off x="6099371" y="780437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amine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1" name="Rectangle 140"/>
          <p:cNvSpPr/>
          <p:nvPr/>
        </p:nvSpPr>
        <p:spPr>
          <a:xfrm>
            <a:off x="7785158" y="799262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43 ans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2" name="Rectangle 141"/>
          <p:cNvSpPr/>
          <p:nvPr/>
        </p:nvSpPr>
        <p:spPr>
          <a:xfrm>
            <a:off x="6584266" y="1602805"/>
            <a:ext cx="1260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Antécédents familiaux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7907827" y="1587698"/>
            <a:ext cx="1332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Néphropathies </a:t>
            </a:r>
            <a:r>
              <a:rPr lang="fr-FR" sz="1400" dirty="0" smtClean="0"/>
              <a:t>causales</a:t>
            </a:r>
            <a:endParaRPr lang="fr-FR" sz="1400" dirty="0"/>
          </a:p>
        </p:txBody>
      </p:sp>
      <p:sp>
        <p:nvSpPr>
          <p:cNvPr id="144" name="Rectangle 143"/>
          <p:cNvSpPr/>
          <p:nvPr/>
        </p:nvSpPr>
        <p:spPr>
          <a:xfrm>
            <a:off x="9298301" y="1599768"/>
            <a:ext cx="1260000" cy="540000"/>
          </a:xfrm>
          <a:prstGeom prst="rect">
            <a:avLst/>
          </a:prstGeom>
          <a:solidFill>
            <a:srgbClr val="92D05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Allergologie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10615495" y="1605637"/>
            <a:ext cx="1260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Psychiatrique</a:t>
            </a:r>
          </a:p>
        </p:txBody>
      </p:sp>
      <p:sp>
        <p:nvSpPr>
          <p:cNvPr id="64" name="Titre 1"/>
          <p:cNvSpPr txBox="1">
            <a:spLocks/>
          </p:cNvSpPr>
          <p:nvPr/>
        </p:nvSpPr>
        <p:spPr>
          <a:xfrm>
            <a:off x="35759" y="567599"/>
            <a:ext cx="1080000" cy="54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 smtClean="0"/>
              <a:t>Patient</a:t>
            </a:r>
            <a:endParaRPr lang="fr-FR" sz="1600" b="1" u="sng" dirty="0"/>
          </a:p>
        </p:txBody>
      </p:sp>
      <p:sp>
        <p:nvSpPr>
          <p:cNvPr id="12" name="Rectangle 11"/>
          <p:cNvSpPr/>
          <p:nvPr/>
        </p:nvSpPr>
        <p:spPr>
          <a:xfrm>
            <a:off x="415432" y="2272784"/>
            <a:ext cx="119975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sz="1600" b="1" u="sng" dirty="0"/>
              <a:t>Allergologie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98090" y="2744536"/>
            <a:ext cx="8550660" cy="1164958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9007167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itre 1"/>
          <p:cNvSpPr txBox="1">
            <a:spLocks/>
          </p:cNvSpPr>
          <p:nvPr/>
        </p:nvSpPr>
        <p:spPr>
          <a:xfrm>
            <a:off x="3489617" y="59579"/>
            <a:ext cx="4620714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28 – Observations médicales – 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Antécédent / </a:t>
            </a:r>
            <a:r>
              <a:rPr 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Psychiatrique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91992" y="556080"/>
            <a:ext cx="11758269" cy="574166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5" name="Rectangle 84"/>
          <p:cNvSpPr/>
          <p:nvPr/>
        </p:nvSpPr>
        <p:spPr>
          <a:xfrm>
            <a:off x="222627" y="2667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6" name="Rectangle 85"/>
          <p:cNvSpPr/>
          <p:nvPr/>
        </p:nvSpPr>
        <p:spPr>
          <a:xfrm>
            <a:off x="9873916" y="2602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7" name="ZoneTexte 86"/>
          <p:cNvSpPr txBox="1"/>
          <p:nvPr/>
        </p:nvSpPr>
        <p:spPr>
          <a:xfrm>
            <a:off x="231585" y="-11272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88" name="Rectangle 87"/>
          <p:cNvSpPr/>
          <p:nvPr/>
        </p:nvSpPr>
        <p:spPr>
          <a:xfrm>
            <a:off x="9900662" y="-1844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94" name="Titre 1"/>
          <p:cNvSpPr txBox="1">
            <a:spLocks/>
          </p:cNvSpPr>
          <p:nvPr/>
        </p:nvSpPr>
        <p:spPr>
          <a:xfrm>
            <a:off x="1964661" y="720036"/>
            <a:ext cx="1026946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dossier</a:t>
            </a:r>
            <a:endParaRPr lang="fr-FR" sz="1400" dirty="0"/>
          </a:p>
        </p:txBody>
      </p:sp>
      <p:sp>
        <p:nvSpPr>
          <p:cNvPr id="95" name="Titre 1"/>
          <p:cNvSpPr txBox="1">
            <a:spLocks/>
          </p:cNvSpPr>
          <p:nvPr/>
        </p:nvSpPr>
        <p:spPr>
          <a:xfrm>
            <a:off x="4355023" y="706931"/>
            <a:ext cx="9591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Patient </a:t>
            </a:r>
            <a:endParaRPr lang="fr-FR" sz="1400" dirty="0"/>
          </a:p>
        </p:txBody>
      </p:sp>
      <p:sp>
        <p:nvSpPr>
          <p:cNvPr id="96" name="Titre 1"/>
          <p:cNvSpPr txBox="1">
            <a:spLocks/>
          </p:cNvSpPr>
          <p:nvPr/>
        </p:nvSpPr>
        <p:spPr>
          <a:xfrm>
            <a:off x="7182390" y="726443"/>
            <a:ext cx="560942" cy="3850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Age </a:t>
            </a:r>
            <a:endParaRPr lang="fr-FR" sz="1400" dirty="0"/>
          </a:p>
        </p:txBody>
      </p:sp>
      <p:sp>
        <p:nvSpPr>
          <p:cNvPr id="97" name="Rectangle 96"/>
          <p:cNvSpPr/>
          <p:nvPr/>
        </p:nvSpPr>
        <p:spPr>
          <a:xfrm>
            <a:off x="3152059" y="765062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8" name="Rectangle 97"/>
          <p:cNvSpPr/>
          <p:nvPr/>
        </p:nvSpPr>
        <p:spPr>
          <a:xfrm>
            <a:off x="5326245" y="720338"/>
            <a:ext cx="1641189" cy="35303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9" name="Rectangle 98"/>
          <p:cNvSpPr/>
          <p:nvPr/>
        </p:nvSpPr>
        <p:spPr>
          <a:xfrm>
            <a:off x="7736488" y="771690"/>
            <a:ext cx="7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0" name="Rectangle 99"/>
          <p:cNvSpPr/>
          <p:nvPr/>
        </p:nvSpPr>
        <p:spPr>
          <a:xfrm>
            <a:off x="1914072" y="650694"/>
            <a:ext cx="9936000" cy="53385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2" name="Titre 1"/>
          <p:cNvSpPr txBox="1">
            <a:spLocks/>
          </p:cNvSpPr>
          <p:nvPr/>
        </p:nvSpPr>
        <p:spPr>
          <a:xfrm>
            <a:off x="73859" y="1139099"/>
            <a:ext cx="2137032" cy="54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 smtClean="0"/>
              <a:t>Suivi des antécédents</a:t>
            </a:r>
            <a:endParaRPr lang="fr-FR" sz="1600" b="1" u="sng" dirty="0"/>
          </a:p>
        </p:txBody>
      </p:sp>
      <p:sp>
        <p:nvSpPr>
          <p:cNvPr id="127" name="Rectangle 126"/>
          <p:cNvSpPr/>
          <p:nvPr/>
        </p:nvSpPr>
        <p:spPr>
          <a:xfrm>
            <a:off x="307590" y="2230185"/>
            <a:ext cx="11556000" cy="401821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0" name="Rectangle 129"/>
          <p:cNvSpPr/>
          <p:nvPr/>
        </p:nvSpPr>
        <p:spPr>
          <a:xfrm>
            <a:off x="7716750" y="4123935"/>
            <a:ext cx="1332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Valider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283953" y="1577127"/>
            <a:ext cx="1260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Physiologique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1595032" y="1583755"/>
            <a:ext cx="1260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Vaccination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2915874" y="1592541"/>
            <a:ext cx="1692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Facteurs des risques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4658736" y="1598410"/>
            <a:ext cx="1872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Antécédents médicaux / chirurgicaux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615518" y="2907588"/>
            <a:ext cx="8299881" cy="845261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8" name="Titre 1"/>
          <p:cNvSpPr txBox="1">
            <a:spLocks/>
          </p:cNvSpPr>
          <p:nvPr/>
        </p:nvSpPr>
        <p:spPr>
          <a:xfrm>
            <a:off x="3345444" y="790814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02095</a:t>
            </a:r>
            <a:endParaRPr lang="fr-FR" sz="1400" dirty="0"/>
          </a:p>
        </p:txBody>
      </p:sp>
      <p:sp>
        <p:nvSpPr>
          <p:cNvPr id="139" name="Rectangle 138"/>
          <p:cNvSpPr/>
          <p:nvPr/>
        </p:nvSpPr>
        <p:spPr>
          <a:xfrm>
            <a:off x="5434893" y="774396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Amara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0" name="Rectangle 139"/>
          <p:cNvSpPr/>
          <p:nvPr/>
        </p:nvSpPr>
        <p:spPr>
          <a:xfrm>
            <a:off x="6099371" y="780437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amine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1" name="Rectangle 140"/>
          <p:cNvSpPr/>
          <p:nvPr/>
        </p:nvSpPr>
        <p:spPr>
          <a:xfrm>
            <a:off x="7785158" y="799262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43 ans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2" name="Rectangle 141"/>
          <p:cNvSpPr/>
          <p:nvPr/>
        </p:nvSpPr>
        <p:spPr>
          <a:xfrm>
            <a:off x="6584266" y="1602805"/>
            <a:ext cx="1260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Antécédents familiaux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7907827" y="1587698"/>
            <a:ext cx="1332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Néphropathies </a:t>
            </a:r>
            <a:r>
              <a:rPr lang="fr-FR" sz="1400" dirty="0" smtClean="0"/>
              <a:t>causales</a:t>
            </a:r>
            <a:endParaRPr lang="fr-FR" sz="1400" dirty="0"/>
          </a:p>
        </p:txBody>
      </p:sp>
      <p:sp>
        <p:nvSpPr>
          <p:cNvPr id="144" name="Rectangle 143"/>
          <p:cNvSpPr/>
          <p:nvPr/>
        </p:nvSpPr>
        <p:spPr>
          <a:xfrm>
            <a:off x="9298301" y="1599768"/>
            <a:ext cx="1260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Allergologie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10615495" y="1605637"/>
            <a:ext cx="1260000" cy="540000"/>
          </a:xfrm>
          <a:prstGeom prst="rect">
            <a:avLst/>
          </a:prstGeom>
          <a:solidFill>
            <a:srgbClr val="92D05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Psychiatrique</a:t>
            </a:r>
          </a:p>
        </p:txBody>
      </p:sp>
      <p:sp>
        <p:nvSpPr>
          <p:cNvPr id="64" name="Titre 1"/>
          <p:cNvSpPr txBox="1">
            <a:spLocks/>
          </p:cNvSpPr>
          <p:nvPr/>
        </p:nvSpPr>
        <p:spPr>
          <a:xfrm>
            <a:off x="35759" y="567599"/>
            <a:ext cx="1080000" cy="54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 smtClean="0"/>
              <a:t>Patient</a:t>
            </a:r>
            <a:endParaRPr lang="fr-FR" sz="1600" b="1" u="sng" dirty="0"/>
          </a:p>
        </p:txBody>
      </p:sp>
      <p:sp>
        <p:nvSpPr>
          <p:cNvPr id="12" name="Rectangle 11"/>
          <p:cNvSpPr/>
          <p:nvPr/>
        </p:nvSpPr>
        <p:spPr>
          <a:xfrm>
            <a:off x="426999" y="2291834"/>
            <a:ext cx="132901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sz="1600" b="1" u="sng" dirty="0"/>
              <a:t>Psychiatrique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98090" y="2744536"/>
            <a:ext cx="8550660" cy="1164958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4566991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itre 1"/>
          <p:cNvSpPr txBox="1">
            <a:spLocks/>
          </p:cNvSpPr>
          <p:nvPr/>
        </p:nvSpPr>
        <p:spPr>
          <a:xfrm>
            <a:off x="3152059" y="59579"/>
            <a:ext cx="5989991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29 – Observations médicales – 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Traitement habituel</a:t>
            </a:r>
            <a:endParaRPr lang="fr-FR" sz="1800" b="1" dirty="0">
              <a:solidFill>
                <a:srgbClr val="000000"/>
              </a:solidFill>
              <a:latin typeface="Times New Roman" panose="02020603050405020304" pitchFamily="18" charset="0"/>
              <a:ea typeface="Microsoft YaHei" panose="020B0503020204020204" pitchFamily="34" charset="-122"/>
            </a:endParaRPr>
          </a:p>
        </p:txBody>
      </p:sp>
      <p:sp>
        <p:nvSpPr>
          <p:cNvPr id="84" name="Rectangle 83"/>
          <p:cNvSpPr/>
          <p:nvPr/>
        </p:nvSpPr>
        <p:spPr>
          <a:xfrm>
            <a:off x="191992" y="689429"/>
            <a:ext cx="11758269" cy="612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5" name="Rectangle 84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6" name="Rectangle 85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7" name="ZoneTexte 86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88" name="Rectangle 87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94" name="Titre 1"/>
          <p:cNvSpPr txBox="1">
            <a:spLocks/>
          </p:cNvSpPr>
          <p:nvPr/>
        </p:nvSpPr>
        <p:spPr>
          <a:xfrm>
            <a:off x="1964661" y="853386"/>
            <a:ext cx="1026946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dossier</a:t>
            </a:r>
            <a:endParaRPr lang="fr-FR" sz="1400" dirty="0"/>
          </a:p>
        </p:txBody>
      </p:sp>
      <p:sp>
        <p:nvSpPr>
          <p:cNvPr id="95" name="Titre 1"/>
          <p:cNvSpPr txBox="1">
            <a:spLocks/>
          </p:cNvSpPr>
          <p:nvPr/>
        </p:nvSpPr>
        <p:spPr>
          <a:xfrm>
            <a:off x="4355023" y="840281"/>
            <a:ext cx="9591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Patient </a:t>
            </a:r>
            <a:endParaRPr lang="fr-FR" sz="1400" dirty="0"/>
          </a:p>
        </p:txBody>
      </p:sp>
      <p:sp>
        <p:nvSpPr>
          <p:cNvPr id="96" name="Titre 1"/>
          <p:cNvSpPr txBox="1">
            <a:spLocks/>
          </p:cNvSpPr>
          <p:nvPr/>
        </p:nvSpPr>
        <p:spPr>
          <a:xfrm>
            <a:off x="7182390" y="859793"/>
            <a:ext cx="560942" cy="3850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Age </a:t>
            </a:r>
            <a:endParaRPr lang="fr-FR" sz="1400" dirty="0"/>
          </a:p>
        </p:txBody>
      </p:sp>
      <p:sp>
        <p:nvSpPr>
          <p:cNvPr id="97" name="Rectangle 96"/>
          <p:cNvSpPr/>
          <p:nvPr/>
        </p:nvSpPr>
        <p:spPr>
          <a:xfrm>
            <a:off x="3152059" y="898412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8" name="Rectangle 97"/>
          <p:cNvSpPr/>
          <p:nvPr/>
        </p:nvSpPr>
        <p:spPr>
          <a:xfrm>
            <a:off x="5326245" y="853688"/>
            <a:ext cx="1641189" cy="35303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9" name="Rectangle 98"/>
          <p:cNvSpPr/>
          <p:nvPr/>
        </p:nvSpPr>
        <p:spPr>
          <a:xfrm>
            <a:off x="7736488" y="905040"/>
            <a:ext cx="7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0" name="Rectangle 99"/>
          <p:cNvSpPr/>
          <p:nvPr/>
        </p:nvSpPr>
        <p:spPr>
          <a:xfrm>
            <a:off x="1914072" y="784044"/>
            <a:ext cx="9936000" cy="53385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7" name="Rectangle 126"/>
          <p:cNvSpPr/>
          <p:nvPr/>
        </p:nvSpPr>
        <p:spPr>
          <a:xfrm>
            <a:off x="307590" y="1613727"/>
            <a:ext cx="11556000" cy="5006529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0" name="Rectangle 129"/>
          <p:cNvSpPr/>
          <p:nvPr/>
        </p:nvSpPr>
        <p:spPr>
          <a:xfrm>
            <a:off x="9570950" y="6203476"/>
            <a:ext cx="1080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Modifier</a:t>
            </a:r>
          </a:p>
        </p:txBody>
      </p:sp>
      <p:sp>
        <p:nvSpPr>
          <p:cNvPr id="138" name="Titre 1"/>
          <p:cNvSpPr txBox="1">
            <a:spLocks/>
          </p:cNvSpPr>
          <p:nvPr/>
        </p:nvSpPr>
        <p:spPr>
          <a:xfrm>
            <a:off x="3345444" y="924164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02095</a:t>
            </a:r>
            <a:endParaRPr lang="fr-FR" sz="1400" dirty="0"/>
          </a:p>
        </p:txBody>
      </p:sp>
      <p:sp>
        <p:nvSpPr>
          <p:cNvPr id="139" name="Rectangle 138"/>
          <p:cNvSpPr/>
          <p:nvPr/>
        </p:nvSpPr>
        <p:spPr>
          <a:xfrm>
            <a:off x="5434893" y="907746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Amara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0" name="Rectangle 139"/>
          <p:cNvSpPr/>
          <p:nvPr/>
        </p:nvSpPr>
        <p:spPr>
          <a:xfrm>
            <a:off x="6099371" y="913787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amine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1" name="Rectangle 140"/>
          <p:cNvSpPr/>
          <p:nvPr/>
        </p:nvSpPr>
        <p:spPr>
          <a:xfrm>
            <a:off x="7785158" y="932612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43 ans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64" name="Titre 1"/>
          <p:cNvSpPr txBox="1">
            <a:spLocks/>
          </p:cNvSpPr>
          <p:nvPr/>
        </p:nvSpPr>
        <p:spPr>
          <a:xfrm>
            <a:off x="273503" y="700949"/>
            <a:ext cx="1080000" cy="4404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>
                <a:latin typeface="+mn-lt"/>
                <a:ea typeface="+mn-ea"/>
                <a:cs typeface="+mn-cs"/>
              </a:rPr>
              <a:t>Patient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1557" y="1292904"/>
            <a:ext cx="121065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600" b="1" u="sng" dirty="0"/>
              <a:t>Prescription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313985" y="4804482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9" name="Titre 1"/>
          <p:cNvSpPr txBox="1">
            <a:spLocks/>
          </p:cNvSpPr>
          <p:nvPr/>
        </p:nvSpPr>
        <p:spPr>
          <a:xfrm>
            <a:off x="5304825" y="4175848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Dose</a:t>
            </a:r>
            <a:endParaRPr lang="fr-FR" sz="1400" dirty="0"/>
          </a:p>
        </p:txBody>
      </p:sp>
      <p:sp>
        <p:nvSpPr>
          <p:cNvPr id="70" name="Rectangle 69"/>
          <p:cNvSpPr/>
          <p:nvPr/>
        </p:nvSpPr>
        <p:spPr>
          <a:xfrm>
            <a:off x="4935191" y="5515191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7" name="Rectangle 76"/>
          <p:cNvSpPr/>
          <p:nvPr/>
        </p:nvSpPr>
        <p:spPr>
          <a:xfrm>
            <a:off x="4935191" y="4777089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0" name="Rectangle 79"/>
          <p:cNvSpPr/>
          <p:nvPr/>
        </p:nvSpPr>
        <p:spPr>
          <a:xfrm>
            <a:off x="7313985" y="5496734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1" name="Titre 1"/>
          <p:cNvSpPr txBox="1">
            <a:spLocks/>
          </p:cNvSpPr>
          <p:nvPr/>
        </p:nvSpPr>
        <p:spPr>
          <a:xfrm>
            <a:off x="3059247" y="4181754"/>
            <a:ext cx="1242463" cy="3947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/>
              <a:t>Médicament</a:t>
            </a:r>
          </a:p>
        </p:txBody>
      </p:sp>
      <p:sp>
        <p:nvSpPr>
          <p:cNvPr id="91" name="Rectangle 90"/>
          <p:cNvSpPr/>
          <p:nvPr/>
        </p:nvSpPr>
        <p:spPr>
          <a:xfrm>
            <a:off x="9570869" y="4175847"/>
            <a:ext cx="900000" cy="36000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fr-FR" sz="14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Ajouter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2" name="Rectangle 91"/>
          <p:cNvSpPr/>
          <p:nvPr/>
        </p:nvSpPr>
        <p:spPr>
          <a:xfrm>
            <a:off x="2655448" y="4756333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3" name="Triangle isocèle 92"/>
          <p:cNvSpPr/>
          <p:nvPr/>
        </p:nvSpPr>
        <p:spPr>
          <a:xfrm rot="10800000">
            <a:off x="4193114" y="4795716"/>
            <a:ext cx="252000" cy="322745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1" name="Rectangle 100"/>
          <p:cNvSpPr/>
          <p:nvPr/>
        </p:nvSpPr>
        <p:spPr>
          <a:xfrm>
            <a:off x="2559132" y="4136984"/>
            <a:ext cx="8091818" cy="1978828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3" name="Titre 1"/>
          <p:cNvSpPr txBox="1">
            <a:spLocks/>
          </p:cNvSpPr>
          <p:nvPr/>
        </p:nvSpPr>
        <p:spPr>
          <a:xfrm>
            <a:off x="7501776" y="4178270"/>
            <a:ext cx="144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Période</a:t>
            </a:r>
            <a:endParaRPr lang="fr-FR" sz="1400" dirty="0"/>
          </a:p>
        </p:txBody>
      </p:sp>
      <p:sp>
        <p:nvSpPr>
          <p:cNvPr id="105" name="Rectangle 104"/>
          <p:cNvSpPr/>
          <p:nvPr/>
        </p:nvSpPr>
        <p:spPr>
          <a:xfrm>
            <a:off x="2655448" y="5480233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6" name="Triangle isocèle 105"/>
          <p:cNvSpPr/>
          <p:nvPr/>
        </p:nvSpPr>
        <p:spPr>
          <a:xfrm rot="10800000">
            <a:off x="4193114" y="5519616"/>
            <a:ext cx="252000" cy="322745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109" name="Connecteur droit 108"/>
          <p:cNvCxnSpPr/>
          <p:nvPr/>
        </p:nvCxnSpPr>
        <p:spPr>
          <a:xfrm>
            <a:off x="4700126" y="4136984"/>
            <a:ext cx="0" cy="1978828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0" name="Connecteur droit 109"/>
          <p:cNvCxnSpPr/>
          <p:nvPr/>
        </p:nvCxnSpPr>
        <p:spPr>
          <a:xfrm>
            <a:off x="6986126" y="4156034"/>
            <a:ext cx="0" cy="1978828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1" name="Connecteur droit 110"/>
          <p:cNvCxnSpPr/>
          <p:nvPr/>
        </p:nvCxnSpPr>
        <p:spPr>
          <a:xfrm>
            <a:off x="9481676" y="4156034"/>
            <a:ext cx="0" cy="1978828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2" name="Plus 111"/>
          <p:cNvSpPr/>
          <p:nvPr/>
        </p:nvSpPr>
        <p:spPr>
          <a:xfrm>
            <a:off x="9880092" y="4775383"/>
            <a:ext cx="360000" cy="360000"/>
          </a:xfrm>
          <a:prstGeom prst="mathPlus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3" name="Plus 112"/>
          <p:cNvSpPr/>
          <p:nvPr/>
        </p:nvSpPr>
        <p:spPr>
          <a:xfrm>
            <a:off x="9880092" y="5442133"/>
            <a:ext cx="360000" cy="360000"/>
          </a:xfrm>
          <a:prstGeom prst="mathPlus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15" name="Connecteur droit 114"/>
          <p:cNvCxnSpPr/>
          <p:nvPr/>
        </p:nvCxnSpPr>
        <p:spPr>
          <a:xfrm>
            <a:off x="2560197" y="4650148"/>
            <a:ext cx="8064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6" name="Connecteur droit 115"/>
          <p:cNvCxnSpPr/>
          <p:nvPr/>
        </p:nvCxnSpPr>
        <p:spPr>
          <a:xfrm>
            <a:off x="2560197" y="5316898"/>
            <a:ext cx="8064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2" name="Titre 1"/>
          <p:cNvSpPr txBox="1">
            <a:spLocks/>
          </p:cNvSpPr>
          <p:nvPr/>
        </p:nvSpPr>
        <p:spPr>
          <a:xfrm>
            <a:off x="630623" y="2278797"/>
            <a:ext cx="180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/>
              <a:t>Classe </a:t>
            </a:r>
            <a:r>
              <a:rPr lang="fr-FR" sz="1400" dirty="0" smtClean="0"/>
              <a:t>thérapeutique</a:t>
            </a:r>
            <a:endParaRPr lang="fr-FR" sz="1400" dirty="0"/>
          </a:p>
        </p:txBody>
      </p:sp>
      <p:sp>
        <p:nvSpPr>
          <p:cNvPr id="114" name="Rectangle 113"/>
          <p:cNvSpPr/>
          <p:nvPr/>
        </p:nvSpPr>
        <p:spPr>
          <a:xfrm>
            <a:off x="2543434" y="2299732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7" name="Titre 1"/>
          <p:cNvSpPr txBox="1">
            <a:spLocks/>
          </p:cNvSpPr>
          <p:nvPr/>
        </p:nvSpPr>
        <p:spPr>
          <a:xfrm>
            <a:off x="1759110" y="1798651"/>
            <a:ext cx="671513" cy="3837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</a:t>
            </a:r>
            <a:endParaRPr lang="fr-FR" sz="1400" dirty="0"/>
          </a:p>
        </p:txBody>
      </p:sp>
      <p:sp>
        <p:nvSpPr>
          <p:cNvPr id="118" name="Triangle isocèle 117"/>
          <p:cNvSpPr/>
          <p:nvPr/>
        </p:nvSpPr>
        <p:spPr>
          <a:xfrm rot="10800000">
            <a:off x="4062050" y="2320740"/>
            <a:ext cx="252000" cy="322745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2" name="Rectangle 121"/>
          <p:cNvSpPr/>
          <p:nvPr/>
        </p:nvSpPr>
        <p:spPr>
          <a:xfrm>
            <a:off x="504976" y="2858365"/>
            <a:ext cx="1931650" cy="3228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07000"/>
              </a:lnSpc>
              <a:spcAft>
                <a:spcPts val="800"/>
              </a:spcAft>
            </a:pPr>
            <a:r>
              <a:rPr lang="fr-FR" sz="1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S/Classe </a:t>
            </a:r>
            <a:r>
              <a:rPr lang="fr-FR" sz="14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thérapeutique</a:t>
            </a:r>
            <a:endParaRPr lang="fr-FR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8" name="Rectangle 127"/>
          <p:cNvSpPr/>
          <p:nvPr/>
        </p:nvSpPr>
        <p:spPr>
          <a:xfrm>
            <a:off x="2543434" y="2852857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9" name="Triangle isocèle 128"/>
          <p:cNvSpPr/>
          <p:nvPr/>
        </p:nvSpPr>
        <p:spPr>
          <a:xfrm rot="10800000">
            <a:off x="4081100" y="2892240"/>
            <a:ext cx="252000" cy="322745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8" name="Rectangle 147"/>
          <p:cNvSpPr/>
          <p:nvPr/>
        </p:nvSpPr>
        <p:spPr>
          <a:xfrm>
            <a:off x="2567818" y="1812052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" name="Rectangle 1"/>
          <p:cNvSpPr/>
          <p:nvPr/>
        </p:nvSpPr>
        <p:spPr>
          <a:xfrm>
            <a:off x="1994285" y="3464738"/>
            <a:ext cx="43633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DCI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2567818" y="3444169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50" name="Triangle isocèle 149"/>
          <p:cNvSpPr/>
          <p:nvPr/>
        </p:nvSpPr>
        <p:spPr>
          <a:xfrm rot="10800000">
            <a:off x="4105484" y="3483552"/>
            <a:ext cx="252000" cy="322745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8824308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itre 1"/>
          <p:cNvSpPr txBox="1">
            <a:spLocks/>
          </p:cNvSpPr>
          <p:nvPr/>
        </p:nvSpPr>
        <p:spPr>
          <a:xfrm>
            <a:off x="3152059" y="59579"/>
            <a:ext cx="5989991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30 – Observations médicales – 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Examens cliniques / Histoire de la maladie (HDM)</a:t>
            </a:r>
            <a:endParaRPr lang="fr-FR" sz="1800" b="1" dirty="0">
              <a:solidFill>
                <a:srgbClr val="000000"/>
              </a:solidFill>
              <a:latin typeface="Times New Roman" panose="02020603050405020304" pitchFamily="18" charset="0"/>
              <a:ea typeface="Microsoft YaHei" panose="020B0503020204020204" pitchFamily="34" charset="-122"/>
            </a:endParaRPr>
          </a:p>
        </p:txBody>
      </p:sp>
      <p:sp>
        <p:nvSpPr>
          <p:cNvPr id="84" name="Rectangle 83"/>
          <p:cNvSpPr/>
          <p:nvPr/>
        </p:nvSpPr>
        <p:spPr>
          <a:xfrm>
            <a:off x="191992" y="689428"/>
            <a:ext cx="11758269" cy="6048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5" name="Rectangle 84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6" name="Rectangle 85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7" name="ZoneTexte 86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88" name="Rectangle 87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94" name="Titre 1"/>
          <p:cNvSpPr txBox="1">
            <a:spLocks/>
          </p:cNvSpPr>
          <p:nvPr/>
        </p:nvSpPr>
        <p:spPr>
          <a:xfrm>
            <a:off x="1964661" y="853386"/>
            <a:ext cx="1026946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dossier</a:t>
            </a:r>
            <a:endParaRPr lang="fr-FR" sz="1400" dirty="0"/>
          </a:p>
        </p:txBody>
      </p:sp>
      <p:sp>
        <p:nvSpPr>
          <p:cNvPr id="95" name="Titre 1"/>
          <p:cNvSpPr txBox="1">
            <a:spLocks/>
          </p:cNvSpPr>
          <p:nvPr/>
        </p:nvSpPr>
        <p:spPr>
          <a:xfrm>
            <a:off x="4355023" y="840281"/>
            <a:ext cx="9591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Patient </a:t>
            </a:r>
            <a:endParaRPr lang="fr-FR" sz="1400" dirty="0"/>
          </a:p>
        </p:txBody>
      </p:sp>
      <p:sp>
        <p:nvSpPr>
          <p:cNvPr id="96" name="Titre 1"/>
          <p:cNvSpPr txBox="1">
            <a:spLocks/>
          </p:cNvSpPr>
          <p:nvPr/>
        </p:nvSpPr>
        <p:spPr>
          <a:xfrm>
            <a:off x="7182390" y="859793"/>
            <a:ext cx="560942" cy="3850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Age </a:t>
            </a:r>
            <a:endParaRPr lang="fr-FR" sz="1400" dirty="0"/>
          </a:p>
        </p:txBody>
      </p:sp>
      <p:sp>
        <p:nvSpPr>
          <p:cNvPr id="97" name="Rectangle 96"/>
          <p:cNvSpPr/>
          <p:nvPr/>
        </p:nvSpPr>
        <p:spPr>
          <a:xfrm>
            <a:off x="3152059" y="898412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8" name="Rectangle 97"/>
          <p:cNvSpPr/>
          <p:nvPr/>
        </p:nvSpPr>
        <p:spPr>
          <a:xfrm>
            <a:off x="5326245" y="853688"/>
            <a:ext cx="1641189" cy="35303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9" name="Rectangle 98"/>
          <p:cNvSpPr/>
          <p:nvPr/>
        </p:nvSpPr>
        <p:spPr>
          <a:xfrm>
            <a:off x="7736488" y="905040"/>
            <a:ext cx="7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0" name="Rectangle 99"/>
          <p:cNvSpPr/>
          <p:nvPr/>
        </p:nvSpPr>
        <p:spPr>
          <a:xfrm>
            <a:off x="1914072" y="784044"/>
            <a:ext cx="9936000" cy="53385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7" name="Rectangle 126"/>
          <p:cNvSpPr/>
          <p:nvPr/>
        </p:nvSpPr>
        <p:spPr>
          <a:xfrm>
            <a:off x="1914072" y="1613727"/>
            <a:ext cx="9949518" cy="2153601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0" name="Rectangle 129"/>
          <p:cNvSpPr/>
          <p:nvPr/>
        </p:nvSpPr>
        <p:spPr>
          <a:xfrm>
            <a:off x="7533851" y="6038269"/>
            <a:ext cx="1080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Valider</a:t>
            </a:r>
          </a:p>
        </p:txBody>
      </p:sp>
      <p:sp>
        <p:nvSpPr>
          <p:cNvPr id="138" name="Titre 1"/>
          <p:cNvSpPr txBox="1">
            <a:spLocks/>
          </p:cNvSpPr>
          <p:nvPr/>
        </p:nvSpPr>
        <p:spPr>
          <a:xfrm>
            <a:off x="3345444" y="924164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02095</a:t>
            </a:r>
            <a:endParaRPr lang="fr-FR" sz="1400" dirty="0"/>
          </a:p>
        </p:txBody>
      </p:sp>
      <p:sp>
        <p:nvSpPr>
          <p:cNvPr id="139" name="Rectangle 138"/>
          <p:cNvSpPr/>
          <p:nvPr/>
        </p:nvSpPr>
        <p:spPr>
          <a:xfrm>
            <a:off x="5434893" y="907746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Amara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0" name="Rectangle 139"/>
          <p:cNvSpPr/>
          <p:nvPr/>
        </p:nvSpPr>
        <p:spPr>
          <a:xfrm>
            <a:off x="6099371" y="913787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amine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1" name="Rectangle 140"/>
          <p:cNvSpPr/>
          <p:nvPr/>
        </p:nvSpPr>
        <p:spPr>
          <a:xfrm>
            <a:off x="7785158" y="932612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43 ans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64" name="Titre 1"/>
          <p:cNvSpPr txBox="1">
            <a:spLocks/>
          </p:cNvSpPr>
          <p:nvPr/>
        </p:nvSpPr>
        <p:spPr>
          <a:xfrm>
            <a:off x="273503" y="700949"/>
            <a:ext cx="1080000" cy="4404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>
                <a:latin typeface="+mn-lt"/>
                <a:ea typeface="+mn-ea"/>
                <a:cs typeface="+mn-cs"/>
              </a:rPr>
              <a:t>Patient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2825" y="1606199"/>
            <a:ext cx="157286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600" b="1" u="sng" dirty="0"/>
              <a:t>Examen clinique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599621" y="4502928"/>
            <a:ext cx="8162617" cy="1978828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2" name="Titre 1"/>
          <p:cNvSpPr txBox="1">
            <a:spLocks/>
          </p:cNvSpPr>
          <p:nvPr/>
        </p:nvSpPr>
        <p:spPr>
          <a:xfrm>
            <a:off x="2093663" y="2260509"/>
            <a:ext cx="72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Type</a:t>
            </a:r>
            <a:endParaRPr lang="fr-FR" sz="1400" dirty="0"/>
          </a:p>
        </p:txBody>
      </p:sp>
      <p:sp>
        <p:nvSpPr>
          <p:cNvPr id="114" name="Rectangle 113"/>
          <p:cNvSpPr/>
          <p:nvPr/>
        </p:nvSpPr>
        <p:spPr>
          <a:xfrm>
            <a:off x="2817754" y="2263156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7" name="Titre 1"/>
          <p:cNvSpPr txBox="1">
            <a:spLocks/>
          </p:cNvSpPr>
          <p:nvPr/>
        </p:nvSpPr>
        <p:spPr>
          <a:xfrm>
            <a:off x="2106581" y="1762075"/>
            <a:ext cx="720000" cy="3837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</a:t>
            </a:r>
            <a:endParaRPr lang="fr-FR" sz="1400" dirty="0"/>
          </a:p>
        </p:txBody>
      </p:sp>
      <p:sp>
        <p:nvSpPr>
          <p:cNvPr id="118" name="Triangle isocèle 117"/>
          <p:cNvSpPr/>
          <p:nvPr/>
        </p:nvSpPr>
        <p:spPr>
          <a:xfrm rot="10800000">
            <a:off x="4336370" y="2284164"/>
            <a:ext cx="252000" cy="322745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2" name="Rectangle 121"/>
          <p:cNvSpPr/>
          <p:nvPr/>
        </p:nvSpPr>
        <p:spPr>
          <a:xfrm>
            <a:off x="2096032" y="2821789"/>
            <a:ext cx="720000" cy="3228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Motif</a:t>
            </a:r>
            <a:endParaRPr lang="fr-FR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8" name="Rectangle 127"/>
          <p:cNvSpPr/>
          <p:nvPr/>
        </p:nvSpPr>
        <p:spPr>
          <a:xfrm>
            <a:off x="2817753" y="2816281"/>
            <a:ext cx="3567071" cy="829984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8" name="Rectangle 147"/>
          <p:cNvSpPr/>
          <p:nvPr/>
        </p:nvSpPr>
        <p:spPr>
          <a:xfrm>
            <a:off x="2842138" y="1775476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4" name="Titre 1"/>
          <p:cNvSpPr txBox="1">
            <a:spLocks/>
          </p:cNvSpPr>
          <p:nvPr/>
        </p:nvSpPr>
        <p:spPr>
          <a:xfrm>
            <a:off x="5355022" y="1791117"/>
            <a:ext cx="1029803" cy="36264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Médecin</a:t>
            </a:r>
            <a:endParaRPr lang="fr-FR" sz="1400" dirty="0"/>
          </a:p>
        </p:txBody>
      </p:sp>
      <p:sp>
        <p:nvSpPr>
          <p:cNvPr id="55" name="Rectangle 54"/>
          <p:cNvSpPr/>
          <p:nvPr/>
        </p:nvSpPr>
        <p:spPr>
          <a:xfrm>
            <a:off x="6371722" y="1793764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6" name="Triangle isocèle 55"/>
          <p:cNvSpPr/>
          <p:nvPr/>
        </p:nvSpPr>
        <p:spPr>
          <a:xfrm rot="10800000">
            <a:off x="7890338" y="1814772"/>
            <a:ext cx="252000" cy="322745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7" name="Titre 1"/>
          <p:cNvSpPr txBox="1">
            <a:spLocks/>
          </p:cNvSpPr>
          <p:nvPr/>
        </p:nvSpPr>
        <p:spPr>
          <a:xfrm>
            <a:off x="4723622" y="2149312"/>
            <a:ext cx="4023137" cy="5904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b="1" dirty="0" smtClean="0"/>
              <a:t>Type : </a:t>
            </a:r>
            <a:r>
              <a:rPr lang="fr-FR" sz="1400" dirty="0" smtClean="0"/>
              <a:t>Consultation, Hospitalisation, Prise en charge </a:t>
            </a:r>
            <a:endParaRPr lang="fr-FR" sz="1400" b="1" dirty="0"/>
          </a:p>
        </p:txBody>
      </p:sp>
      <p:sp>
        <p:nvSpPr>
          <p:cNvPr id="58" name="Rectangle 57"/>
          <p:cNvSpPr/>
          <p:nvPr/>
        </p:nvSpPr>
        <p:spPr>
          <a:xfrm>
            <a:off x="569703" y="3900465"/>
            <a:ext cx="720000" cy="360000"/>
          </a:xfrm>
          <a:prstGeom prst="rect">
            <a:avLst/>
          </a:prstGeom>
          <a:solidFill>
            <a:srgbClr val="92D05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HDM</a:t>
            </a:r>
            <a:endParaRPr lang="fr-FR" sz="1400" dirty="0"/>
          </a:p>
        </p:txBody>
      </p:sp>
      <p:sp>
        <p:nvSpPr>
          <p:cNvPr id="59" name="Rectangle 58"/>
          <p:cNvSpPr/>
          <p:nvPr/>
        </p:nvSpPr>
        <p:spPr>
          <a:xfrm>
            <a:off x="1372528" y="3907093"/>
            <a:ext cx="828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Général</a:t>
            </a:r>
            <a:endParaRPr lang="fr-FR" sz="1400" dirty="0"/>
          </a:p>
        </p:txBody>
      </p:sp>
      <p:sp>
        <p:nvSpPr>
          <p:cNvPr id="60" name="Rectangle 59"/>
          <p:cNvSpPr/>
          <p:nvPr/>
        </p:nvSpPr>
        <p:spPr>
          <a:xfrm>
            <a:off x="2261316" y="3896829"/>
            <a:ext cx="162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Cervico-céphalique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967602" y="3902698"/>
            <a:ext cx="72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Thorax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761562" y="3907093"/>
            <a:ext cx="97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Abdomen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04707" y="3910274"/>
            <a:ext cx="79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Pelvien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670925" y="3903294"/>
            <a:ext cx="97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Vasculaire</a:t>
            </a:r>
            <a:endParaRPr lang="fr-FR" sz="1400" dirty="0"/>
          </a:p>
        </p:txBody>
      </p:sp>
      <p:sp>
        <p:nvSpPr>
          <p:cNvPr id="67" name="Rectangle 66"/>
          <p:cNvSpPr/>
          <p:nvPr/>
        </p:nvSpPr>
        <p:spPr>
          <a:xfrm>
            <a:off x="7708465" y="3909163"/>
            <a:ext cx="126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Neurologique</a:t>
            </a:r>
            <a:endParaRPr lang="fr-FR" sz="1400" dirty="0"/>
          </a:p>
        </p:txBody>
      </p:sp>
      <p:sp>
        <p:nvSpPr>
          <p:cNvPr id="68" name="Rectangle 67"/>
          <p:cNvSpPr/>
          <p:nvPr/>
        </p:nvSpPr>
        <p:spPr>
          <a:xfrm>
            <a:off x="759591" y="4686229"/>
            <a:ext cx="7826621" cy="1127052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1" name="Rectangle 70"/>
          <p:cNvSpPr/>
          <p:nvPr/>
        </p:nvSpPr>
        <p:spPr>
          <a:xfrm>
            <a:off x="9049585" y="3896208"/>
            <a:ext cx="1476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Osteo-articulaire</a:t>
            </a:r>
            <a:endParaRPr lang="fr-FR" sz="1400" dirty="0"/>
          </a:p>
        </p:txBody>
      </p:sp>
      <p:sp>
        <p:nvSpPr>
          <p:cNvPr id="72" name="Rectangle 71"/>
          <p:cNvSpPr/>
          <p:nvPr/>
        </p:nvSpPr>
        <p:spPr>
          <a:xfrm>
            <a:off x="10592635" y="3909163"/>
            <a:ext cx="126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158360742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itre 1"/>
          <p:cNvSpPr txBox="1">
            <a:spLocks/>
          </p:cNvSpPr>
          <p:nvPr/>
        </p:nvSpPr>
        <p:spPr>
          <a:xfrm>
            <a:off x="3152059" y="59579"/>
            <a:ext cx="5989991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31 – Observations médicales – 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Examens cliniques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/ 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Examen général</a:t>
            </a:r>
            <a:endParaRPr lang="fr-FR" sz="1800" b="1" dirty="0">
              <a:solidFill>
                <a:srgbClr val="000000"/>
              </a:solidFill>
              <a:latin typeface="Times New Roman" panose="02020603050405020304" pitchFamily="18" charset="0"/>
              <a:ea typeface="Microsoft YaHei" panose="020B0503020204020204" pitchFamily="34" charset="-122"/>
            </a:endParaRPr>
          </a:p>
        </p:txBody>
      </p:sp>
      <p:sp>
        <p:nvSpPr>
          <p:cNvPr id="84" name="Rectangle 83"/>
          <p:cNvSpPr/>
          <p:nvPr/>
        </p:nvSpPr>
        <p:spPr>
          <a:xfrm>
            <a:off x="191991" y="689428"/>
            <a:ext cx="11880000" cy="612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5" name="Rectangle 84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6" name="Rectangle 85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7" name="ZoneTexte 86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88" name="Rectangle 87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94" name="Titre 1"/>
          <p:cNvSpPr txBox="1">
            <a:spLocks/>
          </p:cNvSpPr>
          <p:nvPr/>
        </p:nvSpPr>
        <p:spPr>
          <a:xfrm>
            <a:off x="1964661" y="801870"/>
            <a:ext cx="1026946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dossier</a:t>
            </a:r>
            <a:endParaRPr lang="fr-FR" sz="1400" dirty="0"/>
          </a:p>
        </p:txBody>
      </p:sp>
      <p:sp>
        <p:nvSpPr>
          <p:cNvPr id="95" name="Titre 1"/>
          <p:cNvSpPr txBox="1">
            <a:spLocks/>
          </p:cNvSpPr>
          <p:nvPr/>
        </p:nvSpPr>
        <p:spPr>
          <a:xfrm>
            <a:off x="4355023" y="788765"/>
            <a:ext cx="9591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Patient </a:t>
            </a:r>
            <a:endParaRPr lang="fr-FR" sz="1400" dirty="0"/>
          </a:p>
        </p:txBody>
      </p:sp>
      <p:sp>
        <p:nvSpPr>
          <p:cNvPr id="96" name="Titre 1"/>
          <p:cNvSpPr txBox="1">
            <a:spLocks/>
          </p:cNvSpPr>
          <p:nvPr/>
        </p:nvSpPr>
        <p:spPr>
          <a:xfrm>
            <a:off x="7182390" y="808277"/>
            <a:ext cx="560942" cy="3850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Age </a:t>
            </a:r>
            <a:endParaRPr lang="fr-FR" sz="1400" dirty="0"/>
          </a:p>
        </p:txBody>
      </p:sp>
      <p:sp>
        <p:nvSpPr>
          <p:cNvPr id="97" name="Rectangle 96"/>
          <p:cNvSpPr/>
          <p:nvPr/>
        </p:nvSpPr>
        <p:spPr>
          <a:xfrm>
            <a:off x="3152059" y="846896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8" name="Rectangle 97"/>
          <p:cNvSpPr/>
          <p:nvPr/>
        </p:nvSpPr>
        <p:spPr>
          <a:xfrm>
            <a:off x="5326245" y="802172"/>
            <a:ext cx="1641189" cy="35303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9" name="Rectangle 98"/>
          <p:cNvSpPr/>
          <p:nvPr/>
        </p:nvSpPr>
        <p:spPr>
          <a:xfrm>
            <a:off x="7736488" y="853524"/>
            <a:ext cx="7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0" name="Rectangle 99"/>
          <p:cNvSpPr/>
          <p:nvPr/>
        </p:nvSpPr>
        <p:spPr>
          <a:xfrm>
            <a:off x="1914070" y="743010"/>
            <a:ext cx="9828000" cy="46431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7" name="Rectangle 126"/>
          <p:cNvSpPr/>
          <p:nvPr/>
        </p:nvSpPr>
        <p:spPr>
          <a:xfrm>
            <a:off x="1914071" y="1262507"/>
            <a:ext cx="9828000" cy="1368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8" name="Titre 1"/>
          <p:cNvSpPr txBox="1">
            <a:spLocks/>
          </p:cNvSpPr>
          <p:nvPr/>
        </p:nvSpPr>
        <p:spPr>
          <a:xfrm>
            <a:off x="3345444" y="872648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02095</a:t>
            </a:r>
            <a:endParaRPr lang="fr-FR" sz="1400" dirty="0"/>
          </a:p>
        </p:txBody>
      </p:sp>
      <p:sp>
        <p:nvSpPr>
          <p:cNvPr id="139" name="Rectangle 138"/>
          <p:cNvSpPr/>
          <p:nvPr/>
        </p:nvSpPr>
        <p:spPr>
          <a:xfrm>
            <a:off x="5434893" y="856230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Amara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0" name="Rectangle 139"/>
          <p:cNvSpPr/>
          <p:nvPr/>
        </p:nvSpPr>
        <p:spPr>
          <a:xfrm>
            <a:off x="6099371" y="862271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amine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1" name="Rectangle 140"/>
          <p:cNvSpPr/>
          <p:nvPr/>
        </p:nvSpPr>
        <p:spPr>
          <a:xfrm>
            <a:off x="7785158" y="881096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43 ans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64" name="Titre 1"/>
          <p:cNvSpPr txBox="1">
            <a:spLocks/>
          </p:cNvSpPr>
          <p:nvPr/>
        </p:nvSpPr>
        <p:spPr>
          <a:xfrm>
            <a:off x="273503" y="649433"/>
            <a:ext cx="1080000" cy="4404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>
                <a:latin typeface="+mn-lt"/>
                <a:ea typeface="+mn-ea"/>
                <a:cs typeface="+mn-cs"/>
              </a:rPr>
              <a:t>Patient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2825" y="1254980"/>
            <a:ext cx="157286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600" b="1" u="sng" dirty="0"/>
              <a:t>Examen clinique</a:t>
            </a:r>
          </a:p>
        </p:txBody>
      </p:sp>
      <p:sp>
        <p:nvSpPr>
          <p:cNvPr id="82" name="Titre 1"/>
          <p:cNvSpPr txBox="1">
            <a:spLocks/>
          </p:cNvSpPr>
          <p:nvPr/>
        </p:nvSpPr>
        <p:spPr>
          <a:xfrm>
            <a:off x="2119421" y="1677468"/>
            <a:ext cx="72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Type</a:t>
            </a:r>
            <a:endParaRPr lang="fr-FR" sz="1400" dirty="0"/>
          </a:p>
        </p:txBody>
      </p:sp>
      <p:sp>
        <p:nvSpPr>
          <p:cNvPr id="114" name="Rectangle 113"/>
          <p:cNvSpPr/>
          <p:nvPr/>
        </p:nvSpPr>
        <p:spPr>
          <a:xfrm>
            <a:off x="2836804" y="1713118"/>
            <a:ext cx="180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7" name="Titre 1"/>
          <p:cNvSpPr txBox="1">
            <a:spLocks/>
          </p:cNvSpPr>
          <p:nvPr/>
        </p:nvSpPr>
        <p:spPr>
          <a:xfrm>
            <a:off x="2132339" y="1294945"/>
            <a:ext cx="720000" cy="3837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</a:t>
            </a:r>
            <a:endParaRPr lang="fr-FR" sz="1400" dirty="0"/>
          </a:p>
        </p:txBody>
      </p:sp>
      <p:sp>
        <p:nvSpPr>
          <p:cNvPr id="118" name="Triangle isocèle 117"/>
          <p:cNvSpPr/>
          <p:nvPr/>
        </p:nvSpPr>
        <p:spPr>
          <a:xfrm rot="10800000">
            <a:off x="4434128" y="1727596"/>
            <a:ext cx="180000" cy="252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2" name="Rectangle 121"/>
          <p:cNvSpPr/>
          <p:nvPr/>
        </p:nvSpPr>
        <p:spPr>
          <a:xfrm>
            <a:off x="2096032" y="2187232"/>
            <a:ext cx="720000" cy="3228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Motif</a:t>
            </a:r>
            <a:endParaRPr lang="fr-FR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8" name="Rectangle 127"/>
          <p:cNvSpPr/>
          <p:nvPr/>
        </p:nvSpPr>
        <p:spPr>
          <a:xfrm>
            <a:off x="2817753" y="2067961"/>
            <a:ext cx="5710735" cy="504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8" name="Rectangle 147"/>
          <p:cNvSpPr/>
          <p:nvPr/>
        </p:nvSpPr>
        <p:spPr>
          <a:xfrm>
            <a:off x="2842138" y="1334104"/>
            <a:ext cx="180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4" name="Titre 1"/>
          <p:cNvSpPr txBox="1">
            <a:spLocks/>
          </p:cNvSpPr>
          <p:nvPr/>
        </p:nvSpPr>
        <p:spPr>
          <a:xfrm>
            <a:off x="5355022" y="1323987"/>
            <a:ext cx="1029803" cy="36264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Médecin</a:t>
            </a:r>
            <a:endParaRPr lang="fr-FR" sz="1400" dirty="0"/>
          </a:p>
        </p:txBody>
      </p:sp>
      <p:sp>
        <p:nvSpPr>
          <p:cNvPr id="55" name="Rectangle 54"/>
          <p:cNvSpPr/>
          <p:nvPr/>
        </p:nvSpPr>
        <p:spPr>
          <a:xfrm>
            <a:off x="6371722" y="1352392"/>
            <a:ext cx="180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6" name="Triangle isocèle 55"/>
          <p:cNvSpPr/>
          <p:nvPr/>
        </p:nvSpPr>
        <p:spPr>
          <a:xfrm rot="10800000">
            <a:off x="7988096" y="1366870"/>
            <a:ext cx="180000" cy="252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7" name="Titre 1"/>
          <p:cNvSpPr txBox="1">
            <a:spLocks/>
          </p:cNvSpPr>
          <p:nvPr/>
        </p:nvSpPr>
        <p:spPr>
          <a:xfrm>
            <a:off x="4723622" y="1630667"/>
            <a:ext cx="4023137" cy="4114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b="1" dirty="0" smtClean="0"/>
              <a:t>Type : </a:t>
            </a:r>
            <a:r>
              <a:rPr lang="fr-FR" sz="1400" dirty="0" smtClean="0"/>
              <a:t>Consultation, Hospitalisation, Prise en charge </a:t>
            </a:r>
            <a:endParaRPr lang="fr-FR" sz="1400" b="1" dirty="0"/>
          </a:p>
        </p:txBody>
      </p:sp>
      <p:sp>
        <p:nvSpPr>
          <p:cNvPr id="58" name="Rectangle 57"/>
          <p:cNvSpPr/>
          <p:nvPr/>
        </p:nvSpPr>
        <p:spPr>
          <a:xfrm>
            <a:off x="283416" y="2689575"/>
            <a:ext cx="72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HDM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137757" y="2696203"/>
            <a:ext cx="828000" cy="360000"/>
          </a:xfrm>
          <a:prstGeom prst="rect">
            <a:avLst/>
          </a:prstGeom>
          <a:solidFill>
            <a:srgbClr val="92D05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Général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090940" y="2685939"/>
            <a:ext cx="162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Cervico-céphalique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822984" y="2691808"/>
            <a:ext cx="72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Thorax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681339" y="2696203"/>
            <a:ext cx="97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Abdomen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776000" y="2686505"/>
            <a:ext cx="79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Pelvien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680855" y="2692404"/>
            <a:ext cx="97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Vasculaire</a:t>
            </a:r>
            <a:endParaRPr lang="fr-FR" sz="1400" dirty="0"/>
          </a:p>
        </p:txBody>
      </p:sp>
      <p:sp>
        <p:nvSpPr>
          <p:cNvPr id="67" name="Rectangle 66"/>
          <p:cNvSpPr/>
          <p:nvPr/>
        </p:nvSpPr>
        <p:spPr>
          <a:xfrm>
            <a:off x="7769911" y="2685394"/>
            <a:ext cx="126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Neurologique</a:t>
            </a:r>
            <a:endParaRPr lang="fr-FR" sz="1400" dirty="0"/>
          </a:p>
        </p:txBody>
      </p:sp>
      <p:sp>
        <p:nvSpPr>
          <p:cNvPr id="71" name="Rectangle 70"/>
          <p:cNvSpPr/>
          <p:nvPr/>
        </p:nvSpPr>
        <p:spPr>
          <a:xfrm>
            <a:off x="9149668" y="2685318"/>
            <a:ext cx="1476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Osteo-articulaire</a:t>
            </a:r>
            <a:endParaRPr lang="fr-FR" sz="1400" dirty="0"/>
          </a:p>
        </p:txBody>
      </p:sp>
      <p:sp>
        <p:nvSpPr>
          <p:cNvPr id="72" name="Rectangle 71"/>
          <p:cNvSpPr/>
          <p:nvPr/>
        </p:nvSpPr>
        <p:spPr>
          <a:xfrm>
            <a:off x="10731355" y="2685394"/>
            <a:ext cx="126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Conclusion</a:t>
            </a:r>
          </a:p>
        </p:txBody>
      </p:sp>
      <p:sp>
        <p:nvSpPr>
          <p:cNvPr id="2" name="Rectangle 1"/>
          <p:cNvSpPr/>
          <p:nvPr/>
        </p:nvSpPr>
        <p:spPr>
          <a:xfrm>
            <a:off x="357439" y="3232322"/>
            <a:ext cx="126000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fr-FR" sz="14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Etat de patient</a:t>
            </a:r>
            <a:endParaRPr lang="fr-FR" sz="1400" dirty="0"/>
          </a:p>
        </p:txBody>
      </p:sp>
      <p:sp>
        <p:nvSpPr>
          <p:cNvPr id="3" name="Rectangle 2"/>
          <p:cNvSpPr/>
          <p:nvPr/>
        </p:nvSpPr>
        <p:spPr>
          <a:xfrm>
            <a:off x="6695067" y="3190790"/>
            <a:ext cx="560153" cy="3228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Taille</a:t>
            </a:r>
            <a:endParaRPr lang="fr-FR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9327878" y="3187286"/>
            <a:ext cx="479618" cy="3228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IMC</a:t>
            </a:r>
            <a:endParaRPr lang="fr-FR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4117147" y="3197728"/>
            <a:ext cx="612000" cy="3228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lnSpc>
                <a:spcPct val="107000"/>
              </a:lnSpc>
              <a:spcAft>
                <a:spcPts val="800"/>
              </a:spcAft>
            </a:pPr>
            <a:r>
              <a:rPr lang="fr-FR" sz="14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Poids</a:t>
            </a:r>
            <a:endParaRPr lang="fr-FR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5844961" y="3211584"/>
            <a:ext cx="362600" cy="3228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</a:t>
            </a:r>
            <a:r>
              <a:rPr lang="fr-FR" sz="14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</a:t>
            </a:r>
            <a:endParaRPr lang="fr-FR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8340639" y="3200166"/>
            <a:ext cx="402674" cy="3228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cm</a:t>
            </a:r>
            <a:endParaRPr lang="fr-FR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10897977" y="3193995"/>
            <a:ext cx="630301" cy="3228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kg/m²</a:t>
            </a:r>
            <a:endParaRPr lang="fr-FR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371562" y="3581474"/>
            <a:ext cx="36000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fr-FR" sz="1400" dirty="0"/>
              <a:t>TA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8710" y="3576758"/>
            <a:ext cx="70724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mm Hg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625840" y="3206024"/>
            <a:ext cx="180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69" name="Triangle isocèle 68"/>
          <p:cNvSpPr/>
          <p:nvPr/>
        </p:nvSpPr>
        <p:spPr>
          <a:xfrm rot="10800000">
            <a:off x="3234333" y="3222686"/>
            <a:ext cx="180000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70" name="Rectangle 69"/>
          <p:cNvSpPr/>
          <p:nvPr/>
        </p:nvSpPr>
        <p:spPr>
          <a:xfrm>
            <a:off x="4731008" y="3197133"/>
            <a:ext cx="1107733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73" name="Rectangle 72"/>
          <p:cNvSpPr/>
          <p:nvPr/>
        </p:nvSpPr>
        <p:spPr>
          <a:xfrm>
            <a:off x="7263584" y="3199242"/>
            <a:ext cx="1107733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74" name="Rectangle 73"/>
          <p:cNvSpPr/>
          <p:nvPr/>
        </p:nvSpPr>
        <p:spPr>
          <a:xfrm>
            <a:off x="9774104" y="3193995"/>
            <a:ext cx="1107733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75" name="Rectangle 74"/>
          <p:cNvSpPr/>
          <p:nvPr/>
        </p:nvSpPr>
        <p:spPr>
          <a:xfrm>
            <a:off x="4724454" y="3586196"/>
            <a:ext cx="1107733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7" name="Rectangle 6"/>
          <p:cNvSpPr/>
          <p:nvPr/>
        </p:nvSpPr>
        <p:spPr>
          <a:xfrm>
            <a:off x="6768082" y="3568653"/>
            <a:ext cx="36099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FC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263584" y="3578094"/>
            <a:ext cx="1107733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8" name="Rectangle 7"/>
          <p:cNvSpPr/>
          <p:nvPr/>
        </p:nvSpPr>
        <p:spPr>
          <a:xfrm>
            <a:off x="8338234" y="3567619"/>
            <a:ext cx="864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batt</a:t>
            </a:r>
            <a:r>
              <a:rPr lang="fr-FR" sz="1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/min</a:t>
            </a:r>
          </a:p>
        </p:txBody>
      </p:sp>
      <p:sp>
        <p:nvSpPr>
          <p:cNvPr id="77" name="Rectangle 76"/>
          <p:cNvSpPr/>
          <p:nvPr/>
        </p:nvSpPr>
        <p:spPr>
          <a:xfrm>
            <a:off x="9774104" y="3579018"/>
            <a:ext cx="1107733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9" name="Rectangle 8"/>
          <p:cNvSpPr/>
          <p:nvPr/>
        </p:nvSpPr>
        <p:spPr>
          <a:xfrm>
            <a:off x="9323219" y="3567886"/>
            <a:ext cx="46800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</a:t>
            </a:r>
            <a:endParaRPr lang="fr-FR" sz="1400" dirty="0"/>
          </a:p>
        </p:txBody>
      </p:sp>
      <p:sp>
        <p:nvSpPr>
          <p:cNvPr id="10" name="Rectangle 9"/>
          <p:cNvSpPr/>
          <p:nvPr/>
        </p:nvSpPr>
        <p:spPr>
          <a:xfrm>
            <a:off x="10882438" y="3571699"/>
            <a:ext cx="964623" cy="3228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cycles/min</a:t>
            </a:r>
            <a:endParaRPr lang="fr-FR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661933" y="3971945"/>
            <a:ext cx="108000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fr-FR" sz="1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Température</a:t>
            </a:r>
            <a:endParaRPr lang="fr-FR" sz="1400" dirty="0"/>
          </a:p>
        </p:txBody>
      </p:sp>
      <p:sp>
        <p:nvSpPr>
          <p:cNvPr id="78" name="Rectangle 77"/>
          <p:cNvSpPr/>
          <p:nvPr/>
        </p:nvSpPr>
        <p:spPr>
          <a:xfrm>
            <a:off x="4753315" y="3950382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79" name="Rectangle 78"/>
          <p:cNvSpPr/>
          <p:nvPr/>
        </p:nvSpPr>
        <p:spPr>
          <a:xfrm>
            <a:off x="7639339" y="3932036"/>
            <a:ext cx="870024" cy="3228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/>
              <a:t>Apyrexie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0" name="Ellipse 79"/>
          <p:cNvSpPr/>
          <p:nvPr/>
        </p:nvSpPr>
        <p:spPr>
          <a:xfrm>
            <a:off x="7511884" y="4007272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3" name="Rectangle 12"/>
          <p:cNvSpPr/>
          <p:nvPr/>
        </p:nvSpPr>
        <p:spPr>
          <a:xfrm>
            <a:off x="5859956" y="3959066"/>
            <a:ext cx="34176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°C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952639" y="3956420"/>
            <a:ext cx="1247425" cy="3228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/>
              <a:t>Hyperthermie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9" name="Ellipse 88"/>
          <p:cNvSpPr/>
          <p:nvPr/>
        </p:nvSpPr>
        <p:spPr>
          <a:xfrm>
            <a:off x="8806897" y="4013368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90" name="Rectangle 89"/>
          <p:cNvSpPr/>
          <p:nvPr/>
        </p:nvSpPr>
        <p:spPr>
          <a:xfrm>
            <a:off x="10605685" y="3944717"/>
            <a:ext cx="1247425" cy="3228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/>
              <a:t>Réinitialiser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1" name="Ellipse 90"/>
          <p:cNvSpPr/>
          <p:nvPr/>
        </p:nvSpPr>
        <p:spPr>
          <a:xfrm>
            <a:off x="10425685" y="4001176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4" name="Rectangle 13"/>
          <p:cNvSpPr/>
          <p:nvPr/>
        </p:nvSpPr>
        <p:spPr>
          <a:xfrm>
            <a:off x="326190" y="4456369"/>
            <a:ext cx="2268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fr-FR" sz="1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Coloration des </a:t>
            </a:r>
            <a:r>
              <a:rPr lang="fr-FR" sz="14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conjonctives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258407" y="4444190"/>
            <a:ext cx="1011367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fr-FR" sz="1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Respiration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15190" y="4444590"/>
            <a:ext cx="1548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1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Etat </a:t>
            </a:r>
            <a:r>
              <a:rPr lang="fr-FR" sz="14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d'hydratation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1" name="Rectangle 100"/>
          <p:cNvSpPr/>
          <p:nvPr/>
        </p:nvSpPr>
        <p:spPr>
          <a:xfrm>
            <a:off x="276305" y="3102035"/>
            <a:ext cx="11700000" cy="3672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" name="Rectangle 5"/>
          <p:cNvSpPr/>
          <p:nvPr/>
        </p:nvSpPr>
        <p:spPr>
          <a:xfrm>
            <a:off x="298413" y="5598276"/>
            <a:ext cx="208518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fr-FR" sz="1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Examen cutanéomuqueux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2394329" y="5526127"/>
            <a:ext cx="6170535" cy="435627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107" name="Titre 1"/>
          <p:cNvSpPr txBox="1">
            <a:spLocks/>
          </p:cNvSpPr>
          <p:nvPr/>
        </p:nvSpPr>
        <p:spPr>
          <a:xfrm>
            <a:off x="2480955" y="6080417"/>
            <a:ext cx="1080000" cy="288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</a:t>
            </a:r>
            <a:endParaRPr lang="fr-FR" sz="1400" dirty="0"/>
          </a:p>
        </p:txBody>
      </p:sp>
      <p:sp>
        <p:nvSpPr>
          <p:cNvPr id="108" name="Titre 1"/>
          <p:cNvSpPr txBox="1">
            <a:spLocks/>
          </p:cNvSpPr>
          <p:nvPr/>
        </p:nvSpPr>
        <p:spPr>
          <a:xfrm>
            <a:off x="3671438" y="6063669"/>
            <a:ext cx="1080000" cy="288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/>
              <a:t>Poids (Kg</a:t>
            </a:r>
            <a:r>
              <a:rPr lang="fr-FR" sz="1400" dirty="0" smtClean="0"/>
              <a:t>)</a:t>
            </a:r>
            <a:endParaRPr lang="fr-FR" sz="1400" dirty="0"/>
          </a:p>
        </p:txBody>
      </p:sp>
      <p:sp>
        <p:nvSpPr>
          <p:cNvPr id="109" name="Titre 1"/>
          <p:cNvSpPr txBox="1">
            <a:spLocks/>
          </p:cNvSpPr>
          <p:nvPr/>
        </p:nvSpPr>
        <p:spPr>
          <a:xfrm>
            <a:off x="4851635" y="6077779"/>
            <a:ext cx="1080000" cy="288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/>
              <a:t>Taille (cm</a:t>
            </a:r>
            <a:r>
              <a:rPr lang="fr-FR" sz="1400" dirty="0" smtClean="0"/>
              <a:t>)</a:t>
            </a:r>
            <a:endParaRPr lang="fr-FR" sz="1400" dirty="0"/>
          </a:p>
        </p:txBody>
      </p:sp>
      <p:sp>
        <p:nvSpPr>
          <p:cNvPr id="110" name="Titre 1"/>
          <p:cNvSpPr txBox="1">
            <a:spLocks/>
          </p:cNvSpPr>
          <p:nvPr/>
        </p:nvSpPr>
        <p:spPr>
          <a:xfrm>
            <a:off x="5995444" y="6072316"/>
            <a:ext cx="1440000" cy="288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fr-FR"/>
            </a:defPPr>
            <a:lvl1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 sz="1400"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dirty="0"/>
              <a:t>Température (°C</a:t>
            </a:r>
            <a:r>
              <a:rPr lang="fr-FR" dirty="0" smtClean="0"/>
              <a:t>)</a:t>
            </a:r>
            <a:endParaRPr lang="fr-FR" dirty="0"/>
          </a:p>
        </p:txBody>
      </p:sp>
      <p:sp>
        <p:nvSpPr>
          <p:cNvPr id="112" name="Titre 1"/>
          <p:cNvSpPr txBox="1">
            <a:spLocks/>
          </p:cNvSpPr>
          <p:nvPr/>
        </p:nvSpPr>
        <p:spPr>
          <a:xfrm>
            <a:off x="7470456" y="6064776"/>
            <a:ext cx="1080000" cy="288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fr-FR"/>
            </a:defPPr>
            <a:lvl1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 sz="1400"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dirty="0"/>
              <a:t>IMC (kg/m²)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2408865" y="6030839"/>
            <a:ext cx="6156000" cy="684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115" name="Connecteur droit 114"/>
          <p:cNvCxnSpPr/>
          <p:nvPr/>
        </p:nvCxnSpPr>
        <p:spPr>
          <a:xfrm>
            <a:off x="5981629" y="6050309"/>
            <a:ext cx="0" cy="684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6" name="Connecteur droit 115"/>
          <p:cNvCxnSpPr/>
          <p:nvPr/>
        </p:nvCxnSpPr>
        <p:spPr>
          <a:xfrm>
            <a:off x="3633860" y="6021852"/>
            <a:ext cx="0" cy="684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0" name="Connecteur droit 119"/>
          <p:cNvCxnSpPr/>
          <p:nvPr/>
        </p:nvCxnSpPr>
        <p:spPr>
          <a:xfrm>
            <a:off x="4780197" y="6028691"/>
            <a:ext cx="0" cy="684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1" name="Connecteur droit 120"/>
          <p:cNvCxnSpPr/>
          <p:nvPr/>
        </p:nvCxnSpPr>
        <p:spPr>
          <a:xfrm>
            <a:off x="7445224" y="6026417"/>
            <a:ext cx="0" cy="684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8" name="Connecteur droit 17"/>
          <p:cNvCxnSpPr>
            <a:stCxn id="113" idx="3"/>
            <a:endCxn id="113" idx="1"/>
          </p:cNvCxnSpPr>
          <p:nvPr/>
        </p:nvCxnSpPr>
        <p:spPr>
          <a:xfrm flipH="1">
            <a:off x="2408865" y="6372839"/>
            <a:ext cx="6156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9" name="Rectangle 118"/>
          <p:cNvSpPr/>
          <p:nvPr/>
        </p:nvSpPr>
        <p:spPr>
          <a:xfrm>
            <a:off x="8669303" y="6357162"/>
            <a:ext cx="1080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Valider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405097" y="4351291"/>
            <a:ext cx="11520000" cy="1116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19" name="Connecteur droit 18"/>
          <p:cNvCxnSpPr/>
          <p:nvPr/>
        </p:nvCxnSpPr>
        <p:spPr>
          <a:xfrm flipH="1">
            <a:off x="4124942" y="4369418"/>
            <a:ext cx="0" cy="1097873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3" name="Connecteur droit 122"/>
          <p:cNvCxnSpPr/>
          <p:nvPr/>
        </p:nvCxnSpPr>
        <p:spPr>
          <a:xfrm flipH="1">
            <a:off x="7587221" y="4380149"/>
            <a:ext cx="0" cy="1097873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4" name="Ellipse 123"/>
          <p:cNvSpPr/>
          <p:nvPr/>
        </p:nvSpPr>
        <p:spPr>
          <a:xfrm>
            <a:off x="2662971" y="4481442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25" name="Ellipse 124"/>
          <p:cNvSpPr/>
          <p:nvPr/>
        </p:nvSpPr>
        <p:spPr>
          <a:xfrm>
            <a:off x="2665119" y="4724198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26" name="Ellipse 125"/>
          <p:cNvSpPr/>
          <p:nvPr/>
        </p:nvSpPr>
        <p:spPr>
          <a:xfrm>
            <a:off x="2662971" y="4953872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29" name="Ellipse 128"/>
          <p:cNvSpPr/>
          <p:nvPr/>
        </p:nvSpPr>
        <p:spPr>
          <a:xfrm>
            <a:off x="2662971" y="5195023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30" name="Ellipse 129"/>
          <p:cNvSpPr/>
          <p:nvPr/>
        </p:nvSpPr>
        <p:spPr>
          <a:xfrm>
            <a:off x="5571451" y="4466415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31" name="Ellipse 130"/>
          <p:cNvSpPr/>
          <p:nvPr/>
        </p:nvSpPr>
        <p:spPr>
          <a:xfrm>
            <a:off x="5573599" y="4709171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32" name="Ellipse 131"/>
          <p:cNvSpPr/>
          <p:nvPr/>
        </p:nvSpPr>
        <p:spPr>
          <a:xfrm>
            <a:off x="5571451" y="4951724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33" name="Ellipse 132"/>
          <p:cNvSpPr/>
          <p:nvPr/>
        </p:nvSpPr>
        <p:spPr>
          <a:xfrm>
            <a:off x="5571451" y="5179996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34" name="Ellipse 133"/>
          <p:cNvSpPr/>
          <p:nvPr/>
        </p:nvSpPr>
        <p:spPr>
          <a:xfrm>
            <a:off x="9216179" y="4453536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35" name="Ellipse 134"/>
          <p:cNvSpPr/>
          <p:nvPr/>
        </p:nvSpPr>
        <p:spPr>
          <a:xfrm>
            <a:off x="9218327" y="4696292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36" name="Ellipse 135"/>
          <p:cNvSpPr/>
          <p:nvPr/>
        </p:nvSpPr>
        <p:spPr>
          <a:xfrm>
            <a:off x="9216179" y="4938845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37" name="Ellipse 136"/>
          <p:cNvSpPr/>
          <p:nvPr/>
        </p:nvSpPr>
        <p:spPr>
          <a:xfrm>
            <a:off x="9216179" y="5167117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20" name="Rectangle 19"/>
          <p:cNvSpPr/>
          <p:nvPr/>
        </p:nvSpPr>
        <p:spPr>
          <a:xfrm>
            <a:off x="2919461" y="4451023"/>
            <a:ext cx="130499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Normale</a:t>
            </a:r>
          </a:p>
          <a:p>
            <a:r>
              <a:rPr lang="fr-FR" sz="1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Pâleur</a:t>
            </a:r>
          </a:p>
          <a:p>
            <a:r>
              <a:rPr lang="fr-FR" sz="1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Ictère</a:t>
            </a:r>
          </a:p>
          <a:p>
            <a:r>
              <a:rPr lang="fr-FR" sz="14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Réinitialiser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803154" y="4426487"/>
            <a:ext cx="1685787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Normale</a:t>
            </a:r>
          </a:p>
          <a:p>
            <a:r>
              <a:rPr lang="fr-FR" sz="1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Patient eupnéique</a:t>
            </a:r>
          </a:p>
          <a:p>
            <a:r>
              <a:rPr lang="fr-FR" sz="1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Patient dyspnétique</a:t>
            </a:r>
          </a:p>
          <a:p>
            <a:r>
              <a:rPr lang="fr-FR" sz="1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Réinitialiser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474757" y="4422337"/>
            <a:ext cx="1176072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Normal</a:t>
            </a:r>
          </a:p>
          <a:p>
            <a:r>
              <a:rPr lang="fr-FR" sz="1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Déshydraté</a:t>
            </a:r>
          </a:p>
          <a:p>
            <a:r>
              <a:rPr lang="fr-FR" sz="1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Oedèmes</a:t>
            </a:r>
          </a:p>
          <a:p>
            <a:r>
              <a:rPr lang="fr-FR" sz="1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Réinitialiser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390070" y="3151407"/>
            <a:ext cx="11520000" cy="1152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143" name="Connecteur droit 142"/>
          <p:cNvCxnSpPr/>
          <p:nvPr/>
        </p:nvCxnSpPr>
        <p:spPr>
          <a:xfrm flipH="1">
            <a:off x="3633403" y="3195287"/>
            <a:ext cx="0" cy="1097873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4" name="Connecteur droit 23"/>
          <p:cNvCxnSpPr/>
          <p:nvPr/>
        </p:nvCxnSpPr>
        <p:spPr>
          <a:xfrm>
            <a:off x="3646281" y="3918959"/>
            <a:ext cx="8244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44" name="Connecteur droit 143"/>
          <p:cNvCxnSpPr/>
          <p:nvPr/>
        </p:nvCxnSpPr>
        <p:spPr>
          <a:xfrm>
            <a:off x="3644133" y="3530447"/>
            <a:ext cx="8244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38016368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itre 1"/>
          <p:cNvSpPr txBox="1">
            <a:spLocks/>
          </p:cNvSpPr>
          <p:nvPr/>
        </p:nvSpPr>
        <p:spPr>
          <a:xfrm>
            <a:off x="3152059" y="59579"/>
            <a:ext cx="5989991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32 – Observations médicales – 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Examens cliniques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/ 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Cervico-céphalique</a:t>
            </a:r>
            <a:endParaRPr lang="fr-FR" altLang="fr-FR" sz="1800" b="1" dirty="0">
              <a:solidFill>
                <a:srgbClr val="000000"/>
              </a:solidFill>
              <a:latin typeface="Times New Roman" panose="02020603050405020304" pitchFamily="18" charset="0"/>
              <a:ea typeface="Microsoft YaHei" panose="020B0503020204020204" pitchFamily="34" charset="-122"/>
            </a:endParaRPr>
          </a:p>
        </p:txBody>
      </p:sp>
      <p:sp>
        <p:nvSpPr>
          <p:cNvPr id="84" name="Rectangle 83"/>
          <p:cNvSpPr/>
          <p:nvPr/>
        </p:nvSpPr>
        <p:spPr>
          <a:xfrm>
            <a:off x="209108" y="639127"/>
            <a:ext cx="11880000" cy="6192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5" name="Rectangle 84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6" name="Rectangle 85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7" name="ZoneTexte 86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88" name="Rectangle 87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94" name="Titre 1"/>
          <p:cNvSpPr txBox="1">
            <a:spLocks/>
          </p:cNvSpPr>
          <p:nvPr/>
        </p:nvSpPr>
        <p:spPr>
          <a:xfrm>
            <a:off x="1964661" y="801870"/>
            <a:ext cx="1026946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dossier</a:t>
            </a:r>
            <a:endParaRPr lang="fr-FR" sz="1400" dirty="0"/>
          </a:p>
        </p:txBody>
      </p:sp>
      <p:sp>
        <p:nvSpPr>
          <p:cNvPr id="95" name="Titre 1"/>
          <p:cNvSpPr txBox="1">
            <a:spLocks/>
          </p:cNvSpPr>
          <p:nvPr/>
        </p:nvSpPr>
        <p:spPr>
          <a:xfrm>
            <a:off x="4355023" y="788765"/>
            <a:ext cx="9591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Patient </a:t>
            </a:r>
            <a:endParaRPr lang="fr-FR" sz="1400" dirty="0"/>
          </a:p>
        </p:txBody>
      </p:sp>
      <p:sp>
        <p:nvSpPr>
          <p:cNvPr id="96" name="Titre 1"/>
          <p:cNvSpPr txBox="1">
            <a:spLocks/>
          </p:cNvSpPr>
          <p:nvPr/>
        </p:nvSpPr>
        <p:spPr>
          <a:xfrm>
            <a:off x="7182390" y="808277"/>
            <a:ext cx="560942" cy="3850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Age </a:t>
            </a:r>
            <a:endParaRPr lang="fr-FR" sz="1400" dirty="0"/>
          </a:p>
        </p:txBody>
      </p:sp>
      <p:sp>
        <p:nvSpPr>
          <p:cNvPr id="97" name="Rectangle 96"/>
          <p:cNvSpPr/>
          <p:nvPr/>
        </p:nvSpPr>
        <p:spPr>
          <a:xfrm>
            <a:off x="3152059" y="846896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8" name="Rectangle 97"/>
          <p:cNvSpPr/>
          <p:nvPr/>
        </p:nvSpPr>
        <p:spPr>
          <a:xfrm>
            <a:off x="5326245" y="802172"/>
            <a:ext cx="1641189" cy="35303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9" name="Rectangle 98"/>
          <p:cNvSpPr/>
          <p:nvPr/>
        </p:nvSpPr>
        <p:spPr>
          <a:xfrm>
            <a:off x="7736488" y="853524"/>
            <a:ext cx="7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0" name="Rectangle 99"/>
          <p:cNvSpPr/>
          <p:nvPr/>
        </p:nvSpPr>
        <p:spPr>
          <a:xfrm>
            <a:off x="1914070" y="743010"/>
            <a:ext cx="9828000" cy="46431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7" name="Rectangle 126"/>
          <p:cNvSpPr/>
          <p:nvPr/>
        </p:nvSpPr>
        <p:spPr>
          <a:xfrm>
            <a:off x="1914071" y="1262507"/>
            <a:ext cx="9828000" cy="1368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8" name="Titre 1"/>
          <p:cNvSpPr txBox="1">
            <a:spLocks/>
          </p:cNvSpPr>
          <p:nvPr/>
        </p:nvSpPr>
        <p:spPr>
          <a:xfrm>
            <a:off x="3345444" y="872648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02095</a:t>
            </a:r>
            <a:endParaRPr lang="fr-FR" sz="1400" dirty="0"/>
          </a:p>
        </p:txBody>
      </p:sp>
      <p:sp>
        <p:nvSpPr>
          <p:cNvPr id="139" name="Rectangle 138"/>
          <p:cNvSpPr/>
          <p:nvPr/>
        </p:nvSpPr>
        <p:spPr>
          <a:xfrm>
            <a:off x="5434893" y="856230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Amara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0" name="Rectangle 139"/>
          <p:cNvSpPr/>
          <p:nvPr/>
        </p:nvSpPr>
        <p:spPr>
          <a:xfrm>
            <a:off x="6099371" y="862271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amine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1" name="Rectangle 140"/>
          <p:cNvSpPr/>
          <p:nvPr/>
        </p:nvSpPr>
        <p:spPr>
          <a:xfrm>
            <a:off x="7785158" y="881096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43 ans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64" name="Titre 1"/>
          <p:cNvSpPr txBox="1">
            <a:spLocks/>
          </p:cNvSpPr>
          <p:nvPr/>
        </p:nvSpPr>
        <p:spPr>
          <a:xfrm>
            <a:off x="273503" y="649433"/>
            <a:ext cx="1080000" cy="4404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>
                <a:latin typeface="+mn-lt"/>
                <a:ea typeface="+mn-ea"/>
                <a:cs typeface="+mn-cs"/>
              </a:rPr>
              <a:t>Patient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2825" y="1254980"/>
            <a:ext cx="157286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600" b="1" u="sng" dirty="0"/>
              <a:t>Examen clinique</a:t>
            </a:r>
          </a:p>
        </p:txBody>
      </p:sp>
      <p:sp>
        <p:nvSpPr>
          <p:cNvPr id="82" name="Titre 1"/>
          <p:cNvSpPr txBox="1">
            <a:spLocks/>
          </p:cNvSpPr>
          <p:nvPr/>
        </p:nvSpPr>
        <p:spPr>
          <a:xfrm>
            <a:off x="2119421" y="1677468"/>
            <a:ext cx="72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Type</a:t>
            </a:r>
            <a:endParaRPr lang="fr-FR" sz="1400" dirty="0"/>
          </a:p>
        </p:txBody>
      </p:sp>
      <p:sp>
        <p:nvSpPr>
          <p:cNvPr id="114" name="Rectangle 113"/>
          <p:cNvSpPr/>
          <p:nvPr/>
        </p:nvSpPr>
        <p:spPr>
          <a:xfrm>
            <a:off x="2836804" y="1713118"/>
            <a:ext cx="180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7" name="Titre 1"/>
          <p:cNvSpPr txBox="1">
            <a:spLocks/>
          </p:cNvSpPr>
          <p:nvPr/>
        </p:nvSpPr>
        <p:spPr>
          <a:xfrm>
            <a:off x="2132339" y="1294945"/>
            <a:ext cx="720000" cy="3837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</a:t>
            </a:r>
            <a:endParaRPr lang="fr-FR" sz="1400" dirty="0"/>
          </a:p>
        </p:txBody>
      </p:sp>
      <p:sp>
        <p:nvSpPr>
          <p:cNvPr id="118" name="Triangle isocèle 117"/>
          <p:cNvSpPr/>
          <p:nvPr/>
        </p:nvSpPr>
        <p:spPr>
          <a:xfrm rot="10800000">
            <a:off x="4434128" y="1727596"/>
            <a:ext cx="180000" cy="252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2" name="Rectangle 121"/>
          <p:cNvSpPr/>
          <p:nvPr/>
        </p:nvSpPr>
        <p:spPr>
          <a:xfrm>
            <a:off x="2096032" y="2187232"/>
            <a:ext cx="720000" cy="3228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Motif</a:t>
            </a:r>
            <a:endParaRPr lang="fr-FR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8" name="Rectangle 127"/>
          <p:cNvSpPr/>
          <p:nvPr/>
        </p:nvSpPr>
        <p:spPr>
          <a:xfrm>
            <a:off x="2817753" y="2067961"/>
            <a:ext cx="5710735" cy="504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8" name="Rectangle 147"/>
          <p:cNvSpPr/>
          <p:nvPr/>
        </p:nvSpPr>
        <p:spPr>
          <a:xfrm>
            <a:off x="2842138" y="1334104"/>
            <a:ext cx="180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4" name="Titre 1"/>
          <p:cNvSpPr txBox="1">
            <a:spLocks/>
          </p:cNvSpPr>
          <p:nvPr/>
        </p:nvSpPr>
        <p:spPr>
          <a:xfrm>
            <a:off x="5355022" y="1323987"/>
            <a:ext cx="1029803" cy="36264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Médecin</a:t>
            </a:r>
            <a:endParaRPr lang="fr-FR" sz="1400" dirty="0"/>
          </a:p>
        </p:txBody>
      </p:sp>
      <p:sp>
        <p:nvSpPr>
          <p:cNvPr id="55" name="Rectangle 54"/>
          <p:cNvSpPr/>
          <p:nvPr/>
        </p:nvSpPr>
        <p:spPr>
          <a:xfrm>
            <a:off x="6371722" y="1352392"/>
            <a:ext cx="180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6" name="Triangle isocèle 55"/>
          <p:cNvSpPr/>
          <p:nvPr/>
        </p:nvSpPr>
        <p:spPr>
          <a:xfrm rot="10800000">
            <a:off x="7988096" y="1366870"/>
            <a:ext cx="180000" cy="252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7" name="Titre 1"/>
          <p:cNvSpPr txBox="1">
            <a:spLocks/>
          </p:cNvSpPr>
          <p:nvPr/>
        </p:nvSpPr>
        <p:spPr>
          <a:xfrm>
            <a:off x="4723622" y="1630667"/>
            <a:ext cx="4023137" cy="4114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b="1" dirty="0" smtClean="0"/>
              <a:t>Type : </a:t>
            </a:r>
            <a:r>
              <a:rPr lang="fr-FR" sz="1400" dirty="0" smtClean="0"/>
              <a:t>Consultation, Hospitalisation, Prise en charge </a:t>
            </a:r>
            <a:endParaRPr lang="fr-FR" sz="1400" b="1" dirty="0"/>
          </a:p>
        </p:txBody>
      </p:sp>
      <p:sp>
        <p:nvSpPr>
          <p:cNvPr id="58" name="Rectangle 57"/>
          <p:cNvSpPr/>
          <p:nvPr/>
        </p:nvSpPr>
        <p:spPr>
          <a:xfrm>
            <a:off x="283416" y="2689575"/>
            <a:ext cx="72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HDM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137757" y="2696203"/>
            <a:ext cx="828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Général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090940" y="2685939"/>
            <a:ext cx="1620000" cy="360000"/>
          </a:xfrm>
          <a:prstGeom prst="rect">
            <a:avLst/>
          </a:prstGeom>
          <a:solidFill>
            <a:srgbClr val="92D05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Cervico-céphalique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822984" y="2691808"/>
            <a:ext cx="72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Thorax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681339" y="2696203"/>
            <a:ext cx="97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Abdomen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776000" y="2686505"/>
            <a:ext cx="79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Pelvien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680855" y="2692404"/>
            <a:ext cx="97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Vasculaire</a:t>
            </a:r>
            <a:endParaRPr lang="fr-FR" sz="1400" dirty="0"/>
          </a:p>
        </p:txBody>
      </p:sp>
      <p:sp>
        <p:nvSpPr>
          <p:cNvPr id="67" name="Rectangle 66"/>
          <p:cNvSpPr/>
          <p:nvPr/>
        </p:nvSpPr>
        <p:spPr>
          <a:xfrm>
            <a:off x="7769911" y="2685394"/>
            <a:ext cx="126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Neurologique</a:t>
            </a:r>
            <a:endParaRPr lang="fr-FR" sz="1400" dirty="0"/>
          </a:p>
        </p:txBody>
      </p:sp>
      <p:sp>
        <p:nvSpPr>
          <p:cNvPr id="71" name="Rectangle 70"/>
          <p:cNvSpPr/>
          <p:nvPr/>
        </p:nvSpPr>
        <p:spPr>
          <a:xfrm>
            <a:off x="9149668" y="2685318"/>
            <a:ext cx="1476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Osteo-articulaire</a:t>
            </a:r>
            <a:endParaRPr lang="fr-FR" sz="1400" dirty="0"/>
          </a:p>
        </p:txBody>
      </p:sp>
      <p:sp>
        <p:nvSpPr>
          <p:cNvPr id="72" name="Rectangle 71"/>
          <p:cNvSpPr/>
          <p:nvPr/>
        </p:nvSpPr>
        <p:spPr>
          <a:xfrm>
            <a:off x="10731355" y="2685394"/>
            <a:ext cx="126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Conclusion</a:t>
            </a:r>
          </a:p>
        </p:txBody>
      </p:sp>
      <p:sp>
        <p:nvSpPr>
          <p:cNvPr id="2" name="Rectangle 1"/>
          <p:cNvSpPr/>
          <p:nvPr/>
        </p:nvSpPr>
        <p:spPr>
          <a:xfrm>
            <a:off x="396076" y="3232322"/>
            <a:ext cx="163160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b="1" u="sng" dirty="0"/>
              <a:t>Signes </a:t>
            </a:r>
            <a:r>
              <a:rPr lang="fr-FR" sz="1400" b="1" u="sng" dirty="0" smtClean="0"/>
              <a:t>fonctionnels</a:t>
            </a:r>
            <a:endParaRPr lang="fr-FR" sz="1400" b="1" u="sng" dirty="0"/>
          </a:p>
        </p:txBody>
      </p:sp>
      <p:sp>
        <p:nvSpPr>
          <p:cNvPr id="79" name="Rectangle 78"/>
          <p:cNvSpPr/>
          <p:nvPr/>
        </p:nvSpPr>
        <p:spPr>
          <a:xfrm>
            <a:off x="2629449" y="3275211"/>
            <a:ext cx="87002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Absents</a:t>
            </a:r>
          </a:p>
        </p:txBody>
      </p:sp>
      <p:sp>
        <p:nvSpPr>
          <p:cNvPr id="80" name="Ellipse 79"/>
          <p:cNvSpPr/>
          <p:nvPr/>
        </p:nvSpPr>
        <p:spPr>
          <a:xfrm>
            <a:off x="2501994" y="3350447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81" name="Rectangle 80"/>
          <p:cNvSpPr/>
          <p:nvPr/>
        </p:nvSpPr>
        <p:spPr>
          <a:xfrm>
            <a:off x="4741243" y="3260958"/>
            <a:ext cx="1247425" cy="3228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 smtClean="0"/>
              <a:t>Dysphonie</a:t>
            </a:r>
            <a:endParaRPr lang="fr-FR" sz="1400" dirty="0"/>
          </a:p>
        </p:txBody>
      </p:sp>
      <p:sp>
        <p:nvSpPr>
          <p:cNvPr id="89" name="Ellipse 88"/>
          <p:cNvSpPr/>
          <p:nvPr/>
        </p:nvSpPr>
        <p:spPr>
          <a:xfrm>
            <a:off x="4595501" y="3317906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90" name="Rectangle 89"/>
          <p:cNvSpPr/>
          <p:nvPr/>
        </p:nvSpPr>
        <p:spPr>
          <a:xfrm>
            <a:off x="10541290" y="3249255"/>
            <a:ext cx="1247425" cy="3228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/>
              <a:t>Réinitialiser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1" name="Ellipse 90"/>
          <p:cNvSpPr/>
          <p:nvPr/>
        </p:nvSpPr>
        <p:spPr>
          <a:xfrm>
            <a:off x="10361290" y="3305714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4" name="Rectangle 13"/>
          <p:cNvSpPr/>
          <p:nvPr/>
        </p:nvSpPr>
        <p:spPr>
          <a:xfrm>
            <a:off x="294384" y="4070390"/>
            <a:ext cx="96212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b="1" u="sng" dirty="0"/>
              <a:t>Inspection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276305" y="3102035"/>
            <a:ext cx="11700000" cy="3672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2" name="Rectangle 141"/>
          <p:cNvSpPr/>
          <p:nvPr/>
        </p:nvSpPr>
        <p:spPr>
          <a:xfrm>
            <a:off x="390070" y="3151407"/>
            <a:ext cx="11520000" cy="93233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5" name="Rectangle 144"/>
          <p:cNvSpPr/>
          <p:nvPr/>
        </p:nvSpPr>
        <p:spPr>
          <a:xfrm>
            <a:off x="6374711" y="3258810"/>
            <a:ext cx="1247425" cy="3126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Dysphagie</a:t>
            </a:r>
            <a:endParaRPr lang="fr-FR" sz="1400" dirty="0"/>
          </a:p>
        </p:txBody>
      </p:sp>
      <p:sp>
        <p:nvSpPr>
          <p:cNvPr id="146" name="Ellipse 145"/>
          <p:cNvSpPr/>
          <p:nvPr/>
        </p:nvSpPr>
        <p:spPr>
          <a:xfrm>
            <a:off x="6228969" y="3315758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47" name="Rectangle 146"/>
          <p:cNvSpPr/>
          <p:nvPr/>
        </p:nvSpPr>
        <p:spPr>
          <a:xfrm>
            <a:off x="7814996" y="3269541"/>
            <a:ext cx="1247425" cy="3228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 smtClean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Douleurs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49" name="Ellipse 148"/>
          <p:cNvSpPr/>
          <p:nvPr/>
        </p:nvSpPr>
        <p:spPr>
          <a:xfrm>
            <a:off x="7669254" y="3326489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50" name="Rectangle 149"/>
          <p:cNvSpPr/>
          <p:nvPr/>
        </p:nvSpPr>
        <p:spPr>
          <a:xfrm>
            <a:off x="3718707" y="3579272"/>
            <a:ext cx="6170535" cy="435627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cxnSp>
        <p:nvCxnSpPr>
          <p:cNvPr id="151" name="Connecteur droit 150"/>
          <p:cNvCxnSpPr/>
          <p:nvPr/>
        </p:nvCxnSpPr>
        <p:spPr>
          <a:xfrm flipH="1">
            <a:off x="3504608" y="3169536"/>
            <a:ext cx="0" cy="90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52" name="Connecteur droit 151"/>
          <p:cNvCxnSpPr/>
          <p:nvPr/>
        </p:nvCxnSpPr>
        <p:spPr>
          <a:xfrm flipH="1">
            <a:off x="10096455" y="3180267"/>
            <a:ext cx="0" cy="90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5" name="Rectangle 34"/>
          <p:cNvSpPr/>
          <p:nvPr/>
        </p:nvSpPr>
        <p:spPr>
          <a:xfrm>
            <a:off x="436242" y="4439891"/>
            <a:ext cx="180000" cy="18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" name="Rectangle 35"/>
          <p:cNvSpPr/>
          <p:nvPr/>
        </p:nvSpPr>
        <p:spPr>
          <a:xfrm>
            <a:off x="636007" y="4414774"/>
            <a:ext cx="123309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Cavité buccale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575768" y="4811228"/>
            <a:ext cx="180000" cy="18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5" name="Rectangle 154"/>
          <p:cNvSpPr/>
          <p:nvPr/>
        </p:nvSpPr>
        <p:spPr>
          <a:xfrm>
            <a:off x="736896" y="4786111"/>
            <a:ext cx="900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 smtClean="0"/>
              <a:t>Gencives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56" name="Rectangle 155"/>
          <p:cNvSpPr/>
          <p:nvPr/>
        </p:nvSpPr>
        <p:spPr>
          <a:xfrm>
            <a:off x="560739" y="5478787"/>
            <a:ext cx="180000" cy="18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7" name="Rectangle 156"/>
          <p:cNvSpPr/>
          <p:nvPr/>
        </p:nvSpPr>
        <p:spPr>
          <a:xfrm>
            <a:off x="721867" y="5453670"/>
            <a:ext cx="900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 smtClean="0"/>
              <a:t>Langue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58" name="Rectangle 157"/>
          <p:cNvSpPr/>
          <p:nvPr/>
        </p:nvSpPr>
        <p:spPr>
          <a:xfrm>
            <a:off x="560739" y="6161365"/>
            <a:ext cx="180000" cy="18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9" name="Rectangle 158"/>
          <p:cNvSpPr/>
          <p:nvPr/>
        </p:nvSpPr>
        <p:spPr>
          <a:xfrm>
            <a:off x="721867" y="6136248"/>
            <a:ext cx="900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 smtClean="0"/>
              <a:t>Dentition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0" name="Rectangle 159"/>
          <p:cNvSpPr/>
          <p:nvPr/>
        </p:nvSpPr>
        <p:spPr>
          <a:xfrm>
            <a:off x="1630180" y="4736222"/>
            <a:ext cx="2340000" cy="576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163" name="Rectangle 162"/>
          <p:cNvSpPr/>
          <p:nvPr/>
        </p:nvSpPr>
        <p:spPr>
          <a:xfrm>
            <a:off x="1628032" y="5403778"/>
            <a:ext cx="2340000" cy="576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164" name="Rectangle 163"/>
          <p:cNvSpPr/>
          <p:nvPr/>
        </p:nvSpPr>
        <p:spPr>
          <a:xfrm>
            <a:off x="1628032" y="6073480"/>
            <a:ext cx="2340000" cy="576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cxnSp>
        <p:nvCxnSpPr>
          <p:cNvPr id="165" name="Connecteur droit 164"/>
          <p:cNvCxnSpPr/>
          <p:nvPr/>
        </p:nvCxnSpPr>
        <p:spPr>
          <a:xfrm>
            <a:off x="4065444" y="4378632"/>
            <a:ext cx="0" cy="234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66" name="Rectangle 165"/>
          <p:cNvSpPr/>
          <p:nvPr/>
        </p:nvSpPr>
        <p:spPr>
          <a:xfrm>
            <a:off x="387922" y="4378167"/>
            <a:ext cx="11520000" cy="2344526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67" name="Rectangle 166"/>
          <p:cNvSpPr/>
          <p:nvPr/>
        </p:nvSpPr>
        <p:spPr>
          <a:xfrm>
            <a:off x="4192584" y="4512865"/>
            <a:ext cx="180000" cy="18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8" name="Rectangle 167"/>
          <p:cNvSpPr/>
          <p:nvPr/>
        </p:nvSpPr>
        <p:spPr>
          <a:xfrm>
            <a:off x="4353712" y="4487748"/>
            <a:ext cx="900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 smtClean="0"/>
              <a:t>Pharynx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9" name="Rectangle 168"/>
          <p:cNvSpPr/>
          <p:nvPr/>
        </p:nvSpPr>
        <p:spPr>
          <a:xfrm>
            <a:off x="4203313" y="5747095"/>
            <a:ext cx="180000" cy="18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0" name="Rectangle 169"/>
          <p:cNvSpPr/>
          <p:nvPr/>
        </p:nvSpPr>
        <p:spPr>
          <a:xfrm>
            <a:off x="4364441" y="5721978"/>
            <a:ext cx="900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 smtClean="0"/>
              <a:t>Lèvres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71" name="Rectangle 170"/>
          <p:cNvSpPr/>
          <p:nvPr/>
        </p:nvSpPr>
        <p:spPr>
          <a:xfrm>
            <a:off x="5246995" y="4656800"/>
            <a:ext cx="2520000" cy="72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172" name="Rectangle 171"/>
          <p:cNvSpPr/>
          <p:nvPr/>
        </p:nvSpPr>
        <p:spPr>
          <a:xfrm>
            <a:off x="5270606" y="5891029"/>
            <a:ext cx="2520000" cy="72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cxnSp>
        <p:nvCxnSpPr>
          <p:cNvPr id="173" name="Connecteur droit 172"/>
          <p:cNvCxnSpPr/>
          <p:nvPr/>
        </p:nvCxnSpPr>
        <p:spPr>
          <a:xfrm flipH="1">
            <a:off x="4079952" y="5550795"/>
            <a:ext cx="7812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74" name="Connecteur droit 173"/>
          <p:cNvCxnSpPr/>
          <p:nvPr/>
        </p:nvCxnSpPr>
        <p:spPr>
          <a:xfrm>
            <a:off x="8133024" y="4389363"/>
            <a:ext cx="0" cy="2304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76" name="Rectangle 175"/>
          <p:cNvSpPr/>
          <p:nvPr/>
        </p:nvSpPr>
        <p:spPr>
          <a:xfrm>
            <a:off x="8234406" y="4510717"/>
            <a:ext cx="180000" cy="18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7" name="Rectangle 176"/>
          <p:cNvSpPr/>
          <p:nvPr/>
        </p:nvSpPr>
        <p:spPr>
          <a:xfrm>
            <a:off x="8395534" y="4485600"/>
            <a:ext cx="900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 smtClean="0"/>
              <a:t>Paupières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78" name="Rectangle 177"/>
          <p:cNvSpPr/>
          <p:nvPr/>
        </p:nvSpPr>
        <p:spPr>
          <a:xfrm>
            <a:off x="8245135" y="5744947"/>
            <a:ext cx="180000" cy="18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9" name="Rectangle 178"/>
          <p:cNvSpPr/>
          <p:nvPr/>
        </p:nvSpPr>
        <p:spPr>
          <a:xfrm>
            <a:off x="8406263" y="5719830"/>
            <a:ext cx="900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 smtClean="0"/>
              <a:t>Yeux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80" name="Rectangle 179"/>
          <p:cNvSpPr/>
          <p:nvPr/>
        </p:nvSpPr>
        <p:spPr>
          <a:xfrm>
            <a:off x="9288817" y="4654652"/>
            <a:ext cx="2520000" cy="72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181" name="Rectangle 180"/>
          <p:cNvSpPr/>
          <p:nvPr/>
        </p:nvSpPr>
        <p:spPr>
          <a:xfrm>
            <a:off x="9312428" y="5888879"/>
            <a:ext cx="2520000" cy="72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182" name="Rectangle 181"/>
          <p:cNvSpPr/>
          <p:nvPr/>
        </p:nvSpPr>
        <p:spPr>
          <a:xfrm>
            <a:off x="11245681" y="6522403"/>
            <a:ext cx="124013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À suivre</a:t>
            </a:r>
            <a:endParaRPr lang="fr-FR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559354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1045</TotalTime>
  <Words>2703</Words>
  <Application>Microsoft Office PowerPoint</Application>
  <PresentationFormat>Grand écran</PresentationFormat>
  <Paragraphs>1238</Paragraphs>
  <Slides>35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35</vt:i4>
      </vt:variant>
    </vt:vector>
  </HeadingPairs>
  <TitlesOfParts>
    <vt:vector size="41" baseType="lpstr">
      <vt:lpstr>Microsoft YaHei</vt:lpstr>
      <vt:lpstr>Arial</vt:lpstr>
      <vt:lpstr>Calibri</vt:lpstr>
      <vt:lpstr>Calibri Light</vt:lpstr>
      <vt:lpstr>Times New Roman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Dev</dc:creator>
  <cp:lastModifiedBy>Dev</cp:lastModifiedBy>
  <cp:revision>191</cp:revision>
  <dcterms:created xsi:type="dcterms:W3CDTF">2015-11-02T10:39:38Z</dcterms:created>
  <dcterms:modified xsi:type="dcterms:W3CDTF">2015-11-15T12:35:55Z</dcterms:modified>
</cp:coreProperties>
</file>